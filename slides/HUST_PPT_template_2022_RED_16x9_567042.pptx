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9" r:id="rId2"/>
    <p:sldId id="256" r:id="rId3"/>
    <p:sldId id="261" r:id="rId4"/>
    <p:sldId id="258" r:id="rId5"/>
    <p:sldId id="264" r:id="rId6"/>
    <p:sldId id="263" r:id="rId7"/>
    <p:sldId id="265" r:id="rId8"/>
    <p:sldId id="266" r:id="rId9"/>
    <p:sldId id="267" r:id="rId10"/>
    <p:sldId id="268" r:id="rId11"/>
    <p:sldId id="269"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C496"/>
    <a:srgbClr val="63A6D5"/>
    <a:srgbClr val="E9BF73"/>
    <a:srgbClr val="D55043"/>
    <a:srgbClr val="0A2A50"/>
    <a:srgbClr val="063D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p:scale>
          <a:sx n="75" d="100"/>
          <a:sy n="75" d="100"/>
        </p:scale>
        <p:origin x="85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6/3/2026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6/3/2026</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6/3/2026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6/3/2026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6/3/2026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6/3/2026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6/3/2026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6/3/2026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6/3/2026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6/3/2026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6/3/2026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6/3/2026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42BA63-383F-45B9-939A-7A3B792A60C4}"/>
              </a:ext>
            </a:extLst>
          </p:cNvPr>
          <p:cNvSpPr>
            <a:spLocks noGrp="1"/>
          </p:cNvSpPr>
          <p:nvPr>
            <p:ph type="title"/>
          </p:nvPr>
        </p:nvSpPr>
        <p:spPr>
          <a:xfrm>
            <a:off x="2273828" y="2461846"/>
            <a:ext cx="7644344" cy="1934307"/>
          </a:xfrm>
        </p:spPr>
        <p:txBody>
          <a:bodyPr/>
          <a:lstStyle/>
          <a:p>
            <a:r>
              <a:rPr lang="en-US" dirty="0" err="1"/>
              <a:t>Ứng</a:t>
            </a:r>
            <a:r>
              <a:rPr lang="en-US" dirty="0"/>
              <a:t> </a:t>
            </a:r>
            <a:r>
              <a:rPr lang="en-US" dirty="0" err="1"/>
              <a:t>Dụng</a:t>
            </a:r>
            <a:r>
              <a:rPr lang="en-US" dirty="0"/>
              <a:t> Machine Learning Trong </a:t>
            </a:r>
            <a:r>
              <a:rPr lang="en-US" dirty="0" err="1"/>
              <a:t>Chẩn</a:t>
            </a:r>
            <a:r>
              <a:rPr lang="en-US" dirty="0"/>
              <a:t> </a:t>
            </a:r>
            <a:r>
              <a:rPr lang="en-US" dirty="0" err="1"/>
              <a:t>Đoán</a:t>
            </a:r>
            <a:r>
              <a:rPr lang="en-US" dirty="0"/>
              <a:t> </a:t>
            </a:r>
            <a:r>
              <a:rPr lang="en-US" dirty="0" err="1"/>
              <a:t>Hư</a:t>
            </a:r>
            <a:r>
              <a:rPr lang="en-US" dirty="0"/>
              <a:t> </a:t>
            </a:r>
            <a:r>
              <a:rPr lang="en-US" dirty="0" err="1"/>
              <a:t>Hỏng</a:t>
            </a:r>
            <a:r>
              <a:rPr lang="en-US" dirty="0"/>
              <a:t> Ổ </a:t>
            </a:r>
            <a:r>
              <a:rPr lang="en-US" dirty="0" err="1"/>
              <a:t>Lăn</a:t>
            </a:r>
            <a:r>
              <a:rPr lang="en-US" dirty="0"/>
              <a:t> </a:t>
            </a:r>
          </a:p>
        </p:txBody>
      </p:sp>
    </p:spTree>
    <p:extLst>
      <p:ext uri="{BB962C8B-B14F-4D97-AF65-F5344CB8AC3E}">
        <p14:creationId xmlns:p14="http://schemas.microsoft.com/office/powerpoint/2010/main" val="123400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08F6D9-EEEA-402C-98D9-7DF024C759AE}"/>
              </a:ext>
            </a:extLst>
          </p:cNvPr>
          <p:cNvSpPr>
            <a:spLocks noGrp="1"/>
          </p:cNvSpPr>
          <p:nvPr>
            <p:ph type="title"/>
          </p:nvPr>
        </p:nvSpPr>
        <p:spPr/>
        <p:txBody>
          <a:bodyPr/>
          <a:lstStyle/>
          <a:p>
            <a:r>
              <a:rPr lang="en-US" dirty="0" err="1"/>
              <a:t>Mục</a:t>
            </a:r>
            <a:r>
              <a:rPr lang="en-US" dirty="0"/>
              <a:t> </a:t>
            </a:r>
            <a:r>
              <a:rPr lang="en-US" dirty="0" err="1"/>
              <a:t>tiêu</a:t>
            </a:r>
            <a:r>
              <a:rPr lang="en-US" dirty="0"/>
              <a:t> </a:t>
            </a:r>
            <a:r>
              <a:rPr lang="en-US" dirty="0" err="1"/>
              <a:t>khoá</a:t>
            </a:r>
            <a:r>
              <a:rPr lang="en-US" dirty="0"/>
              <a:t> </a:t>
            </a:r>
            <a:r>
              <a:rPr lang="en-US" dirty="0" err="1"/>
              <a:t>học</a:t>
            </a:r>
            <a:br>
              <a:rPr lang="en-US" dirty="0"/>
            </a:br>
            <a:endParaRPr lang="en-US" dirty="0"/>
          </a:p>
        </p:txBody>
      </p:sp>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8" name="Shape 3">
            <a:extLst>
              <a:ext uri="{FF2B5EF4-FFF2-40B4-BE49-F238E27FC236}">
                <a16:creationId xmlns:a16="http://schemas.microsoft.com/office/drawing/2014/main" id="{3A61218D-5D85-770D-4E16-73EF1B0991FF}"/>
              </a:ext>
            </a:extLst>
          </p:cNvPr>
          <p:cNvSpPr/>
          <p:nvPr/>
        </p:nvSpPr>
        <p:spPr>
          <a:xfrm>
            <a:off x="430176" y="1323762"/>
            <a:ext cx="54864" cy="640080"/>
          </a:xfrm>
          <a:prstGeom prst="rect">
            <a:avLst/>
          </a:prstGeom>
          <a:solidFill>
            <a:srgbClr val="06D6A0"/>
          </a:solidFill>
          <a:ln w="12700">
            <a:solidFill>
              <a:srgbClr val="06D6A0"/>
            </a:solidFill>
            <a:prstDash val="solid"/>
          </a:ln>
        </p:spPr>
      </p:sp>
      <p:sp>
        <p:nvSpPr>
          <p:cNvPr id="9" name="Text 4">
            <a:extLst>
              <a:ext uri="{FF2B5EF4-FFF2-40B4-BE49-F238E27FC236}">
                <a16:creationId xmlns:a16="http://schemas.microsoft.com/office/drawing/2014/main" id="{5B0E6B39-7FA6-F640-1BA9-A8318132D364}"/>
              </a:ext>
            </a:extLst>
          </p:cNvPr>
          <p:cNvSpPr/>
          <p:nvPr/>
        </p:nvSpPr>
        <p:spPr>
          <a:xfrm>
            <a:off x="613056" y="13694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Nắm vững quy trình xử lý hoàn chỉnh (Pipeline): từ tín hiệu rung thô đến chẩn đoán lỗi</a:t>
            </a:r>
            <a:endParaRPr lang="en-US" dirty="0"/>
          </a:p>
        </p:txBody>
      </p:sp>
      <p:sp>
        <p:nvSpPr>
          <p:cNvPr id="10" name="Shape 5">
            <a:extLst>
              <a:ext uri="{FF2B5EF4-FFF2-40B4-BE49-F238E27FC236}">
                <a16:creationId xmlns:a16="http://schemas.microsoft.com/office/drawing/2014/main" id="{CE05F8EE-318E-B154-0D82-C4834097CEC0}"/>
              </a:ext>
            </a:extLst>
          </p:cNvPr>
          <p:cNvSpPr/>
          <p:nvPr/>
        </p:nvSpPr>
        <p:spPr>
          <a:xfrm>
            <a:off x="430176" y="2238162"/>
            <a:ext cx="54864" cy="640080"/>
          </a:xfrm>
          <a:prstGeom prst="rect">
            <a:avLst/>
          </a:prstGeom>
          <a:solidFill>
            <a:srgbClr val="00B4D8"/>
          </a:solidFill>
          <a:ln w="12700">
            <a:solidFill>
              <a:srgbClr val="00B4D8"/>
            </a:solidFill>
            <a:prstDash val="solid"/>
          </a:ln>
        </p:spPr>
      </p:sp>
      <p:sp>
        <p:nvSpPr>
          <p:cNvPr id="11" name="Text 6">
            <a:extLst>
              <a:ext uri="{FF2B5EF4-FFF2-40B4-BE49-F238E27FC236}">
                <a16:creationId xmlns:a16="http://schemas.microsoft.com/office/drawing/2014/main" id="{E2E52D1F-8982-3D89-E899-F4719A0CAC0F}"/>
              </a:ext>
            </a:extLst>
          </p:cNvPr>
          <p:cNvSpPr/>
          <p:nvPr/>
        </p:nvSpPr>
        <p:spPr>
          <a:xfrm>
            <a:off x="613056" y="22838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Tự xây dựng và tối ưu hóa các mô hình SVM và Random Forest</a:t>
            </a:r>
            <a:endParaRPr lang="en-US" dirty="0"/>
          </a:p>
        </p:txBody>
      </p:sp>
      <p:sp>
        <p:nvSpPr>
          <p:cNvPr id="12" name="Shape 7">
            <a:extLst>
              <a:ext uri="{FF2B5EF4-FFF2-40B4-BE49-F238E27FC236}">
                <a16:creationId xmlns:a16="http://schemas.microsoft.com/office/drawing/2014/main" id="{5C41A717-6F3F-F412-CC02-AFAD61ED22E0}"/>
              </a:ext>
            </a:extLst>
          </p:cNvPr>
          <p:cNvSpPr/>
          <p:nvPr/>
        </p:nvSpPr>
        <p:spPr>
          <a:xfrm>
            <a:off x="430176" y="3152562"/>
            <a:ext cx="54864" cy="640080"/>
          </a:xfrm>
          <a:prstGeom prst="rect">
            <a:avLst/>
          </a:prstGeom>
          <a:solidFill>
            <a:srgbClr val="FFD166"/>
          </a:solidFill>
          <a:ln w="12700">
            <a:solidFill>
              <a:srgbClr val="FFD166"/>
            </a:solidFill>
            <a:prstDash val="solid"/>
          </a:ln>
        </p:spPr>
      </p:sp>
      <p:sp>
        <p:nvSpPr>
          <p:cNvPr id="13" name="Text 8">
            <a:extLst>
              <a:ext uri="{FF2B5EF4-FFF2-40B4-BE49-F238E27FC236}">
                <a16:creationId xmlns:a16="http://schemas.microsoft.com/office/drawing/2014/main" id="{A75C2290-9A13-7D5C-5FD2-766C20A6D052}"/>
              </a:ext>
            </a:extLst>
          </p:cNvPr>
          <p:cNvSpPr/>
          <p:nvPr/>
        </p:nvSpPr>
        <p:spPr>
          <a:xfrm>
            <a:off x="613056" y="31982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Đánh giá hiệu năng mô hình khách quan, tránh bẫy rò rỉ dữ liệu (data leakage)</a:t>
            </a:r>
            <a:endParaRPr lang="en-US" dirty="0"/>
          </a:p>
        </p:txBody>
      </p:sp>
      <p:sp>
        <p:nvSpPr>
          <p:cNvPr id="14" name="Shape 9">
            <a:extLst>
              <a:ext uri="{FF2B5EF4-FFF2-40B4-BE49-F238E27FC236}">
                <a16:creationId xmlns:a16="http://schemas.microsoft.com/office/drawing/2014/main" id="{FEC9DB86-D91D-8D08-AC85-4086BB77F9F5}"/>
              </a:ext>
            </a:extLst>
          </p:cNvPr>
          <p:cNvSpPr/>
          <p:nvPr/>
        </p:nvSpPr>
        <p:spPr>
          <a:xfrm>
            <a:off x="430176" y="4066962"/>
            <a:ext cx="54864" cy="640080"/>
          </a:xfrm>
          <a:prstGeom prst="rect">
            <a:avLst/>
          </a:prstGeom>
          <a:solidFill>
            <a:srgbClr val="00F5D4"/>
          </a:solidFill>
          <a:ln w="12700">
            <a:solidFill>
              <a:srgbClr val="00F5D4"/>
            </a:solidFill>
            <a:prstDash val="solid"/>
          </a:ln>
        </p:spPr>
      </p:sp>
      <p:sp>
        <p:nvSpPr>
          <p:cNvPr id="15" name="Text 10">
            <a:extLst>
              <a:ext uri="{FF2B5EF4-FFF2-40B4-BE49-F238E27FC236}">
                <a16:creationId xmlns:a16="http://schemas.microsoft.com/office/drawing/2014/main" id="{A737B159-F761-FC45-0B81-F146E1EF2651}"/>
              </a:ext>
            </a:extLst>
          </p:cNvPr>
          <p:cNvSpPr/>
          <p:nvPr/>
        </p:nvSpPr>
        <p:spPr>
          <a:xfrm>
            <a:off x="613056" y="41126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Ứng dụng SHAP để giải thích cơ chế đưa ra quyết định của mô hình</a:t>
            </a:r>
            <a:endParaRPr lang="en-US" dirty="0"/>
          </a:p>
        </p:txBody>
      </p:sp>
      <p:sp>
        <p:nvSpPr>
          <p:cNvPr id="16" name="Text 12">
            <a:extLst>
              <a:ext uri="{FF2B5EF4-FFF2-40B4-BE49-F238E27FC236}">
                <a16:creationId xmlns:a16="http://schemas.microsoft.com/office/drawing/2014/main" id="{6C9608A5-2904-6DED-F66E-7CA74DDD480F}"/>
              </a:ext>
            </a:extLst>
          </p:cNvPr>
          <p:cNvSpPr/>
          <p:nvPr/>
        </p:nvSpPr>
        <p:spPr>
          <a:xfrm>
            <a:off x="338736" y="5202186"/>
            <a:ext cx="11423088" cy="457200"/>
          </a:xfrm>
          <a:prstGeom prst="rect">
            <a:avLst/>
          </a:prstGeom>
          <a:noFill/>
          <a:ln/>
        </p:spPr>
        <p:txBody>
          <a:bodyPr wrap="square" rtlCol="0" anchor="ctr"/>
          <a:lstStyle/>
          <a:p>
            <a:pPr marL="0" indent="0">
              <a:buNone/>
            </a:pPr>
            <a:r>
              <a:rPr lang="en-US" i="1" dirty="0">
                <a:solidFill>
                  <a:srgbClr val="00B4D8"/>
                </a:solidFill>
                <a:latin typeface="Calibri" pitchFamily="34" charset="0"/>
                <a:ea typeface="Calibri" pitchFamily="34" charset="-122"/>
                <a:cs typeface="Calibri" pitchFamily="34" charset="-120"/>
              </a:rPr>
              <a:t>💡 Tư duy cốt lõi: Khi ổ lăn xuất hiện khuyết tật, mỗi vòng quay kích thích một xung va đập đặc trưng lặp lại tuần hoàn. Mọi công cụ FFT, Envelope, ML, SHAP chỉ là cách phát hiện cái nhịp đó.</a:t>
            </a:r>
            <a:endParaRPr lang="en-US" dirty="0"/>
          </a:p>
        </p:txBody>
      </p:sp>
    </p:spTree>
    <p:extLst>
      <p:ext uri="{BB962C8B-B14F-4D97-AF65-F5344CB8AC3E}">
        <p14:creationId xmlns:p14="http://schemas.microsoft.com/office/powerpoint/2010/main" val="64084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3">
            <a:extLst>
              <a:ext uri="{FF2B5EF4-FFF2-40B4-BE49-F238E27FC236}">
                <a16:creationId xmlns:a16="http://schemas.microsoft.com/office/drawing/2014/main" id="{986A64DC-D995-8DD4-CCAD-74E61CB2CB2A}"/>
              </a:ext>
            </a:extLst>
          </p:cNvPr>
          <p:cNvSpPr/>
          <p:nvPr/>
        </p:nvSpPr>
        <p:spPr>
          <a:xfrm>
            <a:off x="187421" y="1070044"/>
            <a:ext cx="3840480" cy="4114800"/>
          </a:xfrm>
          <a:prstGeom prst="roundRect">
            <a:avLst>
              <a:gd name="adj" fmla="val 5454"/>
            </a:avLst>
          </a:prstGeom>
          <a:solidFill>
            <a:srgbClr val="6B1A2B"/>
          </a:solidFill>
          <a:ln w="12700">
            <a:solidFill>
              <a:srgbClr val="0077B6"/>
            </a:solidFill>
            <a:prstDash val="solid"/>
          </a:ln>
        </p:spPr>
      </p:sp>
      <p:sp>
        <p:nvSpPr>
          <p:cNvPr id="20" name="Text 4">
            <a:extLst>
              <a:ext uri="{FF2B5EF4-FFF2-40B4-BE49-F238E27FC236}">
                <a16:creationId xmlns:a16="http://schemas.microsoft.com/office/drawing/2014/main" id="{0615E134-DE26-E9AB-2C7C-09807F51D8FC}"/>
              </a:ext>
            </a:extLst>
          </p:cNvPr>
          <p:cNvSpPr/>
          <p:nvPr/>
        </p:nvSpPr>
        <p:spPr>
          <a:xfrm>
            <a:off x="278861"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phản ứng</a:t>
            </a:r>
            <a:endParaRPr lang="en-US" dirty="0"/>
          </a:p>
        </p:txBody>
      </p:sp>
      <p:sp>
        <p:nvSpPr>
          <p:cNvPr id="21" name="Text 5">
            <a:extLst>
              <a:ext uri="{FF2B5EF4-FFF2-40B4-BE49-F238E27FC236}">
                <a16:creationId xmlns:a16="http://schemas.microsoft.com/office/drawing/2014/main" id="{2B173157-C0EC-B456-2430-6074A6E6BF2C}"/>
              </a:ext>
            </a:extLst>
          </p:cNvPr>
          <p:cNvSpPr/>
          <p:nvPr/>
        </p:nvSpPr>
        <p:spPr>
          <a:xfrm>
            <a:off x="278861"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Hỏng mới sửa</a:t>
            </a:r>
            <a:endParaRPr lang="en-US" sz="1500" dirty="0"/>
          </a:p>
        </p:txBody>
      </p:sp>
      <p:sp>
        <p:nvSpPr>
          <p:cNvPr id="22" name="Text 6">
            <a:extLst>
              <a:ext uri="{FF2B5EF4-FFF2-40B4-BE49-F238E27FC236}">
                <a16:creationId xmlns:a16="http://schemas.microsoft.com/office/drawing/2014/main" id="{C0F0625A-12B5-2BBD-B604-F2DAA4CE41EF}"/>
              </a:ext>
            </a:extLst>
          </p:cNvPr>
          <p:cNvSpPr/>
          <p:nvPr/>
        </p:nvSpPr>
        <p:spPr>
          <a:xfrm>
            <a:off x="278859" y="1893004"/>
            <a:ext cx="3614689" cy="3108960"/>
          </a:xfrm>
          <a:prstGeom prst="rect">
            <a:avLst/>
          </a:prstGeom>
          <a:noFill/>
          <a:ln/>
        </p:spPr>
        <p:txBody>
          <a:bodyPr wrap="square" rtlCol="0" anchor="t"/>
          <a:lstStyle/>
          <a:p>
            <a:pPr>
              <a:buSzPct val="100000"/>
            </a:pPr>
            <a:r>
              <a:rPr lang="en-US" dirty="0" err="1">
                <a:solidFill>
                  <a:srgbClr val="E8F4FD"/>
                </a:solidFill>
                <a:latin typeface="Calibri" pitchFamily="34" charset="0"/>
                <a:ea typeface="Calibri" pitchFamily="34" charset="-122"/>
                <a:cs typeface="Calibri" pitchFamily="34" charset="-120"/>
              </a:rPr>
              <a:t>Chiến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lược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Chỉ</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hành</a:t>
            </a:r>
            <a:r>
              <a:rPr lang="en-US" dirty="0">
                <a:solidFill>
                  <a:srgbClr val="E8F4FD"/>
                </a:solidFill>
                <a:latin typeface="Calibri" pitchFamily="34" charset="0"/>
                <a:ea typeface="Calibri" pitchFamily="34" charset="-122"/>
                <a:cs typeface="Calibri" pitchFamily="34" charset="-120"/>
              </a:rPr>
              <a:t> can </a:t>
            </a:r>
            <a:r>
              <a:rPr lang="en-US" dirty="0" err="1">
                <a:solidFill>
                  <a:srgbClr val="E8F4FD"/>
                </a:solidFill>
                <a:latin typeface="Calibri" pitchFamily="34" charset="0"/>
                <a:ea typeface="Calibri" pitchFamily="34" charset="-122"/>
                <a:cs typeface="Calibri" pitchFamily="34" charset="-120"/>
              </a:rPr>
              <a:t>thiệp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kỹ</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sau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bị</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đã</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xảy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sự</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và</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hoạt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a:t>
            </a:r>
          </a:p>
          <a:p>
            <a:pPr marL="342900" indent="-342900">
              <a:buSzPct val="100000"/>
              <a:buChar char="•"/>
            </a:pPr>
            <a:r>
              <a:rPr lang="en-US" b="1" dirty="0">
                <a:solidFill>
                  <a:srgbClr val="E8F4FD"/>
                </a:solidFill>
                <a:latin typeface="Calibri" pitchFamily="34" charset="0"/>
                <a:ea typeface="Calibri" pitchFamily="34" charset="-122"/>
                <a:cs typeface="Calibri" pitchFamily="34" charset="-120"/>
              </a:rPr>
              <a:t>Hậu </a:t>
            </a:r>
            <a:r>
              <a:rPr lang="en-US" b="1" dirty="0" err="1">
                <a:solidFill>
                  <a:srgbClr val="E8F4FD"/>
                </a:solidFill>
                <a:latin typeface="Calibri" pitchFamily="34" charset="0"/>
                <a:ea typeface="Calibri" pitchFamily="34" charset="-122"/>
                <a:cs typeface="Calibri" pitchFamily="34" charset="-120"/>
              </a:rPr>
              <a:t>quả</a:t>
            </a:r>
            <a:r>
              <a:rPr lang="en-US" b="1"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máy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làm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tê</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liệt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chuyền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sản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xuất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quy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mô</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endParaRPr lang="en-US" dirty="0">
              <a:solidFill>
                <a:srgbClr val="E8F4FD"/>
              </a:solidFill>
              <a:latin typeface="Calibri" pitchFamily="34" charset="0"/>
              <a:ea typeface="Calibri" pitchFamily="34" charset="-122"/>
              <a:cs typeface="Calibri" pitchFamily="34" charset="-120"/>
            </a:endParaRPr>
          </a:p>
          <a:p>
            <a:pPr marL="342900" indent="-342900">
              <a:buSzPct val="100000"/>
              <a:buChar char="•"/>
            </a:pPr>
            <a:r>
              <a:rPr lang="en-US" b="1" dirty="0" err="1">
                <a:solidFill>
                  <a:srgbClr val="E8F4FD"/>
                </a:solidFill>
                <a:latin typeface="Calibri" pitchFamily="34" charset="0"/>
                <a:ea typeface="Calibri" pitchFamily="34" charset="-122"/>
                <a:cs typeface="Calibri" pitchFamily="34" charset="-120"/>
              </a:rPr>
              <a:t>Thiệt</a:t>
            </a:r>
            <a:r>
              <a:rPr lang="en-US" b="1" dirty="0">
                <a:solidFill>
                  <a:srgbClr val="E8F4FD"/>
                </a:solidFill>
                <a:latin typeface="Calibri" pitchFamily="34" charset="0"/>
                <a:ea typeface="Calibri" pitchFamily="34" charset="-122"/>
                <a:cs typeface="Calibri" pitchFamily="34" charset="-120"/>
              </a:rPr>
              <a:t> </a:t>
            </a:r>
            <a:r>
              <a:rPr lang="en-US" b="1" dirty="0" err="1">
                <a:solidFill>
                  <a:srgbClr val="E8F4FD"/>
                </a:solidFill>
                <a:latin typeface="Calibri" pitchFamily="34" charset="0"/>
                <a:ea typeface="Calibri" pitchFamily="34" charset="-122"/>
                <a:cs typeface="Calibri" pitchFamily="34" charset="-120"/>
              </a:rPr>
              <a:t>hại</a:t>
            </a:r>
            <a:r>
              <a:rPr lang="en-US" b="1" dirty="0">
                <a:solidFill>
                  <a:srgbClr val="E8F4FD"/>
                </a:solidFill>
                <a:latin typeface="Calibri" pitchFamily="34" charset="0"/>
                <a:ea typeface="Calibri" pitchFamily="34" charset="-122"/>
                <a:cs typeface="Calibri" pitchFamily="34" charset="-120"/>
              </a:rPr>
              <a:t>: </a:t>
            </a:r>
            <a:r>
              <a:rPr lang="en-US" dirty="0">
                <a:solidFill>
                  <a:srgbClr val="E8F4FD"/>
                </a:solidFill>
                <a:latin typeface="Calibri" pitchFamily="34" charset="0"/>
                <a:ea typeface="Calibri" pitchFamily="34" charset="-122"/>
                <a:cs typeface="Calibri" pitchFamily="34" charset="-120"/>
              </a:rPr>
              <a:t>Chi </a:t>
            </a:r>
            <a:r>
              <a:rPr lang="en-US" dirty="0" err="1">
                <a:solidFill>
                  <a:srgbClr val="E8F4FD"/>
                </a:solidFill>
                <a:latin typeface="Calibri" pitchFamily="34" charset="0"/>
                <a:ea typeface="Calibri" pitchFamily="34" charset="-122"/>
                <a:cs typeface="Calibri" pitchFamily="34" charset="-120"/>
              </a:rPr>
              <a:t>phí</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khắc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phục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khẩn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cấp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dễ</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hư</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hỏng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cơ</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khí</a:t>
            </a:r>
            <a:r>
              <a:rPr lang="en-US" dirty="0">
                <a:solidFill>
                  <a:srgbClr val="E8F4FD"/>
                </a:solidFill>
                <a:latin typeface="Calibri" pitchFamily="34" charset="0"/>
                <a:ea typeface="Calibri" pitchFamily="34" charset="-122"/>
                <a:cs typeface="Calibri" pitchFamily="34" charset="-120"/>
              </a:rPr>
              <a:t> lan </a:t>
            </a:r>
            <a:r>
              <a:rPr lang="en-US" dirty="0" err="1">
                <a:solidFill>
                  <a:srgbClr val="E8F4FD"/>
                </a:solidFill>
                <a:latin typeface="Calibri" pitchFamily="34" charset="0"/>
                <a:ea typeface="Calibri" pitchFamily="34" charset="-122"/>
                <a:cs typeface="Calibri" pitchFamily="34" charset="-120"/>
              </a:rPr>
              <a:t>rộng</a:t>
            </a:r>
            <a:r>
              <a:rPr lang="en-US" dirty="0">
                <a:solidFill>
                  <a:srgbClr val="E8F4FD"/>
                </a:solidFill>
                <a:latin typeface="Calibri" pitchFamily="34" charset="0"/>
                <a:ea typeface="Calibri" pitchFamily="34" charset="-122"/>
                <a:cs typeface="Calibri" pitchFamily="34" charset="-120"/>
              </a:rPr>
              <a:t> sang </a:t>
            </a:r>
            <a:r>
              <a:rPr lang="en-US" dirty="0" err="1">
                <a:solidFill>
                  <a:srgbClr val="E8F4FD"/>
                </a:solidFill>
                <a:latin typeface="Calibri" pitchFamily="34" charset="0"/>
                <a:ea typeface="Calibri" pitchFamily="34" charset="-122"/>
                <a:cs typeface="Calibri" pitchFamily="34" charset="-120"/>
              </a:rPr>
              <a:t>các</a:t>
            </a:r>
            <a:r>
              <a:rPr lang="en-US" dirty="0">
                <a:solidFill>
                  <a:srgbClr val="E8F4FD"/>
                </a:solidFill>
                <a:latin typeface="Calibri" pitchFamily="34" charset="0"/>
                <a:ea typeface="Calibri" pitchFamily="34" charset="-122"/>
                <a:cs typeface="Calibri" pitchFamily="34" charset="-120"/>
              </a:rPr>
              <a:t> chi </a:t>
            </a:r>
            <a:r>
              <a:rPr lang="en-US" dirty="0" err="1">
                <a:solidFill>
                  <a:srgbClr val="E8F4FD"/>
                </a:solidFill>
                <a:latin typeface="Calibri" pitchFamily="34" charset="0"/>
                <a:ea typeface="Calibri" pitchFamily="34" charset="-122"/>
                <a:cs typeface="Calibri" pitchFamily="34" charset="-120"/>
              </a:rPr>
              <a:t>tiết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đới</a:t>
            </a:r>
            <a:r>
              <a:rPr lang="en-US" dirty="0">
                <a:solidFill>
                  <a:srgbClr val="E8F4FD"/>
                </a:solidFill>
                <a:latin typeface="Calibri" pitchFamily="34" charset="0"/>
                <a:ea typeface="Calibri" pitchFamily="34" charset="-122"/>
                <a:cs typeface="Calibri" pitchFamily="34" charset="-120"/>
              </a:rPr>
              <a:t>.</a:t>
            </a:r>
            <a:endParaRPr lang="en-US" dirty="0"/>
          </a:p>
        </p:txBody>
      </p:sp>
      <p:sp>
        <p:nvSpPr>
          <p:cNvPr id="23" name="Shape 7">
            <a:extLst>
              <a:ext uri="{FF2B5EF4-FFF2-40B4-BE49-F238E27FC236}">
                <a16:creationId xmlns:a16="http://schemas.microsoft.com/office/drawing/2014/main" id="{3415CDD6-E5BB-BABC-EBEF-9397E8B939FF}"/>
              </a:ext>
            </a:extLst>
          </p:cNvPr>
          <p:cNvSpPr/>
          <p:nvPr/>
        </p:nvSpPr>
        <p:spPr>
          <a:xfrm>
            <a:off x="4175760" y="1070044"/>
            <a:ext cx="3840480" cy="4114800"/>
          </a:xfrm>
          <a:prstGeom prst="roundRect">
            <a:avLst>
              <a:gd name="adj" fmla="val 5741"/>
            </a:avLst>
          </a:prstGeom>
          <a:solidFill>
            <a:srgbClr val="5A4A00"/>
          </a:solidFill>
          <a:ln w="12700">
            <a:solidFill>
              <a:srgbClr val="0077B6"/>
            </a:solidFill>
            <a:prstDash val="solid"/>
          </a:ln>
        </p:spPr>
      </p:sp>
      <p:sp>
        <p:nvSpPr>
          <p:cNvPr id="24" name="Text 8">
            <a:extLst>
              <a:ext uri="{FF2B5EF4-FFF2-40B4-BE49-F238E27FC236}">
                <a16:creationId xmlns:a16="http://schemas.microsoft.com/office/drawing/2014/main" id="{CFBFBC1E-7149-5721-FE33-A221B040B466}"/>
              </a:ext>
            </a:extLst>
          </p:cNvPr>
          <p:cNvSpPr/>
          <p:nvPr/>
        </p:nvSpPr>
        <p:spPr>
          <a:xfrm>
            <a:off x="4259310"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phòng ngừa</a:t>
            </a:r>
            <a:endParaRPr lang="en-US" dirty="0"/>
          </a:p>
        </p:txBody>
      </p:sp>
      <p:sp>
        <p:nvSpPr>
          <p:cNvPr id="25" name="Text 9">
            <a:extLst>
              <a:ext uri="{FF2B5EF4-FFF2-40B4-BE49-F238E27FC236}">
                <a16:creationId xmlns:a16="http://schemas.microsoft.com/office/drawing/2014/main" id="{829F2FFC-728A-686F-50E6-A3FE3FA96ED3}"/>
              </a:ext>
            </a:extLst>
          </p:cNvPr>
          <p:cNvSpPr/>
          <p:nvPr/>
        </p:nvSpPr>
        <p:spPr>
          <a:xfrm>
            <a:off x="4259310"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lịch định kỳ</a:t>
            </a:r>
            <a:endParaRPr lang="en-US" sz="1500" dirty="0"/>
          </a:p>
        </p:txBody>
      </p:sp>
      <p:sp>
        <p:nvSpPr>
          <p:cNvPr id="26" name="Text 10">
            <a:extLst>
              <a:ext uri="{FF2B5EF4-FFF2-40B4-BE49-F238E27FC236}">
                <a16:creationId xmlns:a16="http://schemas.microsoft.com/office/drawing/2014/main" id="{DCE38714-B623-74B5-E941-83C8392C46EE}"/>
              </a:ext>
            </a:extLst>
          </p:cNvPr>
          <p:cNvSpPr/>
          <p:nvPr/>
        </p:nvSpPr>
        <p:spPr>
          <a:xfrm>
            <a:off x="4259309" y="1893004"/>
            <a:ext cx="3630469"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dựa</a:t>
            </a:r>
            <a:r>
              <a:rPr lang="en-US" dirty="0">
                <a:solidFill>
                  <a:schemeClr val="bg1"/>
                </a:solidFill>
              </a:rPr>
              <a:t> </a:t>
            </a:r>
            <a:r>
              <a:rPr lang="en-US" dirty="0" err="1">
                <a:solidFill>
                  <a:schemeClr val="bg1"/>
                </a:solidFill>
              </a:rPr>
              <a:t>trên</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vận</a:t>
            </a:r>
            <a:r>
              <a:rPr lang="en-US" dirty="0">
                <a:solidFill>
                  <a:schemeClr val="bg1"/>
                </a:solidFill>
              </a:rPr>
              <a:t> </a:t>
            </a:r>
            <a:r>
              <a:rPr lang="en-US" dirty="0" err="1">
                <a:solidFill>
                  <a:schemeClr val="bg1"/>
                </a:solidFill>
              </a:rPr>
              <a:t>hành</a:t>
            </a:r>
            <a:r>
              <a:rPr lang="en-US" dirty="0">
                <a:solidFill>
                  <a:schemeClr val="bg1"/>
                </a:solidFill>
              </a:rPr>
              <a:t> </a:t>
            </a:r>
            <a:r>
              <a:rPr lang="en-US" dirty="0" err="1">
                <a:solidFill>
                  <a:schemeClr val="bg1"/>
                </a:solidFill>
              </a:rPr>
              <a:t>tích</a:t>
            </a:r>
            <a:r>
              <a:rPr lang="en-US" dirty="0">
                <a:solidFill>
                  <a:schemeClr val="bg1"/>
                </a:solidFill>
              </a:rPr>
              <a:t> </a:t>
            </a:r>
            <a:r>
              <a:rPr lang="en-US" dirty="0" err="1">
                <a:solidFill>
                  <a:schemeClr val="bg1"/>
                </a:solidFill>
              </a:rPr>
              <a:t>lũy</a:t>
            </a:r>
            <a:r>
              <a:rPr lang="en-US" dirty="0">
                <a:solidFill>
                  <a:schemeClr val="bg1"/>
                </a:solidFill>
              </a:rPr>
              <a:t> </a:t>
            </a:r>
            <a:r>
              <a:rPr lang="en-US" dirty="0" err="1">
                <a:solidFill>
                  <a:schemeClr val="bg1"/>
                </a:solidFill>
              </a:rPr>
              <a:t>hoặc</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lượng</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phẩm</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Lãng</a:t>
            </a:r>
            <a:r>
              <a:rPr lang="en-US" b="1" dirty="0">
                <a:solidFill>
                  <a:schemeClr val="bg1"/>
                </a:solidFill>
              </a:rPr>
              <a:t> </a:t>
            </a:r>
            <a:r>
              <a:rPr lang="en-US" b="1" dirty="0" err="1">
                <a:solidFill>
                  <a:schemeClr val="bg1"/>
                </a:solidFill>
              </a:rPr>
              <a:t>phí</a:t>
            </a:r>
            <a:r>
              <a:rPr lang="en-US" b="1" dirty="0">
                <a:solidFill>
                  <a:schemeClr val="bg1"/>
                </a:solidFill>
              </a:rPr>
              <a:t>:</a:t>
            </a:r>
            <a:r>
              <a:rPr lang="en-US" dirty="0">
                <a:solidFill>
                  <a:schemeClr val="bg1"/>
                </a:solidFill>
              </a:rPr>
              <a:t> </a:t>
            </a:r>
            <a:r>
              <a:rPr lang="en-US" dirty="0" err="1">
                <a:solidFill>
                  <a:schemeClr val="bg1"/>
                </a:solidFill>
              </a:rPr>
              <a:t>Buộc</a:t>
            </a:r>
            <a:r>
              <a:rPr lang="en-US" dirty="0">
                <a:solidFill>
                  <a:schemeClr val="bg1"/>
                </a:solidFill>
              </a:rPr>
              <a:t> </a:t>
            </a:r>
            <a:r>
              <a:rPr lang="en-US" dirty="0" err="1">
                <a:solidFill>
                  <a:schemeClr val="bg1"/>
                </a:solidFill>
              </a:rPr>
              <a:t>phải</a:t>
            </a:r>
            <a:r>
              <a:rPr lang="en-US" dirty="0">
                <a:solidFill>
                  <a:schemeClr val="bg1"/>
                </a:solidFill>
              </a:rPr>
              <a:t> </a:t>
            </a:r>
            <a:r>
              <a:rPr lang="en-US" dirty="0" err="1">
                <a:solidFill>
                  <a:schemeClr val="bg1"/>
                </a:solidFill>
              </a:rPr>
              <a:t>thay</a:t>
            </a:r>
            <a:r>
              <a:rPr lang="en-US" dirty="0">
                <a:solidFill>
                  <a:schemeClr val="bg1"/>
                </a:solidFill>
              </a:rPr>
              <a:t> </a:t>
            </a:r>
            <a:r>
              <a:rPr lang="en-US" dirty="0" err="1">
                <a:solidFill>
                  <a:schemeClr val="bg1"/>
                </a:solidFill>
              </a:rPr>
              <a:t>thế</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khí</a:t>
            </a:r>
            <a:r>
              <a:rPr lang="en-US" dirty="0">
                <a:solidFill>
                  <a:schemeClr val="bg1"/>
                </a:solidFill>
              </a:rPr>
              <a:t> </a:t>
            </a:r>
            <a:r>
              <a:rPr lang="en-US" dirty="0" err="1">
                <a:solidFill>
                  <a:schemeClr val="bg1"/>
                </a:solidFill>
              </a:rPr>
              <a:t>khi</a:t>
            </a:r>
            <a:r>
              <a:rPr lang="en-US" dirty="0">
                <a:solidFill>
                  <a:schemeClr val="bg1"/>
                </a:solidFill>
              </a:rPr>
              <a:t> </a:t>
            </a:r>
            <a:r>
              <a:rPr lang="en-US" dirty="0" err="1">
                <a:solidFill>
                  <a:schemeClr val="bg1"/>
                </a:solidFill>
              </a:rPr>
              <a:t>chúng</a:t>
            </a:r>
            <a:r>
              <a:rPr lang="en-US" dirty="0">
                <a:solidFill>
                  <a:schemeClr val="bg1"/>
                </a:solidFill>
              </a:rPr>
              <a:t> </a:t>
            </a:r>
            <a:r>
              <a:rPr lang="en-US" dirty="0" err="1">
                <a:solidFill>
                  <a:schemeClr val="bg1"/>
                </a:solidFill>
              </a:rPr>
              <a:t>vẫn</a:t>
            </a:r>
            <a:r>
              <a:rPr lang="en-US" dirty="0">
                <a:solidFill>
                  <a:schemeClr val="bg1"/>
                </a:solidFill>
              </a:rPr>
              <a:t> </a:t>
            </a:r>
            <a:r>
              <a:rPr lang="en-US" dirty="0" err="1">
                <a:solidFill>
                  <a:schemeClr val="bg1"/>
                </a:solidFill>
              </a:rPr>
              <a:t>còn</a:t>
            </a:r>
            <a:r>
              <a:rPr lang="en-US" dirty="0">
                <a:solidFill>
                  <a:schemeClr val="bg1"/>
                </a:solidFill>
              </a:rPr>
              <a:t> </a:t>
            </a:r>
            <a:r>
              <a:rPr lang="en-US" dirty="0" err="1">
                <a:solidFill>
                  <a:schemeClr val="bg1"/>
                </a:solidFill>
              </a:rPr>
              <a:t>khả</a:t>
            </a:r>
            <a:r>
              <a:rPr lang="en-US" dirty="0">
                <a:solidFill>
                  <a:schemeClr val="bg1"/>
                </a:solidFill>
              </a:rPr>
              <a:t> </a:t>
            </a:r>
            <a:r>
              <a:rPr lang="en-US" dirty="0" err="1">
                <a:solidFill>
                  <a:schemeClr val="bg1"/>
                </a:solidFill>
              </a:rPr>
              <a:t>năng</a:t>
            </a:r>
            <a:r>
              <a:rPr lang="en-US" dirty="0">
                <a:solidFill>
                  <a:schemeClr val="bg1"/>
                </a:solidFill>
              </a:rPr>
              <a:t> </a:t>
            </a:r>
            <a:r>
              <a:rPr lang="en-US" dirty="0" err="1">
                <a:solidFill>
                  <a:schemeClr val="bg1"/>
                </a:solidFill>
              </a:rPr>
              <a:t>hoạt</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tốt</a:t>
            </a:r>
            <a:r>
              <a:rPr lang="en-US" dirty="0">
                <a:solidFill>
                  <a:schemeClr val="bg1"/>
                </a:solidFill>
              </a:rPr>
              <a:t>.</a:t>
            </a:r>
          </a:p>
          <a:p>
            <a:pPr marL="342900" indent="-342900">
              <a:buSzPct val="100000"/>
              <a:buChar char="•"/>
            </a:pPr>
            <a:r>
              <a:rPr lang="en-US" b="1" dirty="0" err="1">
                <a:solidFill>
                  <a:schemeClr val="bg1"/>
                </a:solidFill>
              </a:rPr>
              <a:t>Rủi</a:t>
            </a:r>
            <a:r>
              <a:rPr lang="en-US" b="1" dirty="0">
                <a:solidFill>
                  <a:schemeClr val="bg1"/>
                </a:solidFill>
              </a:rPr>
              <a:t> </a:t>
            </a:r>
            <a:r>
              <a:rPr lang="en-US" b="1" dirty="0" err="1">
                <a:solidFill>
                  <a:schemeClr val="bg1"/>
                </a:solidFill>
              </a:rPr>
              <a:t>ro</a:t>
            </a:r>
            <a:r>
              <a:rPr lang="en-US" b="1" dirty="0">
                <a:solidFill>
                  <a:schemeClr val="bg1"/>
                </a:solidFill>
              </a:rPr>
              <a:t>: </a:t>
            </a:r>
            <a:r>
              <a:rPr lang="en-US" dirty="0" err="1">
                <a:solidFill>
                  <a:schemeClr val="bg1"/>
                </a:solidFill>
              </a:rPr>
              <a:t>Không</a:t>
            </a:r>
            <a:r>
              <a:rPr lang="en-US" dirty="0">
                <a:solidFill>
                  <a:schemeClr val="bg1"/>
                </a:solidFill>
              </a:rPr>
              <a:t> </a:t>
            </a:r>
            <a:r>
              <a:rPr lang="en-US" dirty="0" err="1">
                <a:solidFill>
                  <a:schemeClr val="bg1"/>
                </a:solidFill>
              </a:rPr>
              <a:t>thể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khuyết</a:t>
            </a:r>
            <a:r>
              <a:rPr lang="en-US" dirty="0">
                <a:solidFill>
                  <a:schemeClr val="bg1"/>
                </a:solidFill>
              </a:rPr>
              <a:t> </a:t>
            </a:r>
            <a:r>
              <a:rPr lang="en-US" dirty="0" err="1">
                <a:solidFill>
                  <a:schemeClr val="bg1"/>
                </a:solidFill>
              </a:rPr>
              <a:t>tật</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sinh</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trước</a:t>
            </a:r>
            <a:r>
              <a:rPr lang="en-US" dirty="0">
                <a:solidFill>
                  <a:schemeClr val="bg1"/>
                </a:solidFill>
              </a:rPr>
              <a:t> </a:t>
            </a:r>
            <a:r>
              <a:rPr lang="en-US" dirty="0" err="1">
                <a:solidFill>
                  <a:schemeClr val="bg1"/>
                </a:solidFill>
              </a:rPr>
              <a:t>kỳ</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dẫn</a:t>
            </a:r>
            <a:r>
              <a:rPr lang="en-US" dirty="0">
                <a:solidFill>
                  <a:schemeClr val="bg1"/>
                </a:solidFill>
              </a:rPr>
              <a:t> </a:t>
            </a:r>
            <a:r>
              <a:rPr lang="en-US" dirty="0" err="1">
                <a:solidFill>
                  <a:schemeClr val="bg1"/>
                </a:solidFill>
              </a:rPr>
              <a:t>đến</a:t>
            </a:r>
            <a:r>
              <a:rPr lang="en-US" dirty="0">
                <a:solidFill>
                  <a:schemeClr val="bg1"/>
                </a:solidFill>
              </a:rPr>
              <a:t> </a:t>
            </a:r>
            <a:r>
              <a:rPr lang="en-US" dirty="0" err="1">
                <a:solidFill>
                  <a:schemeClr val="bg1"/>
                </a:solidFill>
              </a:rPr>
              <a:t>nguy</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xảy</a:t>
            </a:r>
            <a:r>
              <a:rPr lang="en-US" dirty="0">
                <a:solidFill>
                  <a:schemeClr val="bg1"/>
                </a:solidFill>
              </a:rPr>
              <a:t> </a:t>
            </a:r>
            <a:r>
              <a:rPr lang="en-US" dirty="0" err="1">
                <a:solidFill>
                  <a:schemeClr val="bg1"/>
                </a:solidFill>
              </a:rPr>
              <a:t>ra</a:t>
            </a:r>
            <a:r>
              <a:rPr lang="en-US" dirty="0">
                <a:solidFill>
                  <a:schemeClr val="bg1"/>
                </a:solidFill>
              </a:rPr>
              <a:t> </a:t>
            </a:r>
            <a:r>
              <a:rPr lang="en-US" dirty="0" err="1">
                <a:solidFill>
                  <a:schemeClr val="bg1"/>
                </a:solidFill>
              </a:rPr>
              <a:t>sự</a:t>
            </a:r>
            <a:r>
              <a:rPr lang="en-US" dirty="0">
                <a:solidFill>
                  <a:schemeClr val="bg1"/>
                </a:solidFill>
              </a:rPr>
              <a:t> </a:t>
            </a:r>
            <a:r>
              <a:rPr lang="en-US" dirty="0" err="1">
                <a:solidFill>
                  <a:schemeClr val="bg1"/>
                </a:solidFill>
              </a:rPr>
              <a:t>cố</a:t>
            </a:r>
            <a:r>
              <a:rPr lang="en-US" dirty="0">
                <a:solidFill>
                  <a:schemeClr val="bg1"/>
                </a:solidFill>
              </a:rPr>
              <a:t> </a:t>
            </a:r>
            <a:r>
              <a:rPr lang="en-US" dirty="0" err="1">
                <a:solidFill>
                  <a:schemeClr val="bg1"/>
                </a:solidFill>
              </a:rPr>
              <a:t>đột</a:t>
            </a:r>
            <a:r>
              <a:rPr lang="en-US" dirty="0">
                <a:solidFill>
                  <a:schemeClr val="bg1"/>
                </a:solidFill>
              </a:rPr>
              <a:t> </a:t>
            </a:r>
            <a:r>
              <a:rPr lang="en-US" dirty="0" err="1">
                <a:solidFill>
                  <a:schemeClr val="bg1"/>
                </a:solidFill>
              </a:rPr>
              <a:t>xuất</a:t>
            </a:r>
            <a:r>
              <a:rPr lang="en-US" dirty="0">
                <a:solidFill>
                  <a:schemeClr val="bg1"/>
                </a:solidFill>
              </a:rPr>
              <a:t>.</a:t>
            </a:r>
          </a:p>
        </p:txBody>
      </p:sp>
      <p:sp>
        <p:nvSpPr>
          <p:cNvPr id="27" name="Shape 11">
            <a:extLst>
              <a:ext uri="{FF2B5EF4-FFF2-40B4-BE49-F238E27FC236}">
                <a16:creationId xmlns:a16="http://schemas.microsoft.com/office/drawing/2014/main" id="{E1FEFA1D-F44E-7478-964E-040B5D4D37E1}"/>
              </a:ext>
            </a:extLst>
          </p:cNvPr>
          <p:cNvSpPr/>
          <p:nvPr/>
        </p:nvSpPr>
        <p:spPr>
          <a:xfrm>
            <a:off x="8164099" y="1070044"/>
            <a:ext cx="3840480" cy="4114800"/>
          </a:xfrm>
          <a:prstGeom prst="roundRect">
            <a:avLst>
              <a:gd name="adj" fmla="val 6316"/>
            </a:avLst>
          </a:prstGeom>
          <a:solidFill>
            <a:srgbClr val="0A3D2A"/>
          </a:solidFill>
          <a:ln w="12700">
            <a:solidFill>
              <a:srgbClr val="0077B6"/>
            </a:solidFill>
            <a:prstDash val="solid"/>
          </a:ln>
        </p:spPr>
      </p:sp>
      <p:sp>
        <p:nvSpPr>
          <p:cNvPr id="28" name="Text 12">
            <a:extLst>
              <a:ext uri="{FF2B5EF4-FFF2-40B4-BE49-F238E27FC236}">
                <a16:creationId xmlns:a16="http://schemas.microsoft.com/office/drawing/2014/main" id="{E7A30B39-1E9C-CA7F-0824-F078B540E9C5}"/>
              </a:ext>
            </a:extLst>
          </p:cNvPr>
          <p:cNvSpPr/>
          <p:nvPr/>
        </p:nvSpPr>
        <p:spPr>
          <a:xfrm>
            <a:off x="8255539"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dự đoán</a:t>
            </a:r>
            <a:endParaRPr lang="en-US" dirty="0"/>
          </a:p>
        </p:txBody>
      </p:sp>
      <p:sp>
        <p:nvSpPr>
          <p:cNvPr id="29" name="Text 13">
            <a:extLst>
              <a:ext uri="{FF2B5EF4-FFF2-40B4-BE49-F238E27FC236}">
                <a16:creationId xmlns:a16="http://schemas.microsoft.com/office/drawing/2014/main" id="{957E5386-9F5E-9B6F-5EFA-4B6B1F1A6039}"/>
              </a:ext>
            </a:extLst>
          </p:cNvPr>
          <p:cNvSpPr/>
          <p:nvPr/>
        </p:nvSpPr>
        <p:spPr>
          <a:xfrm>
            <a:off x="8255539"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tình trạng thực tế ✓</a:t>
            </a:r>
            <a:endParaRPr lang="en-US" sz="1500" dirty="0"/>
          </a:p>
        </p:txBody>
      </p:sp>
      <p:sp>
        <p:nvSpPr>
          <p:cNvPr id="30" name="Text 14">
            <a:extLst>
              <a:ext uri="{FF2B5EF4-FFF2-40B4-BE49-F238E27FC236}">
                <a16:creationId xmlns:a16="http://schemas.microsoft.com/office/drawing/2014/main" id="{65CA8596-ED21-C700-B26A-92EA52446DA5}"/>
              </a:ext>
            </a:extLst>
          </p:cNvPr>
          <p:cNvSpPr/>
          <p:nvPr/>
        </p:nvSpPr>
        <p:spPr>
          <a:xfrm>
            <a:off x="8255537" y="1893004"/>
            <a:ext cx="3657603"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đại</a:t>
            </a:r>
            <a:r>
              <a:rPr lang="en-US" dirty="0">
                <a:solidFill>
                  <a:schemeClr val="bg1"/>
                </a:solidFill>
              </a:rPr>
              <a:t>: </a:t>
            </a:r>
            <a:r>
              <a:rPr lang="en-US" dirty="0" err="1">
                <a:solidFill>
                  <a:schemeClr val="bg1"/>
                </a:solidFill>
              </a:rPr>
              <a:t>giám</a:t>
            </a:r>
            <a:r>
              <a:rPr lang="en-US" dirty="0">
                <a:solidFill>
                  <a:schemeClr val="bg1"/>
                </a:solidFill>
              </a:rPr>
              <a:t> </a:t>
            </a:r>
            <a:r>
              <a:rPr lang="en-US" dirty="0" err="1">
                <a:solidFill>
                  <a:schemeClr val="bg1"/>
                </a:solidFill>
              </a:rPr>
              <a:t>sát</a:t>
            </a:r>
            <a:r>
              <a:rPr lang="en-US" dirty="0">
                <a:solidFill>
                  <a:schemeClr val="bg1"/>
                </a:solidFill>
              </a:rPr>
              <a:t> </a:t>
            </a:r>
            <a:r>
              <a:rPr lang="en-US" dirty="0" err="1">
                <a:solidFill>
                  <a:schemeClr val="bg1"/>
                </a:solidFill>
              </a:rPr>
              <a:t>liên</a:t>
            </a:r>
            <a:r>
              <a:rPr lang="en-US" dirty="0">
                <a:solidFill>
                  <a:schemeClr val="bg1"/>
                </a:solidFill>
              </a:rPr>
              <a:t> </a:t>
            </a:r>
            <a:r>
              <a:rPr lang="en-US" dirty="0" err="1">
                <a:solidFill>
                  <a:schemeClr val="bg1"/>
                </a:solidFill>
              </a:rPr>
              <a:t>tục</a:t>
            </a:r>
            <a:r>
              <a:rPr lang="en-US" dirty="0">
                <a:solidFill>
                  <a:schemeClr val="bg1"/>
                </a:solidFill>
              </a:rPr>
              <a:t> </a:t>
            </a:r>
            <a:r>
              <a:rPr lang="en-US" dirty="0" err="1">
                <a:solidFill>
                  <a:schemeClr val="bg1"/>
                </a:solidFill>
              </a:rPr>
              <a:t>trạng</a:t>
            </a:r>
            <a:r>
              <a:rPr lang="en-US" dirty="0">
                <a:solidFill>
                  <a:schemeClr val="bg1"/>
                </a:solidFill>
              </a:rPr>
              <a:t> </a:t>
            </a:r>
            <a:r>
              <a:rPr lang="en-US" dirty="0" err="1">
                <a:solidFill>
                  <a:schemeClr val="bg1"/>
                </a:solidFill>
              </a:rPr>
              <a:t>thái</a:t>
            </a:r>
            <a:r>
              <a:rPr lang="en-US" dirty="0">
                <a:solidFill>
                  <a:schemeClr val="bg1"/>
                </a:solidFill>
              </a:rPr>
              <a:t> </a:t>
            </a:r>
            <a:r>
              <a:rPr lang="en-US" dirty="0" err="1">
                <a:solidFill>
                  <a:schemeClr val="bg1"/>
                </a:solidFill>
              </a:rPr>
              <a:t>sức</a:t>
            </a:r>
            <a:r>
              <a:rPr lang="en-US" dirty="0">
                <a:solidFill>
                  <a:schemeClr val="bg1"/>
                </a:solidFill>
              </a:rPr>
              <a:t> </a:t>
            </a:r>
            <a:r>
              <a:rPr lang="en-US" dirty="0" err="1">
                <a:solidFill>
                  <a:schemeClr val="bg1"/>
                </a:solidFill>
              </a:rPr>
              <a:t>khỏe</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thiết</a:t>
            </a:r>
            <a:r>
              <a:rPr lang="en-US" dirty="0">
                <a:solidFill>
                  <a:schemeClr val="bg1"/>
                </a:solidFill>
              </a:rPr>
              <a:t> </a:t>
            </a:r>
            <a:r>
              <a:rPr lang="en-US" dirty="0" err="1">
                <a:solidFill>
                  <a:schemeClr val="bg1"/>
                </a:solidFill>
              </a:rPr>
              <a:t>bị</a:t>
            </a:r>
            <a:r>
              <a:rPr lang="en-US" dirty="0">
                <a:solidFill>
                  <a:schemeClr val="bg1"/>
                </a:solidFill>
              </a:rPr>
              <a:t> </a:t>
            </a:r>
            <a:r>
              <a:rPr lang="en-US" dirty="0" err="1">
                <a:solidFill>
                  <a:schemeClr val="bg1"/>
                </a:solidFill>
              </a:rPr>
              <a:t>bằng</a:t>
            </a:r>
            <a:r>
              <a:rPr lang="en-US" dirty="0">
                <a:solidFill>
                  <a:schemeClr val="bg1"/>
                </a:solidFill>
              </a:rPr>
              <a:t> </a:t>
            </a:r>
            <a:r>
              <a:rPr lang="en-US" dirty="0" err="1">
                <a:solidFill>
                  <a:schemeClr val="bg1"/>
                </a:solidFill>
              </a:rPr>
              <a:t>cảm</a:t>
            </a:r>
            <a:r>
              <a:rPr lang="en-US" dirty="0">
                <a:solidFill>
                  <a:schemeClr val="bg1"/>
                </a:solidFill>
              </a:rPr>
              <a:t> </a:t>
            </a:r>
            <a:r>
              <a:rPr lang="en-US" dirty="0" err="1">
                <a:solidFill>
                  <a:schemeClr val="bg1"/>
                </a:solidFill>
              </a:rPr>
              <a:t>biến</a:t>
            </a:r>
            <a:r>
              <a:rPr lang="en-US" dirty="0">
                <a:solidFill>
                  <a:schemeClr val="bg1"/>
                </a:solidFill>
              </a:rPr>
              <a:t> </a:t>
            </a:r>
            <a:r>
              <a:rPr lang="en-US" dirty="0" err="1">
                <a:solidFill>
                  <a:schemeClr val="bg1"/>
                </a:solidFill>
              </a:rPr>
              <a:t>đo</a:t>
            </a:r>
            <a:r>
              <a:rPr lang="en-US" dirty="0">
                <a:solidFill>
                  <a:schemeClr val="bg1"/>
                </a:solidFill>
              </a:rPr>
              <a:t> dao </a:t>
            </a:r>
            <a:r>
              <a:rPr lang="en-US" dirty="0" err="1">
                <a:solidFill>
                  <a:schemeClr val="bg1"/>
                </a:solidFill>
              </a:rPr>
              <a:t>động</a:t>
            </a:r>
            <a:r>
              <a:rPr lang="en-US" dirty="0">
                <a:solidFill>
                  <a:schemeClr val="bg1"/>
                </a:solidFill>
              </a:rPr>
              <a:t>.</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Mục</a:t>
            </a:r>
            <a:r>
              <a:rPr lang="en-US" b="1" dirty="0">
                <a:solidFill>
                  <a:schemeClr val="bg1"/>
                </a:solidFill>
              </a:rPr>
              <a:t> </a:t>
            </a:r>
            <a:r>
              <a:rPr lang="en-US" b="1" dirty="0" err="1">
                <a:solidFill>
                  <a:schemeClr val="bg1"/>
                </a:solidFill>
              </a:rPr>
              <a:t>tiêu</a:t>
            </a:r>
            <a:r>
              <a:rPr lang="en-US" b="1" dirty="0">
                <a:solidFill>
                  <a:schemeClr val="bg1"/>
                </a:solidFill>
              </a:rPr>
              <a:t>:</a:t>
            </a:r>
            <a:r>
              <a:rPr lang="en-US" dirty="0">
                <a:solidFill>
                  <a:schemeClr val="bg1"/>
                </a:solidFill>
              </a:rPr>
              <a:t> </a:t>
            </a:r>
            <a:r>
              <a:rPr lang="en-US" dirty="0" err="1">
                <a:solidFill>
                  <a:schemeClr val="bg1"/>
                </a:solidFill>
              </a:rPr>
              <a:t>Đo</a:t>
            </a:r>
            <a:r>
              <a:rPr lang="en-US" dirty="0">
                <a:solidFill>
                  <a:schemeClr val="bg1"/>
                </a:solidFill>
              </a:rPr>
              <a:t> </a:t>
            </a:r>
            <a:r>
              <a:rPr lang="en-US" dirty="0" err="1">
                <a:solidFill>
                  <a:schemeClr val="bg1"/>
                </a:solidFill>
              </a:rPr>
              <a:t>đạc</a:t>
            </a:r>
            <a:r>
              <a:rPr lang="en-US" dirty="0">
                <a:solidFill>
                  <a:schemeClr val="bg1"/>
                </a:solidFill>
              </a:rPr>
              <a:t> </a:t>
            </a:r>
            <a:r>
              <a:rPr lang="en-US" dirty="0" err="1">
                <a:solidFill>
                  <a:schemeClr val="bg1"/>
                </a:solidFill>
              </a:rPr>
              <a:t>độ</a:t>
            </a:r>
            <a:r>
              <a:rPr lang="en-US" dirty="0">
                <a:solidFill>
                  <a:schemeClr val="bg1"/>
                </a:solidFill>
              </a:rPr>
              <a:t> dao </a:t>
            </a:r>
            <a:r>
              <a:rPr lang="en-US" dirty="0" err="1">
                <a:solidFill>
                  <a:schemeClr val="bg1"/>
                </a:solidFill>
              </a:rPr>
              <a:t>động</a:t>
            </a:r>
            <a:r>
              <a:rPr lang="en-US" dirty="0">
                <a:solidFill>
                  <a:schemeClr val="bg1"/>
                </a:solidFill>
              </a:rPr>
              <a:t> </a:t>
            </a:r>
            <a:r>
              <a:rPr lang="en-US" dirty="0" err="1">
                <a:solidFill>
                  <a:schemeClr val="bg1"/>
                </a:solidFill>
              </a:rPr>
              <a:t>để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dấu</a:t>
            </a:r>
            <a:r>
              <a:rPr lang="en-US" dirty="0">
                <a:solidFill>
                  <a:schemeClr val="bg1"/>
                </a:solidFill>
              </a:rPr>
              <a:t> </a:t>
            </a:r>
            <a:r>
              <a:rPr lang="en-US" dirty="0" err="1">
                <a:solidFill>
                  <a:schemeClr val="bg1"/>
                </a:solidFill>
              </a:rPr>
              <a:t>hiệu</a:t>
            </a:r>
            <a:r>
              <a:rPr lang="en-US" dirty="0">
                <a:solidFill>
                  <a:schemeClr val="bg1"/>
                </a:solidFill>
              </a:rPr>
              <a:t> </a:t>
            </a:r>
            <a:r>
              <a:rPr lang="en-US" dirty="0" err="1">
                <a:solidFill>
                  <a:schemeClr val="bg1"/>
                </a:solidFill>
              </a:rPr>
              <a:t>hư</a:t>
            </a:r>
            <a:r>
              <a:rPr lang="en-US" dirty="0">
                <a:solidFill>
                  <a:schemeClr val="bg1"/>
                </a:solidFill>
              </a:rPr>
              <a:t> </a:t>
            </a:r>
            <a:r>
              <a:rPr lang="en-US" dirty="0" err="1">
                <a:solidFill>
                  <a:schemeClr val="bg1"/>
                </a:solidFill>
              </a:rPr>
              <a:t>hỏng</a:t>
            </a:r>
            <a:r>
              <a:rPr lang="en-US" dirty="0">
                <a:solidFill>
                  <a:schemeClr val="bg1"/>
                </a:solidFill>
              </a:rPr>
              <a:t> </a:t>
            </a:r>
            <a:r>
              <a:rPr lang="en-US" dirty="0" err="1">
                <a:solidFill>
                  <a:schemeClr val="bg1"/>
                </a:solidFill>
              </a:rPr>
              <a:t>của</a:t>
            </a:r>
            <a:r>
              <a:rPr lang="en-US" dirty="0">
                <a:solidFill>
                  <a:schemeClr val="bg1"/>
                </a:solidFill>
              </a:rPr>
              <a:t> ổ </a:t>
            </a:r>
            <a:r>
              <a:rPr lang="en-US" dirty="0" err="1">
                <a:solidFill>
                  <a:schemeClr val="bg1"/>
                </a:solidFill>
              </a:rPr>
              <a:t>lăn</a:t>
            </a:r>
            <a:r>
              <a:rPr lang="en-US" dirty="0">
                <a:solidFill>
                  <a:schemeClr val="bg1"/>
                </a:solidFill>
              </a:rPr>
              <a:t> </a:t>
            </a:r>
            <a:r>
              <a:rPr lang="en-US" dirty="0" err="1">
                <a:solidFill>
                  <a:schemeClr val="bg1"/>
                </a:solidFill>
              </a:rPr>
              <a:t>ngay</a:t>
            </a:r>
            <a:r>
              <a:rPr lang="en-US" dirty="0">
                <a:solidFill>
                  <a:schemeClr val="bg1"/>
                </a:solidFill>
              </a:rPr>
              <a:t> </a:t>
            </a:r>
            <a:r>
              <a:rPr lang="en-US" dirty="0" err="1">
                <a:solidFill>
                  <a:schemeClr val="bg1"/>
                </a:solidFill>
              </a:rPr>
              <a:t>từ</a:t>
            </a:r>
            <a:r>
              <a:rPr lang="en-US" dirty="0">
                <a:solidFill>
                  <a:schemeClr val="bg1"/>
                </a:solidFill>
              </a:rPr>
              <a:t> </a:t>
            </a:r>
            <a:r>
              <a:rPr lang="en-US" dirty="0" err="1">
                <a:solidFill>
                  <a:schemeClr val="bg1"/>
                </a:solidFill>
              </a:rPr>
              <a:t>giai</a:t>
            </a:r>
            <a:r>
              <a:rPr lang="en-US" dirty="0">
                <a:solidFill>
                  <a:schemeClr val="bg1"/>
                </a:solidFill>
              </a:rPr>
              <a:t> </a:t>
            </a:r>
            <a:r>
              <a:rPr lang="en-US" dirty="0" err="1">
                <a:solidFill>
                  <a:schemeClr val="bg1"/>
                </a:solidFill>
              </a:rPr>
              <a:t>đoạn</a:t>
            </a:r>
            <a:r>
              <a:rPr lang="en-US" dirty="0">
                <a:solidFill>
                  <a:schemeClr val="bg1"/>
                </a:solidFill>
              </a:rPr>
              <a:t> </a:t>
            </a:r>
            <a:r>
              <a:rPr lang="en-US" dirty="0" err="1">
                <a:solidFill>
                  <a:schemeClr val="bg1"/>
                </a:solidFill>
              </a:rPr>
              <a:t>khởi</a:t>
            </a:r>
            <a:r>
              <a:rPr lang="en-US" dirty="0">
                <a:solidFill>
                  <a:schemeClr val="bg1"/>
                </a:solidFill>
              </a:rPr>
              <a:t> </a:t>
            </a:r>
            <a:r>
              <a:rPr lang="en-US" dirty="0" err="1">
                <a:solidFill>
                  <a:schemeClr val="bg1"/>
                </a:solidFill>
              </a:rPr>
              <a:t>phát</a:t>
            </a:r>
            <a:endParaRPr lang="en-US" dirty="0">
              <a:solidFill>
                <a:schemeClr val="bg1"/>
              </a:solidFill>
            </a:endParaRPr>
          </a:p>
          <a:p>
            <a:pPr marL="342900" indent="-342900">
              <a:buSzPct val="100000"/>
              <a:buChar char="•"/>
            </a:pPr>
            <a:r>
              <a:rPr lang="en-US" b="1" dirty="0">
                <a:solidFill>
                  <a:schemeClr val="bg1"/>
                </a:solidFill>
              </a:rPr>
              <a:t>Hiệu </a:t>
            </a:r>
            <a:r>
              <a:rPr lang="en-US" b="1" dirty="0" err="1">
                <a:solidFill>
                  <a:schemeClr val="bg1"/>
                </a:solidFill>
              </a:rPr>
              <a:t>quả</a:t>
            </a:r>
            <a:r>
              <a:rPr lang="en-US" b="1" dirty="0">
                <a:solidFill>
                  <a:schemeClr val="bg1"/>
                </a:solidFill>
              </a:rPr>
              <a:t>:</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lập</a:t>
            </a:r>
            <a:r>
              <a:rPr lang="en-US" dirty="0">
                <a:solidFill>
                  <a:schemeClr val="bg1"/>
                </a:solidFill>
              </a:rPr>
              <a:t> </a:t>
            </a:r>
            <a:r>
              <a:rPr lang="en-US" dirty="0" err="1">
                <a:solidFill>
                  <a:schemeClr val="bg1"/>
                </a:solidFill>
              </a:rPr>
              <a:t>kế</a:t>
            </a:r>
            <a:r>
              <a:rPr lang="en-US" dirty="0">
                <a:solidFill>
                  <a:schemeClr val="bg1"/>
                </a:solidFill>
              </a:rPr>
              <a:t> </a:t>
            </a:r>
            <a:r>
              <a:rPr lang="en-US" dirty="0" err="1">
                <a:solidFill>
                  <a:schemeClr val="bg1"/>
                </a:solidFill>
              </a:rPr>
              <a:t>hoạch</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ưu</a:t>
            </a:r>
            <a:r>
              <a:rPr lang="en-US" dirty="0">
                <a:solidFill>
                  <a:schemeClr val="bg1"/>
                </a:solidFill>
              </a:rPr>
              <a:t> </a:t>
            </a:r>
            <a:r>
              <a:rPr lang="en-US" dirty="0" err="1">
                <a:solidFill>
                  <a:schemeClr val="bg1"/>
                </a:solidFill>
              </a:rPr>
              <a:t>hóa</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dừng</a:t>
            </a:r>
            <a:r>
              <a:rPr lang="en-US" dirty="0">
                <a:solidFill>
                  <a:schemeClr val="bg1"/>
                </a:solidFill>
              </a:rPr>
              <a:t> </a:t>
            </a:r>
            <a:r>
              <a:rPr lang="en-US" dirty="0" err="1">
                <a:solidFill>
                  <a:schemeClr val="bg1"/>
                </a:solidFill>
              </a:rPr>
              <a:t>máy</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khai</a:t>
            </a:r>
            <a:r>
              <a:rPr lang="en-US" dirty="0">
                <a:solidFill>
                  <a:schemeClr val="bg1"/>
                </a:solidFill>
              </a:rPr>
              <a:t> </a:t>
            </a:r>
            <a:r>
              <a:rPr lang="en-US" dirty="0" err="1">
                <a:solidFill>
                  <a:schemeClr val="bg1"/>
                </a:solidFill>
              </a:rPr>
              <a:t>thác</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đa</a:t>
            </a:r>
            <a:r>
              <a:rPr lang="en-US" dirty="0">
                <a:solidFill>
                  <a:schemeClr val="bg1"/>
                </a:solidFill>
              </a:rPr>
              <a:t> </a:t>
            </a:r>
            <a:r>
              <a:rPr lang="en-US" dirty="0" err="1">
                <a:solidFill>
                  <a:schemeClr val="bg1"/>
                </a:solidFill>
              </a:rPr>
              <a:t>tuổi</a:t>
            </a:r>
            <a:r>
              <a:rPr lang="en-US" dirty="0">
                <a:solidFill>
                  <a:schemeClr val="bg1"/>
                </a:solidFill>
              </a:rPr>
              <a:t> </a:t>
            </a:r>
            <a:r>
              <a:rPr lang="en-US" dirty="0" err="1">
                <a:solidFill>
                  <a:schemeClr val="bg1"/>
                </a:solidFill>
              </a:rPr>
              <a:t>thọ</a:t>
            </a:r>
            <a:r>
              <a:rPr lang="en-US" dirty="0">
                <a:solidFill>
                  <a:schemeClr val="bg1"/>
                </a:solidFill>
              </a:rPr>
              <a:t> </a:t>
            </a:r>
            <a:r>
              <a:rPr lang="en-US" dirty="0" err="1">
                <a:solidFill>
                  <a:schemeClr val="bg1"/>
                </a:solidFill>
              </a:rPr>
              <a:t>hữu</a:t>
            </a:r>
            <a:r>
              <a:rPr lang="en-US" dirty="0">
                <a:solidFill>
                  <a:schemeClr val="bg1"/>
                </a:solidFill>
              </a:rPr>
              <a:t> </a:t>
            </a:r>
            <a:r>
              <a:rPr lang="en-US" dirty="0" err="1">
                <a:solidFill>
                  <a:schemeClr val="bg1"/>
                </a:solidFill>
              </a:rPr>
              <a:t>ích</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a:t>
            </a:r>
          </a:p>
        </p:txBody>
      </p:sp>
      <p:sp>
        <p:nvSpPr>
          <p:cNvPr id="32" name="Title 31">
            <a:extLst>
              <a:ext uri="{FF2B5EF4-FFF2-40B4-BE49-F238E27FC236}">
                <a16:creationId xmlns:a16="http://schemas.microsoft.com/office/drawing/2014/main" id="{BA197A3E-D45F-5AFC-5843-0BD196DC45FF}"/>
              </a:ext>
            </a:extLst>
          </p:cNvPr>
          <p:cNvSpPr>
            <a:spLocks noGrp="1"/>
          </p:cNvSpPr>
          <p:nvPr>
            <p:ph type="title"/>
          </p:nvPr>
        </p:nvSpPr>
        <p:spPr/>
        <p:txBody>
          <a:bodyPr/>
          <a:lstStyle/>
          <a:p>
            <a:r>
              <a:rPr lang="en-US" dirty="0" err="1"/>
              <a:t>Vì</a:t>
            </a:r>
            <a:r>
              <a:rPr lang="en-US" dirty="0"/>
              <a:t> </a:t>
            </a:r>
            <a:r>
              <a:rPr lang="en-US" dirty="0" err="1"/>
              <a:t>sao</a:t>
            </a:r>
            <a:r>
              <a:rPr lang="en-US" dirty="0"/>
              <a:t> </a:t>
            </a:r>
            <a:r>
              <a:rPr lang="en-US" dirty="0" err="1"/>
              <a:t>cần</a:t>
            </a:r>
            <a:r>
              <a:rPr lang="en-US" dirty="0"/>
              <a:t> </a:t>
            </a:r>
            <a:r>
              <a:rPr lang="en-US" dirty="0" err="1"/>
              <a:t>bảo</a:t>
            </a:r>
            <a:r>
              <a:rPr lang="en-US" dirty="0"/>
              <a:t> </a:t>
            </a:r>
            <a:r>
              <a:rPr lang="en-US" dirty="0" err="1"/>
              <a:t>trì</a:t>
            </a:r>
            <a:r>
              <a:rPr lang="en-US" dirty="0"/>
              <a:t> </a:t>
            </a:r>
            <a:r>
              <a:rPr lang="en-US" dirty="0" err="1"/>
              <a:t>dự</a:t>
            </a:r>
            <a:r>
              <a:rPr lang="en-US" dirty="0"/>
              <a:t> </a:t>
            </a:r>
            <a:r>
              <a:rPr lang="en-US" dirty="0" err="1"/>
              <a:t>đoán</a:t>
            </a:r>
            <a:endParaRPr lang="en-US" dirty="0"/>
          </a:p>
        </p:txBody>
      </p:sp>
      <p:sp>
        <p:nvSpPr>
          <p:cNvPr id="35" name="TextBox 34">
            <a:extLst>
              <a:ext uri="{FF2B5EF4-FFF2-40B4-BE49-F238E27FC236}">
                <a16:creationId xmlns:a16="http://schemas.microsoft.com/office/drawing/2014/main" id="{E68A5DFB-E7E0-CC7C-5632-2D00D53094EA}"/>
              </a:ext>
            </a:extLst>
          </p:cNvPr>
          <p:cNvSpPr txBox="1"/>
          <p:nvPr/>
        </p:nvSpPr>
        <p:spPr>
          <a:xfrm>
            <a:off x="590519" y="5435036"/>
            <a:ext cx="10968048" cy="646331"/>
          </a:xfrm>
          <a:prstGeom prst="rect">
            <a:avLst/>
          </a:prstGeom>
          <a:noFill/>
        </p:spPr>
        <p:txBody>
          <a:bodyPr wrap="square" rtlCol="0">
            <a:spAutoFit/>
          </a:bodyPr>
          <a:lstStyle/>
          <a:p>
            <a:pPr algn="ctr"/>
            <a:r>
              <a:rPr lang="en-US" b="1" dirty="0" err="1"/>
              <a:t>Cảm</a:t>
            </a:r>
            <a:r>
              <a:rPr lang="en-US" b="1" dirty="0"/>
              <a:t> </a:t>
            </a:r>
            <a:r>
              <a:rPr lang="en-US" b="1" dirty="0" err="1"/>
              <a:t>biến</a:t>
            </a:r>
            <a:r>
              <a:rPr lang="en-US" b="1" dirty="0"/>
              <a:t> </a:t>
            </a:r>
            <a:r>
              <a:rPr lang="en-US" b="1" dirty="0" err="1"/>
              <a:t>phát</a:t>
            </a:r>
            <a:r>
              <a:rPr lang="en-US" b="1" dirty="0"/>
              <a:t> </a:t>
            </a:r>
            <a:r>
              <a:rPr lang="en-US" b="1" dirty="0" err="1"/>
              <a:t>hiện</a:t>
            </a:r>
            <a:r>
              <a:rPr lang="en-US" b="1" dirty="0"/>
              <a:t> </a:t>
            </a:r>
            <a:r>
              <a:rPr lang="en-US" b="1" dirty="0" err="1"/>
              <a:t>sớm</a:t>
            </a:r>
            <a:r>
              <a:rPr lang="en-US" b="1" dirty="0"/>
              <a:t> </a:t>
            </a:r>
            <a:r>
              <a:rPr lang="en-US" b="1" dirty="0" err="1"/>
              <a:t>lỗi</a:t>
            </a:r>
            <a:r>
              <a:rPr lang="en-US" b="1" dirty="0"/>
              <a:t> </a:t>
            </a:r>
            <a:r>
              <a:rPr lang="en-US" b="1" dirty="0" err="1"/>
              <a:t>siêu</a:t>
            </a:r>
            <a:r>
              <a:rPr lang="en-US" b="1" dirty="0"/>
              <a:t> </a:t>
            </a:r>
            <a:r>
              <a:rPr lang="en-US" b="1" dirty="0" err="1"/>
              <a:t>nhỏ</a:t>
            </a:r>
            <a:r>
              <a:rPr lang="en-US" b="1" dirty="0"/>
              <a:t> </a:t>
            </a:r>
            <a:r>
              <a:rPr lang="en-US" b="1" dirty="0" err="1"/>
              <a:t>trước</a:t>
            </a:r>
            <a:r>
              <a:rPr lang="en-US" b="1" dirty="0"/>
              <a:t> tai </a:t>
            </a:r>
            <a:r>
              <a:rPr lang="en-US" b="1" dirty="0" err="1"/>
              <a:t>người</a:t>
            </a:r>
            <a:r>
              <a:rPr lang="en-US" b="1" dirty="0"/>
              <a:t> </a:t>
            </a:r>
            <a:r>
              <a:rPr lang="en-US" b="1" dirty="0" err="1"/>
              <a:t>vài</a:t>
            </a:r>
            <a:r>
              <a:rPr lang="en-US" b="1" dirty="0"/>
              <a:t> </a:t>
            </a:r>
            <a:r>
              <a:rPr lang="en-US" b="1" dirty="0" err="1"/>
              <a:t>tuần</a:t>
            </a:r>
            <a:r>
              <a:rPr lang="en-US" b="1" dirty="0"/>
              <a:t>/</a:t>
            </a:r>
            <a:r>
              <a:rPr lang="en-US" b="1" dirty="0" err="1"/>
              <a:t>tháng</a:t>
            </a:r>
            <a:r>
              <a:rPr lang="en-US" b="1" dirty="0"/>
              <a:t>, </a:t>
            </a:r>
            <a:r>
              <a:rPr lang="en-US" b="1" dirty="0" err="1"/>
              <a:t>dù</a:t>
            </a:r>
            <a:r>
              <a:rPr lang="en-US" b="1" dirty="0"/>
              <a:t> </a:t>
            </a:r>
            <a:r>
              <a:rPr lang="en-US" b="1" dirty="0" err="1"/>
              <a:t>vậy</a:t>
            </a:r>
            <a:r>
              <a:rPr lang="en-US" b="1" dirty="0"/>
              <a:t> </a:t>
            </a:r>
            <a:r>
              <a:rPr lang="en-US" b="1" dirty="0" err="1"/>
              <a:t>tín</a:t>
            </a:r>
            <a:r>
              <a:rPr lang="en-US" b="1" dirty="0"/>
              <a:t> </a:t>
            </a:r>
            <a:r>
              <a:rPr lang="en-US" b="1" dirty="0" err="1"/>
              <a:t>hiệu</a:t>
            </a:r>
            <a:r>
              <a:rPr lang="en-US" b="1" dirty="0"/>
              <a:t> ban </a:t>
            </a:r>
            <a:r>
              <a:rPr lang="en-US" b="1" dirty="0" err="1"/>
              <a:t>đầu</a:t>
            </a:r>
            <a:r>
              <a:rPr lang="en-US" b="1" dirty="0"/>
              <a:t> </a:t>
            </a:r>
            <a:r>
              <a:rPr lang="en-US" b="1" dirty="0" err="1"/>
              <a:t>nhỏ</a:t>
            </a:r>
            <a:r>
              <a:rPr lang="en-US" b="1" dirty="0"/>
              <a:t> </a:t>
            </a:r>
            <a:r>
              <a:rPr lang="en-US" b="1" dirty="0" err="1"/>
              <a:t>và</a:t>
            </a:r>
            <a:r>
              <a:rPr lang="en-US" b="1" dirty="0"/>
              <a:t> </a:t>
            </a:r>
            <a:r>
              <a:rPr lang="en-US" b="1" dirty="0" err="1"/>
              <a:t>dễ</a:t>
            </a:r>
            <a:r>
              <a:rPr lang="en-US" b="1" dirty="0"/>
              <a:t> </a:t>
            </a:r>
            <a:r>
              <a:rPr lang="en-US" b="1" dirty="0" err="1"/>
              <a:t>bị</a:t>
            </a:r>
            <a:r>
              <a:rPr lang="en-US" b="1" dirty="0"/>
              <a:t> </a:t>
            </a:r>
            <a:r>
              <a:rPr lang="en-US" b="1" dirty="0" err="1"/>
              <a:t>che</a:t>
            </a:r>
            <a:r>
              <a:rPr lang="en-US" b="1" dirty="0"/>
              <a:t> </a:t>
            </a:r>
            <a:r>
              <a:rPr lang="en-US" b="1" dirty="0" err="1"/>
              <a:t>lấp</a:t>
            </a:r>
            <a:r>
              <a:rPr lang="en-US" b="1" dirty="0"/>
              <a:t> </a:t>
            </a:r>
            <a:r>
              <a:rPr lang="en-US" b="1" dirty="0" err="1"/>
              <a:t>nhiễu</a:t>
            </a:r>
            <a:r>
              <a:rPr lang="en-US" b="1" dirty="0"/>
              <a:t> </a:t>
            </a:r>
            <a:r>
              <a:rPr lang="en-US" b="1" dirty="0" err="1"/>
              <a:t>và</a:t>
            </a:r>
            <a:r>
              <a:rPr lang="en-US" b="1" dirty="0"/>
              <a:t> </a:t>
            </a:r>
            <a:r>
              <a:rPr lang="en-US" b="1" dirty="0" err="1"/>
              <a:t>cần</a:t>
            </a:r>
            <a:r>
              <a:rPr lang="en-US" b="1" dirty="0"/>
              <a:t> </a:t>
            </a:r>
            <a:r>
              <a:rPr lang="en-US" b="1" dirty="0" err="1"/>
              <a:t>xử</a:t>
            </a:r>
            <a:r>
              <a:rPr lang="en-US" b="1" dirty="0"/>
              <a:t> </a:t>
            </a:r>
            <a:r>
              <a:rPr lang="en-US" b="1" dirty="0" err="1"/>
              <a:t>lý</a:t>
            </a:r>
            <a:r>
              <a:rPr lang="en-US" b="1" dirty="0"/>
              <a:t> </a:t>
            </a:r>
            <a:r>
              <a:rPr lang="en-US" b="1" dirty="0" err="1"/>
              <a:t>chuyên</a:t>
            </a:r>
            <a:r>
              <a:rPr lang="en-US" b="1" dirty="0"/>
              <a:t> </a:t>
            </a:r>
            <a:r>
              <a:rPr lang="en-US" b="1" dirty="0" err="1"/>
              <a:t>sâu</a:t>
            </a:r>
            <a:r>
              <a:rPr lang="en-US" b="1" dirty="0"/>
              <a:t>.</a:t>
            </a:r>
            <a:endParaRPr lang="en-US" dirty="0"/>
          </a:p>
        </p:txBody>
      </p:sp>
    </p:spTree>
    <p:extLst>
      <p:ext uri="{BB962C8B-B14F-4D97-AF65-F5344CB8AC3E}">
        <p14:creationId xmlns:p14="http://schemas.microsoft.com/office/powerpoint/2010/main" val="3505952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9DFEEB-8F07-817C-A868-7CC63A23DF6D}"/>
              </a:ext>
            </a:extLst>
          </p:cNvPr>
          <p:cNvSpPr>
            <a:spLocks noGrp="1"/>
          </p:cNvSpPr>
          <p:nvPr>
            <p:ph type="title"/>
          </p:nvPr>
        </p:nvSpPr>
        <p:spPr>
          <a:xfrm>
            <a:off x="338736" y="102815"/>
            <a:ext cx="11514528" cy="436098"/>
          </a:xfrm>
        </p:spPr>
        <p:txBody>
          <a:bodyPr/>
          <a:lstStyle/>
          <a:p>
            <a:r>
              <a:rPr lang="en-US" dirty="0">
                <a:solidFill>
                  <a:srgbClr val="FFFFFF"/>
                </a:solidFill>
                <a:latin typeface="Calibri" pitchFamily="34" charset="0"/>
                <a:ea typeface="Calibri" pitchFamily="34" charset="-122"/>
                <a:cs typeface="Calibri" pitchFamily="34" charset="-120"/>
              </a:rPr>
              <a:t>Quy </a:t>
            </a:r>
            <a:r>
              <a:rPr lang="en-US" dirty="0" err="1">
                <a:solidFill>
                  <a:srgbClr val="FFFFFF"/>
                </a:solidFill>
                <a:latin typeface="Calibri" pitchFamily="34" charset="0"/>
                <a:ea typeface="Calibri" pitchFamily="34" charset="-122"/>
                <a:cs typeface="Calibri" pitchFamily="34" charset="-120"/>
              </a:rPr>
              <a:t>Trình</a:t>
            </a:r>
            <a:r>
              <a:rPr lang="en-US" dirty="0">
                <a:solidFill>
                  <a:srgbClr val="FFFFFF"/>
                </a:solidFill>
                <a:latin typeface="Calibri" pitchFamily="34" charset="0"/>
                <a:ea typeface="Calibri" pitchFamily="34" charset="-122"/>
                <a:cs typeface="Calibri" pitchFamily="34" charset="-120"/>
              </a:rPr>
              <a:t> 7 </a:t>
            </a:r>
            <a:r>
              <a:rPr lang="en-US" dirty="0" err="1">
                <a:solidFill>
                  <a:srgbClr val="FFFFFF"/>
                </a:solidFill>
                <a:latin typeface="Calibri" pitchFamily="34" charset="0"/>
                <a:ea typeface="Calibri" pitchFamily="34" charset="-122"/>
                <a:cs typeface="Calibri" pitchFamily="34" charset="-120"/>
              </a:rPr>
              <a:t>Bước</a:t>
            </a:r>
            <a:endParaRPr lang="en-US" dirty="0"/>
          </a:p>
        </p:txBody>
      </p:sp>
      <p:sp>
        <p:nvSpPr>
          <p:cNvPr id="5" name="Slide Number Placeholder 4">
            <a:extLst>
              <a:ext uri="{FF2B5EF4-FFF2-40B4-BE49-F238E27FC236}">
                <a16:creationId xmlns:a16="http://schemas.microsoft.com/office/drawing/2014/main" id="{E8B4E653-E636-4EED-9A37-BC263FE84A93}"/>
              </a:ext>
            </a:extLst>
          </p:cNvPr>
          <p:cNvSpPr>
            <a:spLocks noGrp="1"/>
          </p:cNvSpPr>
          <p:nvPr>
            <p:ph type="sldNum" sz="quarter" idx="12"/>
          </p:nvPr>
        </p:nvSpPr>
        <p:spPr/>
        <p:txBody>
          <a:bodyPr/>
          <a:lstStyle/>
          <a:p>
            <a:fld id="{9EA0BE3B-158A-4EDF-80DC-E394A0D1600F}" type="slidenum">
              <a:rPr lang="en-US" smtClean="0"/>
              <a:pPr/>
              <a:t>5</a:t>
            </a:fld>
            <a:endParaRPr lang="en-US"/>
          </a:p>
        </p:txBody>
      </p:sp>
      <p:pic>
        <p:nvPicPr>
          <p:cNvPr id="48" name="Picture 47">
            <a:extLst>
              <a:ext uri="{FF2B5EF4-FFF2-40B4-BE49-F238E27FC236}">
                <a16:creationId xmlns:a16="http://schemas.microsoft.com/office/drawing/2014/main" id="{96B269E1-DA61-F11B-C548-D10212D4D991}"/>
              </a:ext>
            </a:extLst>
          </p:cNvPr>
          <p:cNvPicPr>
            <a:picLocks noChangeAspect="1"/>
          </p:cNvPicPr>
          <p:nvPr/>
        </p:nvPicPr>
        <p:blipFill>
          <a:blip r:embed="rId2"/>
          <a:srcRect t="5096" b="18129"/>
          <a:stretch>
            <a:fillRect/>
          </a:stretch>
        </p:blipFill>
        <p:spPr>
          <a:xfrm>
            <a:off x="1219199" y="1337553"/>
            <a:ext cx="10113523" cy="4337248"/>
          </a:xfrm>
          <a:prstGeom prst="rect">
            <a:avLst/>
          </a:prstGeom>
        </p:spPr>
      </p:pic>
    </p:spTree>
    <p:extLst>
      <p:ext uri="{BB962C8B-B14F-4D97-AF65-F5344CB8AC3E}">
        <p14:creationId xmlns:p14="http://schemas.microsoft.com/office/powerpoint/2010/main" val="228770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endParaRPr lang="en-US" b="1" dirty="0">
              <a:solidFill>
                <a:srgbClr val="06D6A0"/>
              </a:solidFill>
              <a:latin typeface="Calibri" pitchFamily="34" charset="0"/>
              <a:ea typeface="Calibri" pitchFamily="34" charset="-122"/>
              <a:cs typeface="Calibri" pitchFamily="34" charset="-120"/>
            </a:endParaRPr>
          </a:p>
          <a:p>
            <a:endParaRPr lang="en-US" b="1" dirty="0">
              <a:solidFill>
                <a:srgbClr val="06D6A0"/>
              </a:solidFill>
              <a:latin typeface="Calibri" pitchFamily="34" charset="0"/>
              <a:ea typeface="Calibri" pitchFamily="34" charset="-122"/>
              <a:cs typeface="Calibri" pitchFamily="34" charset="-120"/>
            </a:endParaRPr>
          </a:p>
          <a:p>
            <a:pPr marL="574675" indent="-515938"/>
            <a:endParaRPr lang="en-US" dirty="0">
              <a:latin typeface="Calibri" pitchFamily="34" charset="0"/>
              <a:ea typeface="Calibri" pitchFamily="34" charset="-122"/>
              <a:cs typeface="Calibri" pitchFamily="34" charset="-120"/>
            </a:endParaRPr>
          </a:p>
          <a:p>
            <a:pPr marL="574675" indent="-515938">
              <a:buFont typeface="Wingdings" panose="05000000000000000000" pitchFamily="2" charset="2"/>
              <a:buChar char="q"/>
            </a:pPr>
            <a:r>
              <a:rPr lang="en-US" sz="2400" dirty="0" err="1">
                <a:latin typeface="Calibri" pitchFamily="34" charset="0"/>
                <a:ea typeface="Calibri" pitchFamily="34" charset="-122"/>
                <a:cs typeface="Calibri" pitchFamily="34" charset="-120"/>
              </a:rPr>
              <a:t>Cấu</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tạo</a:t>
            </a:r>
            <a:r>
              <a:rPr lang="en-US" sz="2400" dirty="0">
                <a:latin typeface="Calibri" pitchFamily="34" charset="0"/>
                <a:ea typeface="Calibri" pitchFamily="34" charset="-122"/>
                <a:cs typeface="Calibri" pitchFamily="34" charset="-120"/>
              </a:rPr>
              <a:t> CWRU Test Rig &amp; </a:t>
            </a:r>
            <a:r>
              <a:rPr lang="en-US" sz="2400" dirty="0" err="1">
                <a:latin typeface="Calibri" pitchFamily="34" charset="0"/>
                <a:ea typeface="Calibri" pitchFamily="34" charset="-122"/>
                <a:cs typeface="Calibri" pitchFamily="34" charset="-120"/>
              </a:rPr>
              <a:t>vị</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trí</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cảm</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biến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Phân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loại</a:t>
            </a:r>
            <a:r>
              <a:rPr lang="en-US" sz="2400" dirty="0">
                <a:latin typeface="Calibri" pitchFamily="34" charset="0"/>
                <a:ea typeface="Calibri" pitchFamily="34" charset="-122"/>
                <a:cs typeface="Calibri" pitchFamily="34" charset="-120"/>
              </a:rPr>
              <a:t> 4 </a:t>
            </a:r>
            <a:r>
              <a:rPr lang="en-US" sz="2400" dirty="0" err="1">
                <a:latin typeface="Calibri" pitchFamily="34" charset="0"/>
                <a:ea typeface="Calibri" pitchFamily="34" charset="-122"/>
                <a:cs typeface="Calibri" pitchFamily="34" charset="-120"/>
              </a:rPr>
              <a:t>trạng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thái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kỹ</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thuật</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của</a:t>
            </a:r>
            <a:r>
              <a:rPr lang="en-US" sz="2400" dirty="0">
                <a:latin typeface="Calibri" pitchFamily="34" charset="0"/>
                <a:ea typeface="Calibri" pitchFamily="34" charset="-122"/>
                <a:cs typeface="Calibri" pitchFamily="34" charset="-120"/>
              </a:rPr>
              <a:t> ổ </a:t>
            </a:r>
            <a:r>
              <a:rPr lang="en-US" sz="2400" dirty="0" err="1">
                <a:latin typeface="Calibri" pitchFamily="34" charset="0"/>
                <a:ea typeface="Calibri" pitchFamily="34" charset="-122"/>
                <a:cs typeface="Calibri" pitchFamily="34" charset="-120"/>
              </a:rPr>
              <a:t>lăn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lấy</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mẫu</a:t>
            </a:r>
            <a:r>
              <a:rPr lang="en-US" sz="2400" dirty="0">
                <a:latin typeface="Calibri" pitchFamily="34" charset="0"/>
                <a:ea typeface="Calibri" pitchFamily="34" charset="-122"/>
                <a:cs typeface="Calibri" pitchFamily="34" charset="-120"/>
              </a:rPr>
              <a:t> 12 kHz &amp; </a:t>
            </a:r>
            <a:r>
              <a:rPr lang="en-US" sz="2400" dirty="0" err="1">
                <a:latin typeface="Calibri" pitchFamily="34" charset="0"/>
                <a:ea typeface="Calibri" pitchFamily="34" charset="-122"/>
                <a:cs typeface="Calibri" pitchFamily="34" charset="-120"/>
              </a:rPr>
              <a:t>mức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tải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động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cơ</a:t>
            </a:r>
            <a:r>
              <a:rPr lang="en-US" sz="2400" dirty="0">
                <a:latin typeface="Calibri" pitchFamily="34" charset="0"/>
                <a:ea typeface="Calibri" pitchFamily="34" charset="-122"/>
                <a:cs typeface="Calibri" pitchFamily="34" charset="-120"/>
              </a:rPr>
              <a:t>
Công </a:t>
            </a:r>
            <a:r>
              <a:rPr lang="en-US" sz="2400" dirty="0" err="1">
                <a:latin typeface="Calibri" pitchFamily="34" charset="0"/>
                <a:ea typeface="Calibri" pitchFamily="34" charset="-122"/>
                <a:cs typeface="Calibri" pitchFamily="34" charset="-120"/>
              </a:rPr>
              <a:t>thức</a:t>
            </a:r>
            <a:r>
              <a:rPr lang="en-US" sz="2400" dirty="0">
                <a:latin typeface="Calibri" pitchFamily="34" charset="0"/>
                <a:ea typeface="Calibri" pitchFamily="34" charset="-122"/>
                <a:cs typeface="Calibri" pitchFamily="34" charset="-120"/>
              </a:rPr>
              <a:t> &amp;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đặc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trưng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lỗi</a:t>
            </a:r>
            <a:r>
              <a:rPr lang="en-US" sz="2400" dirty="0">
                <a:latin typeface="Calibri" pitchFamily="34" charset="0"/>
                <a:ea typeface="Calibri" pitchFamily="34" charset="-122"/>
                <a:cs typeface="Calibri" pitchFamily="34" charset="-120"/>
              </a:rPr>
              <a:t> SKF 6205</a:t>
            </a:r>
            <a:endParaRPr lang="en-US" sz="2400" dirty="0"/>
          </a:p>
          <a:p>
            <a:pPr marL="0" indent="0">
              <a:buNone/>
            </a:pPr>
            <a:endParaRPr lang="en-US" dirty="0"/>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sz="3500" dirty="0" err="1">
                <a:latin typeface="Calibri" pitchFamily="34" charset="0"/>
                <a:ea typeface="Calibri" pitchFamily="34" charset="-122"/>
                <a:cs typeface="Calibri" pitchFamily="34" charset="-120"/>
              </a:rPr>
              <a:t>Dữ</a:t>
            </a:r>
            <a:r>
              <a:rPr lang="en-US" sz="3500" dirty="0">
                <a:latin typeface="Calibri" pitchFamily="34" charset="0"/>
                <a:ea typeface="Calibri" pitchFamily="34" charset="-122"/>
                <a:cs typeface="Calibri" pitchFamily="34" charset="-120"/>
              </a:rPr>
              <a:t> Liệu CWRU</a:t>
            </a:r>
            <a:br>
              <a:rPr lang="en-US" dirty="0">
                <a:latin typeface="Calibri" pitchFamily="34" charset="0"/>
                <a:ea typeface="Calibri" pitchFamily="34" charset="-122"/>
                <a:cs typeface="Calibri" pitchFamily="34" charset="-120"/>
              </a:rPr>
            </a:br>
            <a:r>
              <a:rPr lang="en-US" sz="1800" b="0" i="1" dirty="0" err="1">
                <a:latin typeface="Calibri" pitchFamily="34" charset="0"/>
                <a:ea typeface="Calibri" pitchFamily="34" charset="-122"/>
                <a:cs typeface="Calibri" pitchFamily="34" charset="-120"/>
              </a:rPr>
              <a:t>Hệ</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thí</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nghiệm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cảm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biến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phân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loại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lỗi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và</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tần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số</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đặc</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trưng</a:t>
            </a:r>
            <a:r>
              <a:rPr lang="en-US" sz="1800" b="0" i="1" dirty="0">
                <a:latin typeface="Calibri" pitchFamily="34" charset="0"/>
                <a:ea typeface="Calibri" pitchFamily="34" charset="-122"/>
                <a:cs typeface="Calibri" pitchFamily="34" charset="-120"/>
              </a:rPr>
              <a:t> ổ </a:t>
            </a:r>
            <a:r>
              <a:rPr lang="en-US" sz="1800" b="0" i="1" dirty="0" err="1">
                <a:latin typeface="Calibri" pitchFamily="34" charset="0"/>
                <a:ea typeface="Calibri" pitchFamily="34" charset="-122"/>
                <a:cs typeface="Calibri" pitchFamily="34" charset="-120"/>
              </a:rPr>
              <a:t>lăn</a:t>
            </a:r>
            <a:r>
              <a:rPr lang="en-US" sz="1800" b="0" i="1" dirty="0">
                <a:latin typeface="Calibri" pitchFamily="34" charset="0"/>
                <a:ea typeface="Calibri" pitchFamily="34" charset="-122"/>
                <a:cs typeface="Calibri" pitchFamily="34" charset="-120"/>
              </a:rPr>
              <a:t> SKF 6205</a:t>
            </a:r>
            <a:br>
              <a:rPr lang="en-US" sz="1800" b="0" i="1" dirty="0"/>
            </a:br>
            <a:endParaRPr lang="en-US" b="0" dirty="0"/>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485500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AD8A-1EA9-C7CE-D797-0A3D974FB867}"/>
              </a:ext>
            </a:extLst>
          </p:cNvPr>
          <p:cNvSpPr>
            <a:spLocks noGrp="1"/>
          </p:cNvSpPr>
          <p:nvPr>
            <p:ph type="title"/>
          </p:nvPr>
        </p:nvSpPr>
        <p:spPr/>
        <p:txBody>
          <a:bodyPr/>
          <a:lstStyle/>
          <a:p>
            <a:r>
              <a:rPr lang="en-US" dirty="0">
                <a:solidFill>
                  <a:srgbClr val="FFFFFF"/>
                </a:solidFill>
                <a:latin typeface="Calibri" pitchFamily="34" charset="0"/>
                <a:ea typeface="Calibri" pitchFamily="34" charset="-122"/>
                <a:cs typeface="Calibri" pitchFamily="34" charset="-120"/>
              </a:rPr>
              <a:t>CWRU Test Rig &amp; </a:t>
            </a:r>
            <a:r>
              <a:rPr lang="en-US" dirty="0" err="1">
                <a:solidFill>
                  <a:srgbClr val="FFFFFF"/>
                </a:solidFill>
                <a:latin typeface="Calibri" pitchFamily="34" charset="0"/>
                <a:ea typeface="Calibri" pitchFamily="34" charset="-122"/>
                <a:cs typeface="Calibri" pitchFamily="34" charset="-120"/>
              </a:rPr>
              <a:t>Cảm</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Biến</a:t>
            </a:r>
            <a:endParaRPr lang="en-US" dirty="0"/>
          </a:p>
        </p:txBody>
      </p:sp>
      <p:sp>
        <p:nvSpPr>
          <p:cNvPr id="4" name="Slide Number Placeholder 3">
            <a:extLst>
              <a:ext uri="{FF2B5EF4-FFF2-40B4-BE49-F238E27FC236}">
                <a16:creationId xmlns:a16="http://schemas.microsoft.com/office/drawing/2014/main" id="{F8DD1CE8-660D-F65D-7BA2-062181F1E9B0}"/>
              </a:ext>
            </a:extLst>
          </p:cNvPr>
          <p:cNvSpPr>
            <a:spLocks noGrp="1"/>
          </p:cNvSpPr>
          <p:nvPr>
            <p:ph type="sldNum" sz="quarter" idx="12"/>
          </p:nvPr>
        </p:nvSpPr>
        <p:spPr/>
        <p:txBody>
          <a:bodyPr/>
          <a:lstStyle/>
          <a:p>
            <a:fld id="{9EA0BE3B-158A-4EDF-80DC-E394A0D1600F}" type="slidenum">
              <a:rPr lang="en-US" smtClean="0"/>
              <a:pPr/>
              <a:t>7</a:t>
            </a:fld>
            <a:endParaRPr lang="en-US"/>
          </a:p>
        </p:txBody>
      </p:sp>
      <p:pic>
        <p:nvPicPr>
          <p:cNvPr id="5" name="Image 0" descr="preencoded.png">
            <a:extLst>
              <a:ext uri="{FF2B5EF4-FFF2-40B4-BE49-F238E27FC236}">
                <a16:creationId xmlns:a16="http://schemas.microsoft.com/office/drawing/2014/main" id="{ECCCB16F-D7E5-61A4-B882-215BF3A36917}"/>
              </a:ext>
            </a:extLst>
          </p:cNvPr>
          <p:cNvPicPr>
            <a:picLocks noChangeAspect="1"/>
          </p:cNvPicPr>
          <p:nvPr/>
        </p:nvPicPr>
        <p:blipFill>
          <a:blip r:embed="rId2"/>
          <a:srcRect/>
          <a:stretch/>
        </p:blipFill>
        <p:spPr>
          <a:xfrm>
            <a:off x="338736" y="1124517"/>
            <a:ext cx="5757264" cy="4094054"/>
          </a:xfrm>
          <a:prstGeom prst="rect">
            <a:avLst/>
          </a:prstGeom>
        </p:spPr>
      </p:pic>
      <p:sp>
        <p:nvSpPr>
          <p:cNvPr id="6" name="Shape 3">
            <a:extLst>
              <a:ext uri="{FF2B5EF4-FFF2-40B4-BE49-F238E27FC236}">
                <a16:creationId xmlns:a16="http://schemas.microsoft.com/office/drawing/2014/main" id="{221420C6-B740-C3B5-390F-02A3786D2311}"/>
              </a:ext>
            </a:extLst>
          </p:cNvPr>
          <p:cNvSpPr/>
          <p:nvPr/>
        </p:nvSpPr>
        <p:spPr>
          <a:xfrm>
            <a:off x="6230676" y="1123031"/>
            <a:ext cx="5622588" cy="1979437"/>
          </a:xfrm>
          <a:prstGeom prst="rect">
            <a:avLst/>
          </a:prstGeom>
          <a:solidFill>
            <a:schemeClr val="bg1"/>
          </a:solidFill>
          <a:ln w="12700">
            <a:solidFill>
              <a:srgbClr val="0077B6"/>
            </a:solidFill>
            <a:prstDash val="solid"/>
          </a:ln>
        </p:spPr>
      </p:sp>
      <p:sp>
        <p:nvSpPr>
          <p:cNvPr id="7" name="Text 4">
            <a:extLst>
              <a:ext uri="{FF2B5EF4-FFF2-40B4-BE49-F238E27FC236}">
                <a16:creationId xmlns:a16="http://schemas.microsoft.com/office/drawing/2014/main" id="{7FCAEC26-703F-55D8-CE04-E18B940BE8AD}"/>
              </a:ext>
            </a:extLst>
          </p:cNvPr>
          <p:cNvSpPr/>
          <p:nvPr/>
        </p:nvSpPr>
        <p:spPr>
          <a:xfrm>
            <a:off x="6332972" y="1254301"/>
            <a:ext cx="3931920" cy="274320"/>
          </a:xfrm>
          <a:prstGeom prst="rect">
            <a:avLst/>
          </a:prstGeom>
          <a:noFill/>
          <a:ln/>
        </p:spPr>
        <p:txBody>
          <a:bodyPr wrap="square" rtlCol="0" anchor="ctr"/>
          <a:lstStyle/>
          <a:p>
            <a:pPr marL="0" indent="0">
              <a:buNone/>
            </a:pPr>
            <a:r>
              <a:rPr lang="en-US" b="1" dirty="0">
                <a:solidFill>
                  <a:srgbClr val="00B4D8"/>
                </a:solidFill>
                <a:latin typeface="Calibri" pitchFamily="34" charset="0"/>
                <a:ea typeface="Calibri" pitchFamily="34" charset="-122"/>
                <a:cs typeface="Calibri" pitchFamily="34" charset="-120"/>
              </a:rPr>
              <a:t>🛠️  Cấu trúc bệ thử</a:t>
            </a:r>
            <a:endParaRPr lang="en-US" dirty="0"/>
          </a:p>
        </p:txBody>
      </p:sp>
      <p:sp>
        <p:nvSpPr>
          <p:cNvPr id="8" name="Text 5">
            <a:extLst>
              <a:ext uri="{FF2B5EF4-FFF2-40B4-BE49-F238E27FC236}">
                <a16:creationId xmlns:a16="http://schemas.microsoft.com/office/drawing/2014/main" id="{6B5DA217-590C-B70E-04E6-BAF568316D0B}"/>
              </a:ext>
            </a:extLst>
          </p:cNvPr>
          <p:cNvSpPr/>
          <p:nvPr/>
        </p:nvSpPr>
        <p:spPr>
          <a:xfrm>
            <a:off x="6332972" y="1787414"/>
            <a:ext cx="5417992" cy="86868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 Động cơ 2 HP, tốc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1720–1797 RPM
• Ổ lăn thử SKF 6205-2RS 
• Khuyết tật nhân tạo EDM: 7, 14, 21 mils
• Tải 0–3 HP qua Dynamometer</a:t>
            </a:r>
            <a:endParaRPr lang="en-US" dirty="0"/>
          </a:p>
        </p:txBody>
      </p:sp>
      <p:sp>
        <p:nvSpPr>
          <p:cNvPr id="9" name="Shape 6">
            <a:extLst>
              <a:ext uri="{FF2B5EF4-FFF2-40B4-BE49-F238E27FC236}">
                <a16:creationId xmlns:a16="http://schemas.microsoft.com/office/drawing/2014/main" id="{B629A365-ADAD-08AC-D29C-C91B055A0D69}"/>
              </a:ext>
            </a:extLst>
          </p:cNvPr>
          <p:cNvSpPr/>
          <p:nvPr/>
        </p:nvSpPr>
        <p:spPr>
          <a:xfrm>
            <a:off x="6230675" y="3239134"/>
            <a:ext cx="5622587" cy="1979437"/>
          </a:xfrm>
          <a:prstGeom prst="rect">
            <a:avLst/>
          </a:prstGeom>
          <a:solidFill>
            <a:schemeClr val="bg1"/>
          </a:solidFill>
          <a:ln w="12700">
            <a:solidFill>
              <a:srgbClr val="0077B6"/>
            </a:solidFill>
            <a:prstDash val="solid"/>
          </a:ln>
        </p:spPr>
      </p:sp>
      <p:sp>
        <p:nvSpPr>
          <p:cNvPr id="10" name="Shape 7">
            <a:extLst>
              <a:ext uri="{FF2B5EF4-FFF2-40B4-BE49-F238E27FC236}">
                <a16:creationId xmlns:a16="http://schemas.microsoft.com/office/drawing/2014/main" id="{2D4B9466-4081-0109-0508-BD36130EB375}"/>
              </a:ext>
            </a:extLst>
          </p:cNvPr>
          <p:cNvSpPr/>
          <p:nvPr/>
        </p:nvSpPr>
        <p:spPr>
          <a:xfrm>
            <a:off x="6230675" y="3252256"/>
            <a:ext cx="5622586" cy="424601"/>
          </a:xfrm>
          <a:prstGeom prst="rect">
            <a:avLst/>
          </a:prstGeom>
          <a:solidFill>
            <a:srgbClr val="0077B6"/>
          </a:solidFill>
          <a:ln w="12700">
            <a:solidFill>
              <a:srgbClr val="0077B6"/>
            </a:solidFill>
            <a:prstDash val="solid"/>
          </a:ln>
        </p:spPr>
      </p:sp>
      <p:sp>
        <p:nvSpPr>
          <p:cNvPr id="11" name="Text 8">
            <a:extLst>
              <a:ext uri="{FF2B5EF4-FFF2-40B4-BE49-F238E27FC236}">
                <a16:creationId xmlns:a16="http://schemas.microsoft.com/office/drawing/2014/main" id="{AC881A95-F0DC-A788-B493-DF0F9A4D02AE}"/>
              </a:ext>
            </a:extLst>
          </p:cNvPr>
          <p:cNvSpPr/>
          <p:nvPr/>
        </p:nvSpPr>
        <p:spPr>
          <a:xfrm>
            <a:off x="6303828" y="3322140"/>
            <a:ext cx="3931920" cy="292608"/>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  Vị trí cảm biến</a:t>
            </a:r>
            <a:endParaRPr lang="en-US" dirty="0"/>
          </a:p>
        </p:txBody>
      </p:sp>
      <p:sp>
        <p:nvSpPr>
          <p:cNvPr id="12" name="Text 9">
            <a:extLst>
              <a:ext uri="{FF2B5EF4-FFF2-40B4-BE49-F238E27FC236}">
                <a16:creationId xmlns:a16="http://schemas.microsoft.com/office/drawing/2014/main" id="{AC801D3A-EB55-FBD5-7561-4AFEE7CDD13F}"/>
              </a:ext>
            </a:extLst>
          </p:cNvPr>
          <p:cNvSpPr/>
          <p:nvPr/>
        </p:nvSpPr>
        <p:spPr>
          <a:xfrm>
            <a:off x="6303828" y="3935650"/>
            <a:ext cx="5436280" cy="1024128"/>
          </a:xfrm>
          <a:prstGeom prst="rect">
            <a:avLst/>
          </a:prstGeom>
          <a:noFill/>
          <a:ln/>
        </p:spPr>
        <p:txBody>
          <a:bodyPr wrap="square" rtlCol="0" anchor="t"/>
          <a:lstStyle/>
          <a:p>
            <a:pPr marL="342900" indent="-342900">
              <a:buSzPct val="100000"/>
              <a:buChar char="•"/>
            </a:pPr>
            <a:r>
              <a:rPr lang="en-US" dirty="0">
                <a:latin typeface="Calibri" pitchFamily="34" charset="0"/>
                <a:ea typeface="Calibri" pitchFamily="34" charset="-122"/>
                <a:cs typeface="Calibri" pitchFamily="34" charset="-120"/>
              </a:rPr>
              <a:t>DE (Drive End): Thu thập tín hiệu chính</a:t>
            </a:r>
            <a:endParaRPr lang="en-US" dirty="0"/>
          </a:p>
          <a:p>
            <a:pPr marL="342900" indent="-342900">
              <a:buSzPct val="100000"/>
              <a:buChar char="•"/>
            </a:pPr>
            <a:r>
              <a:rPr lang="en-US" dirty="0">
                <a:latin typeface="Calibri" pitchFamily="34" charset="0"/>
                <a:ea typeface="Calibri" pitchFamily="34" charset="-122"/>
                <a:cs typeface="Calibri" pitchFamily="34" charset="-120"/>
              </a:rPr>
              <a:t>FE (Fan End): Tín hiệu tham chiếu chéo</a:t>
            </a:r>
            <a:endParaRPr lang="en-US" dirty="0"/>
          </a:p>
          <a:p>
            <a:pPr marL="342900" indent="-342900">
              <a:buSzPct val="100000"/>
              <a:buChar char="•"/>
            </a:pPr>
            <a:r>
              <a:rPr lang="en-US" dirty="0">
                <a:latin typeface="Calibri" pitchFamily="34" charset="0"/>
                <a:ea typeface="Calibri" pitchFamily="34" charset="-122"/>
                <a:cs typeface="Calibri" pitchFamily="34" charset="-120"/>
              </a:rPr>
              <a:t>BA (Base): Giám sát dao động nền bệ đỡ</a:t>
            </a:r>
            <a:endParaRPr lang="en-US" dirty="0"/>
          </a:p>
        </p:txBody>
      </p:sp>
      <p:sp>
        <p:nvSpPr>
          <p:cNvPr id="13" name="Shape 10">
            <a:extLst>
              <a:ext uri="{FF2B5EF4-FFF2-40B4-BE49-F238E27FC236}">
                <a16:creationId xmlns:a16="http://schemas.microsoft.com/office/drawing/2014/main" id="{C086A991-8E92-72EA-1D5E-BFDFCDEF0E7C}"/>
              </a:ext>
            </a:extLst>
          </p:cNvPr>
          <p:cNvSpPr/>
          <p:nvPr/>
        </p:nvSpPr>
        <p:spPr>
          <a:xfrm>
            <a:off x="338736" y="5301576"/>
            <a:ext cx="11514528" cy="749811"/>
          </a:xfrm>
          <a:prstGeom prst="rect">
            <a:avLst/>
          </a:prstGeom>
          <a:solidFill>
            <a:schemeClr val="bg1"/>
          </a:solidFill>
          <a:ln w="12700">
            <a:solidFill>
              <a:schemeClr val="accent1"/>
            </a:solidFill>
            <a:prstDash val="solid"/>
          </a:ln>
        </p:spPr>
      </p:sp>
      <p:sp>
        <p:nvSpPr>
          <p:cNvPr id="14" name="Text 11">
            <a:extLst>
              <a:ext uri="{FF2B5EF4-FFF2-40B4-BE49-F238E27FC236}">
                <a16:creationId xmlns:a16="http://schemas.microsoft.com/office/drawing/2014/main" id="{D21DF648-B173-9D15-3B1F-FC856825FDBC}"/>
              </a:ext>
            </a:extLst>
          </p:cNvPr>
          <p:cNvSpPr/>
          <p:nvPr/>
        </p:nvSpPr>
        <p:spPr>
          <a:xfrm>
            <a:off x="475896" y="5413443"/>
            <a:ext cx="11264212" cy="548640"/>
          </a:xfrm>
          <a:prstGeom prst="rect">
            <a:avLst/>
          </a:prstGeom>
          <a:noFill/>
          <a:ln/>
        </p:spPr>
        <p:txBody>
          <a:bodyPr wrap="square" rtlCol="0" anchor="ctr"/>
          <a:lstStyle/>
          <a:p>
            <a:pPr marL="0" indent="0">
              <a:buNone/>
            </a:pPr>
            <a:r>
              <a:rPr lang="en-US" i="1" dirty="0">
                <a:solidFill>
                  <a:srgbClr val="FFD166"/>
                </a:solidFill>
                <a:latin typeface="Calibri" pitchFamily="34" charset="0"/>
                <a:ea typeface="Calibri" pitchFamily="34" charset="-122"/>
                <a:cs typeface="Calibri" pitchFamily="34" charset="-120"/>
              </a:rPr>
              <a:t>💡  </a:t>
            </a:r>
            <a:r>
              <a:rPr lang="en-US" i="1" dirty="0">
                <a:solidFill>
                  <a:schemeClr val="accent1"/>
                </a:solidFill>
                <a:latin typeface="Calibri" pitchFamily="34" charset="0"/>
                <a:ea typeface="Calibri" pitchFamily="34" charset="-122"/>
                <a:cs typeface="Calibri" pitchFamily="34" charset="-120"/>
              </a:rPr>
              <a:t>Vị trí đặt cảm biến đúng kỹ thuật quan trọng hơn việc tinh chỉnh mô hình toán học. Cảm biến DE nằm trực tiếp trên đường truyền dao động → tỷ số SNR tối ưu.</a:t>
            </a:r>
            <a:endParaRPr lang="en-US" dirty="0">
              <a:solidFill>
                <a:schemeClr val="accent1"/>
              </a:solidFill>
            </a:endParaRPr>
          </a:p>
        </p:txBody>
      </p:sp>
    </p:spTree>
    <p:extLst>
      <p:ext uri="{BB962C8B-B14F-4D97-AF65-F5344CB8AC3E}">
        <p14:creationId xmlns:p14="http://schemas.microsoft.com/office/powerpoint/2010/main" val="309251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7B391B-1BF5-6E9B-9F0A-CCA0525D2FF1}"/>
              </a:ext>
            </a:extLst>
          </p:cNvPr>
          <p:cNvSpPr>
            <a:spLocks noGrp="1"/>
          </p:cNvSpPr>
          <p:nvPr>
            <p:ph type="title"/>
          </p:nvPr>
        </p:nvSpPr>
        <p:spPr/>
        <p:txBody>
          <a:bodyPr/>
          <a:lstStyle/>
          <a:p>
            <a:r>
              <a:rPr lang="en-US" dirty="0" err="1">
                <a:solidFill>
                  <a:srgbClr val="FFFFFF"/>
                </a:solidFill>
                <a:latin typeface="Calibri" pitchFamily="34" charset="0"/>
                <a:ea typeface="Calibri" pitchFamily="34" charset="-122"/>
                <a:cs typeface="Calibri" pitchFamily="34" charset="-120"/>
              </a:rPr>
              <a:t>Trạng</a:t>
            </a:r>
            <a:r>
              <a:rPr lang="en-US" dirty="0">
                <a:solidFill>
                  <a:srgbClr val="FFFFFF"/>
                </a:solidFill>
                <a:latin typeface="Calibri" pitchFamily="34" charset="0"/>
                <a:ea typeface="Calibri" pitchFamily="34" charset="-122"/>
                <a:cs typeface="Calibri" pitchFamily="34" charset="-120"/>
              </a:rPr>
              <a:t> Thái Ổ </a:t>
            </a:r>
            <a:r>
              <a:rPr lang="en-US" dirty="0" err="1">
                <a:solidFill>
                  <a:srgbClr val="FFFFFF"/>
                </a:solidFill>
                <a:latin typeface="Calibri" pitchFamily="34" charset="0"/>
                <a:ea typeface="Calibri" pitchFamily="34" charset="-122"/>
                <a:cs typeface="Calibri" pitchFamily="34" charset="-120"/>
              </a:rPr>
              <a:t>Lăn</a:t>
            </a:r>
            <a:r>
              <a:rPr lang="en-US" dirty="0">
                <a:solidFill>
                  <a:srgbClr val="FFFFFF"/>
                </a:solidFill>
                <a:latin typeface="Calibri" pitchFamily="34" charset="0"/>
                <a:ea typeface="Calibri" pitchFamily="34" charset="-122"/>
                <a:cs typeface="Calibri" pitchFamily="34" charset="-120"/>
              </a:rPr>
              <a:t> — </a:t>
            </a:r>
            <a:r>
              <a:rPr lang="en-US" dirty="0" err="1">
                <a:solidFill>
                  <a:srgbClr val="FFFFFF"/>
                </a:solidFill>
                <a:latin typeface="Calibri" pitchFamily="34" charset="0"/>
                <a:ea typeface="Calibri" pitchFamily="34" charset="-122"/>
                <a:cs typeface="Calibri" pitchFamily="34" charset="-120"/>
              </a:rPr>
              <a:t>Vị</a:t>
            </a:r>
            <a:r>
              <a:rPr lang="en-US" dirty="0">
                <a:solidFill>
                  <a:srgbClr val="FFFFFF"/>
                </a:solidFill>
                <a:latin typeface="Calibri" pitchFamily="34" charset="0"/>
                <a:ea typeface="Calibri" pitchFamily="34" charset="-122"/>
                <a:cs typeface="Calibri" pitchFamily="34" charset="-120"/>
              </a:rPr>
              <a:t> Trí </a:t>
            </a:r>
            <a:r>
              <a:rPr lang="en-US" dirty="0" err="1">
                <a:solidFill>
                  <a:srgbClr val="FFFFFF"/>
                </a:solidFill>
                <a:latin typeface="Calibri" pitchFamily="34" charset="0"/>
                <a:ea typeface="Calibri" pitchFamily="34" charset="-122"/>
                <a:cs typeface="Calibri" pitchFamily="34" charset="-120"/>
              </a:rPr>
              <a:t>Khuyết</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Tật</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Vật</a:t>
            </a:r>
            <a:r>
              <a:rPr lang="en-US" dirty="0">
                <a:solidFill>
                  <a:srgbClr val="FFFFFF"/>
                </a:solidFill>
                <a:latin typeface="Calibri" pitchFamily="34" charset="0"/>
                <a:ea typeface="Calibri" pitchFamily="34" charset="-122"/>
                <a:cs typeface="Calibri" pitchFamily="34" charset="-120"/>
              </a:rPr>
              <a:t> Lý</a:t>
            </a:r>
            <a:endParaRPr lang="en-US" dirty="0"/>
          </a:p>
        </p:txBody>
      </p:sp>
      <p:sp>
        <p:nvSpPr>
          <p:cNvPr id="2" name="Slide Number Placeholder 1">
            <a:extLst>
              <a:ext uri="{FF2B5EF4-FFF2-40B4-BE49-F238E27FC236}">
                <a16:creationId xmlns:a16="http://schemas.microsoft.com/office/drawing/2014/main" id="{3F787B8F-671E-899B-3B95-4CCE696DE9CF}"/>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8" name="Shape 3">
            <a:extLst>
              <a:ext uri="{FF2B5EF4-FFF2-40B4-BE49-F238E27FC236}">
                <a16:creationId xmlns:a16="http://schemas.microsoft.com/office/drawing/2014/main" id="{1CEF6675-C39B-B823-044A-168735799FF1}"/>
              </a:ext>
            </a:extLst>
          </p:cNvPr>
          <p:cNvSpPr/>
          <p:nvPr/>
        </p:nvSpPr>
        <p:spPr>
          <a:xfrm>
            <a:off x="6302415" y="998242"/>
            <a:ext cx="5577840" cy="1188720"/>
          </a:xfrm>
          <a:prstGeom prst="rect">
            <a:avLst/>
          </a:prstGeom>
          <a:solidFill>
            <a:srgbClr val="063D2A"/>
          </a:solidFill>
          <a:ln w="12700">
            <a:solidFill>
              <a:srgbClr val="0077B6"/>
            </a:solidFill>
            <a:prstDash val="solid"/>
          </a:ln>
        </p:spPr>
      </p:sp>
      <p:sp>
        <p:nvSpPr>
          <p:cNvPr id="9" name="Text 4">
            <a:extLst>
              <a:ext uri="{FF2B5EF4-FFF2-40B4-BE49-F238E27FC236}">
                <a16:creationId xmlns:a16="http://schemas.microsoft.com/office/drawing/2014/main" id="{30A3BC85-E753-A7F3-C507-709988862FF2}"/>
              </a:ext>
            </a:extLst>
          </p:cNvPr>
          <p:cNvSpPr/>
          <p:nvPr/>
        </p:nvSpPr>
        <p:spPr>
          <a:xfrm>
            <a:off x="6393855" y="1102329"/>
            <a:ext cx="5257800" cy="292608"/>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Bình </a:t>
            </a:r>
            <a:r>
              <a:rPr lang="en-US" b="1" dirty="0" err="1">
                <a:solidFill>
                  <a:srgbClr val="FFFFFF"/>
                </a:solidFill>
                <a:latin typeface="Calibri" pitchFamily="34" charset="0"/>
                <a:ea typeface="Calibri" pitchFamily="34" charset="-122"/>
                <a:cs typeface="Calibri" pitchFamily="34" charset="-120"/>
              </a:rPr>
              <a:t>thường</a:t>
            </a:r>
            <a:r>
              <a:rPr lang="en-US" b="1" dirty="0">
                <a:solidFill>
                  <a:srgbClr val="FFFFFF"/>
                </a:solidFill>
                <a:latin typeface="Calibri" pitchFamily="34" charset="0"/>
                <a:ea typeface="Calibri" pitchFamily="34" charset="-122"/>
                <a:cs typeface="Calibri" pitchFamily="34" charset="-120"/>
              </a:rPr>
              <a:t> (N)</a:t>
            </a:r>
            <a:endParaRPr lang="en-US" dirty="0"/>
          </a:p>
        </p:txBody>
      </p:sp>
      <p:sp>
        <p:nvSpPr>
          <p:cNvPr id="10" name="Text 5">
            <a:extLst>
              <a:ext uri="{FF2B5EF4-FFF2-40B4-BE49-F238E27FC236}">
                <a16:creationId xmlns:a16="http://schemas.microsoft.com/office/drawing/2014/main" id="{A313727A-ADAA-1450-3949-03DC9E764675}"/>
              </a:ext>
            </a:extLst>
          </p:cNvPr>
          <p:cNvSpPr/>
          <p:nvPr/>
        </p:nvSpPr>
        <p:spPr>
          <a:xfrm>
            <a:off x="6393855" y="1501361"/>
            <a:ext cx="5257800" cy="457200"/>
          </a:xfrm>
          <a:prstGeom prst="rect">
            <a:avLst/>
          </a:prstGeom>
          <a:noFill/>
          <a:ln/>
        </p:spPr>
        <p:txBody>
          <a:bodyPr wrap="square" rtlCol="0" anchor="ctr"/>
          <a:lstStyle/>
          <a:p>
            <a:pPr marL="0" indent="0">
              <a:buNone/>
            </a:pPr>
            <a:r>
              <a:rPr lang="en-US" dirty="0">
                <a:solidFill>
                  <a:srgbClr val="E8F4FD"/>
                </a:solidFill>
                <a:latin typeface="Calibri" pitchFamily="34" charset="0"/>
                <a:ea typeface="Calibri" pitchFamily="34" charset="-122"/>
                <a:cs typeface="Calibri" pitchFamily="34" charset="-120"/>
              </a:rPr>
              <a:t>Biên độ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nhỏ</a:t>
            </a:r>
            <a:r>
              <a:rPr lang="en-US" dirty="0">
                <a:solidFill>
                  <a:srgbClr val="E8F4FD"/>
                </a:solidFill>
                <a:latin typeface="Calibri" pitchFamily="34" charset="0"/>
                <a:ea typeface="Calibri" pitchFamily="34" charset="-122"/>
                <a:cs typeface="Calibri" pitchFamily="34" charset="-120"/>
              </a:rPr>
              <a:t>, tín hiệu phẳng, không có xung bất thường.</a:t>
            </a:r>
            <a:endParaRPr lang="en-US" dirty="0"/>
          </a:p>
        </p:txBody>
      </p:sp>
      <p:sp>
        <p:nvSpPr>
          <p:cNvPr id="11" name="Shape 6">
            <a:extLst>
              <a:ext uri="{FF2B5EF4-FFF2-40B4-BE49-F238E27FC236}">
                <a16:creationId xmlns:a16="http://schemas.microsoft.com/office/drawing/2014/main" id="{710D371D-AB83-FFE0-BF52-DA5B2F8BC9FF}"/>
              </a:ext>
            </a:extLst>
          </p:cNvPr>
          <p:cNvSpPr/>
          <p:nvPr/>
        </p:nvSpPr>
        <p:spPr>
          <a:xfrm>
            <a:off x="6302415" y="2308563"/>
            <a:ext cx="5577840" cy="1188720"/>
          </a:xfrm>
          <a:prstGeom prst="rect">
            <a:avLst/>
          </a:prstGeom>
          <a:solidFill>
            <a:srgbClr val="0A2A50"/>
          </a:solidFill>
          <a:ln w="12700">
            <a:solidFill>
              <a:srgbClr val="0077B6"/>
            </a:solidFill>
            <a:prstDash val="solid"/>
          </a:ln>
        </p:spPr>
      </p:sp>
      <p:sp>
        <p:nvSpPr>
          <p:cNvPr id="12" name="Text 7">
            <a:extLst>
              <a:ext uri="{FF2B5EF4-FFF2-40B4-BE49-F238E27FC236}">
                <a16:creationId xmlns:a16="http://schemas.microsoft.com/office/drawing/2014/main" id="{5154445F-E212-8914-5919-94C287E0F2DD}"/>
              </a:ext>
            </a:extLst>
          </p:cNvPr>
          <p:cNvSpPr/>
          <p:nvPr/>
        </p:nvSpPr>
        <p:spPr>
          <a:xfrm>
            <a:off x="6393855" y="2421213"/>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ngoài (OR)</a:t>
            </a:r>
            <a:endParaRPr lang="en-US" dirty="0"/>
          </a:p>
        </p:txBody>
      </p:sp>
      <p:sp>
        <p:nvSpPr>
          <p:cNvPr id="13" name="Text 8">
            <a:extLst>
              <a:ext uri="{FF2B5EF4-FFF2-40B4-BE49-F238E27FC236}">
                <a16:creationId xmlns:a16="http://schemas.microsoft.com/office/drawing/2014/main" id="{8E3F7F3A-18DE-C8E4-C91B-259DEBDAE7CC}"/>
              </a:ext>
            </a:extLst>
          </p:cNvPr>
          <p:cNvSpPr/>
          <p:nvPr/>
        </p:nvSpPr>
        <p:spPr>
          <a:xfrm>
            <a:off x="6393855" y="2831232"/>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đường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lăn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ngoài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va đập mạnh, chu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ổn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endParaRPr lang="en-US" dirty="0"/>
          </a:p>
        </p:txBody>
      </p:sp>
      <p:sp>
        <p:nvSpPr>
          <p:cNvPr id="14" name="Shape 9">
            <a:extLst>
              <a:ext uri="{FF2B5EF4-FFF2-40B4-BE49-F238E27FC236}">
                <a16:creationId xmlns:a16="http://schemas.microsoft.com/office/drawing/2014/main" id="{2B1EC4FC-07AF-B3AF-6EF4-3C528B4B7505}"/>
              </a:ext>
            </a:extLst>
          </p:cNvPr>
          <p:cNvSpPr/>
          <p:nvPr/>
        </p:nvSpPr>
        <p:spPr>
          <a:xfrm>
            <a:off x="6302415" y="3609156"/>
            <a:ext cx="5577840" cy="1188720"/>
          </a:xfrm>
          <a:prstGeom prst="rect">
            <a:avLst/>
          </a:prstGeom>
          <a:solidFill>
            <a:srgbClr val="3D2A00"/>
          </a:solidFill>
          <a:ln w="12700">
            <a:solidFill>
              <a:srgbClr val="0077B6"/>
            </a:solidFill>
            <a:prstDash val="solid"/>
          </a:ln>
        </p:spPr>
      </p:sp>
      <p:sp>
        <p:nvSpPr>
          <p:cNvPr id="15" name="Text 10">
            <a:extLst>
              <a:ext uri="{FF2B5EF4-FFF2-40B4-BE49-F238E27FC236}">
                <a16:creationId xmlns:a16="http://schemas.microsoft.com/office/drawing/2014/main" id="{A113BDCB-444D-564A-E6B2-66CB99A16B14}"/>
              </a:ext>
            </a:extLst>
          </p:cNvPr>
          <p:cNvSpPr/>
          <p:nvPr/>
        </p:nvSpPr>
        <p:spPr>
          <a:xfrm>
            <a:off x="6393855" y="37478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trong (IR)</a:t>
            </a:r>
            <a:endParaRPr lang="en-US" dirty="0"/>
          </a:p>
        </p:txBody>
      </p:sp>
      <p:sp>
        <p:nvSpPr>
          <p:cNvPr id="16" name="Text 11">
            <a:extLst>
              <a:ext uri="{FF2B5EF4-FFF2-40B4-BE49-F238E27FC236}">
                <a16:creationId xmlns:a16="http://schemas.microsoft.com/office/drawing/2014/main" id="{DB45BE24-4139-1FD0-7B9A-120D16862BDC}"/>
              </a:ext>
            </a:extLst>
          </p:cNvPr>
          <p:cNvSpPr/>
          <p:nvPr/>
        </p:nvSpPr>
        <p:spPr>
          <a:xfrm>
            <a:off x="6393855" y="4098360"/>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đương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lẵn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quay </a:t>
            </a:r>
            <a:r>
              <a:rPr lang="en-US" dirty="0" err="1">
                <a:solidFill>
                  <a:srgbClr val="E8F4FD"/>
                </a:solidFill>
                <a:latin typeface="Calibri" pitchFamily="34" charset="0"/>
                <a:ea typeface="Calibri" pitchFamily="34" charset="-122"/>
                <a:cs typeface="Calibri" pitchFamily="34" charset="-120"/>
              </a:rPr>
              <a:t>cùng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bị điều chế biên </a:t>
            </a:r>
            <a:r>
              <a:rPr lang="en-US" dirty="0" err="1">
                <a:solidFill>
                  <a:srgbClr val="E8F4FD"/>
                </a:solidFill>
                <a:latin typeface="Calibri" pitchFamily="34" charset="0"/>
                <a:ea typeface="Calibri" pitchFamily="34" charset="-122"/>
                <a:cs typeface="Calibri" pitchFamily="34" charset="-120"/>
              </a:rPr>
              <a:t>độ</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theo</a:t>
            </a:r>
            <a:r>
              <a:rPr lang="en-US" dirty="0">
                <a:solidFill>
                  <a:srgbClr val="E8F4FD"/>
                </a:solidFill>
                <a:latin typeface="Calibri" pitchFamily="34" charset="0"/>
                <a:ea typeface="Calibri" pitchFamily="34" charset="-122"/>
                <a:cs typeface="Calibri" pitchFamily="34" charset="-120"/>
              </a:rPr>
              <a:t> chu kỳ quay trục.</a:t>
            </a:r>
            <a:endParaRPr lang="en-US" dirty="0"/>
          </a:p>
        </p:txBody>
      </p:sp>
      <p:sp>
        <p:nvSpPr>
          <p:cNvPr id="17" name="Shape 12">
            <a:extLst>
              <a:ext uri="{FF2B5EF4-FFF2-40B4-BE49-F238E27FC236}">
                <a16:creationId xmlns:a16="http://schemas.microsoft.com/office/drawing/2014/main" id="{C840DC34-EC67-C819-4600-476BDB8CDAFA}"/>
              </a:ext>
            </a:extLst>
          </p:cNvPr>
          <p:cNvSpPr/>
          <p:nvPr/>
        </p:nvSpPr>
        <p:spPr>
          <a:xfrm>
            <a:off x="6302415" y="4938933"/>
            <a:ext cx="5577840" cy="1188720"/>
          </a:xfrm>
          <a:prstGeom prst="rect">
            <a:avLst/>
          </a:prstGeom>
          <a:solidFill>
            <a:srgbClr val="3D0A1A"/>
          </a:solidFill>
          <a:ln w="12700">
            <a:solidFill>
              <a:srgbClr val="0077B6"/>
            </a:solidFill>
            <a:prstDash val="solid"/>
          </a:ln>
        </p:spPr>
      </p:sp>
      <p:sp>
        <p:nvSpPr>
          <p:cNvPr id="18" name="Text 13">
            <a:extLst>
              <a:ext uri="{FF2B5EF4-FFF2-40B4-BE49-F238E27FC236}">
                <a16:creationId xmlns:a16="http://schemas.microsoft.com/office/drawing/2014/main" id="{637877E2-70B4-DE72-9D19-7624BE35B5F4}"/>
              </a:ext>
            </a:extLst>
          </p:cNvPr>
          <p:cNvSpPr/>
          <p:nvPr/>
        </p:nvSpPr>
        <p:spPr>
          <a:xfrm>
            <a:off x="6393855" y="50330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viên bi (Ball)</a:t>
            </a:r>
            <a:endParaRPr lang="en-US" dirty="0"/>
          </a:p>
        </p:txBody>
      </p:sp>
      <p:sp>
        <p:nvSpPr>
          <p:cNvPr id="19" name="Text 14">
            <a:extLst>
              <a:ext uri="{FF2B5EF4-FFF2-40B4-BE49-F238E27FC236}">
                <a16:creationId xmlns:a16="http://schemas.microsoft.com/office/drawing/2014/main" id="{C0EB2737-5D04-C021-04FE-F659C372478D}"/>
              </a:ext>
            </a:extLst>
          </p:cNvPr>
          <p:cNvSpPr/>
          <p:nvPr/>
        </p:nvSpPr>
        <p:spPr>
          <a:xfrm>
            <a:off x="6393855" y="5439248"/>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Khuyết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bề</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mặt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viên</a:t>
            </a:r>
            <a:r>
              <a:rPr lang="en-US" dirty="0">
                <a:solidFill>
                  <a:srgbClr val="E8F4FD"/>
                </a:solidFill>
                <a:latin typeface="Calibri" pitchFamily="34" charset="0"/>
                <a:ea typeface="Calibri" pitchFamily="34" charset="-122"/>
                <a:cs typeface="Calibri" pitchFamily="34" charset="-120"/>
              </a:rPr>
              <a:t> bi. Va đập đa hướng, phức tạp, khó nhận biết nhất.</a:t>
            </a:r>
            <a:endParaRPr lang="en-US" dirty="0"/>
          </a:p>
        </p:txBody>
      </p:sp>
      <p:pic>
        <p:nvPicPr>
          <p:cNvPr id="22" name="Picture 21" descr="Fig. 1">
            <a:extLst>
              <a:ext uri="{FF2B5EF4-FFF2-40B4-BE49-F238E27FC236}">
                <a16:creationId xmlns:a16="http://schemas.microsoft.com/office/drawing/2014/main" id="{B9DF1223-4D0A-ECC8-167D-8AFD632B1BBE}"/>
              </a:ext>
            </a:extLst>
          </p:cNvPr>
          <p:cNvPicPr>
            <a:picLocks noChangeAspect="1"/>
          </p:cNvPicPr>
          <p:nvPr/>
        </p:nvPicPr>
        <p:blipFill>
          <a:blip r:embed="rId2"/>
          <a:stretch>
            <a:fillRect/>
          </a:stretch>
        </p:blipFill>
        <p:spPr>
          <a:xfrm>
            <a:off x="379779" y="913862"/>
            <a:ext cx="5440680" cy="5080965"/>
          </a:xfrm>
          <a:prstGeom prst="rect">
            <a:avLst/>
          </a:prstGeom>
        </p:spPr>
      </p:pic>
    </p:spTree>
    <p:extLst>
      <p:ext uri="{BB962C8B-B14F-4D97-AF65-F5344CB8AC3E}">
        <p14:creationId xmlns:p14="http://schemas.microsoft.com/office/powerpoint/2010/main" val="42843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r>
              <a:rPr lang="en-US" dirty="0" err="1"/>
              <a:t>Tần</a:t>
            </a:r>
            <a:r>
              <a:rPr lang="en-US" dirty="0"/>
              <a:t> </a:t>
            </a:r>
            <a:r>
              <a:rPr lang="en-US" dirty="0" err="1"/>
              <a:t>số</a:t>
            </a:r>
            <a:r>
              <a:rPr lang="en-US" dirty="0"/>
              <a:t> </a:t>
            </a:r>
            <a:r>
              <a:rPr lang="en-US" dirty="0" err="1"/>
              <a:t>hư</a:t>
            </a:r>
            <a:r>
              <a:rPr lang="en-US" dirty="0"/>
              <a:t> </a:t>
            </a:r>
            <a:r>
              <a:rPr lang="en-US" dirty="0" err="1"/>
              <a:t>hỏng</a:t>
            </a:r>
            <a:r>
              <a:rPr lang="en-US" dirty="0"/>
              <a:t> </a:t>
            </a:r>
            <a:r>
              <a:rPr lang="en-US" dirty="0" err="1"/>
              <a:t>đặc</a:t>
            </a:r>
            <a:r>
              <a:rPr lang="en-US" dirty="0"/>
              <a:t> </a:t>
            </a:r>
            <a:r>
              <a:rPr lang="en-US" dirty="0" err="1"/>
              <a:t>trưng</a:t>
            </a:r>
            <a:endParaRPr lang="en-US" dirty="0"/>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5" name="Shape KeyBox">
            <a:extLst>
              <a:ext uri="{FF2B5EF4-FFF2-40B4-BE49-F238E27FC236}">
                <a16:creationId xmlns:a16="http://schemas.microsoft.com/office/drawing/2014/main" id="{DE16377C-F56D-E2E6-3C62-6A091D3AC95C}"/>
              </a:ext>
            </a:extLst>
          </p:cNvPr>
          <p:cNvSpPr/>
          <p:nvPr/>
        </p:nvSpPr>
        <p:spPr>
          <a:xfrm>
            <a:off x="338735" y="985886"/>
            <a:ext cx="11560976" cy="726176"/>
          </a:xfrm>
          <a:prstGeom prst="rect">
            <a:avLst/>
          </a:prstGeom>
          <a:solidFill>
            <a:schemeClr val="bg1"/>
          </a:solidFill>
          <a:ln w="19050">
            <a:solidFill>
              <a:srgbClr val="00B4D8"/>
            </a:solidFill>
            <a:prstDash val="solid"/>
          </a:ln>
        </p:spPr>
      </p:sp>
      <p:sp>
        <p:nvSpPr>
          <p:cNvPr id="6" name="Text Key">
            <a:extLst>
              <a:ext uri="{FF2B5EF4-FFF2-40B4-BE49-F238E27FC236}">
                <a16:creationId xmlns:a16="http://schemas.microsoft.com/office/drawing/2014/main" id="{DB149966-C3A8-7D2C-5E22-29696C3BA77D}"/>
              </a:ext>
            </a:extLst>
          </p:cNvPr>
          <p:cNvSpPr/>
          <p:nvPr/>
        </p:nvSpPr>
        <p:spPr>
          <a:xfrm>
            <a:off x="407564" y="1130925"/>
            <a:ext cx="11445699" cy="436098"/>
          </a:xfrm>
          <a:prstGeom prst="rect">
            <a:avLst/>
          </a:prstGeom>
          <a:noFill/>
          <a:ln/>
        </p:spPr>
        <p:txBody>
          <a:bodyPr wrap="square" rtlCol="0" anchor="ctr"/>
          <a:lstStyle/>
          <a:p>
            <a:pPr marL="0" indent="0">
              <a:buNone/>
            </a:pPr>
            <a:r>
              <a:rPr lang="en-US" b="1" dirty="0">
                <a:solidFill>
                  <a:srgbClr val="00B4D8"/>
                </a:solidFill>
                <a:latin typeface="Calibri" pitchFamily="34" charset="0"/>
              </a:rPr>
              <a:t>Ý CHÍNH: </a:t>
            </a:r>
            <a:r>
              <a:rPr lang="en-US" dirty="0" err="1">
                <a:latin typeface="Calibri" pitchFamily="34" charset="0"/>
              </a:rPr>
              <a:t>Mỗi</a:t>
            </a:r>
            <a:r>
              <a:rPr lang="en-US" dirty="0">
                <a:latin typeface="Calibri" pitchFamily="34" charset="0"/>
              </a:rPr>
              <a:t> </a:t>
            </a:r>
            <a:r>
              <a:rPr lang="en-US" dirty="0" err="1">
                <a:latin typeface="Calibri" pitchFamily="34" charset="0"/>
              </a:rPr>
              <a:t>dạng</a:t>
            </a:r>
            <a:r>
              <a:rPr lang="en-US" dirty="0">
                <a:latin typeface="Calibri" pitchFamily="34" charset="0"/>
              </a:rPr>
              <a:t> </a:t>
            </a:r>
            <a:r>
              <a:rPr lang="en-US" dirty="0" err="1">
                <a:latin typeface="Calibri" pitchFamily="34" charset="0"/>
              </a:rPr>
              <a:t>khuyết</a:t>
            </a:r>
            <a:r>
              <a:rPr lang="en-US" dirty="0">
                <a:latin typeface="Calibri" pitchFamily="34" charset="0"/>
              </a:rPr>
              <a:t> </a:t>
            </a:r>
            <a:r>
              <a:rPr lang="en-US" dirty="0" err="1">
                <a:latin typeface="Calibri" pitchFamily="34" charset="0"/>
              </a:rPr>
              <a:t>tật</a:t>
            </a:r>
            <a:r>
              <a:rPr lang="en-US" dirty="0">
                <a:latin typeface="Calibri" pitchFamily="34" charset="0"/>
              </a:rPr>
              <a:t> </a:t>
            </a:r>
            <a:r>
              <a:rPr lang="en-US" dirty="0" err="1">
                <a:latin typeface="Calibri" pitchFamily="34" charset="0"/>
              </a:rPr>
              <a:t>ứng</a:t>
            </a:r>
            <a:r>
              <a:rPr lang="en-US" dirty="0">
                <a:latin typeface="Calibri" pitchFamily="34" charset="0"/>
              </a:rPr>
              <a:t> </a:t>
            </a:r>
            <a:r>
              <a:rPr lang="en-US" dirty="0" err="1">
                <a:latin typeface="Calibri" pitchFamily="34" charset="0"/>
              </a:rPr>
              <a:t>với</a:t>
            </a:r>
            <a:r>
              <a:rPr lang="en-US" dirty="0">
                <a:latin typeface="Calibri" pitchFamily="34" charset="0"/>
              </a:rPr>
              <a:t> </a:t>
            </a:r>
            <a:r>
              <a:rPr lang="en-US" dirty="0" err="1">
                <a:latin typeface="Calibri" pitchFamily="34" charset="0"/>
              </a:rPr>
              <a:t>một</a:t>
            </a:r>
            <a:r>
              <a:rPr lang="en-US" dirty="0">
                <a:latin typeface="Calibri" pitchFamily="34" charset="0"/>
              </a:rPr>
              <a:t> </a:t>
            </a:r>
            <a:r>
              <a:rPr lang="en-US" dirty="0" err="1">
                <a:latin typeface="Calibri" pitchFamily="34" charset="0"/>
              </a:rPr>
              <a:t>tần</a:t>
            </a:r>
            <a:r>
              <a:rPr lang="en-US" dirty="0">
                <a:latin typeface="Calibri" pitchFamily="34" charset="0"/>
              </a:rPr>
              <a:t> </a:t>
            </a:r>
            <a:r>
              <a:rPr lang="en-US" dirty="0" err="1">
                <a:latin typeface="Calibri" pitchFamily="34" charset="0"/>
              </a:rPr>
              <a:t>số</a:t>
            </a:r>
            <a:r>
              <a:rPr lang="en-US" dirty="0">
                <a:latin typeface="Calibri" pitchFamily="34" charset="0"/>
              </a:rPr>
              <a:t> </a:t>
            </a:r>
            <a:r>
              <a:rPr lang="en-US" dirty="0" err="1">
                <a:latin typeface="Calibri" pitchFamily="34" charset="0"/>
              </a:rPr>
              <a:t>kích</a:t>
            </a:r>
            <a:r>
              <a:rPr lang="en-US" dirty="0">
                <a:latin typeface="Calibri" pitchFamily="34" charset="0"/>
              </a:rPr>
              <a:t> </a:t>
            </a:r>
            <a:r>
              <a:rPr lang="en-US" dirty="0" err="1">
                <a:latin typeface="Calibri" pitchFamily="34" charset="0"/>
              </a:rPr>
              <a:t>thích</a:t>
            </a:r>
            <a:r>
              <a:rPr lang="en-US" dirty="0">
                <a:latin typeface="Calibri" pitchFamily="34" charset="0"/>
              </a:rPr>
              <a:t> </a:t>
            </a:r>
            <a:r>
              <a:rPr lang="en-US" dirty="0" err="1">
                <a:latin typeface="Calibri" pitchFamily="34" charset="0"/>
              </a:rPr>
              <a:t>riêng</a:t>
            </a:r>
            <a:r>
              <a:rPr lang="en-US" dirty="0">
                <a:latin typeface="Calibri" pitchFamily="34" charset="0"/>
              </a:rPr>
              <a:t> </a:t>
            </a:r>
            <a:r>
              <a:rPr lang="en-US" dirty="0" err="1">
                <a:latin typeface="Calibri" pitchFamily="34" charset="0"/>
              </a:rPr>
              <a:t>biệt</a:t>
            </a:r>
            <a:r>
              <a:rPr lang="en-US" dirty="0">
                <a:latin typeface="Calibri" pitchFamily="34" charset="0"/>
              </a:rPr>
              <a:t>, </a:t>
            </a:r>
            <a:r>
              <a:rPr lang="en-US" b="1" dirty="0" err="1">
                <a:latin typeface="Calibri" pitchFamily="34" charset="0"/>
              </a:rPr>
              <a:t>được</a:t>
            </a:r>
            <a:r>
              <a:rPr lang="en-US" b="1" dirty="0">
                <a:latin typeface="Calibri" pitchFamily="34" charset="0"/>
              </a:rPr>
              <a:t> </a:t>
            </a:r>
            <a:r>
              <a:rPr lang="en-US" b="1" dirty="0" err="1">
                <a:latin typeface="Calibri" pitchFamily="34" charset="0"/>
              </a:rPr>
              <a:t>tính</a:t>
            </a:r>
            <a:r>
              <a:rPr lang="en-US" b="1" dirty="0">
                <a:latin typeface="Calibri" pitchFamily="34" charset="0"/>
              </a:rPr>
              <a:t> </a:t>
            </a:r>
            <a:r>
              <a:rPr lang="en-US" b="1" dirty="0" err="1">
                <a:latin typeface="Calibri" pitchFamily="34" charset="0"/>
              </a:rPr>
              <a:t>toán</a:t>
            </a:r>
            <a:r>
              <a:rPr lang="en-US" b="1" dirty="0">
                <a:latin typeface="Calibri" pitchFamily="34" charset="0"/>
              </a:rPr>
              <a:t> </a:t>
            </a:r>
            <a:r>
              <a:rPr lang="en-US" b="1" dirty="0" err="1">
                <a:latin typeface="Calibri" pitchFamily="34" charset="0"/>
              </a:rPr>
              <a:t>từ</a:t>
            </a:r>
            <a:r>
              <a:rPr lang="en-US" b="1" dirty="0">
                <a:latin typeface="Calibri" pitchFamily="34" charset="0"/>
              </a:rPr>
              <a:t> </a:t>
            </a:r>
            <a:r>
              <a:rPr lang="en-US" b="1" dirty="0" err="1">
                <a:latin typeface="Calibri" pitchFamily="34" charset="0"/>
              </a:rPr>
              <a:t>thông</a:t>
            </a:r>
            <a:r>
              <a:rPr lang="en-US" b="1" dirty="0">
                <a:latin typeface="Calibri" pitchFamily="34" charset="0"/>
              </a:rPr>
              <a:t> </a:t>
            </a:r>
            <a:r>
              <a:rPr lang="en-US" b="1" dirty="0" err="1">
                <a:latin typeface="Calibri" pitchFamily="34" charset="0"/>
              </a:rPr>
              <a:t>số</a:t>
            </a:r>
            <a:r>
              <a:rPr lang="en-US" b="1" dirty="0">
                <a:latin typeface="Calibri" pitchFamily="34" charset="0"/>
              </a:rPr>
              <a:t> </a:t>
            </a:r>
            <a:r>
              <a:rPr lang="en-US" b="1" dirty="0" err="1">
                <a:latin typeface="Calibri" pitchFamily="34" charset="0"/>
              </a:rPr>
              <a:t>hình</a:t>
            </a:r>
            <a:r>
              <a:rPr lang="en-US" b="1" dirty="0">
                <a:latin typeface="Calibri" pitchFamily="34" charset="0"/>
              </a:rPr>
              <a:t> </a:t>
            </a:r>
            <a:r>
              <a:rPr lang="en-US" b="1" dirty="0" err="1">
                <a:latin typeface="Calibri" pitchFamily="34" charset="0"/>
              </a:rPr>
              <a:t>học</a:t>
            </a:r>
            <a:r>
              <a:rPr lang="en-US" b="1" dirty="0">
                <a:latin typeface="Calibri" pitchFamily="34" charset="0"/>
              </a:rPr>
              <a:t> </a:t>
            </a:r>
            <a:r>
              <a:rPr lang="en-US" b="1" dirty="0" err="1">
                <a:latin typeface="Calibri" pitchFamily="34" charset="0"/>
              </a:rPr>
              <a:t>của</a:t>
            </a:r>
            <a:r>
              <a:rPr lang="en-US" b="1" dirty="0">
                <a:latin typeface="Calibri" pitchFamily="34" charset="0"/>
              </a:rPr>
              <a:t> ổ </a:t>
            </a:r>
            <a:r>
              <a:rPr lang="en-US" b="1" dirty="0" err="1">
                <a:latin typeface="Calibri" pitchFamily="34" charset="0"/>
              </a:rPr>
              <a:t>lăn</a:t>
            </a:r>
            <a:r>
              <a:rPr lang="en-US" dirty="0">
                <a:latin typeface="Calibri" pitchFamily="34" charset="0"/>
              </a:rPr>
              <a:t> — </a:t>
            </a:r>
            <a:r>
              <a:rPr lang="en-US" dirty="0" err="1">
                <a:latin typeface="Calibri" pitchFamily="34" charset="0"/>
              </a:rPr>
              <a:t>đây</a:t>
            </a:r>
            <a:r>
              <a:rPr lang="en-US" dirty="0">
                <a:latin typeface="Calibri" pitchFamily="34" charset="0"/>
              </a:rPr>
              <a:t> </a:t>
            </a:r>
            <a:r>
              <a:rPr lang="en-US" dirty="0" err="1">
                <a:latin typeface="Calibri" pitchFamily="34" charset="0"/>
              </a:rPr>
              <a:t>chính</a:t>
            </a:r>
            <a:r>
              <a:rPr lang="en-US" dirty="0">
                <a:latin typeface="Calibri" pitchFamily="34" charset="0"/>
              </a:rPr>
              <a:t> </a:t>
            </a:r>
            <a:r>
              <a:rPr lang="en-US" dirty="0" err="1">
                <a:latin typeface="Calibri" pitchFamily="34" charset="0"/>
              </a:rPr>
              <a:t>là</a:t>
            </a:r>
            <a:r>
              <a:rPr lang="en-US" dirty="0">
                <a:latin typeface="Calibri" pitchFamily="34" charset="0"/>
              </a:rPr>
              <a:t> </a:t>
            </a:r>
            <a:r>
              <a:rPr lang="en-US" dirty="0" err="1">
                <a:latin typeface="Calibri" pitchFamily="34" charset="0"/>
              </a:rPr>
              <a:t>dấu</a:t>
            </a:r>
            <a:r>
              <a:rPr lang="en-US" dirty="0">
                <a:latin typeface="Calibri" pitchFamily="34" charset="0"/>
              </a:rPr>
              <a:t> </a:t>
            </a:r>
            <a:r>
              <a:rPr lang="en-US" dirty="0" err="1">
                <a:latin typeface="Calibri" pitchFamily="34" charset="0"/>
              </a:rPr>
              <a:t>hiệu</a:t>
            </a:r>
            <a:r>
              <a:rPr lang="en-US" dirty="0">
                <a:latin typeface="Calibri" pitchFamily="34" charset="0"/>
              </a:rPr>
              <a:t> </a:t>
            </a:r>
            <a:r>
              <a:rPr lang="en-US" dirty="0" err="1">
                <a:latin typeface="Calibri" pitchFamily="34" charset="0"/>
              </a:rPr>
              <a:t>để</a:t>
            </a:r>
            <a:r>
              <a:rPr lang="en-US" dirty="0">
                <a:latin typeface="Calibri" pitchFamily="34" charset="0"/>
              </a:rPr>
              <a:t> </a:t>
            </a:r>
            <a:r>
              <a:rPr lang="en-US" dirty="0" err="1">
                <a:latin typeface="Calibri" pitchFamily="34" charset="0"/>
              </a:rPr>
              <a:t>nhận</a:t>
            </a:r>
            <a:r>
              <a:rPr lang="en-US" dirty="0">
                <a:latin typeface="Calibri" pitchFamily="34" charset="0"/>
              </a:rPr>
              <a:t> </a:t>
            </a:r>
            <a:r>
              <a:rPr lang="en-US" dirty="0" err="1">
                <a:latin typeface="Calibri" pitchFamily="34" charset="0"/>
              </a:rPr>
              <a:t>diện</a:t>
            </a:r>
            <a:r>
              <a:rPr lang="en-US" dirty="0">
                <a:latin typeface="Calibri" pitchFamily="34" charset="0"/>
              </a:rPr>
              <a:t> </a:t>
            </a:r>
            <a:r>
              <a:rPr lang="en-US" dirty="0" err="1">
                <a:latin typeface="Calibri" pitchFamily="34" charset="0"/>
              </a:rPr>
              <a:t>và</a:t>
            </a:r>
            <a:r>
              <a:rPr lang="en-US" dirty="0">
                <a:latin typeface="Calibri" pitchFamily="34" charset="0"/>
              </a:rPr>
              <a:t> </a:t>
            </a:r>
            <a:r>
              <a:rPr lang="en-US" dirty="0" err="1">
                <a:latin typeface="Calibri" pitchFamily="34" charset="0"/>
              </a:rPr>
              <a:t>xác</a:t>
            </a:r>
            <a:r>
              <a:rPr lang="en-US" dirty="0">
                <a:latin typeface="Calibri" pitchFamily="34" charset="0"/>
              </a:rPr>
              <a:t> </a:t>
            </a:r>
            <a:r>
              <a:rPr lang="en-US" dirty="0" err="1">
                <a:latin typeface="Calibri" pitchFamily="34" charset="0"/>
              </a:rPr>
              <a:t>định</a:t>
            </a:r>
            <a:r>
              <a:rPr lang="en-US" dirty="0">
                <a:latin typeface="Calibri" pitchFamily="34" charset="0"/>
              </a:rPr>
              <a:t> </a:t>
            </a:r>
            <a:r>
              <a:rPr lang="en-US" dirty="0" err="1">
                <a:latin typeface="Calibri" pitchFamily="34" charset="0"/>
              </a:rPr>
              <a:t>loại</a:t>
            </a:r>
            <a:r>
              <a:rPr lang="en-US" dirty="0">
                <a:latin typeface="Calibri" pitchFamily="34" charset="0"/>
              </a:rPr>
              <a:t> </a:t>
            </a:r>
            <a:r>
              <a:rPr lang="en-US" dirty="0" err="1">
                <a:latin typeface="Calibri" pitchFamily="34" charset="0"/>
              </a:rPr>
              <a:t>hư</a:t>
            </a:r>
            <a:r>
              <a:rPr lang="en-US" dirty="0">
                <a:latin typeface="Calibri" pitchFamily="34" charset="0"/>
              </a:rPr>
              <a:t> </a:t>
            </a:r>
            <a:r>
              <a:rPr lang="en-US" dirty="0" err="1">
                <a:latin typeface="Calibri" pitchFamily="34" charset="0"/>
              </a:rPr>
              <a:t>hỏng</a:t>
            </a:r>
            <a:r>
              <a:rPr lang="en-US" dirty="0">
                <a:latin typeface="Calibri" pitchFamily="34" charset="0"/>
              </a:rPr>
              <a:t>.</a:t>
            </a:r>
          </a:p>
        </p:txBody>
      </p:sp>
      <mc:AlternateContent xmlns:mc="http://schemas.openxmlformats.org/markup-compatibility/2006">
        <mc:Choice xmlns:a14="http://schemas.microsoft.com/office/drawing/2010/main" Requires="a14">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15247603"/>
                  </p:ext>
                </p:extLst>
              </p:nvPr>
            </p:nvGraphicFramePr>
            <p:xfrm>
              <a:off x="1202987" y="2002028"/>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370840">
                    <a:tc>
                      <a:txBody>
                        <a:bodyPr/>
                        <a:lstStyle/>
                        <a:p>
                          <a:r>
                            <a:rPr lang="en-US" b="1" dirty="0" err="1"/>
                            <a:t>Ký</a:t>
                          </a:r>
                          <a:r>
                            <a:rPr lang="en-US" b="1" dirty="0"/>
                            <a:t> </a:t>
                          </a:r>
                          <a:r>
                            <a:rPr lang="en-US" b="1" dirty="0" err="1"/>
                            <a:t>hiệu</a:t>
                          </a:r>
                          <a:endParaRPr lang="en-US" b="1" dirty="0"/>
                        </a:p>
                      </a:txBody>
                      <a:tcPr anchor="ctr"/>
                    </a:tc>
                    <a:tc>
                      <a:txBody>
                        <a:bodyPr/>
                        <a:lstStyle/>
                        <a:p>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r>
                            <a:rPr lang="en-US" b="1" dirty="0"/>
                            <a:t>@1797 RPM (0 HP)</a:t>
                          </a:r>
                        </a:p>
                      </a:txBody>
                      <a:tcPr anchor="ctr"/>
                    </a:tc>
                    <a:extLst>
                      <a:ext uri="{0D108BD9-81ED-4DB2-BD59-A6C34878D82A}">
                        <a16:rowId xmlns:a16="http://schemas.microsoft.com/office/drawing/2014/main" val="2632798780"/>
                      </a:ext>
                    </a:extLst>
                  </a:tr>
                  <a:tr h="370840">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370840">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370840">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𝑑</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r>
                                      <a:rPr lang="en-US" sz="1600" b="0" i="1" smtClean="0">
                                        <a:latin typeface="Cambria Math" panose="02040503050406030204" pitchFamily="18" charset="0"/>
                                      </a:rPr>
                                      <m:t>𝐷</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e>
                                  <m:sup>
                                    <m:r>
                                      <a:rPr lang="en-US" sz="1600" b="0" i="1" smtClean="0">
                                        <a:latin typeface="Cambria Math" panose="02040503050406030204" pitchFamily="18" charset="0"/>
                                        <a:ea typeface="Cambria Math" panose="02040503050406030204" pitchFamily="18" charset="0"/>
                                      </a:rPr>
                                      <m:t>2</m:t>
                                    </m:r>
                                  </m:sup>
                                </m:sSup>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370840">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Choice>
        <mc:Fallback>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15247603"/>
                  </p:ext>
                </p:extLst>
              </p:nvPr>
            </p:nvGraphicFramePr>
            <p:xfrm>
              <a:off x="1202987" y="2002028"/>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640080">
                    <a:tc>
                      <a:txBody>
                        <a:bodyPr/>
                        <a:lstStyle/>
                        <a:p>
                          <a:r>
                            <a:rPr lang="en-US" b="1" dirty="0" err="1"/>
                            <a:t>Ký</a:t>
                          </a:r>
                          <a:r>
                            <a:rPr lang="en-US" b="1" dirty="0"/>
                            <a:t> </a:t>
                          </a:r>
                          <a:r>
                            <a:rPr lang="en-US" b="1" dirty="0" err="1"/>
                            <a:t>hiệu</a:t>
                          </a:r>
                          <a:endParaRPr lang="en-US" b="1" dirty="0"/>
                        </a:p>
                      </a:txBody>
                      <a:tcPr anchor="ctr"/>
                    </a:tc>
                    <a:tc>
                      <a:txBody>
                        <a:bodyPr/>
                        <a:lstStyle/>
                        <a:p>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r>
                            <a:rPr lang="en-US" b="1" dirty="0"/>
                            <a:t>@1797 RPM (0 HP)</a:t>
                          </a:r>
                        </a:p>
                      </a:txBody>
                      <a:tcPr anchor="ctr"/>
                    </a:tc>
                    <a:extLst>
                      <a:ext uri="{0D108BD9-81ED-4DB2-BD59-A6C34878D82A}">
                        <a16:rowId xmlns:a16="http://schemas.microsoft.com/office/drawing/2014/main" val="2632798780"/>
                      </a:ext>
                    </a:extLst>
                  </a:tr>
                  <a:tr h="553466">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120879" r="-162929" b="-3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553466">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220879" r="-162929" b="-2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553466">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320879" r="-162929" b="-1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553466">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endParaRPr lang="en-US"/>
                        </a:p>
                      </a:txBody>
                      <a:tcPr>
                        <a:blipFill>
                          <a:blip r:embed="rId2"/>
                          <a:stretch>
                            <a:fillRect l="-105263" t="-420879" r="-162929" b="-7692"/>
                          </a:stretch>
                        </a:blipFill>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Fallback>
      </mc:AlternateContent>
      <p:sp>
        <p:nvSpPr>
          <p:cNvPr id="38" name="TextBox 37">
            <a:extLst>
              <a:ext uri="{FF2B5EF4-FFF2-40B4-BE49-F238E27FC236}">
                <a16:creationId xmlns:a16="http://schemas.microsoft.com/office/drawing/2014/main" id="{97C7D58F-64B9-79EB-224F-DED7C14E39DA}"/>
              </a:ext>
            </a:extLst>
          </p:cNvPr>
          <p:cNvSpPr txBox="1"/>
          <p:nvPr/>
        </p:nvSpPr>
        <p:spPr>
          <a:xfrm>
            <a:off x="2358588" y="5007152"/>
            <a:ext cx="4680002" cy="923330"/>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itchFamily="34" charset="0"/>
              </a:rPr>
              <a:t>n : </a:t>
            </a:r>
            <a:r>
              <a:rPr lang="en-US" sz="1800" dirty="0" err="1">
                <a:latin typeface="Calibri" pitchFamily="34" charset="0"/>
              </a:rPr>
              <a:t>số</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a:t>
            </a:r>
            <a:r>
              <a:rPr lang="en-US" dirty="0" err="1">
                <a:latin typeface="Calibri" pitchFamily="34" charset="0"/>
              </a:rPr>
              <a:t>í</a:t>
            </a:r>
            <a:r>
              <a:rPr lang="en-US" sz="1800" dirty="0" err="1">
                <a:latin typeface="Calibri" pitchFamily="34" charset="0"/>
              </a:rPr>
              <a:t>nh</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(mm)</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kinh</a:t>
            </a:r>
            <a:r>
              <a:rPr lang="en-US" sz="1800" dirty="0">
                <a:latin typeface="Calibri" pitchFamily="34" charset="0"/>
              </a:rPr>
              <a:t> </a:t>
            </a:r>
            <a:r>
              <a:rPr lang="en-US" sz="1800" dirty="0" err="1">
                <a:latin typeface="Calibri" pitchFamily="34" charset="0"/>
              </a:rPr>
              <a:t>v</a:t>
            </a:r>
            <a:r>
              <a:rPr lang="en-US" dirty="0" err="1">
                <a:latin typeface="Calibri" pitchFamily="34" charset="0"/>
              </a:rPr>
              <a:t>ò</a:t>
            </a:r>
            <a:r>
              <a:rPr lang="en-US" sz="1800" dirty="0" err="1">
                <a:latin typeface="Calibri" pitchFamily="34" charset="0"/>
              </a:rPr>
              <a:t>ng</a:t>
            </a:r>
            <a:r>
              <a:rPr lang="en-US" sz="1800" dirty="0">
                <a:latin typeface="Calibri" pitchFamily="34" charset="0"/>
              </a:rPr>
              <a:t> chia (mm)</a:t>
            </a:r>
          </a:p>
        </p:txBody>
      </p:sp>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B7B97680-750F-78E6-0339-C3A321FD5F75}"/>
                  </a:ext>
                </a:extLst>
              </p:cNvPr>
              <p:cNvSpPr txBox="1"/>
              <p:nvPr/>
            </p:nvSpPr>
            <p:spPr>
              <a:xfrm>
                <a:off x="6567960" y="5007152"/>
                <a:ext cx="4680002" cy="646331"/>
              </a:xfrm>
              <a:prstGeom prst="rect">
                <a:avLst/>
              </a:prstGeom>
              <a:noFill/>
            </p:spPr>
            <p:txBody>
              <a:bodyPr wrap="square">
                <a:spAutoFit/>
              </a:bodyPr>
              <a:lstStyle/>
              <a:p>
                <a:pPr marL="285750" indent="-285750">
                  <a:buFont typeface="Arial" panose="020B0604020202020204" pitchFamily="34" charset="0"/>
                  <a:buChar char="•"/>
                </a:pPr>
                <a:r>
                  <a:rPr lang="el-GR" dirty="0">
                    <a:latin typeface="Calibri" pitchFamily="34" charset="0"/>
                    <a:ea typeface="Calibri" pitchFamily="34" charset="-122"/>
                    <a:cs typeface="Calibri" pitchFamily="34" charset="-120"/>
                  </a:rPr>
                  <a:t>α</a:t>
                </a:r>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góc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tiếp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xúc</a:t>
                </a:r>
                <a:r>
                  <a:rPr lang="en-US" dirty="0">
                    <a:latin typeface="Calibri" pitchFamily="34" charset="0"/>
                    <a:ea typeface="Calibri" pitchFamily="34" charset="-122"/>
                    <a:cs typeface="Calibri" pitchFamily="34" charset="-120"/>
                  </a:rPr>
                  <a:t> (˚) </a:t>
                </a: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ea typeface="Calibri" pitchFamily="34" charset="-122"/>
                            <a:cs typeface="Calibri" pitchFamily="34" charset="-120"/>
                          </a:rPr>
                        </m:ctrlPr>
                      </m:sSubPr>
                      <m:e>
                        <m:r>
                          <a:rPr lang="en-US" b="0" i="1" smtClean="0">
                            <a:latin typeface="Cambria Math" panose="02040503050406030204" pitchFamily="18" charset="0"/>
                            <a:ea typeface="Calibri" pitchFamily="34" charset="-122"/>
                            <a:cs typeface="Calibri" pitchFamily="34" charset="-120"/>
                          </a:rPr>
                          <m:t>𝑓</m:t>
                        </m:r>
                      </m:e>
                      <m:sub>
                        <m:r>
                          <a:rPr lang="en-US" b="0" i="1" smtClean="0">
                            <a:latin typeface="Cambria Math" panose="02040503050406030204" pitchFamily="18" charset="0"/>
                            <a:ea typeface="Calibri" pitchFamily="34" charset="-122"/>
                            <a:cs typeface="Calibri" pitchFamily="34" charset="-120"/>
                          </a:rPr>
                          <m:t>𝑠</m:t>
                        </m:r>
                      </m:sub>
                    </m:sSub>
                  </m:oMath>
                </a14:m>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tần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số</a:t>
                </a:r>
                <a:r>
                  <a:rPr lang="en-US" dirty="0">
                    <a:latin typeface="Calibri" pitchFamily="34" charset="0"/>
                    <a:ea typeface="Calibri" pitchFamily="34" charset="-122"/>
                    <a:cs typeface="Calibri" pitchFamily="34" charset="-120"/>
                  </a:rPr>
                  <a:t> quay (Hz)</a:t>
                </a:r>
                <a:endParaRPr lang="en-US" dirty="0"/>
              </a:p>
            </p:txBody>
          </p:sp>
        </mc:Choice>
        <mc:Fallback>
          <p:sp>
            <p:nvSpPr>
              <p:cNvPr id="39" name="TextBox 38">
                <a:extLst>
                  <a:ext uri="{FF2B5EF4-FFF2-40B4-BE49-F238E27FC236}">
                    <a16:creationId xmlns:a16="http://schemas.microsoft.com/office/drawing/2014/main" id="{B7B97680-750F-78E6-0339-C3A321FD5F75}"/>
                  </a:ext>
                </a:extLst>
              </p:cNvPr>
              <p:cNvSpPr txBox="1">
                <a:spLocks noRot="1" noChangeAspect="1" noMove="1" noResize="1" noEditPoints="1" noAdjustHandles="1" noChangeArrowheads="1" noChangeShapeType="1" noTextEdit="1"/>
              </p:cNvSpPr>
              <p:nvPr/>
            </p:nvSpPr>
            <p:spPr>
              <a:xfrm>
                <a:off x="6567960" y="5007152"/>
                <a:ext cx="4680002" cy="646331"/>
              </a:xfrm>
              <a:prstGeom prst="rect">
                <a:avLst/>
              </a:prstGeom>
              <a:blipFill>
                <a:blip r:embed="rId3"/>
                <a:stretch>
                  <a:fillRect l="-781" t="-4717" b="-14151"/>
                </a:stretch>
              </a:blipFill>
            </p:spPr>
            <p:txBody>
              <a:bodyPr/>
              <a:lstStyle/>
              <a:p>
                <a:r>
                  <a:rPr lang="en-US">
                    <a:noFill/>
                  </a:rPr>
                  <a:t> </a:t>
                </a:r>
              </a:p>
            </p:txBody>
          </p:sp>
        </mc:Fallback>
      </mc:AlternateContent>
    </p:spTree>
    <p:extLst>
      <p:ext uri="{BB962C8B-B14F-4D97-AF65-F5344CB8AC3E}">
        <p14:creationId xmlns:p14="http://schemas.microsoft.com/office/powerpoint/2010/main" val="3001568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C05717-7927-F23D-8237-4958A4E514FF}"/>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dạng</a:t>
            </a:r>
            <a:r>
              <a:rPr lang="en-US" dirty="0"/>
              <a:t> </a:t>
            </a:r>
            <a:r>
              <a:rPr lang="en-US" dirty="0" err="1"/>
              <a:t>sóng</a:t>
            </a:r>
            <a:endParaRPr lang="en-US" dirty="0"/>
          </a:p>
        </p:txBody>
      </p:sp>
      <p:sp>
        <p:nvSpPr>
          <p:cNvPr id="2" name="Slide Number Placeholder 1">
            <a:extLst>
              <a:ext uri="{FF2B5EF4-FFF2-40B4-BE49-F238E27FC236}">
                <a16:creationId xmlns:a16="http://schemas.microsoft.com/office/drawing/2014/main" id="{4E248DCA-B91F-BC5A-64CE-246CF3581AEB}"/>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8" name="Image 0" descr="preencoded.png">
            <a:extLst>
              <a:ext uri="{FF2B5EF4-FFF2-40B4-BE49-F238E27FC236}">
                <a16:creationId xmlns:a16="http://schemas.microsoft.com/office/drawing/2014/main" id="{E1658AD1-7555-FB08-6313-37336BA43395}"/>
              </a:ext>
            </a:extLst>
          </p:cNvPr>
          <p:cNvPicPr>
            <a:picLocks noChangeAspect="1"/>
          </p:cNvPicPr>
          <p:nvPr/>
        </p:nvPicPr>
        <p:blipFill>
          <a:blip r:embed="rId2"/>
          <a:srcRect/>
          <a:stretch/>
        </p:blipFill>
        <p:spPr>
          <a:xfrm>
            <a:off x="6456889" y="1901069"/>
            <a:ext cx="5514793" cy="4197148"/>
          </a:xfrm>
          <a:prstGeom prst="rect">
            <a:avLst/>
          </a:prstGeom>
        </p:spPr>
      </p:pic>
      <p:sp>
        <p:nvSpPr>
          <p:cNvPr id="10" name="TextBox 9">
            <a:extLst>
              <a:ext uri="{FF2B5EF4-FFF2-40B4-BE49-F238E27FC236}">
                <a16:creationId xmlns:a16="http://schemas.microsoft.com/office/drawing/2014/main" id="{B94E1E46-ED63-E54D-6B30-F4F1AE800608}"/>
              </a:ext>
            </a:extLst>
          </p:cNvPr>
          <p:cNvSpPr txBox="1"/>
          <p:nvPr/>
        </p:nvSpPr>
        <p:spPr>
          <a:xfrm>
            <a:off x="220317" y="975693"/>
            <a:ext cx="11751365" cy="646331"/>
          </a:xfrm>
          <a:prstGeom prst="rect">
            <a:avLst/>
          </a:prstGeom>
          <a:noFill/>
        </p:spPr>
        <p:txBody>
          <a:bodyPr wrap="square">
            <a:spAutoFit/>
          </a:bodyPr>
          <a:lstStyle/>
          <a:p>
            <a:r>
              <a:rPr lang="en-US" b="1" i="0" dirty="0" err="1">
                <a:solidFill>
                  <a:srgbClr val="1F1F1F"/>
                </a:solidFill>
                <a:effectLst/>
              </a:rPr>
              <a:t>Phân</a:t>
            </a:r>
            <a:r>
              <a:rPr lang="en-US" b="1" i="0" dirty="0">
                <a:solidFill>
                  <a:srgbClr val="1F1F1F"/>
                </a:solidFill>
                <a:effectLst/>
              </a:rPr>
              <a:t> </a:t>
            </a:r>
            <a:r>
              <a:rPr lang="en-US" b="1" i="0" dirty="0" err="1">
                <a:solidFill>
                  <a:srgbClr val="1F1F1F"/>
                </a:solidFill>
                <a:effectLst/>
              </a:rPr>
              <a:t>tích</a:t>
            </a:r>
            <a:r>
              <a:rPr lang="en-US" b="1" i="0" dirty="0">
                <a:solidFill>
                  <a:srgbClr val="1F1F1F"/>
                </a:solidFill>
                <a:effectLst/>
              </a:rPr>
              <a:t> </a:t>
            </a:r>
            <a:r>
              <a:rPr lang="en-US" b="1" i="0" dirty="0" err="1">
                <a:solidFill>
                  <a:srgbClr val="1F1F1F"/>
                </a:solidFill>
                <a:effectLst/>
              </a:rPr>
              <a:t>trực</a:t>
            </a:r>
            <a:r>
              <a:rPr lang="en-US" b="1" i="0" dirty="0">
                <a:solidFill>
                  <a:srgbClr val="1F1F1F"/>
                </a:solidFill>
                <a:effectLst/>
              </a:rPr>
              <a:t> </a:t>
            </a:r>
            <a:r>
              <a:rPr lang="en-US" b="1" i="0" dirty="0" err="1">
                <a:solidFill>
                  <a:srgbClr val="1F1F1F"/>
                </a:solidFill>
                <a:effectLst/>
              </a:rPr>
              <a:t>quan</a:t>
            </a:r>
            <a:r>
              <a:rPr lang="en-US" b="1" i="0" dirty="0">
                <a:solidFill>
                  <a:srgbClr val="1F1F1F"/>
                </a:solidFill>
                <a:effectLst/>
              </a:rPr>
              <a:t> </a:t>
            </a:r>
            <a:r>
              <a:rPr lang="en-US" b="1" i="0" dirty="0" err="1">
                <a:solidFill>
                  <a:srgbClr val="1F1F1F"/>
                </a:solidFill>
                <a:effectLst/>
              </a:rPr>
              <a:t>trong</a:t>
            </a:r>
            <a:r>
              <a:rPr lang="en-US" b="1" i="0" dirty="0">
                <a:solidFill>
                  <a:srgbClr val="1F1F1F"/>
                </a:solidFill>
                <a:effectLst/>
              </a:rPr>
              <a:t> </a:t>
            </a:r>
            <a:r>
              <a:rPr lang="en-US" b="1" i="0" dirty="0" err="1">
                <a:solidFill>
                  <a:srgbClr val="1F1F1F"/>
                </a:solidFill>
                <a:effectLst/>
              </a:rPr>
              <a:t>miền</a:t>
            </a:r>
            <a:r>
              <a:rPr lang="en-US" b="1" i="0" dirty="0">
                <a:solidFill>
                  <a:srgbClr val="1F1F1F"/>
                </a:solidFill>
                <a:effectLst/>
              </a:rPr>
              <a:t> </a:t>
            </a:r>
            <a:r>
              <a:rPr lang="en-US" b="1" i="0" dirty="0" err="1">
                <a:solidFill>
                  <a:srgbClr val="1F1F1F"/>
                </a:solidFill>
                <a:effectLst/>
              </a:rPr>
              <a:t>thời</a:t>
            </a:r>
            <a:r>
              <a:rPr lang="en-US" b="1" i="0" dirty="0">
                <a:solidFill>
                  <a:srgbClr val="1F1F1F"/>
                </a:solidFill>
                <a:effectLst/>
              </a:rPr>
              <a:t> </a:t>
            </a:r>
            <a:r>
              <a:rPr lang="en-US" b="1" i="0" dirty="0" err="1">
                <a:solidFill>
                  <a:srgbClr val="1F1F1F"/>
                </a:solidFill>
                <a:effectLst/>
              </a:rPr>
              <a:t>gian</a:t>
            </a:r>
            <a:r>
              <a:rPr lang="en-US" b="1" i="0" dirty="0">
                <a:solidFill>
                  <a:srgbClr val="1F1F1F"/>
                </a:solidFill>
                <a:effectLst/>
              </a:rPr>
              <a:t>:</a:t>
            </a:r>
            <a:r>
              <a:rPr lang="en-US" b="0" i="0" dirty="0">
                <a:solidFill>
                  <a:srgbClr val="1F1F1F"/>
                </a:solidFill>
                <a:effectLst/>
              </a:rPr>
              <a:t> </a:t>
            </a:r>
            <a:r>
              <a:rPr lang="en-US" b="0" i="0" dirty="0" err="1">
                <a:solidFill>
                  <a:srgbClr val="1F1F1F"/>
                </a:solidFill>
                <a:effectLst/>
              </a:rPr>
              <a:t>Trạng</a:t>
            </a:r>
            <a:r>
              <a:rPr lang="en-US" b="0" i="0" dirty="0">
                <a:solidFill>
                  <a:srgbClr val="1F1F1F"/>
                </a:solidFill>
                <a:effectLst/>
              </a:rPr>
              <a:t> </a:t>
            </a:r>
            <a:r>
              <a:rPr lang="en-US" b="0" i="0" dirty="0" err="1">
                <a:solidFill>
                  <a:srgbClr val="1F1F1F"/>
                </a:solidFill>
                <a:effectLst/>
              </a:rPr>
              <a:t>thái</a:t>
            </a:r>
            <a:r>
              <a:rPr lang="en-US" b="0" i="0" dirty="0">
                <a:solidFill>
                  <a:srgbClr val="1F1F1F"/>
                </a:solidFill>
                <a:effectLst/>
              </a:rPr>
              <a:t> Bình </a:t>
            </a:r>
            <a:r>
              <a:rPr lang="en-US" b="0" i="0" dirty="0" err="1">
                <a:solidFill>
                  <a:srgbClr val="1F1F1F"/>
                </a:solidFill>
                <a:effectLst/>
              </a:rPr>
              <a:t>thường</a:t>
            </a:r>
            <a:r>
              <a:rPr lang="en-US" b="0" i="0" dirty="0">
                <a:solidFill>
                  <a:srgbClr val="1F1F1F"/>
                </a:solidFill>
                <a:effectLst/>
              </a:rPr>
              <a:t> </a:t>
            </a:r>
            <a:r>
              <a:rPr lang="en-US" b="0" i="0" dirty="0" err="1">
                <a:solidFill>
                  <a:srgbClr val="1F1F1F"/>
                </a:solidFill>
                <a:effectLst/>
              </a:rPr>
              <a:t>có</a:t>
            </a:r>
            <a:r>
              <a:rPr lang="en-US" b="0" i="0" dirty="0">
                <a:solidFill>
                  <a:srgbClr val="1F1F1F"/>
                </a:solidFill>
                <a:effectLst/>
              </a:rPr>
              <a:t> </a:t>
            </a:r>
            <a:r>
              <a:rPr lang="en-US" b="0" i="0" dirty="0" err="1">
                <a:solidFill>
                  <a:srgbClr val="1F1F1F"/>
                </a:solidFill>
                <a:effectLst/>
              </a:rPr>
              <a:t>biên</a:t>
            </a:r>
            <a:r>
              <a:rPr lang="en-US" b="0" i="0" dirty="0">
                <a:solidFill>
                  <a:srgbClr val="1F1F1F"/>
                </a:solidFill>
                <a:effectLst/>
              </a:rPr>
              <a:t> </a:t>
            </a:r>
            <a:r>
              <a:rPr lang="en-US" b="0" i="0" dirty="0" err="1">
                <a:solidFill>
                  <a:srgbClr val="1F1F1F"/>
                </a:solidFill>
                <a:effectLst/>
              </a:rPr>
              <a:t>độ</a:t>
            </a:r>
            <a:r>
              <a:rPr lang="en-US" b="0" i="0" dirty="0">
                <a:solidFill>
                  <a:srgbClr val="1F1F1F"/>
                </a:solidFill>
                <a:effectLst/>
              </a:rPr>
              <a:t> </a:t>
            </a:r>
            <a:r>
              <a:rPr lang="en-US" b="0" i="0" dirty="0" err="1">
                <a:solidFill>
                  <a:srgbClr val="1F1F1F"/>
                </a:solidFill>
                <a:effectLst/>
              </a:rPr>
              <a:t>rất</a:t>
            </a:r>
            <a:r>
              <a:rPr lang="en-US" b="0" i="0" dirty="0">
                <a:solidFill>
                  <a:srgbClr val="1F1F1F"/>
                </a:solidFill>
                <a:effectLst/>
              </a:rPr>
              <a:t> </a:t>
            </a:r>
            <a:r>
              <a:rPr lang="en-US" b="0" i="0" dirty="0" err="1">
                <a:solidFill>
                  <a:srgbClr val="1F1F1F"/>
                </a:solidFill>
                <a:effectLst/>
              </a:rPr>
              <a:t>nhỏ</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rãnh</a:t>
            </a:r>
            <a:r>
              <a:rPr lang="en-US" b="0" i="0" dirty="0">
                <a:solidFill>
                  <a:srgbClr val="1F1F1F"/>
                </a:solidFill>
                <a:effectLst/>
              </a:rPr>
              <a:t> </a:t>
            </a:r>
            <a:r>
              <a:rPr lang="en-US" b="0" i="0" dirty="0" err="1">
                <a:solidFill>
                  <a:srgbClr val="1F1F1F"/>
                </a:solidFill>
                <a:effectLst/>
              </a:rPr>
              <a:t>ngoài</a:t>
            </a:r>
            <a:r>
              <a:rPr lang="en-US" b="0" i="0" dirty="0">
                <a:solidFill>
                  <a:srgbClr val="1F1F1F"/>
                </a:solidFill>
                <a:effectLst/>
              </a:rPr>
              <a:t> (OR) </a:t>
            </a:r>
            <a:r>
              <a:rPr lang="en-US" b="0" i="0" dirty="0" err="1">
                <a:solidFill>
                  <a:srgbClr val="1F1F1F"/>
                </a:solidFill>
                <a:effectLst/>
              </a:rPr>
              <a:t>tạo</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va</a:t>
            </a:r>
            <a:r>
              <a:rPr lang="en-US" b="0" i="0" dirty="0">
                <a:solidFill>
                  <a:srgbClr val="1F1F1F"/>
                </a:solidFill>
                <a:effectLst/>
              </a:rPr>
              <a:t> </a:t>
            </a:r>
            <a:r>
              <a:rPr lang="en-US" b="0" i="0" dirty="0" err="1">
                <a:solidFill>
                  <a:srgbClr val="1F1F1F"/>
                </a:solidFill>
                <a:effectLst/>
              </a:rPr>
              <a:t>đập</a:t>
            </a:r>
            <a:r>
              <a:rPr lang="en-US" b="0" i="0" dirty="0">
                <a:solidFill>
                  <a:srgbClr val="1F1F1F"/>
                </a:solidFill>
                <a:effectLst/>
              </a:rPr>
              <a:t> </a:t>
            </a:r>
            <a:r>
              <a:rPr lang="en-US" b="0" i="0" dirty="0" err="1">
                <a:solidFill>
                  <a:srgbClr val="1F1F1F"/>
                </a:solidFill>
                <a:effectLst/>
              </a:rPr>
              <a:t>đều</a:t>
            </a:r>
            <a:r>
              <a:rPr lang="en-US" b="0" i="0" dirty="0">
                <a:solidFill>
                  <a:srgbClr val="1F1F1F"/>
                </a:solidFill>
                <a:effectLst/>
              </a:rPr>
              <a:t> </a:t>
            </a:r>
            <a:r>
              <a:rPr lang="en-US" b="0" i="0" dirty="0" err="1">
                <a:solidFill>
                  <a:srgbClr val="1F1F1F"/>
                </a:solidFill>
                <a:effectLst/>
              </a:rPr>
              <a:t>đặn</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rãnh</a:t>
            </a:r>
            <a:r>
              <a:rPr lang="en-US" b="0" i="0" dirty="0">
                <a:solidFill>
                  <a:srgbClr val="1F1F1F"/>
                </a:solidFill>
                <a:effectLst/>
              </a:rPr>
              <a:t> </a:t>
            </a:r>
            <a:r>
              <a:rPr lang="en-US" b="0" i="0" dirty="0" err="1">
                <a:solidFill>
                  <a:srgbClr val="1F1F1F"/>
                </a:solidFill>
                <a:effectLst/>
              </a:rPr>
              <a:t>trong</a:t>
            </a:r>
            <a:r>
              <a:rPr lang="en-US" b="0" i="0" dirty="0">
                <a:solidFill>
                  <a:srgbClr val="1F1F1F"/>
                </a:solidFill>
                <a:effectLst/>
              </a:rPr>
              <a:t> (IR) </a:t>
            </a:r>
            <a:r>
              <a:rPr lang="en-US" b="0" i="0" dirty="0" err="1">
                <a:solidFill>
                  <a:srgbClr val="1F1F1F"/>
                </a:solidFill>
                <a:effectLst/>
              </a:rPr>
              <a:t>xuất</a:t>
            </a:r>
            <a:r>
              <a:rPr lang="en-US" b="0" i="0" dirty="0">
                <a:solidFill>
                  <a:srgbClr val="1F1F1F"/>
                </a:solidFill>
                <a:effectLst/>
              </a:rPr>
              <a:t> </a:t>
            </a:r>
            <a:r>
              <a:rPr lang="en-US" b="0" i="0" dirty="0" err="1">
                <a:solidFill>
                  <a:srgbClr val="1F1F1F"/>
                </a:solidFill>
                <a:effectLst/>
              </a:rPr>
              <a:t>hiện</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bị</a:t>
            </a:r>
            <a:r>
              <a:rPr lang="en-US" b="0" i="0" dirty="0">
                <a:solidFill>
                  <a:srgbClr val="1F1F1F"/>
                </a:solidFill>
                <a:effectLst/>
              </a:rPr>
              <a:t> </a:t>
            </a:r>
            <a:r>
              <a:rPr lang="en-US" b="0" i="0" dirty="0" err="1">
                <a:solidFill>
                  <a:srgbClr val="1F1F1F"/>
                </a:solidFill>
                <a:effectLst/>
              </a:rPr>
              <a:t>điều</a:t>
            </a:r>
            <a:r>
              <a:rPr lang="en-US" b="0" i="0" dirty="0">
                <a:solidFill>
                  <a:srgbClr val="1F1F1F"/>
                </a:solidFill>
                <a:effectLst/>
              </a:rPr>
              <a:t> </a:t>
            </a:r>
            <a:r>
              <a:rPr lang="en-US" b="0" i="0" dirty="0" err="1">
                <a:solidFill>
                  <a:srgbClr val="1F1F1F"/>
                </a:solidFill>
                <a:effectLst/>
              </a:rPr>
              <a:t>chế</a:t>
            </a:r>
            <a:r>
              <a:rPr lang="en-US" b="0" i="0" dirty="0">
                <a:solidFill>
                  <a:srgbClr val="1F1F1F"/>
                </a:solidFill>
                <a:effectLst/>
              </a:rPr>
              <a:t> </a:t>
            </a:r>
            <a:r>
              <a:rPr lang="en-US" b="0" i="0" dirty="0" err="1">
                <a:solidFill>
                  <a:srgbClr val="1F1F1F"/>
                </a:solidFill>
                <a:effectLst/>
              </a:rPr>
              <a:t>biên</a:t>
            </a:r>
            <a:r>
              <a:rPr lang="en-US" b="0" i="0" dirty="0">
                <a:solidFill>
                  <a:srgbClr val="1F1F1F"/>
                </a:solidFill>
                <a:effectLst/>
              </a:rPr>
              <a:t> </a:t>
            </a:r>
            <a:r>
              <a:rPr lang="en-US" b="0" i="0" dirty="0" err="1">
                <a:solidFill>
                  <a:srgbClr val="1F1F1F"/>
                </a:solidFill>
                <a:effectLst/>
              </a:rPr>
              <a:t>độ</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viên</a:t>
            </a:r>
            <a:r>
              <a:rPr lang="en-US" b="0" i="0" dirty="0">
                <a:solidFill>
                  <a:srgbClr val="1F1F1F"/>
                </a:solidFill>
                <a:effectLst/>
              </a:rPr>
              <a:t> bi (Ball) </a:t>
            </a:r>
            <a:r>
              <a:rPr lang="en-US" b="0" i="0" dirty="0" err="1">
                <a:solidFill>
                  <a:srgbClr val="1F1F1F"/>
                </a:solidFill>
                <a:effectLst/>
              </a:rPr>
              <a:t>có</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thưa</a:t>
            </a:r>
            <a:r>
              <a:rPr lang="en-US" b="0" i="0" dirty="0">
                <a:solidFill>
                  <a:srgbClr val="1F1F1F"/>
                </a:solidFill>
                <a:effectLst/>
              </a:rPr>
              <a:t> </a:t>
            </a:r>
            <a:r>
              <a:rPr lang="en-US" b="0" i="0" dirty="0" err="1">
                <a:solidFill>
                  <a:srgbClr val="1F1F1F"/>
                </a:solidFill>
                <a:effectLst/>
              </a:rPr>
              <a:t>thớt</a:t>
            </a:r>
            <a:r>
              <a:rPr lang="en-US" b="0" i="0" dirty="0">
                <a:solidFill>
                  <a:srgbClr val="1F1F1F"/>
                </a:solidFill>
                <a:effectLst/>
              </a:rPr>
              <a:t>, </a:t>
            </a:r>
            <a:r>
              <a:rPr lang="en-US" b="0" i="0" dirty="0" err="1">
                <a:solidFill>
                  <a:srgbClr val="1F1F1F"/>
                </a:solidFill>
                <a:effectLst/>
              </a:rPr>
              <a:t>khó</a:t>
            </a:r>
            <a:r>
              <a:rPr lang="en-US" b="0" i="0" dirty="0">
                <a:solidFill>
                  <a:srgbClr val="1F1F1F"/>
                </a:solidFill>
                <a:effectLst/>
              </a:rPr>
              <a:t> </a:t>
            </a:r>
            <a:r>
              <a:rPr lang="en-US" b="0" i="0" dirty="0" err="1">
                <a:solidFill>
                  <a:srgbClr val="1F1F1F"/>
                </a:solidFill>
                <a:effectLst/>
              </a:rPr>
              <a:t>nhận</a:t>
            </a:r>
            <a:r>
              <a:rPr lang="en-US" b="0" i="0" dirty="0">
                <a:solidFill>
                  <a:srgbClr val="1F1F1F"/>
                </a:solidFill>
                <a:effectLst/>
              </a:rPr>
              <a:t> </a:t>
            </a:r>
            <a:r>
              <a:rPr lang="en-US" b="0" i="0" dirty="0" err="1">
                <a:solidFill>
                  <a:srgbClr val="1F1F1F"/>
                </a:solidFill>
                <a:effectLst/>
              </a:rPr>
              <a:t>diện</a:t>
            </a:r>
            <a:endParaRPr lang="en-US" dirty="0"/>
          </a:p>
        </p:txBody>
      </p:sp>
      <p:sp>
        <p:nvSpPr>
          <p:cNvPr id="12" name="Text 4">
            <a:extLst>
              <a:ext uri="{FF2B5EF4-FFF2-40B4-BE49-F238E27FC236}">
                <a16:creationId xmlns:a16="http://schemas.microsoft.com/office/drawing/2014/main" id="{1BB83EB0-93E3-3D42-C62C-194525204BA1}"/>
              </a:ext>
            </a:extLst>
          </p:cNvPr>
          <p:cNvSpPr/>
          <p:nvPr/>
        </p:nvSpPr>
        <p:spPr>
          <a:xfrm>
            <a:off x="220318" y="1901068"/>
            <a:ext cx="5977282" cy="303651"/>
          </a:xfrm>
          <a:prstGeom prst="rect">
            <a:avLst/>
          </a:prstGeom>
          <a:noFill/>
          <a:ln/>
        </p:spPr>
        <p:txBody>
          <a:bodyPr wrap="square" rtlCol="0" anchor="ctr"/>
          <a:lstStyle/>
          <a:p>
            <a:pPr marL="0" indent="0">
              <a:buNone/>
            </a:pPr>
            <a:r>
              <a:rPr lang="en-US" b="1" dirty="0">
                <a:solidFill>
                  <a:srgbClr val="68C496"/>
                </a:solidFill>
                <a:latin typeface="Calibri" pitchFamily="34" charset="0"/>
                <a:ea typeface="Calibri" pitchFamily="34" charset="-122"/>
                <a:cs typeface="Calibri" pitchFamily="34" charset="-120"/>
              </a:rPr>
              <a:t>Bình </a:t>
            </a:r>
            <a:r>
              <a:rPr lang="en-US" b="1" dirty="0" err="1">
                <a:solidFill>
                  <a:srgbClr val="68C496"/>
                </a:solidFill>
                <a:latin typeface="Calibri" pitchFamily="34" charset="0"/>
                <a:ea typeface="Calibri" pitchFamily="34" charset="-122"/>
                <a:cs typeface="Calibri" pitchFamily="34" charset="-120"/>
              </a:rPr>
              <a:t>thường</a:t>
            </a:r>
            <a:r>
              <a:rPr lang="en-US" b="1" dirty="0">
                <a:solidFill>
                  <a:srgbClr val="68C496"/>
                </a:solidFill>
                <a:latin typeface="Calibri" pitchFamily="34" charset="0"/>
                <a:ea typeface="Calibri" pitchFamily="34" charset="-122"/>
                <a:cs typeface="Calibri" pitchFamily="34" charset="-120"/>
              </a:rPr>
              <a:t> (N)</a:t>
            </a:r>
            <a:endParaRPr lang="en-US" dirty="0">
              <a:solidFill>
                <a:srgbClr val="68C496"/>
              </a:solidFill>
            </a:endParaRPr>
          </a:p>
        </p:txBody>
      </p:sp>
      <p:sp>
        <p:nvSpPr>
          <p:cNvPr id="13" name="Text 5">
            <a:extLst>
              <a:ext uri="{FF2B5EF4-FFF2-40B4-BE49-F238E27FC236}">
                <a16:creationId xmlns:a16="http://schemas.microsoft.com/office/drawing/2014/main" id="{9F25A2FD-037E-5795-9342-CEEA76CBBDC0}"/>
              </a:ext>
            </a:extLst>
          </p:cNvPr>
          <p:cNvSpPr/>
          <p:nvPr/>
        </p:nvSpPr>
        <p:spPr>
          <a:xfrm>
            <a:off x="220318" y="2300100"/>
            <a:ext cx="5977282" cy="474455"/>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Biên độ </a:t>
            </a:r>
            <a:r>
              <a:rPr lang="en-US" dirty="0" err="1">
                <a:latin typeface="Calibri" pitchFamily="34" charset="0"/>
                <a:ea typeface="Calibri" pitchFamily="34" charset="-122"/>
                <a:cs typeface="Calibri" pitchFamily="34" charset="-120"/>
              </a:rPr>
              <a:t>cực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nhỏ</a:t>
            </a:r>
            <a:r>
              <a:rPr lang="en-US" dirty="0">
                <a:latin typeface="Calibri" pitchFamily="34" charset="0"/>
                <a:ea typeface="Calibri" pitchFamily="34" charset="-122"/>
                <a:cs typeface="Calibri" pitchFamily="34" charset="-120"/>
              </a:rPr>
              <a:t> (0.2 g), tín hiệu phẳng,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xuất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hiện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các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bất thường.</a:t>
            </a:r>
            <a:endParaRPr lang="en-US" dirty="0"/>
          </a:p>
        </p:txBody>
      </p:sp>
      <p:sp>
        <p:nvSpPr>
          <p:cNvPr id="15" name="Text 7">
            <a:extLst>
              <a:ext uri="{FF2B5EF4-FFF2-40B4-BE49-F238E27FC236}">
                <a16:creationId xmlns:a16="http://schemas.microsoft.com/office/drawing/2014/main" id="{8F2EECFA-3CF4-10CB-8CC8-08D9FB4B4186}"/>
              </a:ext>
            </a:extLst>
          </p:cNvPr>
          <p:cNvSpPr/>
          <p:nvPr/>
        </p:nvSpPr>
        <p:spPr>
          <a:xfrm>
            <a:off x="220318" y="2967923"/>
            <a:ext cx="5977282" cy="303651"/>
          </a:xfrm>
          <a:prstGeom prst="rect">
            <a:avLst/>
          </a:prstGeom>
          <a:noFill/>
          <a:ln/>
        </p:spPr>
        <p:txBody>
          <a:bodyPr wrap="square" rtlCol="0" anchor="ctr"/>
          <a:lstStyle/>
          <a:p>
            <a:pPr marL="0" indent="0">
              <a:buNone/>
            </a:pPr>
            <a:r>
              <a:rPr lang="en-US" b="1" dirty="0" err="1">
                <a:solidFill>
                  <a:srgbClr val="63A6D5"/>
                </a:solidFill>
                <a:latin typeface="Calibri" pitchFamily="34" charset="0"/>
                <a:ea typeface="Calibri" pitchFamily="34" charset="-122"/>
                <a:cs typeface="Calibri" pitchFamily="34" charset="-120"/>
              </a:rPr>
              <a:t>Lỗi</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vòng</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trong</a:t>
            </a:r>
            <a:r>
              <a:rPr lang="en-US" b="1" dirty="0">
                <a:solidFill>
                  <a:srgbClr val="63A6D5"/>
                </a:solidFill>
                <a:latin typeface="Calibri" pitchFamily="34" charset="0"/>
                <a:ea typeface="Calibri" pitchFamily="34" charset="-122"/>
                <a:cs typeface="Calibri" pitchFamily="34" charset="-120"/>
              </a:rPr>
              <a:t> (IR)</a:t>
            </a:r>
            <a:endParaRPr lang="en-US" dirty="0">
              <a:solidFill>
                <a:srgbClr val="63A6D5"/>
              </a:solidFill>
            </a:endParaRPr>
          </a:p>
        </p:txBody>
      </p:sp>
      <p:sp>
        <p:nvSpPr>
          <p:cNvPr id="16" name="Text 8">
            <a:extLst>
              <a:ext uri="{FF2B5EF4-FFF2-40B4-BE49-F238E27FC236}">
                <a16:creationId xmlns:a16="http://schemas.microsoft.com/office/drawing/2014/main" id="{09F55884-EB50-3CC0-C903-FB62517A517A}"/>
              </a:ext>
            </a:extLst>
          </p:cNvPr>
          <p:cNvSpPr/>
          <p:nvPr/>
        </p:nvSpPr>
        <p:spPr>
          <a:xfrm>
            <a:off x="220318" y="3377942"/>
            <a:ext cx="5977282"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đường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lăn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quay </a:t>
            </a:r>
            <a:r>
              <a:rPr lang="en-US" dirty="0" err="1">
                <a:latin typeface="Calibri" pitchFamily="34" charset="0"/>
                <a:ea typeface="Calibri" pitchFamily="34" charset="-122"/>
                <a:cs typeface="Calibri" pitchFamily="34" charset="-120"/>
              </a:rPr>
              <a:t>cùng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trục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va đập mạnh,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và</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bị</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biến</a:t>
            </a:r>
            <a:r>
              <a:rPr lang="en-US" dirty="0">
                <a:latin typeface="Calibri" pitchFamily="34" charset="0"/>
                <a:ea typeface="Calibri" pitchFamily="34" charset="-122"/>
                <a:cs typeface="Calibri" pitchFamily="34" charset="-120"/>
              </a:rPr>
              <a:t>.</a:t>
            </a:r>
            <a:endParaRPr lang="en-US" dirty="0"/>
          </a:p>
        </p:txBody>
      </p:sp>
      <p:sp>
        <p:nvSpPr>
          <p:cNvPr id="18" name="Text 10">
            <a:extLst>
              <a:ext uri="{FF2B5EF4-FFF2-40B4-BE49-F238E27FC236}">
                <a16:creationId xmlns:a16="http://schemas.microsoft.com/office/drawing/2014/main" id="{2F5D1185-0853-5C25-A75D-1F3009C0097B}"/>
              </a:ext>
            </a:extLst>
          </p:cNvPr>
          <p:cNvSpPr/>
          <p:nvPr/>
        </p:nvSpPr>
        <p:spPr>
          <a:xfrm>
            <a:off x="220318" y="4069091"/>
            <a:ext cx="5977282" cy="303651"/>
          </a:xfrm>
          <a:prstGeom prst="rect">
            <a:avLst/>
          </a:prstGeom>
          <a:noFill/>
          <a:ln/>
        </p:spPr>
        <p:txBody>
          <a:bodyPr wrap="square" rtlCol="0" anchor="ctr"/>
          <a:lstStyle/>
          <a:p>
            <a:pPr marL="0" indent="0">
              <a:buNone/>
            </a:pPr>
            <a:r>
              <a:rPr lang="en-US" b="1" dirty="0" err="1">
                <a:solidFill>
                  <a:srgbClr val="D55043"/>
                </a:solidFill>
                <a:latin typeface="Calibri" pitchFamily="34" charset="0"/>
                <a:ea typeface="Calibri" pitchFamily="34" charset="-122"/>
                <a:cs typeface="Calibri" pitchFamily="34" charset="-120"/>
              </a:rPr>
              <a:t>Lỗi</a:t>
            </a:r>
            <a:r>
              <a:rPr lang="en-US" b="1" dirty="0">
                <a:solidFill>
                  <a:srgbClr val="D55043"/>
                </a:solidFill>
                <a:latin typeface="Calibri" pitchFamily="34" charset="0"/>
                <a:ea typeface="Calibri" pitchFamily="34" charset="-122"/>
                <a:cs typeface="Calibri" pitchFamily="34" charset="-120"/>
              </a:rPr>
              <a:t> rãnh trong (IR)</a:t>
            </a:r>
            <a:endParaRPr lang="en-US" dirty="0">
              <a:solidFill>
                <a:srgbClr val="D55043"/>
              </a:solidFill>
            </a:endParaRPr>
          </a:p>
        </p:txBody>
      </p:sp>
      <p:sp>
        <p:nvSpPr>
          <p:cNvPr id="19" name="Text 11">
            <a:extLst>
              <a:ext uri="{FF2B5EF4-FFF2-40B4-BE49-F238E27FC236}">
                <a16:creationId xmlns:a16="http://schemas.microsoft.com/office/drawing/2014/main" id="{77E0A2CE-24B4-392C-57D0-01B6A516CA4F}"/>
              </a:ext>
            </a:extLst>
          </p:cNvPr>
          <p:cNvSpPr/>
          <p:nvPr/>
        </p:nvSpPr>
        <p:spPr>
          <a:xfrm>
            <a:off x="220318" y="4419579"/>
            <a:ext cx="5977282" cy="474455"/>
          </a:xfrm>
          <a:prstGeom prst="rect">
            <a:avLst/>
          </a:prstGeom>
          <a:noFill/>
          <a:ln/>
        </p:spPr>
        <p:txBody>
          <a:bodyPr wrap="square" rtlCol="0" anchor="ctr"/>
          <a:lstStyle/>
          <a:p>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đương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lẵn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ngoài</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cố</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mạnh</a:t>
            </a:r>
            <a:r>
              <a:rPr lang="en-US" dirty="0">
                <a:latin typeface="Calibri" pitchFamily="34" charset="0"/>
                <a:ea typeface="Calibri" pitchFamily="34" charset="-122"/>
                <a:cs typeface="Calibri" pitchFamily="34" charset="-120"/>
              </a:rPr>
              <a:t>, chu </a:t>
            </a:r>
            <a:r>
              <a:rPr lang="en-US" dirty="0" err="1">
                <a:latin typeface="Calibri" pitchFamily="34" charset="0"/>
                <a:ea typeface="Calibri" pitchFamily="34" charset="-122"/>
                <a:cs typeface="Calibri" pitchFamily="34" charset="-120"/>
              </a:rPr>
              <a:t>kỳ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ổn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định</a:t>
            </a:r>
            <a:r>
              <a:rPr lang="en-US" dirty="0">
                <a:latin typeface="Calibri" pitchFamily="34" charset="0"/>
                <a:ea typeface="Calibri" pitchFamily="34" charset="-122"/>
                <a:cs typeface="Calibri" pitchFamily="34" charset="-120"/>
              </a:rPr>
              <a:t>.</a:t>
            </a:r>
            <a:endParaRPr lang="en-US" dirty="0"/>
          </a:p>
        </p:txBody>
      </p:sp>
      <p:sp>
        <p:nvSpPr>
          <p:cNvPr id="21" name="Text 13">
            <a:extLst>
              <a:ext uri="{FF2B5EF4-FFF2-40B4-BE49-F238E27FC236}">
                <a16:creationId xmlns:a16="http://schemas.microsoft.com/office/drawing/2014/main" id="{EE5A043D-050F-7268-1357-445FE372519A}"/>
              </a:ext>
            </a:extLst>
          </p:cNvPr>
          <p:cNvSpPr/>
          <p:nvPr/>
        </p:nvSpPr>
        <p:spPr>
          <a:xfrm>
            <a:off x="220317" y="5079971"/>
            <a:ext cx="5977283" cy="303651"/>
          </a:xfrm>
          <a:prstGeom prst="rect">
            <a:avLst/>
          </a:prstGeom>
          <a:noFill/>
          <a:ln/>
        </p:spPr>
        <p:txBody>
          <a:bodyPr wrap="square" rtlCol="0" anchor="ctr"/>
          <a:lstStyle/>
          <a:p>
            <a:pPr marL="0" indent="0">
              <a:buNone/>
            </a:pPr>
            <a:r>
              <a:rPr lang="en-US" b="1" dirty="0" err="1">
                <a:solidFill>
                  <a:srgbClr val="E9BF73"/>
                </a:solidFill>
                <a:latin typeface="Calibri" pitchFamily="34" charset="0"/>
                <a:ea typeface="Calibri" pitchFamily="34" charset="-122"/>
                <a:cs typeface="Calibri" pitchFamily="34" charset="-120"/>
              </a:rPr>
              <a:t>Lỗi</a:t>
            </a:r>
            <a:r>
              <a:rPr lang="en-US" b="1" dirty="0">
                <a:solidFill>
                  <a:srgbClr val="E9BF73"/>
                </a:solidFill>
                <a:latin typeface="Calibri" pitchFamily="34" charset="0"/>
                <a:ea typeface="Calibri" pitchFamily="34" charset="-122"/>
                <a:cs typeface="Calibri" pitchFamily="34" charset="-120"/>
              </a:rPr>
              <a:t> viên bi (Ball)</a:t>
            </a:r>
            <a:endParaRPr lang="en-US" dirty="0">
              <a:solidFill>
                <a:srgbClr val="E9BF73"/>
              </a:solidFill>
            </a:endParaRPr>
          </a:p>
        </p:txBody>
      </p:sp>
      <p:sp>
        <p:nvSpPr>
          <p:cNvPr id="22" name="Text 14">
            <a:extLst>
              <a:ext uri="{FF2B5EF4-FFF2-40B4-BE49-F238E27FC236}">
                <a16:creationId xmlns:a16="http://schemas.microsoft.com/office/drawing/2014/main" id="{C580D33B-7928-ADE3-02EA-4D7706CF5E89}"/>
              </a:ext>
            </a:extLst>
          </p:cNvPr>
          <p:cNvSpPr/>
          <p:nvPr/>
        </p:nvSpPr>
        <p:spPr>
          <a:xfrm>
            <a:off x="220317" y="5486147"/>
            <a:ext cx="5977283"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Khuyết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tật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bề</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mặt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viên</a:t>
            </a:r>
            <a:r>
              <a:rPr lang="en-US" dirty="0">
                <a:latin typeface="Calibri" pitchFamily="34" charset="0"/>
                <a:ea typeface="Calibri" pitchFamily="34" charset="-122"/>
                <a:cs typeface="Calibri" pitchFamily="34" charset="-120"/>
              </a:rPr>
              <a:t> bi. Va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hướng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phức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tạp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khó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nhận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nhất</a:t>
            </a:r>
            <a:r>
              <a:rPr lang="en-US" dirty="0">
                <a:latin typeface="Calibri" pitchFamily="34" charset="0"/>
                <a:ea typeface="Calibri" pitchFamily="34" charset="-122"/>
                <a:cs typeface="Calibri" pitchFamily="34" charset="-120"/>
              </a:rPr>
              <a:t>.</a:t>
            </a:r>
            <a:endParaRPr lang="en-US" dirty="0"/>
          </a:p>
        </p:txBody>
      </p:sp>
    </p:spTree>
    <p:extLst>
      <p:ext uri="{BB962C8B-B14F-4D97-AF65-F5344CB8AC3E}">
        <p14:creationId xmlns:p14="http://schemas.microsoft.com/office/powerpoint/2010/main" val="3594598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1920-4595-C18D-5B9A-CB36FDFA57C1}"/>
              </a:ext>
            </a:extLst>
          </p:cNvPr>
          <p:cNvSpPr>
            <a:spLocks noGrp="1"/>
          </p:cNvSpPr>
          <p:nvPr>
            <p:ph type="title"/>
          </p:nvPr>
        </p:nvSpPr>
        <p:spPr/>
        <p:txBody>
          <a:bodyPr/>
          <a:lstStyle/>
          <a:p>
            <a:r>
              <a:rPr lang="en-US" dirty="0"/>
              <a:t>Định </a:t>
            </a:r>
            <a:r>
              <a:rPr lang="en-US" dirty="0" err="1"/>
              <a:t>lượng</a:t>
            </a:r>
            <a:r>
              <a:rPr lang="en-US" dirty="0"/>
              <a:t> </a:t>
            </a:r>
            <a:r>
              <a:rPr lang="en-US" dirty="0" err="1"/>
              <a:t>mức</a:t>
            </a:r>
            <a:r>
              <a:rPr lang="en-US" dirty="0"/>
              <a:t> </a:t>
            </a:r>
            <a:r>
              <a:rPr lang="en-US" dirty="0" err="1"/>
              <a:t>độ</a:t>
            </a:r>
            <a:r>
              <a:rPr lang="en-US" dirty="0"/>
              <a:t> rung</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09DB75D-D8C6-75EC-808F-F3142C0A78E8}"/>
                  </a:ext>
                </a:extLst>
              </p:cNvPr>
              <p:cNvSpPr>
                <a:spLocks noGrp="1"/>
              </p:cNvSpPr>
              <p:nvPr>
                <p:ph type="body" sz="quarter" idx="13"/>
              </p:nvPr>
            </p:nvSpPr>
            <p:spPr>
              <a:xfrm>
                <a:off x="338736" y="908843"/>
                <a:ext cx="5541264" cy="1417797"/>
              </a:xfrm>
            </p:spPr>
            <p:txBody>
              <a:bodyPr/>
              <a:lstStyle/>
              <a:p>
                <a:pPr>
                  <a:buFont typeface="Wingdings" panose="05000000000000000000" pitchFamily="2" charset="2"/>
                  <a:buChar char="q"/>
                </a:pPr>
                <a:r>
                  <a:rPr lang="en-US" sz="1800" dirty="0">
                    <a:latin typeface="+mn-lt"/>
                  </a:rPr>
                  <a:t>RMS (</a:t>
                </a:r>
                <a:r>
                  <a:rPr lang="en-US" sz="1800" dirty="0" err="1">
                    <a:latin typeface="+mn-lt"/>
                  </a:rPr>
                  <a:t>Trị</a:t>
                </a:r>
                <a:r>
                  <a:rPr lang="en-US" sz="1800" dirty="0">
                    <a:latin typeface="+mn-lt"/>
                  </a:rPr>
                  <a:t> </a:t>
                </a:r>
                <a:r>
                  <a:rPr lang="en-US" sz="1800" dirty="0" err="1">
                    <a:latin typeface="+mn-lt"/>
                  </a:rPr>
                  <a:t>hiệu</a:t>
                </a:r>
                <a:r>
                  <a:rPr lang="en-US" sz="1800" dirty="0">
                    <a:latin typeface="+mn-lt"/>
                  </a:rPr>
                  <a:t> </a:t>
                </a:r>
                <a:r>
                  <a:rPr lang="en-US" sz="1800" dirty="0" err="1">
                    <a:latin typeface="+mn-lt"/>
                  </a:rPr>
                  <a:t>dụng</a:t>
                </a:r>
                <a:r>
                  <a:rPr lang="en-US" sz="1800" dirty="0">
                    <a:latin typeface="+mn-lt"/>
                  </a:rPr>
                  <a:t>):</a:t>
                </a:r>
              </a:p>
              <a:p>
                <a:pPr marL="0" indent="0">
                  <a:spcBef>
                    <a:spcPts val="0"/>
                  </a:spcBef>
                  <a:buNone/>
                </a:pPr>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𝑅𝑀𝑆</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𝑛</m:t>
                              </m:r>
                            </m:den>
                          </m:f>
                          <m:r>
                            <a:rPr lang="en-US" sz="1600" i="1">
                              <a:latin typeface="Cambria Math" panose="02040503050406030204" pitchFamily="18" charset="0"/>
                              <a:ea typeface="Cambria Math" panose="02040503050406030204" pitchFamily="18" charset="0"/>
                            </a:rPr>
                            <m:t>∙</m:t>
                          </m:r>
                          <m:nary>
                            <m:naryPr>
                              <m:chr m:val="∑"/>
                              <m:supHide m:val="on"/>
                              <m:ctrlPr>
                                <a:rPr lang="en-US" sz="1600" i="1">
                                  <a:latin typeface="Cambria Math" panose="02040503050406030204" pitchFamily="18" charset="0"/>
                                </a:rPr>
                              </m:ctrlPr>
                            </m:naryPr>
                            <m:sub>
                              <m:r>
                                <m:rPr>
                                  <m:brk m:alnAt="7"/>
                                </m:rPr>
                                <a:rPr lang="en-US" sz="1600" b="0" i="1" smtClean="0">
                                  <a:latin typeface="Cambria Math" panose="02040503050406030204" pitchFamily="18" charset="0"/>
                                </a:rPr>
                                <m:t>𝑖</m:t>
                              </m:r>
                              <m:r>
                                <a:rPr lang="en-US" sz="1600" b="0" i="1" smtClean="0">
                                  <a:latin typeface="Cambria Math" panose="02040503050406030204" pitchFamily="18" charset="0"/>
                                </a:rPr>
                                <m:t>=1,…,</m:t>
                              </m:r>
                              <m:r>
                                <a:rPr lang="en-US" sz="1600" b="0" i="1" smtClean="0">
                                  <a:latin typeface="Cambria Math" panose="02040503050406030204" pitchFamily="18" charset="0"/>
                                </a:rPr>
                                <m:t>𝑛</m:t>
                              </m:r>
                            </m:sub>
                            <m:sup/>
                            <m:e>
                              <m:sSubSup>
                                <m:sSubSupPr>
                                  <m:ctrlPr>
                                    <a:rPr lang="en-US" sz="1600" i="1" smtClean="0">
                                      <a:latin typeface="Cambria Math" panose="02040503050406030204" pitchFamily="18" charset="0"/>
                                    </a:rPr>
                                  </m:ctrlPr>
                                </m:sSubSup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up>
                                  <m:r>
                                    <a:rPr lang="en-US" sz="1600" b="0" i="1" smtClean="0">
                                      <a:latin typeface="Cambria Math" panose="02040503050406030204" pitchFamily="18" charset="0"/>
                                    </a:rPr>
                                    <m:t>2</m:t>
                                  </m:r>
                                </m:sup>
                              </m:sSubSup>
                            </m:e>
                          </m:nary>
                        </m:e>
                      </m:rad>
                    </m:oMath>
                  </m:oMathPara>
                </a14:m>
                <a:endParaRPr lang="en-US" sz="1600" dirty="0">
                  <a:latin typeface="+mn-lt"/>
                </a:endParaRPr>
              </a:p>
              <a:p>
                <a:pPr marL="0" indent="0">
                  <a:spcBef>
                    <a:spcPts val="0"/>
                  </a:spcBef>
                  <a:buNone/>
                </a:pPr>
                <a:endParaRPr lang="en-US" sz="1600" dirty="0">
                  <a:latin typeface="+mn-lt"/>
                </a:endParaRPr>
              </a:p>
              <a:p>
                <a:pPr>
                  <a:buFont typeface="Wingdings" panose="05000000000000000000" pitchFamily="2" charset="2"/>
                  <a:buChar char="q"/>
                </a:pPr>
                <a:endParaRPr lang="en-US" sz="1800" dirty="0">
                  <a:latin typeface="+mn-lt"/>
                </a:endParaRPr>
              </a:p>
              <a:p>
                <a:pPr marL="0" indent="0">
                  <a:spcBef>
                    <a:spcPts val="0"/>
                  </a:spcBef>
                  <a:buNone/>
                </a:pPr>
                <a:endParaRPr lang="en-US" sz="1800" dirty="0">
                  <a:latin typeface="+mn-lt"/>
                </a:endParaRPr>
              </a:p>
            </p:txBody>
          </p:sp>
        </mc:Choice>
        <mc:Fallback>
          <p:sp>
            <p:nvSpPr>
              <p:cNvPr id="3" name="Text Placeholder 2">
                <a:extLst>
                  <a:ext uri="{FF2B5EF4-FFF2-40B4-BE49-F238E27FC236}">
                    <a16:creationId xmlns:a16="http://schemas.microsoft.com/office/drawing/2014/main" id="{009DB75D-D8C6-75EC-808F-F3142C0A78E8}"/>
                  </a:ext>
                </a:extLst>
              </p:cNvPr>
              <p:cNvSpPr>
                <a:spLocks noGrp="1" noRot="1" noChangeAspect="1" noMove="1" noResize="1" noEditPoints="1" noAdjustHandles="1" noChangeArrowheads="1" noChangeShapeType="1" noTextEdit="1"/>
              </p:cNvSpPr>
              <p:nvPr>
                <p:ph type="body" sz="quarter" idx="13"/>
              </p:nvPr>
            </p:nvSpPr>
            <p:spPr>
              <a:xfrm>
                <a:off x="338736" y="908843"/>
                <a:ext cx="5541264" cy="1417797"/>
              </a:xfrm>
              <a:blipFill>
                <a:blip r:embed="rId2"/>
                <a:stretch>
                  <a:fillRect l="-770" t="-38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A86FA57-B775-9A88-C9B1-A274CD1CB6EA}"/>
              </a:ext>
            </a:extLst>
          </p:cNvPr>
          <p:cNvSpPr>
            <a:spLocks noGrp="1"/>
          </p:cNvSpPr>
          <p:nvPr>
            <p:ph type="sldNum" sz="quarter" idx="12"/>
          </p:nvPr>
        </p:nvSpPr>
        <p:spPr/>
        <p:txBody>
          <a:bodyPr/>
          <a:lstStyle/>
          <a:p>
            <a:fld id="{9EA0BE3B-158A-4EDF-80DC-E394A0D1600F}" type="slidenum">
              <a:rPr lang="en-US" smtClean="0"/>
              <a:pPr/>
              <a:t>11</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DD2A36A-968D-19BC-9AF1-B00767AAD78F}"/>
                  </a:ext>
                </a:extLst>
              </p:cNvPr>
              <p:cNvSpPr txBox="1"/>
              <p:nvPr/>
            </p:nvSpPr>
            <p:spPr>
              <a:xfrm>
                <a:off x="6360160" y="908843"/>
                <a:ext cx="5539549" cy="1726306"/>
              </a:xfrm>
              <a:prstGeom prst="rect">
                <a:avLst/>
              </a:prstGeom>
              <a:noFill/>
            </p:spPr>
            <p:txBody>
              <a:bodyPr wrap="square" rtlCol="0">
                <a:spAutoFit/>
              </a:bodyPr>
              <a:lstStyle/>
              <a:p>
                <a:pPr>
                  <a:buFont typeface="Wingdings" panose="05000000000000000000" pitchFamily="2" charset="2"/>
                  <a:buChar char="q"/>
                </a:pPr>
                <a:r>
                  <a:rPr lang="en-US" dirty="0"/>
                  <a:t>Crest Factor (</a:t>
                </a:r>
                <a:r>
                  <a:rPr lang="en-US" dirty="0" err="1"/>
                  <a:t>Hệ</a:t>
                </a:r>
                <a:r>
                  <a:rPr lang="en-US" dirty="0"/>
                  <a:t> </a:t>
                </a:r>
                <a:r>
                  <a:rPr lang="en-US" dirty="0" err="1"/>
                  <a:t>số</a:t>
                </a:r>
                <a:r>
                  <a:rPr lang="en-US" dirty="0"/>
                  <a:t> </a:t>
                </a:r>
                <a:r>
                  <a:rPr lang="en-US" dirty="0" err="1"/>
                  <a:t>đỉnh</a:t>
                </a:r>
                <a:r>
                  <a:rPr lang="en-US" dirty="0"/>
                  <a:t>):</a:t>
                </a:r>
              </a:p>
              <a:p>
                <a:endParaRPr lang="en-US" dirty="0"/>
              </a:p>
              <a:p>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𝐶𝐹</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𝑃𝑒𝑎𝑘</m:t>
                          </m:r>
                        </m:num>
                        <m:den>
                          <m:r>
                            <a:rPr lang="en-US" i="1">
                              <a:latin typeface="Cambria Math" panose="02040503050406030204" pitchFamily="18" charset="0"/>
                            </a:rPr>
                            <m:t>𝑅𝑀𝑆</m:t>
                          </m:r>
                        </m:den>
                      </m:f>
                    </m:oMath>
                  </m:oMathPara>
                </a14:m>
                <a:endParaRPr lang="en-US" dirty="0"/>
              </a:p>
              <a:p>
                <a:endParaRPr lang="en-US" dirty="0"/>
              </a:p>
              <a:p>
                <a:endParaRPr lang="en-US" dirty="0"/>
              </a:p>
            </p:txBody>
          </p:sp>
        </mc:Choice>
        <mc:Fallback>
          <p:sp>
            <p:nvSpPr>
              <p:cNvPr id="5" name="TextBox 4">
                <a:extLst>
                  <a:ext uri="{FF2B5EF4-FFF2-40B4-BE49-F238E27FC236}">
                    <a16:creationId xmlns:a16="http://schemas.microsoft.com/office/drawing/2014/main" id="{0DD2A36A-968D-19BC-9AF1-B00767AAD78F}"/>
                  </a:ext>
                </a:extLst>
              </p:cNvPr>
              <p:cNvSpPr txBox="1">
                <a:spLocks noRot="1" noChangeAspect="1" noMove="1" noResize="1" noEditPoints="1" noAdjustHandles="1" noChangeArrowheads="1" noChangeShapeType="1" noTextEdit="1"/>
              </p:cNvSpPr>
              <p:nvPr/>
            </p:nvSpPr>
            <p:spPr>
              <a:xfrm>
                <a:off x="6360160" y="908843"/>
                <a:ext cx="5539549" cy="1726306"/>
              </a:xfrm>
              <a:prstGeom prst="rect">
                <a:avLst/>
              </a:prstGeom>
              <a:blipFill>
                <a:blip r:embed="rId3"/>
                <a:stretch>
                  <a:fillRect l="-660" t="-17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9693228D-86DA-50E8-FF6D-F9E1ABC007DA}"/>
                  </a:ext>
                </a:extLst>
              </p:cNvPr>
              <p:cNvSpPr txBox="1"/>
              <p:nvPr/>
            </p:nvSpPr>
            <p:spPr>
              <a:xfrm>
                <a:off x="193040" y="2819815"/>
                <a:ext cx="5686960" cy="923330"/>
              </a:xfrm>
              <a:prstGeom prst="rect">
                <a:avLst/>
              </a:prstGeom>
              <a:noFill/>
            </p:spPr>
            <p:txBody>
              <a:bodyPr wrap="square">
                <a:spAutoFit/>
              </a:bodyPr>
              <a:lstStyle/>
              <a:p>
                <a:pPr>
                  <a:buFont typeface="Wingdings" panose="05000000000000000000" pitchFamily="2" charset="2"/>
                  <a:buChar char="q"/>
                </a:pPr>
                <a:r>
                  <a:rPr lang="en-US" sz="1800" dirty="0">
                    <a:latin typeface="+mn-lt"/>
                  </a:rPr>
                  <a:t>Peak (</a:t>
                </a:r>
                <a:r>
                  <a:rPr lang="en-US" sz="1800" dirty="0" err="1">
                    <a:latin typeface="+mn-lt"/>
                  </a:rPr>
                  <a:t>Biên</a:t>
                </a:r>
                <a:r>
                  <a:rPr lang="en-US" sz="1800" dirty="0">
                    <a:latin typeface="+mn-lt"/>
                  </a:rPr>
                  <a:t> </a:t>
                </a:r>
                <a:r>
                  <a:rPr lang="en-US" sz="1800" dirty="0" err="1">
                    <a:latin typeface="+mn-lt"/>
                  </a:rPr>
                  <a:t>độ</a:t>
                </a:r>
                <a:r>
                  <a:rPr lang="en-US" sz="1800" dirty="0">
                    <a:latin typeface="+mn-lt"/>
                  </a:rPr>
                  <a:t> </a:t>
                </a:r>
                <a:r>
                  <a:rPr lang="en-US" sz="1800" dirty="0" err="1">
                    <a:latin typeface="+mn-lt"/>
                  </a:rPr>
                  <a:t>đỉnh</a:t>
                </a:r>
                <a:r>
                  <a:rPr lang="en-US" sz="1800" dirty="0">
                    <a:latin typeface="+mn-lt"/>
                  </a:rPr>
                  <a:t>):</a:t>
                </a:r>
              </a:p>
              <a:p>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𝑃𝑒𝑎𝑘</m:t>
                      </m:r>
                      <m:r>
                        <a:rPr lang="en-US" sz="1800" b="0" i="1" smtClean="0">
                          <a:latin typeface="Cambria Math" panose="02040503050406030204" pitchFamily="18" charset="0"/>
                        </a:rPr>
                        <m:t>=</m:t>
                      </m:r>
                      <m:r>
                        <a:rPr lang="en-US" sz="1800" b="0" i="1" smtClean="0">
                          <a:latin typeface="Cambria Math" panose="02040503050406030204" pitchFamily="18" charset="0"/>
                        </a:rPr>
                        <m:t>𝑀𝑎𝑥</m:t>
                      </m:r>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e>
                      </m:d>
                    </m:oMath>
                  </m:oMathPara>
                </a14:m>
                <a:endParaRPr lang="en-US" dirty="0"/>
              </a:p>
            </p:txBody>
          </p:sp>
        </mc:Choice>
        <mc:Fallback>
          <p:sp>
            <p:nvSpPr>
              <p:cNvPr id="8" name="TextBox 7">
                <a:extLst>
                  <a:ext uri="{FF2B5EF4-FFF2-40B4-BE49-F238E27FC236}">
                    <a16:creationId xmlns:a16="http://schemas.microsoft.com/office/drawing/2014/main" id="{9693228D-86DA-50E8-FF6D-F9E1ABC007DA}"/>
                  </a:ext>
                </a:extLst>
              </p:cNvPr>
              <p:cNvSpPr txBox="1">
                <a:spLocks noRot="1" noChangeAspect="1" noMove="1" noResize="1" noEditPoints="1" noAdjustHandles="1" noChangeArrowheads="1" noChangeShapeType="1" noTextEdit="1"/>
              </p:cNvSpPr>
              <p:nvPr/>
            </p:nvSpPr>
            <p:spPr>
              <a:xfrm>
                <a:off x="193040" y="2819815"/>
                <a:ext cx="5686960" cy="923330"/>
              </a:xfrm>
              <a:prstGeom prst="rect">
                <a:avLst/>
              </a:prstGeom>
              <a:blipFill>
                <a:blip r:embed="rId4"/>
                <a:stretch>
                  <a:fillRect l="-750" t="-397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B9A3B98-D9BA-7E87-0709-74A5C549EE62}"/>
              </a:ext>
            </a:extLst>
          </p:cNvPr>
          <p:cNvSpPr txBox="1"/>
          <p:nvPr/>
        </p:nvSpPr>
        <p:spPr>
          <a:xfrm>
            <a:off x="6360160" y="3180017"/>
            <a:ext cx="5493104" cy="369332"/>
          </a:xfrm>
          <a:prstGeom prst="rect">
            <a:avLst/>
          </a:prstGeom>
          <a:noFill/>
        </p:spPr>
        <p:txBody>
          <a:bodyPr wrap="square">
            <a:spAutoFit/>
          </a:bodyPr>
          <a:lstStyle/>
          <a:p>
            <a:pPr marL="285750" indent="-285750">
              <a:buFont typeface="Wingdings" panose="05000000000000000000" pitchFamily="2" charset="2"/>
              <a:buChar char="q"/>
            </a:pPr>
            <a:r>
              <a:rPr lang="en-US" dirty="0"/>
              <a:t>Kurtosis (</a:t>
            </a:r>
            <a:r>
              <a:rPr lang="en-US" dirty="0" err="1"/>
              <a:t>Độ</a:t>
            </a:r>
            <a:r>
              <a:rPr lang="en-US" dirty="0"/>
              <a:t> </a:t>
            </a:r>
            <a:r>
              <a:rPr lang="en-US" dirty="0" err="1"/>
              <a:t>nhọn</a:t>
            </a:r>
            <a:r>
              <a:rPr lang="en-US" dirty="0"/>
              <a:t>):</a:t>
            </a:r>
          </a:p>
        </p:txBody>
      </p:sp>
    </p:spTree>
    <p:extLst>
      <p:ext uri="{BB962C8B-B14F-4D97-AF65-F5344CB8AC3E}">
        <p14:creationId xmlns:p14="http://schemas.microsoft.com/office/powerpoint/2010/main" val="156314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12</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 dockstate="right" visibility="0" width="438"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71A0A0-A2AD-4C3F-B4E4-0F6027CD71FB}">
  <we:reference id="wa200010001" version="1.0.0.1" store="en-US" storeType="OMEX"/>
  <we:alternateReferences>
    <we:reference id="wa200010001" version="1.0.0.1" store="wa200010001" storeType="OMEX"/>
  </we:alternateReferences>
  <we:properties>
    <we:property name="claude.fileId" value="&quot;8840d90e-12b1-40f9-850d-3db41e120927&quot;"/>
  </we:properties>
  <we:bindings/>
  <we:snapshot xmlns:r="http://schemas.openxmlformats.org/officeDocument/2006/relationships"/>
</we:webextension>
</file>

<file path=ppt/webextensions/webextension2.xml><?xml version="1.0" encoding="utf-8"?>
<we:webextension xmlns:we="http://schemas.microsoft.com/office/webextensions/webextension/2010/11" id="{1D370BC2-1149-4E5A-83BF-D4C0E5542D08}">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592</TotalTime>
  <Words>1149</Words>
  <Application>Microsoft Office PowerPoint</Application>
  <PresentationFormat>Widescreen</PresentationFormat>
  <Paragraphs>110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 Math</vt:lpstr>
      <vt:lpstr>Lato</vt:lpstr>
      <vt:lpstr>Wingdings</vt:lpstr>
      <vt:lpstr>Office Theme</vt:lpstr>
      <vt:lpstr>PowerPoint Presentation</vt:lpstr>
      <vt:lpstr>Ứng Dụng Machine Learning Trong Chẩn Đoán Hư Hỏng Ổ Lăn </vt:lpstr>
      <vt:lpstr>Mục tiêu khoá học </vt:lpstr>
      <vt:lpstr>Vì sao cần bảo trì dự đoán</vt:lpstr>
      <vt:lpstr>Quy Trình 7 Bước</vt:lpstr>
      <vt:lpstr>Dữ Liệu CWRU Hệ thí nghiệm, cảm biến, phân loại lỗi và tần số đặc trưng ổ lăn SKF 6205 </vt:lpstr>
      <vt:lpstr>CWRU Test Rig &amp; Cảm Biến</vt:lpstr>
      <vt:lpstr>Trạng Thái Ổ Lăn — Vị Trí Khuyết Tật Vật Lý</vt:lpstr>
      <vt:lpstr>Tần số hư hỏng đặc trưng</vt:lpstr>
      <vt:lpstr>Phân tích dạng sóng</vt:lpstr>
      <vt:lpstr>Định lượng mức độ rung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Binh Do</cp:lastModifiedBy>
  <cp:revision>11</cp:revision>
  <dcterms:created xsi:type="dcterms:W3CDTF">2021-05-28T04:32:29Z</dcterms:created>
  <dcterms:modified xsi:type="dcterms:W3CDTF">2026-06-03T15:35:54Z</dcterms:modified>
</cp:coreProperties>
</file>