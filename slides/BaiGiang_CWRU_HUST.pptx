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59" r:id="rId2"/>
    <p:sldId id="256" r:id="rId3"/>
    <p:sldId id="261" r:id="rId4"/>
    <p:sldId id="258" r:id="rId5"/>
    <p:sldId id="264" r:id="rId6"/>
    <p:sldId id="263" r:id="rId7"/>
    <p:sldId id="265" r:id="rId8"/>
    <p:sldId id="266" r:id="rId9"/>
    <p:sldId id="267" r:id="rId10"/>
    <p:sldId id="268" r:id="rId11"/>
    <p:sldId id="269" r:id="rId12"/>
    <p:sldId id="309" r:id="rId13"/>
    <p:sldId id="299" r:id="rId14"/>
    <p:sldId id="300" r:id="rId15"/>
    <p:sldId id="301" r:id="rId16"/>
    <p:sldId id="302" r:id="rId17"/>
    <p:sldId id="304" r:id="rId18"/>
    <p:sldId id="303" r:id="rId19"/>
    <p:sldId id="306" r:id="rId20"/>
    <p:sldId id="312" r:id="rId21"/>
    <p:sldId id="313" r:id="rId22"/>
    <p:sldId id="314" r:id="rId23"/>
    <p:sldId id="315" r:id="rId24"/>
    <p:sldId id="311" r:id="rId25"/>
    <p:sldId id="307" r:id="rId26"/>
    <p:sldId id="316" r:id="rId27"/>
    <p:sldId id="317" r:id="rId28"/>
    <p:sldId id="308" r:id="rId29"/>
    <p:sldId id="29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C496"/>
    <a:srgbClr val="63A6D5"/>
    <a:srgbClr val="E9BF73"/>
    <a:srgbClr val="D55043"/>
    <a:srgbClr val="0A2A50"/>
    <a:srgbClr val="063D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79" d="100"/>
          <a:sy n="79" d="100"/>
        </p:scale>
        <p:origin x="72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t>6/5/2026</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6/5/2026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6/5/2026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6/5/2026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6/5/2026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6/5/2026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6/5/2026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6/5/2026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6/5/2026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6/5/2026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6/5/2026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engineering.case.edu/bearingdatacenter/welcome" TargetMode="External"/><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10.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642BA63-383F-45B9-939A-7A3B792A60C4}"/>
              </a:ext>
            </a:extLst>
          </p:cNvPr>
          <p:cNvSpPr>
            <a:spLocks noGrp="1"/>
          </p:cNvSpPr>
          <p:nvPr>
            <p:ph type="title"/>
          </p:nvPr>
        </p:nvSpPr>
        <p:spPr>
          <a:xfrm>
            <a:off x="2273828" y="2461846"/>
            <a:ext cx="7644344" cy="1934307"/>
          </a:xfrm>
        </p:spPr>
        <p:txBody>
          <a:bodyPr/>
          <a:lstStyle/>
          <a:p>
            <a:r>
              <a:rPr lang="en-US" dirty="0" err="1"/>
              <a:t>Ứng</a:t>
            </a:r>
            <a:r>
              <a:rPr lang="en-US" dirty="0"/>
              <a:t> </a:t>
            </a:r>
            <a:r>
              <a:rPr lang="en-US" dirty="0" err="1"/>
              <a:t>Dụng</a:t>
            </a:r>
            <a:r>
              <a:rPr lang="en-US" dirty="0"/>
              <a:t> Machine Learning Trong </a:t>
            </a:r>
            <a:r>
              <a:rPr lang="en-US" dirty="0" err="1"/>
              <a:t>Chẩn</a:t>
            </a:r>
            <a:r>
              <a:rPr lang="en-US" dirty="0"/>
              <a:t> </a:t>
            </a:r>
            <a:r>
              <a:rPr lang="en-US" dirty="0" err="1"/>
              <a:t>Đoán</a:t>
            </a:r>
            <a:r>
              <a:rPr lang="en-US" dirty="0"/>
              <a:t> </a:t>
            </a:r>
            <a:r>
              <a:rPr lang="en-US" dirty="0" err="1"/>
              <a:t>Hư</a:t>
            </a:r>
            <a:r>
              <a:rPr lang="en-US" dirty="0"/>
              <a:t> </a:t>
            </a:r>
            <a:r>
              <a:rPr lang="en-US" dirty="0" err="1"/>
              <a:t>Hỏng</a:t>
            </a:r>
            <a:r>
              <a:rPr lang="en-US" dirty="0"/>
              <a:t> Ổ </a:t>
            </a:r>
            <a:r>
              <a:rPr lang="en-US" dirty="0" err="1"/>
              <a:t>Lăn</a:t>
            </a:r>
            <a:r>
              <a:rPr lang="en-US" dirty="0"/>
              <a:t> </a:t>
            </a:r>
          </a:p>
        </p:txBody>
      </p:sp>
    </p:spTree>
    <p:extLst>
      <p:ext uri="{BB962C8B-B14F-4D97-AF65-F5344CB8AC3E}">
        <p14:creationId xmlns:p14="http://schemas.microsoft.com/office/powerpoint/2010/main" val="123400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08F6D9-EEEA-402C-98D9-7DF024C759AE}"/>
              </a:ext>
            </a:extLst>
          </p:cNvPr>
          <p:cNvSpPr>
            <a:spLocks noGrp="1"/>
          </p:cNvSpPr>
          <p:nvPr>
            <p:ph type="title"/>
          </p:nvPr>
        </p:nvSpPr>
        <p:spPr/>
        <p:txBody>
          <a:bodyPr/>
          <a:lstStyle/>
          <a:p>
            <a:r>
              <a:rPr lang="en-US" dirty="0" err="1"/>
              <a:t>Mục</a:t>
            </a:r>
            <a:r>
              <a:rPr lang="en-US" dirty="0"/>
              <a:t> </a:t>
            </a:r>
            <a:r>
              <a:rPr lang="en-US" dirty="0" err="1"/>
              <a:t>tiêu</a:t>
            </a:r>
            <a:r>
              <a:rPr lang="en-US" dirty="0"/>
              <a:t> </a:t>
            </a:r>
            <a:r>
              <a:rPr lang="en-US" dirty="0" err="1"/>
              <a:t>khoá</a:t>
            </a:r>
            <a:r>
              <a:rPr lang="en-US" dirty="0"/>
              <a:t> </a:t>
            </a:r>
            <a:r>
              <a:rPr lang="en-US" dirty="0" err="1"/>
              <a:t>học</a:t>
            </a:r>
            <a:br>
              <a:rPr lang="en-US" dirty="0"/>
            </a:br>
            <a:endParaRPr lang="en-US" dirty="0"/>
          </a:p>
        </p:txBody>
      </p:sp>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8" name="Shape 3">
            <a:extLst>
              <a:ext uri="{FF2B5EF4-FFF2-40B4-BE49-F238E27FC236}">
                <a16:creationId xmlns:a16="http://schemas.microsoft.com/office/drawing/2014/main" id="{3A61218D-5D85-770D-4E16-73EF1B0991FF}"/>
              </a:ext>
            </a:extLst>
          </p:cNvPr>
          <p:cNvSpPr/>
          <p:nvPr/>
        </p:nvSpPr>
        <p:spPr>
          <a:xfrm>
            <a:off x="430176" y="1323762"/>
            <a:ext cx="54864" cy="640080"/>
          </a:xfrm>
          <a:prstGeom prst="rect">
            <a:avLst/>
          </a:prstGeom>
          <a:solidFill>
            <a:srgbClr val="06D6A0"/>
          </a:solidFill>
          <a:ln w="12700">
            <a:solidFill>
              <a:srgbClr val="06D6A0"/>
            </a:solidFill>
            <a:prstDash val="solid"/>
          </a:ln>
        </p:spPr>
      </p:sp>
      <p:sp>
        <p:nvSpPr>
          <p:cNvPr id="9" name="Text 4">
            <a:extLst>
              <a:ext uri="{FF2B5EF4-FFF2-40B4-BE49-F238E27FC236}">
                <a16:creationId xmlns:a16="http://schemas.microsoft.com/office/drawing/2014/main" id="{5B0E6B39-7FA6-F640-1BA9-A8318132D364}"/>
              </a:ext>
            </a:extLst>
          </p:cNvPr>
          <p:cNvSpPr/>
          <p:nvPr/>
        </p:nvSpPr>
        <p:spPr>
          <a:xfrm>
            <a:off x="613056" y="13694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Nắm vững quy trình xử lý hoàn chỉnh (Pipeline): từ tín hiệu rung thô đến chẩn đoán lỗi</a:t>
            </a:r>
            <a:endParaRPr lang="en-US" dirty="0"/>
          </a:p>
        </p:txBody>
      </p:sp>
      <p:sp>
        <p:nvSpPr>
          <p:cNvPr id="10" name="Shape 5">
            <a:extLst>
              <a:ext uri="{FF2B5EF4-FFF2-40B4-BE49-F238E27FC236}">
                <a16:creationId xmlns:a16="http://schemas.microsoft.com/office/drawing/2014/main" id="{CE05F8EE-318E-B154-0D82-C4834097CEC0}"/>
              </a:ext>
            </a:extLst>
          </p:cNvPr>
          <p:cNvSpPr/>
          <p:nvPr/>
        </p:nvSpPr>
        <p:spPr>
          <a:xfrm>
            <a:off x="430176" y="2238162"/>
            <a:ext cx="54864" cy="640080"/>
          </a:xfrm>
          <a:prstGeom prst="rect">
            <a:avLst/>
          </a:prstGeom>
          <a:solidFill>
            <a:srgbClr val="00B4D8"/>
          </a:solidFill>
          <a:ln w="12700">
            <a:solidFill>
              <a:srgbClr val="00B4D8"/>
            </a:solidFill>
            <a:prstDash val="solid"/>
          </a:ln>
        </p:spPr>
      </p:sp>
      <p:sp>
        <p:nvSpPr>
          <p:cNvPr id="11" name="Text 6">
            <a:extLst>
              <a:ext uri="{FF2B5EF4-FFF2-40B4-BE49-F238E27FC236}">
                <a16:creationId xmlns:a16="http://schemas.microsoft.com/office/drawing/2014/main" id="{E2E52D1F-8982-3D89-E899-F4719A0CAC0F}"/>
              </a:ext>
            </a:extLst>
          </p:cNvPr>
          <p:cNvSpPr/>
          <p:nvPr/>
        </p:nvSpPr>
        <p:spPr>
          <a:xfrm>
            <a:off x="613056" y="22838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Tự xây dựng và tối ưu hóa các mô hình SVM và Random Forest</a:t>
            </a:r>
            <a:endParaRPr lang="en-US" dirty="0"/>
          </a:p>
        </p:txBody>
      </p:sp>
      <p:sp>
        <p:nvSpPr>
          <p:cNvPr id="12" name="Shape 7">
            <a:extLst>
              <a:ext uri="{FF2B5EF4-FFF2-40B4-BE49-F238E27FC236}">
                <a16:creationId xmlns:a16="http://schemas.microsoft.com/office/drawing/2014/main" id="{5C41A717-6F3F-F412-CC02-AFAD61ED22E0}"/>
              </a:ext>
            </a:extLst>
          </p:cNvPr>
          <p:cNvSpPr/>
          <p:nvPr/>
        </p:nvSpPr>
        <p:spPr>
          <a:xfrm>
            <a:off x="430176" y="3152562"/>
            <a:ext cx="54864" cy="640080"/>
          </a:xfrm>
          <a:prstGeom prst="rect">
            <a:avLst/>
          </a:prstGeom>
          <a:solidFill>
            <a:srgbClr val="FFD166"/>
          </a:solidFill>
          <a:ln w="12700">
            <a:solidFill>
              <a:srgbClr val="FFD166"/>
            </a:solidFill>
            <a:prstDash val="solid"/>
          </a:ln>
        </p:spPr>
      </p:sp>
      <p:sp>
        <p:nvSpPr>
          <p:cNvPr id="13" name="Text 8">
            <a:extLst>
              <a:ext uri="{FF2B5EF4-FFF2-40B4-BE49-F238E27FC236}">
                <a16:creationId xmlns:a16="http://schemas.microsoft.com/office/drawing/2014/main" id="{A75C2290-9A13-7D5C-5FD2-766C20A6D052}"/>
              </a:ext>
            </a:extLst>
          </p:cNvPr>
          <p:cNvSpPr/>
          <p:nvPr/>
        </p:nvSpPr>
        <p:spPr>
          <a:xfrm>
            <a:off x="613056" y="31982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Đánh giá hiệu năng mô hình khách quan, tránh bẫy rò rỉ dữ liệu (data leakage)</a:t>
            </a:r>
            <a:endParaRPr lang="en-US" dirty="0"/>
          </a:p>
        </p:txBody>
      </p:sp>
      <p:sp>
        <p:nvSpPr>
          <p:cNvPr id="14" name="Shape 9">
            <a:extLst>
              <a:ext uri="{FF2B5EF4-FFF2-40B4-BE49-F238E27FC236}">
                <a16:creationId xmlns:a16="http://schemas.microsoft.com/office/drawing/2014/main" id="{FEC9DB86-D91D-8D08-AC85-4086BB77F9F5}"/>
              </a:ext>
            </a:extLst>
          </p:cNvPr>
          <p:cNvSpPr/>
          <p:nvPr/>
        </p:nvSpPr>
        <p:spPr>
          <a:xfrm>
            <a:off x="430176" y="4066962"/>
            <a:ext cx="54864" cy="640080"/>
          </a:xfrm>
          <a:prstGeom prst="rect">
            <a:avLst/>
          </a:prstGeom>
          <a:solidFill>
            <a:srgbClr val="00F5D4"/>
          </a:solidFill>
          <a:ln w="12700">
            <a:solidFill>
              <a:srgbClr val="00F5D4"/>
            </a:solidFill>
            <a:prstDash val="solid"/>
          </a:ln>
        </p:spPr>
      </p:sp>
      <p:sp>
        <p:nvSpPr>
          <p:cNvPr id="15" name="Text 10">
            <a:extLst>
              <a:ext uri="{FF2B5EF4-FFF2-40B4-BE49-F238E27FC236}">
                <a16:creationId xmlns:a16="http://schemas.microsoft.com/office/drawing/2014/main" id="{A737B159-F761-FC45-0B81-F146E1EF2651}"/>
              </a:ext>
            </a:extLst>
          </p:cNvPr>
          <p:cNvSpPr/>
          <p:nvPr/>
        </p:nvSpPr>
        <p:spPr>
          <a:xfrm>
            <a:off x="613056" y="41126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Ứng dụng SHAP để giải thích cơ chế đưa ra quyết định của mô hình</a:t>
            </a:r>
            <a:endParaRPr lang="en-US" dirty="0"/>
          </a:p>
        </p:txBody>
      </p:sp>
      <p:sp>
        <p:nvSpPr>
          <p:cNvPr id="16" name="Text 12">
            <a:extLst>
              <a:ext uri="{FF2B5EF4-FFF2-40B4-BE49-F238E27FC236}">
                <a16:creationId xmlns:a16="http://schemas.microsoft.com/office/drawing/2014/main" id="{6C9608A5-2904-6DED-F66E-7CA74DDD480F}"/>
              </a:ext>
            </a:extLst>
          </p:cNvPr>
          <p:cNvSpPr/>
          <p:nvPr/>
        </p:nvSpPr>
        <p:spPr>
          <a:xfrm>
            <a:off x="338736" y="5202186"/>
            <a:ext cx="11423088" cy="457200"/>
          </a:xfrm>
          <a:prstGeom prst="rect">
            <a:avLst/>
          </a:prstGeom>
          <a:noFill/>
          <a:ln/>
        </p:spPr>
        <p:txBody>
          <a:bodyPr wrap="square" rtlCol="0" anchor="ctr"/>
          <a:lstStyle/>
          <a:p>
            <a:pPr marL="0" indent="0">
              <a:buNone/>
            </a:pPr>
            <a:r>
              <a:rPr lang="en-US" i="1" dirty="0">
                <a:solidFill>
                  <a:srgbClr val="00B4D8"/>
                </a:solidFill>
                <a:latin typeface="Calibri" pitchFamily="34" charset="0"/>
                <a:ea typeface="Calibri" pitchFamily="34" charset="-122"/>
                <a:cs typeface="Calibri" pitchFamily="34" charset="-120"/>
              </a:rPr>
              <a:t>💡 Tư duy cốt lõi: Khi ổ lăn xuất hiện khuyết tật, mỗi vòng quay kích thích một xung va đập đặc trưng lặp lại tuần hoàn. Mọi công cụ FFT, Envelope, ML, SHAP chỉ là cách phát hiện cái nhịp đó.</a:t>
            </a:r>
            <a:endParaRPr lang="en-US" dirty="0"/>
          </a:p>
        </p:txBody>
      </p:sp>
    </p:spTree>
    <p:extLst>
      <p:ext uri="{BB962C8B-B14F-4D97-AF65-F5344CB8AC3E}">
        <p14:creationId xmlns:p14="http://schemas.microsoft.com/office/powerpoint/2010/main" val="64084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3">
            <a:extLst>
              <a:ext uri="{FF2B5EF4-FFF2-40B4-BE49-F238E27FC236}">
                <a16:creationId xmlns:a16="http://schemas.microsoft.com/office/drawing/2014/main" id="{986A64DC-D995-8DD4-CCAD-74E61CB2CB2A}"/>
              </a:ext>
            </a:extLst>
          </p:cNvPr>
          <p:cNvSpPr/>
          <p:nvPr/>
        </p:nvSpPr>
        <p:spPr>
          <a:xfrm>
            <a:off x="187421" y="1070044"/>
            <a:ext cx="3840480" cy="4114800"/>
          </a:xfrm>
          <a:prstGeom prst="roundRect">
            <a:avLst>
              <a:gd name="adj" fmla="val 5454"/>
            </a:avLst>
          </a:prstGeom>
          <a:solidFill>
            <a:srgbClr val="6B1A2B"/>
          </a:solidFill>
          <a:ln w="12700">
            <a:solidFill>
              <a:srgbClr val="0077B6"/>
            </a:solidFill>
            <a:prstDash val="solid"/>
          </a:ln>
        </p:spPr>
      </p:sp>
      <p:sp>
        <p:nvSpPr>
          <p:cNvPr id="20" name="Text 4">
            <a:extLst>
              <a:ext uri="{FF2B5EF4-FFF2-40B4-BE49-F238E27FC236}">
                <a16:creationId xmlns:a16="http://schemas.microsoft.com/office/drawing/2014/main" id="{0615E134-DE26-E9AB-2C7C-09807F51D8FC}"/>
              </a:ext>
            </a:extLst>
          </p:cNvPr>
          <p:cNvSpPr/>
          <p:nvPr/>
        </p:nvSpPr>
        <p:spPr>
          <a:xfrm>
            <a:off x="278861"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phản ứng</a:t>
            </a:r>
            <a:endParaRPr lang="en-US" dirty="0"/>
          </a:p>
        </p:txBody>
      </p:sp>
      <p:sp>
        <p:nvSpPr>
          <p:cNvPr id="21" name="Text 5">
            <a:extLst>
              <a:ext uri="{FF2B5EF4-FFF2-40B4-BE49-F238E27FC236}">
                <a16:creationId xmlns:a16="http://schemas.microsoft.com/office/drawing/2014/main" id="{2B173157-C0EC-B456-2430-6074A6E6BF2C}"/>
              </a:ext>
            </a:extLst>
          </p:cNvPr>
          <p:cNvSpPr/>
          <p:nvPr/>
        </p:nvSpPr>
        <p:spPr>
          <a:xfrm>
            <a:off x="278861"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Hỏng mới sửa</a:t>
            </a:r>
            <a:endParaRPr lang="en-US" sz="1500" dirty="0"/>
          </a:p>
        </p:txBody>
      </p:sp>
      <p:sp>
        <p:nvSpPr>
          <p:cNvPr id="22" name="Text 6">
            <a:extLst>
              <a:ext uri="{FF2B5EF4-FFF2-40B4-BE49-F238E27FC236}">
                <a16:creationId xmlns:a16="http://schemas.microsoft.com/office/drawing/2014/main" id="{C0F0625A-12B5-2BBD-B604-F2DAA4CE41EF}"/>
              </a:ext>
            </a:extLst>
          </p:cNvPr>
          <p:cNvSpPr/>
          <p:nvPr/>
        </p:nvSpPr>
        <p:spPr>
          <a:xfrm>
            <a:off x="278859" y="1893004"/>
            <a:ext cx="3614689" cy="3108960"/>
          </a:xfrm>
          <a:prstGeom prst="rect">
            <a:avLst/>
          </a:prstGeom>
          <a:noFill/>
          <a:ln/>
        </p:spPr>
        <p:txBody>
          <a:bodyPr wrap="square" rtlCol="0" anchor="t"/>
          <a:lstStyle/>
          <a:p>
            <a:pPr>
              <a:buSzPct val="100000"/>
            </a:pPr>
            <a:r>
              <a:rPr lang="en-US" dirty="0" err="1">
                <a:solidFill>
                  <a:srgbClr val="E8F4FD"/>
                </a:solidFill>
                <a:latin typeface="Calibri" pitchFamily="34" charset="0"/>
                <a:ea typeface="Calibri" pitchFamily="34" charset="-122"/>
                <a:cs typeface="Calibri" pitchFamily="34" charset="-120"/>
              </a:rPr>
              <a:t>Chiến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lược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thu</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Chỉ</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tiến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hành</a:t>
            </a:r>
            <a:r>
              <a:rPr lang="en-US" dirty="0">
                <a:solidFill>
                  <a:srgbClr val="E8F4FD"/>
                </a:solidFill>
                <a:latin typeface="Calibri" pitchFamily="34" charset="0"/>
                <a:ea typeface="Calibri" pitchFamily="34" charset="-122"/>
                <a:cs typeface="Calibri" pitchFamily="34" charset="-120"/>
              </a:rPr>
              <a:t> can </a:t>
            </a:r>
            <a:r>
              <a:rPr lang="en-US" dirty="0" err="1">
                <a:solidFill>
                  <a:srgbClr val="E8F4FD"/>
                </a:solidFill>
                <a:latin typeface="Calibri" pitchFamily="34" charset="0"/>
                <a:ea typeface="Calibri" pitchFamily="34" charset="-122"/>
                <a:cs typeface="Calibri" pitchFamily="34" charset="-120"/>
              </a:rPr>
              <a:t>thiệp</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kỹ</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thuật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sau</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khi</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thiết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bị</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đã</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xảy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ra</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sự</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cố</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và</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ngừng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hoạt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động</a:t>
            </a:r>
            <a:r>
              <a:rPr lang="en-US" dirty="0">
                <a:solidFill>
                  <a:srgbClr val="E8F4FD"/>
                </a:solidFill>
                <a:latin typeface="Calibri" pitchFamily="34" charset="0"/>
                <a:ea typeface="Calibri" pitchFamily="34" charset="-122"/>
                <a:cs typeface="Calibri" pitchFamily="34" charset="-120"/>
              </a:rPr>
              <a:t>.</a:t>
            </a:r>
          </a:p>
          <a:p>
            <a:pPr marL="342900" indent="-342900">
              <a:buSzPct val="100000"/>
              <a:buChar char="•"/>
            </a:pPr>
            <a:r>
              <a:rPr lang="en-US" b="1" dirty="0">
                <a:solidFill>
                  <a:srgbClr val="E8F4FD"/>
                </a:solidFill>
                <a:latin typeface="Calibri" pitchFamily="34" charset="0"/>
                <a:ea typeface="Calibri" pitchFamily="34" charset="-122"/>
                <a:cs typeface="Calibri" pitchFamily="34" charset="-120"/>
              </a:rPr>
              <a:t>Hậu </a:t>
            </a:r>
            <a:r>
              <a:rPr lang="en-US" b="1" dirty="0" err="1">
                <a:solidFill>
                  <a:srgbClr val="E8F4FD"/>
                </a:solidFill>
                <a:latin typeface="Calibri" pitchFamily="34" charset="0"/>
                <a:ea typeface="Calibri" pitchFamily="34" charset="-122"/>
                <a:cs typeface="Calibri" pitchFamily="34" charset="-120"/>
              </a:rPr>
              <a:t>quả</a:t>
            </a:r>
            <a:r>
              <a:rPr lang="en-US" b="1"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Gây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dừng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máy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ngột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làm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tê</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liệt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chuyền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sản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xuất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quy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mô</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lớn</a:t>
            </a:r>
            <a:endParaRPr lang="en-US" dirty="0">
              <a:solidFill>
                <a:srgbClr val="E8F4FD"/>
              </a:solidFill>
              <a:latin typeface="Calibri" pitchFamily="34" charset="0"/>
              <a:ea typeface="Calibri" pitchFamily="34" charset="-122"/>
              <a:cs typeface="Calibri" pitchFamily="34" charset="-120"/>
            </a:endParaRPr>
          </a:p>
          <a:p>
            <a:pPr marL="342900" indent="-342900">
              <a:buSzPct val="100000"/>
              <a:buChar char="•"/>
            </a:pPr>
            <a:r>
              <a:rPr lang="en-US" b="1" dirty="0" err="1">
                <a:solidFill>
                  <a:srgbClr val="E8F4FD"/>
                </a:solidFill>
                <a:latin typeface="Calibri" pitchFamily="34" charset="0"/>
                <a:ea typeface="Calibri" pitchFamily="34" charset="-122"/>
                <a:cs typeface="Calibri" pitchFamily="34" charset="-120"/>
              </a:rPr>
              <a:t>Thiệt</a:t>
            </a:r>
            <a:r>
              <a:rPr lang="en-US" b="1" dirty="0">
                <a:solidFill>
                  <a:srgbClr val="E8F4FD"/>
                </a:solidFill>
                <a:latin typeface="Calibri" pitchFamily="34" charset="0"/>
                <a:ea typeface="Calibri" pitchFamily="34" charset="-122"/>
                <a:cs typeface="Calibri" pitchFamily="34" charset="-120"/>
              </a:rPr>
              <a:t> </a:t>
            </a:r>
            <a:r>
              <a:rPr lang="en-US" b="1" dirty="0" err="1">
                <a:solidFill>
                  <a:srgbClr val="E8F4FD"/>
                </a:solidFill>
                <a:latin typeface="Calibri" pitchFamily="34" charset="0"/>
                <a:ea typeface="Calibri" pitchFamily="34" charset="-122"/>
                <a:cs typeface="Calibri" pitchFamily="34" charset="-120"/>
              </a:rPr>
              <a:t>hại</a:t>
            </a:r>
            <a:r>
              <a:rPr lang="en-US" b="1" dirty="0">
                <a:solidFill>
                  <a:srgbClr val="E8F4FD"/>
                </a:solidFill>
                <a:latin typeface="Calibri" pitchFamily="34" charset="0"/>
                <a:ea typeface="Calibri" pitchFamily="34" charset="-122"/>
                <a:cs typeface="Calibri" pitchFamily="34" charset="-120"/>
              </a:rPr>
              <a:t>: </a:t>
            </a:r>
            <a:r>
              <a:rPr lang="en-US" dirty="0">
                <a:solidFill>
                  <a:srgbClr val="E8F4FD"/>
                </a:solidFill>
                <a:latin typeface="Calibri" pitchFamily="34" charset="0"/>
                <a:ea typeface="Calibri" pitchFamily="34" charset="-122"/>
                <a:cs typeface="Calibri" pitchFamily="34" charset="-120"/>
              </a:rPr>
              <a:t>Chi </a:t>
            </a:r>
            <a:r>
              <a:rPr lang="en-US" dirty="0" err="1">
                <a:solidFill>
                  <a:srgbClr val="E8F4FD"/>
                </a:solidFill>
                <a:latin typeface="Calibri" pitchFamily="34" charset="0"/>
                <a:ea typeface="Calibri" pitchFamily="34" charset="-122"/>
                <a:cs typeface="Calibri" pitchFamily="34" charset="-120"/>
              </a:rPr>
              <a:t>phí</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khắc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phục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khẩn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cấp</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cực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kỳ</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lớn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dễ</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gây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ra</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hư</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hỏng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cơ</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khí</a:t>
            </a:r>
            <a:r>
              <a:rPr lang="en-US" dirty="0">
                <a:solidFill>
                  <a:srgbClr val="E8F4FD"/>
                </a:solidFill>
                <a:latin typeface="Calibri" pitchFamily="34" charset="0"/>
                <a:ea typeface="Calibri" pitchFamily="34" charset="-122"/>
                <a:cs typeface="Calibri" pitchFamily="34" charset="-120"/>
              </a:rPr>
              <a:t> lan </a:t>
            </a:r>
            <a:r>
              <a:rPr lang="en-US" dirty="0" err="1">
                <a:solidFill>
                  <a:srgbClr val="E8F4FD"/>
                </a:solidFill>
                <a:latin typeface="Calibri" pitchFamily="34" charset="0"/>
                <a:ea typeface="Calibri" pitchFamily="34" charset="-122"/>
                <a:cs typeface="Calibri" pitchFamily="34" charset="-120"/>
              </a:rPr>
              <a:t>rộng</a:t>
            </a:r>
            <a:r>
              <a:rPr lang="en-US" dirty="0">
                <a:solidFill>
                  <a:srgbClr val="E8F4FD"/>
                </a:solidFill>
                <a:latin typeface="Calibri" pitchFamily="34" charset="0"/>
                <a:ea typeface="Calibri" pitchFamily="34" charset="-122"/>
                <a:cs typeface="Calibri" pitchFamily="34" charset="-120"/>
              </a:rPr>
              <a:t> sang </a:t>
            </a:r>
            <a:r>
              <a:rPr lang="en-US" dirty="0" err="1">
                <a:solidFill>
                  <a:srgbClr val="E8F4FD"/>
                </a:solidFill>
                <a:latin typeface="Calibri" pitchFamily="34" charset="0"/>
                <a:ea typeface="Calibri" pitchFamily="34" charset="-122"/>
                <a:cs typeface="Calibri" pitchFamily="34" charset="-120"/>
              </a:rPr>
              <a:t>các</a:t>
            </a:r>
            <a:r>
              <a:rPr lang="en-US" dirty="0">
                <a:solidFill>
                  <a:srgbClr val="E8F4FD"/>
                </a:solidFill>
                <a:latin typeface="Calibri" pitchFamily="34" charset="0"/>
                <a:ea typeface="Calibri" pitchFamily="34" charset="-122"/>
                <a:cs typeface="Calibri" pitchFamily="34" charset="-120"/>
              </a:rPr>
              <a:t> chi </a:t>
            </a:r>
            <a:r>
              <a:rPr lang="en-US" dirty="0" err="1">
                <a:solidFill>
                  <a:srgbClr val="E8F4FD"/>
                </a:solidFill>
                <a:latin typeface="Calibri" pitchFamily="34" charset="0"/>
                <a:ea typeface="Calibri" pitchFamily="34" charset="-122"/>
                <a:cs typeface="Calibri" pitchFamily="34" charset="-120"/>
              </a:rPr>
              <a:t>tiết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liên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đới</a:t>
            </a:r>
            <a:r>
              <a:rPr lang="en-US" dirty="0">
                <a:solidFill>
                  <a:srgbClr val="E8F4FD"/>
                </a:solidFill>
                <a:latin typeface="Calibri" pitchFamily="34" charset="0"/>
                <a:ea typeface="Calibri" pitchFamily="34" charset="-122"/>
                <a:cs typeface="Calibri" pitchFamily="34" charset="-120"/>
              </a:rPr>
              <a:t>.</a:t>
            </a:r>
            <a:endParaRPr lang="en-US" dirty="0"/>
          </a:p>
        </p:txBody>
      </p:sp>
      <p:sp>
        <p:nvSpPr>
          <p:cNvPr id="23" name="Shape 7">
            <a:extLst>
              <a:ext uri="{FF2B5EF4-FFF2-40B4-BE49-F238E27FC236}">
                <a16:creationId xmlns:a16="http://schemas.microsoft.com/office/drawing/2014/main" id="{3415CDD6-E5BB-BABC-EBEF-9397E8B939FF}"/>
              </a:ext>
            </a:extLst>
          </p:cNvPr>
          <p:cNvSpPr/>
          <p:nvPr/>
        </p:nvSpPr>
        <p:spPr>
          <a:xfrm>
            <a:off x="4175760" y="1070044"/>
            <a:ext cx="3840480" cy="4114800"/>
          </a:xfrm>
          <a:prstGeom prst="roundRect">
            <a:avLst>
              <a:gd name="adj" fmla="val 5741"/>
            </a:avLst>
          </a:prstGeom>
          <a:solidFill>
            <a:srgbClr val="5A4A00"/>
          </a:solidFill>
          <a:ln w="12700">
            <a:solidFill>
              <a:srgbClr val="0077B6"/>
            </a:solidFill>
            <a:prstDash val="solid"/>
          </a:ln>
        </p:spPr>
      </p:sp>
      <p:sp>
        <p:nvSpPr>
          <p:cNvPr id="24" name="Text 8">
            <a:extLst>
              <a:ext uri="{FF2B5EF4-FFF2-40B4-BE49-F238E27FC236}">
                <a16:creationId xmlns:a16="http://schemas.microsoft.com/office/drawing/2014/main" id="{CFBFBC1E-7149-5721-FE33-A221B040B466}"/>
              </a:ext>
            </a:extLst>
          </p:cNvPr>
          <p:cNvSpPr/>
          <p:nvPr/>
        </p:nvSpPr>
        <p:spPr>
          <a:xfrm>
            <a:off x="4259310"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phòng ngừa</a:t>
            </a:r>
            <a:endParaRPr lang="en-US" dirty="0"/>
          </a:p>
        </p:txBody>
      </p:sp>
      <p:sp>
        <p:nvSpPr>
          <p:cNvPr id="25" name="Text 9">
            <a:extLst>
              <a:ext uri="{FF2B5EF4-FFF2-40B4-BE49-F238E27FC236}">
                <a16:creationId xmlns:a16="http://schemas.microsoft.com/office/drawing/2014/main" id="{829F2FFC-728A-686F-50E6-A3FE3FA96ED3}"/>
              </a:ext>
            </a:extLst>
          </p:cNvPr>
          <p:cNvSpPr/>
          <p:nvPr/>
        </p:nvSpPr>
        <p:spPr>
          <a:xfrm>
            <a:off x="4259310"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Theo lịch định kỳ</a:t>
            </a:r>
            <a:endParaRPr lang="en-US" sz="1500" dirty="0"/>
          </a:p>
        </p:txBody>
      </p:sp>
      <p:sp>
        <p:nvSpPr>
          <p:cNvPr id="26" name="Text 10">
            <a:extLst>
              <a:ext uri="{FF2B5EF4-FFF2-40B4-BE49-F238E27FC236}">
                <a16:creationId xmlns:a16="http://schemas.microsoft.com/office/drawing/2014/main" id="{DCE38714-B623-74B5-E941-83C8392C46EE}"/>
              </a:ext>
            </a:extLst>
          </p:cNvPr>
          <p:cNvSpPr/>
          <p:nvPr/>
        </p:nvSpPr>
        <p:spPr>
          <a:xfrm>
            <a:off x="4259309" y="1893004"/>
            <a:ext cx="3630469" cy="3108960"/>
          </a:xfrm>
          <a:prstGeom prst="rect">
            <a:avLst/>
          </a:prstGeom>
          <a:noFill/>
          <a:ln/>
        </p:spPr>
        <p:txBody>
          <a:bodyPr wrap="square" rtlCol="0" anchor="t"/>
          <a:lstStyle/>
          <a:p>
            <a:pPr>
              <a:buSzPct val="100000"/>
            </a:pPr>
            <a:r>
              <a:rPr lang="en-US" dirty="0" err="1">
                <a:solidFill>
                  <a:schemeClr val="bg1"/>
                </a:solidFill>
              </a:rPr>
              <a:t>Chiến</a:t>
            </a:r>
            <a:r>
              <a:rPr lang="en-US" dirty="0">
                <a:solidFill>
                  <a:schemeClr val="bg1"/>
                </a:solidFill>
              </a:rPr>
              <a:t> </a:t>
            </a:r>
            <a:r>
              <a:rPr lang="en-US" dirty="0" err="1">
                <a:solidFill>
                  <a:schemeClr val="bg1"/>
                </a:solidFill>
              </a:rPr>
              <a:t>lược</a:t>
            </a:r>
            <a:r>
              <a:rPr lang="en-US" dirty="0">
                <a:solidFill>
                  <a:schemeClr val="bg1"/>
                </a:solidFill>
              </a:rPr>
              <a:t> </a:t>
            </a:r>
            <a:r>
              <a:rPr lang="en-US" dirty="0" err="1">
                <a:solidFill>
                  <a:schemeClr val="bg1"/>
                </a:solidFill>
              </a:rPr>
              <a:t>chủ</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dựa</a:t>
            </a:r>
            <a:r>
              <a:rPr lang="en-US" dirty="0">
                <a:solidFill>
                  <a:schemeClr val="bg1"/>
                </a:solidFill>
              </a:rPr>
              <a:t> </a:t>
            </a:r>
            <a:r>
              <a:rPr lang="en-US" dirty="0" err="1">
                <a:solidFill>
                  <a:schemeClr val="bg1"/>
                </a:solidFill>
              </a:rPr>
              <a:t>trên</a:t>
            </a:r>
            <a:r>
              <a:rPr lang="en-US" dirty="0">
                <a:solidFill>
                  <a:schemeClr val="bg1"/>
                </a:solidFill>
              </a:rPr>
              <a:t> </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vận</a:t>
            </a:r>
            <a:r>
              <a:rPr lang="en-US" dirty="0">
                <a:solidFill>
                  <a:schemeClr val="bg1"/>
                </a:solidFill>
              </a:rPr>
              <a:t> </a:t>
            </a:r>
            <a:r>
              <a:rPr lang="en-US" dirty="0" err="1">
                <a:solidFill>
                  <a:schemeClr val="bg1"/>
                </a:solidFill>
              </a:rPr>
              <a:t>hành</a:t>
            </a:r>
            <a:r>
              <a:rPr lang="en-US" dirty="0">
                <a:solidFill>
                  <a:schemeClr val="bg1"/>
                </a:solidFill>
              </a:rPr>
              <a:t> </a:t>
            </a:r>
            <a:r>
              <a:rPr lang="en-US" dirty="0" err="1">
                <a:solidFill>
                  <a:schemeClr val="bg1"/>
                </a:solidFill>
              </a:rPr>
              <a:t>tích</a:t>
            </a:r>
            <a:r>
              <a:rPr lang="en-US" dirty="0">
                <a:solidFill>
                  <a:schemeClr val="bg1"/>
                </a:solidFill>
              </a:rPr>
              <a:t> </a:t>
            </a:r>
            <a:r>
              <a:rPr lang="en-US" dirty="0" err="1">
                <a:solidFill>
                  <a:schemeClr val="bg1"/>
                </a:solidFill>
              </a:rPr>
              <a:t>lũy</a:t>
            </a:r>
            <a:r>
              <a:rPr lang="en-US" dirty="0">
                <a:solidFill>
                  <a:schemeClr val="bg1"/>
                </a:solidFill>
              </a:rPr>
              <a:t> </a:t>
            </a:r>
            <a:r>
              <a:rPr lang="en-US" dirty="0" err="1">
                <a:solidFill>
                  <a:schemeClr val="bg1"/>
                </a:solidFill>
              </a:rPr>
              <a:t>hoặc</a:t>
            </a:r>
            <a:r>
              <a:rPr lang="en-US" dirty="0">
                <a:solidFill>
                  <a:schemeClr val="bg1"/>
                </a:solidFill>
              </a:rPr>
              <a:t> </a:t>
            </a:r>
            <a:r>
              <a:rPr lang="en-US" dirty="0" err="1">
                <a:solidFill>
                  <a:schemeClr val="bg1"/>
                </a:solidFill>
              </a:rPr>
              <a:t>sản</a:t>
            </a:r>
            <a:r>
              <a:rPr lang="en-US" dirty="0">
                <a:solidFill>
                  <a:schemeClr val="bg1"/>
                </a:solidFill>
              </a:rPr>
              <a:t> </a:t>
            </a:r>
            <a:r>
              <a:rPr lang="en-US" dirty="0" err="1">
                <a:solidFill>
                  <a:schemeClr val="bg1"/>
                </a:solidFill>
              </a:rPr>
              <a:t>lượng</a:t>
            </a:r>
            <a:r>
              <a:rPr lang="en-US" dirty="0">
                <a:solidFill>
                  <a:schemeClr val="bg1"/>
                </a:solidFill>
              </a:rPr>
              <a:t> </a:t>
            </a:r>
            <a:r>
              <a:rPr lang="en-US" dirty="0" err="1">
                <a:solidFill>
                  <a:schemeClr val="bg1"/>
                </a:solidFill>
              </a:rPr>
              <a:t>sản</a:t>
            </a:r>
            <a:r>
              <a:rPr lang="en-US" dirty="0">
                <a:solidFill>
                  <a:schemeClr val="bg1"/>
                </a:solidFill>
              </a:rPr>
              <a:t> </a:t>
            </a:r>
            <a:r>
              <a:rPr lang="en-US" dirty="0" err="1">
                <a:solidFill>
                  <a:schemeClr val="bg1"/>
                </a:solidFill>
              </a:rPr>
              <a:t>phẩm</a:t>
            </a:r>
            <a:endParaRPr lang="en-US"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b="1" dirty="0" err="1">
                <a:solidFill>
                  <a:schemeClr val="bg1"/>
                </a:solidFill>
              </a:rPr>
              <a:t>Lãng</a:t>
            </a:r>
            <a:r>
              <a:rPr lang="en-US" b="1" dirty="0">
                <a:solidFill>
                  <a:schemeClr val="bg1"/>
                </a:solidFill>
              </a:rPr>
              <a:t> </a:t>
            </a:r>
            <a:r>
              <a:rPr lang="en-US" b="1" dirty="0" err="1">
                <a:solidFill>
                  <a:schemeClr val="bg1"/>
                </a:solidFill>
              </a:rPr>
              <a:t>phí</a:t>
            </a:r>
            <a:r>
              <a:rPr lang="en-US" b="1" dirty="0">
                <a:solidFill>
                  <a:schemeClr val="bg1"/>
                </a:solidFill>
              </a:rPr>
              <a:t>:</a:t>
            </a:r>
            <a:r>
              <a:rPr lang="en-US" dirty="0">
                <a:solidFill>
                  <a:schemeClr val="bg1"/>
                </a:solidFill>
              </a:rPr>
              <a:t> </a:t>
            </a:r>
            <a:r>
              <a:rPr lang="en-US" dirty="0" err="1">
                <a:solidFill>
                  <a:schemeClr val="bg1"/>
                </a:solidFill>
              </a:rPr>
              <a:t>Buộc</a:t>
            </a:r>
            <a:r>
              <a:rPr lang="en-US" dirty="0">
                <a:solidFill>
                  <a:schemeClr val="bg1"/>
                </a:solidFill>
              </a:rPr>
              <a:t> </a:t>
            </a:r>
            <a:r>
              <a:rPr lang="en-US" dirty="0" err="1">
                <a:solidFill>
                  <a:schemeClr val="bg1"/>
                </a:solidFill>
              </a:rPr>
              <a:t>phải</a:t>
            </a:r>
            <a:r>
              <a:rPr lang="en-US" dirty="0">
                <a:solidFill>
                  <a:schemeClr val="bg1"/>
                </a:solidFill>
              </a:rPr>
              <a:t> </a:t>
            </a:r>
            <a:r>
              <a:rPr lang="en-US" dirty="0" err="1">
                <a:solidFill>
                  <a:schemeClr val="bg1"/>
                </a:solidFill>
              </a:rPr>
              <a:t>thay</a:t>
            </a:r>
            <a:r>
              <a:rPr lang="en-US" dirty="0">
                <a:solidFill>
                  <a:schemeClr val="bg1"/>
                </a:solidFill>
              </a:rPr>
              <a:t> </a:t>
            </a:r>
            <a:r>
              <a:rPr lang="en-US" dirty="0" err="1">
                <a:solidFill>
                  <a:schemeClr val="bg1"/>
                </a:solidFill>
              </a:rPr>
              <a:t>thế</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linh</a:t>
            </a:r>
            <a:r>
              <a:rPr lang="en-US" dirty="0">
                <a:solidFill>
                  <a:schemeClr val="bg1"/>
                </a:solidFill>
              </a:rPr>
              <a:t> </a:t>
            </a:r>
            <a:r>
              <a:rPr lang="en-US" dirty="0" err="1">
                <a:solidFill>
                  <a:schemeClr val="bg1"/>
                </a:solidFill>
              </a:rPr>
              <a:t>kiện</a:t>
            </a:r>
            <a:r>
              <a:rPr lang="en-US" dirty="0">
                <a:solidFill>
                  <a:schemeClr val="bg1"/>
                </a:solidFill>
              </a:rPr>
              <a:t> </a:t>
            </a:r>
            <a:r>
              <a:rPr lang="en-US" dirty="0" err="1">
                <a:solidFill>
                  <a:schemeClr val="bg1"/>
                </a:solidFill>
              </a:rPr>
              <a:t>cơ</a:t>
            </a:r>
            <a:r>
              <a:rPr lang="en-US" dirty="0">
                <a:solidFill>
                  <a:schemeClr val="bg1"/>
                </a:solidFill>
              </a:rPr>
              <a:t> </a:t>
            </a:r>
            <a:r>
              <a:rPr lang="en-US" dirty="0" err="1">
                <a:solidFill>
                  <a:schemeClr val="bg1"/>
                </a:solidFill>
              </a:rPr>
              <a:t>khí</a:t>
            </a:r>
            <a:r>
              <a:rPr lang="en-US" dirty="0">
                <a:solidFill>
                  <a:schemeClr val="bg1"/>
                </a:solidFill>
              </a:rPr>
              <a:t> </a:t>
            </a:r>
            <a:r>
              <a:rPr lang="en-US" dirty="0" err="1">
                <a:solidFill>
                  <a:schemeClr val="bg1"/>
                </a:solidFill>
              </a:rPr>
              <a:t>khi</a:t>
            </a:r>
            <a:r>
              <a:rPr lang="en-US" dirty="0">
                <a:solidFill>
                  <a:schemeClr val="bg1"/>
                </a:solidFill>
              </a:rPr>
              <a:t> </a:t>
            </a:r>
            <a:r>
              <a:rPr lang="en-US" dirty="0" err="1">
                <a:solidFill>
                  <a:schemeClr val="bg1"/>
                </a:solidFill>
              </a:rPr>
              <a:t>chúng</a:t>
            </a:r>
            <a:r>
              <a:rPr lang="en-US" dirty="0">
                <a:solidFill>
                  <a:schemeClr val="bg1"/>
                </a:solidFill>
              </a:rPr>
              <a:t> </a:t>
            </a:r>
            <a:r>
              <a:rPr lang="en-US" dirty="0" err="1">
                <a:solidFill>
                  <a:schemeClr val="bg1"/>
                </a:solidFill>
              </a:rPr>
              <a:t>vẫn</a:t>
            </a:r>
            <a:r>
              <a:rPr lang="en-US" dirty="0">
                <a:solidFill>
                  <a:schemeClr val="bg1"/>
                </a:solidFill>
              </a:rPr>
              <a:t> </a:t>
            </a:r>
            <a:r>
              <a:rPr lang="en-US" dirty="0" err="1">
                <a:solidFill>
                  <a:schemeClr val="bg1"/>
                </a:solidFill>
              </a:rPr>
              <a:t>còn</a:t>
            </a:r>
            <a:r>
              <a:rPr lang="en-US" dirty="0">
                <a:solidFill>
                  <a:schemeClr val="bg1"/>
                </a:solidFill>
              </a:rPr>
              <a:t> </a:t>
            </a:r>
            <a:r>
              <a:rPr lang="en-US" dirty="0" err="1">
                <a:solidFill>
                  <a:schemeClr val="bg1"/>
                </a:solidFill>
              </a:rPr>
              <a:t>khả</a:t>
            </a:r>
            <a:r>
              <a:rPr lang="en-US" dirty="0">
                <a:solidFill>
                  <a:schemeClr val="bg1"/>
                </a:solidFill>
              </a:rPr>
              <a:t> </a:t>
            </a:r>
            <a:r>
              <a:rPr lang="en-US" dirty="0" err="1">
                <a:solidFill>
                  <a:schemeClr val="bg1"/>
                </a:solidFill>
              </a:rPr>
              <a:t>năng</a:t>
            </a:r>
            <a:r>
              <a:rPr lang="en-US" dirty="0">
                <a:solidFill>
                  <a:schemeClr val="bg1"/>
                </a:solidFill>
              </a:rPr>
              <a:t> </a:t>
            </a:r>
            <a:r>
              <a:rPr lang="en-US" dirty="0" err="1">
                <a:solidFill>
                  <a:schemeClr val="bg1"/>
                </a:solidFill>
              </a:rPr>
              <a:t>hoạt</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tốt</a:t>
            </a:r>
            <a:r>
              <a:rPr lang="en-US" dirty="0">
                <a:solidFill>
                  <a:schemeClr val="bg1"/>
                </a:solidFill>
              </a:rPr>
              <a:t>.</a:t>
            </a:r>
          </a:p>
          <a:p>
            <a:pPr marL="342900" indent="-342900">
              <a:buSzPct val="100000"/>
              <a:buChar char="•"/>
            </a:pPr>
            <a:r>
              <a:rPr lang="en-US" b="1" dirty="0" err="1">
                <a:solidFill>
                  <a:schemeClr val="bg1"/>
                </a:solidFill>
              </a:rPr>
              <a:t>Rủi</a:t>
            </a:r>
            <a:r>
              <a:rPr lang="en-US" b="1" dirty="0">
                <a:solidFill>
                  <a:schemeClr val="bg1"/>
                </a:solidFill>
              </a:rPr>
              <a:t> </a:t>
            </a:r>
            <a:r>
              <a:rPr lang="en-US" b="1" dirty="0" err="1">
                <a:solidFill>
                  <a:schemeClr val="bg1"/>
                </a:solidFill>
              </a:rPr>
              <a:t>ro</a:t>
            </a:r>
            <a:r>
              <a:rPr lang="en-US" b="1" dirty="0">
                <a:solidFill>
                  <a:schemeClr val="bg1"/>
                </a:solidFill>
              </a:rPr>
              <a:t>: </a:t>
            </a:r>
            <a:r>
              <a:rPr lang="en-US" dirty="0" err="1">
                <a:solidFill>
                  <a:schemeClr val="bg1"/>
                </a:solidFill>
              </a:rPr>
              <a:t>Không</a:t>
            </a:r>
            <a:r>
              <a:rPr lang="en-US" dirty="0">
                <a:solidFill>
                  <a:schemeClr val="bg1"/>
                </a:solidFill>
              </a:rPr>
              <a:t> </a:t>
            </a:r>
            <a:r>
              <a:rPr lang="en-US" dirty="0" err="1">
                <a:solidFill>
                  <a:schemeClr val="bg1"/>
                </a:solidFill>
              </a:rPr>
              <a:t>thể</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khuyết</a:t>
            </a:r>
            <a:r>
              <a:rPr lang="en-US" dirty="0">
                <a:solidFill>
                  <a:schemeClr val="bg1"/>
                </a:solidFill>
              </a:rPr>
              <a:t> </a:t>
            </a:r>
            <a:r>
              <a:rPr lang="en-US" dirty="0" err="1">
                <a:solidFill>
                  <a:schemeClr val="bg1"/>
                </a:solidFill>
              </a:rPr>
              <a:t>tật</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sinh</a:t>
            </a:r>
            <a:r>
              <a:rPr lang="en-US" dirty="0">
                <a:solidFill>
                  <a:schemeClr val="bg1"/>
                </a:solidFill>
              </a:rPr>
              <a:t> </a:t>
            </a:r>
            <a:r>
              <a:rPr lang="en-US" dirty="0" err="1">
                <a:solidFill>
                  <a:schemeClr val="bg1"/>
                </a:solidFill>
              </a:rPr>
              <a:t>sớm</a:t>
            </a:r>
            <a:r>
              <a:rPr lang="en-US" dirty="0">
                <a:solidFill>
                  <a:schemeClr val="bg1"/>
                </a:solidFill>
              </a:rPr>
              <a:t> </a:t>
            </a:r>
            <a:r>
              <a:rPr lang="en-US" dirty="0" err="1">
                <a:solidFill>
                  <a:schemeClr val="bg1"/>
                </a:solidFill>
              </a:rPr>
              <a:t>trước</a:t>
            </a:r>
            <a:r>
              <a:rPr lang="en-US" dirty="0">
                <a:solidFill>
                  <a:schemeClr val="bg1"/>
                </a:solidFill>
              </a:rPr>
              <a:t> </a:t>
            </a:r>
            <a:r>
              <a:rPr lang="en-US" dirty="0" err="1">
                <a:solidFill>
                  <a:schemeClr val="bg1"/>
                </a:solidFill>
              </a:rPr>
              <a:t>kỳ</a:t>
            </a:r>
            <a:r>
              <a:rPr lang="en-US" dirty="0">
                <a:solidFill>
                  <a:schemeClr val="bg1"/>
                </a:solidFill>
              </a:rPr>
              <a:t> </a:t>
            </a:r>
            <a:r>
              <a:rPr lang="en-US" dirty="0" err="1">
                <a:solidFill>
                  <a:schemeClr val="bg1"/>
                </a:solidFill>
              </a:rPr>
              <a:t>bảo</a:t>
            </a:r>
            <a:r>
              <a:rPr lang="en-US" dirty="0">
                <a:solidFill>
                  <a:schemeClr val="bg1"/>
                </a:solidFill>
              </a:rPr>
              <a:t> </a:t>
            </a:r>
            <a:r>
              <a:rPr lang="en-US" dirty="0" err="1">
                <a:solidFill>
                  <a:schemeClr val="bg1"/>
                </a:solidFill>
              </a:rPr>
              <a:t>dưỡng</a:t>
            </a:r>
            <a:r>
              <a:rPr lang="en-US" dirty="0">
                <a:solidFill>
                  <a:schemeClr val="bg1"/>
                </a:solidFill>
              </a:rPr>
              <a:t>, </a:t>
            </a:r>
            <a:r>
              <a:rPr lang="en-US" dirty="0" err="1">
                <a:solidFill>
                  <a:schemeClr val="bg1"/>
                </a:solidFill>
              </a:rPr>
              <a:t>dẫn</a:t>
            </a:r>
            <a:r>
              <a:rPr lang="en-US" dirty="0">
                <a:solidFill>
                  <a:schemeClr val="bg1"/>
                </a:solidFill>
              </a:rPr>
              <a:t> </a:t>
            </a:r>
            <a:r>
              <a:rPr lang="en-US" dirty="0" err="1">
                <a:solidFill>
                  <a:schemeClr val="bg1"/>
                </a:solidFill>
              </a:rPr>
              <a:t>đến</a:t>
            </a:r>
            <a:r>
              <a:rPr lang="en-US" dirty="0">
                <a:solidFill>
                  <a:schemeClr val="bg1"/>
                </a:solidFill>
              </a:rPr>
              <a:t> </a:t>
            </a:r>
            <a:r>
              <a:rPr lang="en-US" dirty="0" err="1">
                <a:solidFill>
                  <a:schemeClr val="bg1"/>
                </a:solidFill>
              </a:rPr>
              <a:t>nguy</a:t>
            </a:r>
            <a:r>
              <a:rPr lang="en-US" dirty="0">
                <a:solidFill>
                  <a:schemeClr val="bg1"/>
                </a:solidFill>
              </a:rPr>
              <a:t> </a:t>
            </a:r>
            <a:r>
              <a:rPr lang="en-US" dirty="0" err="1">
                <a:solidFill>
                  <a:schemeClr val="bg1"/>
                </a:solidFill>
              </a:rPr>
              <a:t>cơ</a:t>
            </a:r>
            <a:r>
              <a:rPr lang="en-US" dirty="0">
                <a:solidFill>
                  <a:schemeClr val="bg1"/>
                </a:solidFill>
              </a:rPr>
              <a:t> </a:t>
            </a:r>
            <a:r>
              <a:rPr lang="en-US" dirty="0" err="1">
                <a:solidFill>
                  <a:schemeClr val="bg1"/>
                </a:solidFill>
              </a:rPr>
              <a:t>xảy</a:t>
            </a:r>
            <a:r>
              <a:rPr lang="en-US" dirty="0">
                <a:solidFill>
                  <a:schemeClr val="bg1"/>
                </a:solidFill>
              </a:rPr>
              <a:t> </a:t>
            </a:r>
            <a:r>
              <a:rPr lang="en-US" dirty="0" err="1">
                <a:solidFill>
                  <a:schemeClr val="bg1"/>
                </a:solidFill>
              </a:rPr>
              <a:t>ra</a:t>
            </a:r>
            <a:r>
              <a:rPr lang="en-US" dirty="0">
                <a:solidFill>
                  <a:schemeClr val="bg1"/>
                </a:solidFill>
              </a:rPr>
              <a:t> </a:t>
            </a:r>
            <a:r>
              <a:rPr lang="en-US" dirty="0" err="1">
                <a:solidFill>
                  <a:schemeClr val="bg1"/>
                </a:solidFill>
              </a:rPr>
              <a:t>sự</a:t>
            </a:r>
            <a:r>
              <a:rPr lang="en-US" dirty="0">
                <a:solidFill>
                  <a:schemeClr val="bg1"/>
                </a:solidFill>
              </a:rPr>
              <a:t> </a:t>
            </a:r>
            <a:r>
              <a:rPr lang="en-US" dirty="0" err="1">
                <a:solidFill>
                  <a:schemeClr val="bg1"/>
                </a:solidFill>
              </a:rPr>
              <a:t>cố</a:t>
            </a:r>
            <a:r>
              <a:rPr lang="en-US" dirty="0">
                <a:solidFill>
                  <a:schemeClr val="bg1"/>
                </a:solidFill>
              </a:rPr>
              <a:t> </a:t>
            </a:r>
            <a:r>
              <a:rPr lang="en-US" dirty="0" err="1">
                <a:solidFill>
                  <a:schemeClr val="bg1"/>
                </a:solidFill>
              </a:rPr>
              <a:t>đột</a:t>
            </a:r>
            <a:r>
              <a:rPr lang="en-US" dirty="0">
                <a:solidFill>
                  <a:schemeClr val="bg1"/>
                </a:solidFill>
              </a:rPr>
              <a:t> </a:t>
            </a:r>
            <a:r>
              <a:rPr lang="en-US" dirty="0" err="1">
                <a:solidFill>
                  <a:schemeClr val="bg1"/>
                </a:solidFill>
              </a:rPr>
              <a:t>xuất</a:t>
            </a:r>
            <a:r>
              <a:rPr lang="en-US" dirty="0">
                <a:solidFill>
                  <a:schemeClr val="bg1"/>
                </a:solidFill>
              </a:rPr>
              <a:t>.</a:t>
            </a:r>
          </a:p>
        </p:txBody>
      </p:sp>
      <p:sp>
        <p:nvSpPr>
          <p:cNvPr id="27" name="Shape 11">
            <a:extLst>
              <a:ext uri="{FF2B5EF4-FFF2-40B4-BE49-F238E27FC236}">
                <a16:creationId xmlns:a16="http://schemas.microsoft.com/office/drawing/2014/main" id="{E1FEFA1D-F44E-7478-964E-040B5D4D37E1}"/>
              </a:ext>
            </a:extLst>
          </p:cNvPr>
          <p:cNvSpPr/>
          <p:nvPr/>
        </p:nvSpPr>
        <p:spPr>
          <a:xfrm>
            <a:off x="8164099" y="1070044"/>
            <a:ext cx="3840480" cy="4114800"/>
          </a:xfrm>
          <a:prstGeom prst="roundRect">
            <a:avLst>
              <a:gd name="adj" fmla="val 6316"/>
            </a:avLst>
          </a:prstGeom>
          <a:solidFill>
            <a:srgbClr val="0A3D2A"/>
          </a:solidFill>
          <a:ln w="12700">
            <a:solidFill>
              <a:srgbClr val="0077B6"/>
            </a:solidFill>
            <a:prstDash val="solid"/>
          </a:ln>
        </p:spPr>
      </p:sp>
      <p:sp>
        <p:nvSpPr>
          <p:cNvPr id="28" name="Text 12">
            <a:extLst>
              <a:ext uri="{FF2B5EF4-FFF2-40B4-BE49-F238E27FC236}">
                <a16:creationId xmlns:a16="http://schemas.microsoft.com/office/drawing/2014/main" id="{E7A30B39-1E9C-CA7F-0824-F078B540E9C5}"/>
              </a:ext>
            </a:extLst>
          </p:cNvPr>
          <p:cNvSpPr/>
          <p:nvPr/>
        </p:nvSpPr>
        <p:spPr>
          <a:xfrm>
            <a:off x="8255539"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dự đoán</a:t>
            </a:r>
            <a:endParaRPr lang="en-US" dirty="0"/>
          </a:p>
        </p:txBody>
      </p:sp>
      <p:sp>
        <p:nvSpPr>
          <p:cNvPr id="29" name="Text 13">
            <a:extLst>
              <a:ext uri="{FF2B5EF4-FFF2-40B4-BE49-F238E27FC236}">
                <a16:creationId xmlns:a16="http://schemas.microsoft.com/office/drawing/2014/main" id="{957E5386-9F5E-9B6F-5EFA-4B6B1F1A6039}"/>
              </a:ext>
            </a:extLst>
          </p:cNvPr>
          <p:cNvSpPr/>
          <p:nvPr/>
        </p:nvSpPr>
        <p:spPr>
          <a:xfrm>
            <a:off x="8255539"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Theo tình trạng thực tế ✓</a:t>
            </a:r>
            <a:endParaRPr lang="en-US" sz="1500" dirty="0"/>
          </a:p>
        </p:txBody>
      </p:sp>
      <p:sp>
        <p:nvSpPr>
          <p:cNvPr id="30" name="Text 14">
            <a:extLst>
              <a:ext uri="{FF2B5EF4-FFF2-40B4-BE49-F238E27FC236}">
                <a16:creationId xmlns:a16="http://schemas.microsoft.com/office/drawing/2014/main" id="{65CA8596-ED21-C700-B26A-92EA52446DA5}"/>
              </a:ext>
            </a:extLst>
          </p:cNvPr>
          <p:cNvSpPr/>
          <p:nvPr/>
        </p:nvSpPr>
        <p:spPr>
          <a:xfrm>
            <a:off x="8255537" y="1893004"/>
            <a:ext cx="3657603" cy="3108960"/>
          </a:xfrm>
          <a:prstGeom prst="rect">
            <a:avLst/>
          </a:prstGeom>
          <a:noFill/>
          <a:ln/>
        </p:spPr>
        <p:txBody>
          <a:bodyPr wrap="square" rtlCol="0" anchor="t"/>
          <a:lstStyle/>
          <a:p>
            <a:pPr>
              <a:buSzPct val="100000"/>
            </a:pPr>
            <a:r>
              <a:rPr lang="en-US" dirty="0" err="1">
                <a:solidFill>
                  <a:schemeClr val="bg1"/>
                </a:solidFill>
              </a:rPr>
              <a:t>Chiến</a:t>
            </a:r>
            <a:r>
              <a:rPr lang="en-US" dirty="0">
                <a:solidFill>
                  <a:schemeClr val="bg1"/>
                </a:solidFill>
              </a:rPr>
              <a:t> </a:t>
            </a:r>
            <a:r>
              <a:rPr lang="en-US" dirty="0" err="1">
                <a:solidFill>
                  <a:schemeClr val="bg1"/>
                </a:solidFill>
              </a:rPr>
              <a:t>lược</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đại</a:t>
            </a:r>
            <a:r>
              <a:rPr lang="en-US" dirty="0">
                <a:solidFill>
                  <a:schemeClr val="bg1"/>
                </a:solidFill>
              </a:rPr>
              <a:t>: </a:t>
            </a:r>
            <a:r>
              <a:rPr lang="en-US" dirty="0" err="1">
                <a:solidFill>
                  <a:schemeClr val="bg1"/>
                </a:solidFill>
              </a:rPr>
              <a:t>giám</a:t>
            </a:r>
            <a:r>
              <a:rPr lang="en-US" dirty="0">
                <a:solidFill>
                  <a:schemeClr val="bg1"/>
                </a:solidFill>
              </a:rPr>
              <a:t> </a:t>
            </a:r>
            <a:r>
              <a:rPr lang="en-US" dirty="0" err="1">
                <a:solidFill>
                  <a:schemeClr val="bg1"/>
                </a:solidFill>
              </a:rPr>
              <a:t>sát</a:t>
            </a:r>
            <a:r>
              <a:rPr lang="en-US" dirty="0">
                <a:solidFill>
                  <a:schemeClr val="bg1"/>
                </a:solidFill>
              </a:rPr>
              <a:t> </a:t>
            </a:r>
            <a:r>
              <a:rPr lang="en-US" dirty="0" err="1">
                <a:solidFill>
                  <a:schemeClr val="bg1"/>
                </a:solidFill>
              </a:rPr>
              <a:t>liên</a:t>
            </a:r>
            <a:r>
              <a:rPr lang="en-US" dirty="0">
                <a:solidFill>
                  <a:schemeClr val="bg1"/>
                </a:solidFill>
              </a:rPr>
              <a:t> </a:t>
            </a:r>
            <a:r>
              <a:rPr lang="en-US" dirty="0" err="1">
                <a:solidFill>
                  <a:schemeClr val="bg1"/>
                </a:solidFill>
              </a:rPr>
              <a:t>tục</a:t>
            </a:r>
            <a:r>
              <a:rPr lang="en-US" dirty="0">
                <a:solidFill>
                  <a:schemeClr val="bg1"/>
                </a:solidFill>
              </a:rPr>
              <a:t> </a:t>
            </a:r>
            <a:r>
              <a:rPr lang="en-US" dirty="0" err="1">
                <a:solidFill>
                  <a:schemeClr val="bg1"/>
                </a:solidFill>
              </a:rPr>
              <a:t>trạng</a:t>
            </a:r>
            <a:r>
              <a:rPr lang="en-US" dirty="0">
                <a:solidFill>
                  <a:schemeClr val="bg1"/>
                </a:solidFill>
              </a:rPr>
              <a:t> </a:t>
            </a:r>
            <a:r>
              <a:rPr lang="en-US" dirty="0" err="1">
                <a:solidFill>
                  <a:schemeClr val="bg1"/>
                </a:solidFill>
              </a:rPr>
              <a:t>thái</a:t>
            </a:r>
            <a:r>
              <a:rPr lang="en-US" dirty="0">
                <a:solidFill>
                  <a:schemeClr val="bg1"/>
                </a:solidFill>
              </a:rPr>
              <a:t> </a:t>
            </a:r>
            <a:r>
              <a:rPr lang="en-US" dirty="0" err="1">
                <a:solidFill>
                  <a:schemeClr val="bg1"/>
                </a:solidFill>
              </a:rPr>
              <a:t>sức</a:t>
            </a:r>
            <a:r>
              <a:rPr lang="en-US" dirty="0">
                <a:solidFill>
                  <a:schemeClr val="bg1"/>
                </a:solidFill>
              </a:rPr>
              <a:t> </a:t>
            </a:r>
            <a:r>
              <a:rPr lang="en-US" dirty="0" err="1">
                <a:solidFill>
                  <a:schemeClr val="bg1"/>
                </a:solidFill>
              </a:rPr>
              <a:t>khỏe</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thiết</a:t>
            </a:r>
            <a:r>
              <a:rPr lang="en-US" dirty="0">
                <a:solidFill>
                  <a:schemeClr val="bg1"/>
                </a:solidFill>
              </a:rPr>
              <a:t> </a:t>
            </a:r>
            <a:r>
              <a:rPr lang="en-US" dirty="0" err="1">
                <a:solidFill>
                  <a:schemeClr val="bg1"/>
                </a:solidFill>
              </a:rPr>
              <a:t>bị</a:t>
            </a:r>
            <a:r>
              <a:rPr lang="en-US" dirty="0">
                <a:solidFill>
                  <a:schemeClr val="bg1"/>
                </a:solidFill>
              </a:rPr>
              <a:t> </a:t>
            </a:r>
            <a:r>
              <a:rPr lang="en-US" dirty="0" err="1">
                <a:solidFill>
                  <a:schemeClr val="bg1"/>
                </a:solidFill>
              </a:rPr>
              <a:t>bằng</a:t>
            </a:r>
            <a:r>
              <a:rPr lang="en-US" dirty="0">
                <a:solidFill>
                  <a:schemeClr val="bg1"/>
                </a:solidFill>
              </a:rPr>
              <a:t> </a:t>
            </a:r>
            <a:r>
              <a:rPr lang="en-US" dirty="0" err="1">
                <a:solidFill>
                  <a:schemeClr val="bg1"/>
                </a:solidFill>
              </a:rPr>
              <a:t>cảm</a:t>
            </a:r>
            <a:r>
              <a:rPr lang="en-US" dirty="0">
                <a:solidFill>
                  <a:schemeClr val="bg1"/>
                </a:solidFill>
              </a:rPr>
              <a:t> </a:t>
            </a:r>
            <a:r>
              <a:rPr lang="en-US" dirty="0" err="1">
                <a:solidFill>
                  <a:schemeClr val="bg1"/>
                </a:solidFill>
              </a:rPr>
              <a:t>biến</a:t>
            </a:r>
            <a:r>
              <a:rPr lang="en-US" dirty="0">
                <a:solidFill>
                  <a:schemeClr val="bg1"/>
                </a:solidFill>
              </a:rPr>
              <a:t> </a:t>
            </a:r>
            <a:r>
              <a:rPr lang="en-US" dirty="0" err="1">
                <a:solidFill>
                  <a:schemeClr val="bg1"/>
                </a:solidFill>
              </a:rPr>
              <a:t>đo</a:t>
            </a:r>
            <a:r>
              <a:rPr lang="en-US" dirty="0">
                <a:solidFill>
                  <a:schemeClr val="bg1"/>
                </a:solidFill>
              </a:rPr>
              <a:t> dao </a:t>
            </a:r>
            <a:r>
              <a:rPr lang="en-US" dirty="0" err="1">
                <a:solidFill>
                  <a:schemeClr val="bg1"/>
                </a:solidFill>
              </a:rPr>
              <a:t>động</a:t>
            </a:r>
            <a:r>
              <a:rPr lang="en-US" dirty="0">
                <a:solidFill>
                  <a:schemeClr val="bg1"/>
                </a:solidFill>
              </a:rPr>
              <a:t>.</a:t>
            </a:r>
            <a:endParaRPr lang="en-US"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b="1" dirty="0" err="1">
                <a:solidFill>
                  <a:schemeClr val="bg1"/>
                </a:solidFill>
              </a:rPr>
              <a:t>Mục</a:t>
            </a:r>
            <a:r>
              <a:rPr lang="en-US" b="1" dirty="0">
                <a:solidFill>
                  <a:schemeClr val="bg1"/>
                </a:solidFill>
              </a:rPr>
              <a:t> </a:t>
            </a:r>
            <a:r>
              <a:rPr lang="en-US" b="1" dirty="0" err="1">
                <a:solidFill>
                  <a:schemeClr val="bg1"/>
                </a:solidFill>
              </a:rPr>
              <a:t>tiêu</a:t>
            </a:r>
            <a:r>
              <a:rPr lang="en-US" b="1" dirty="0">
                <a:solidFill>
                  <a:schemeClr val="bg1"/>
                </a:solidFill>
              </a:rPr>
              <a:t>:</a:t>
            </a:r>
            <a:r>
              <a:rPr lang="en-US" dirty="0">
                <a:solidFill>
                  <a:schemeClr val="bg1"/>
                </a:solidFill>
              </a:rPr>
              <a:t> </a:t>
            </a:r>
            <a:r>
              <a:rPr lang="en-US" dirty="0" err="1">
                <a:solidFill>
                  <a:schemeClr val="bg1"/>
                </a:solidFill>
              </a:rPr>
              <a:t>Đo</a:t>
            </a:r>
            <a:r>
              <a:rPr lang="en-US" dirty="0">
                <a:solidFill>
                  <a:schemeClr val="bg1"/>
                </a:solidFill>
              </a:rPr>
              <a:t> </a:t>
            </a:r>
            <a:r>
              <a:rPr lang="en-US" dirty="0" err="1">
                <a:solidFill>
                  <a:schemeClr val="bg1"/>
                </a:solidFill>
              </a:rPr>
              <a:t>đạc</a:t>
            </a:r>
            <a:r>
              <a:rPr lang="en-US" dirty="0">
                <a:solidFill>
                  <a:schemeClr val="bg1"/>
                </a:solidFill>
              </a:rPr>
              <a:t> </a:t>
            </a:r>
            <a:r>
              <a:rPr lang="en-US" dirty="0" err="1">
                <a:solidFill>
                  <a:schemeClr val="bg1"/>
                </a:solidFill>
              </a:rPr>
              <a:t>độ</a:t>
            </a:r>
            <a:r>
              <a:rPr lang="en-US" dirty="0">
                <a:solidFill>
                  <a:schemeClr val="bg1"/>
                </a:solidFill>
              </a:rPr>
              <a:t> dao </a:t>
            </a:r>
            <a:r>
              <a:rPr lang="en-US" dirty="0" err="1">
                <a:solidFill>
                  <a:schemeClr val="bg1"/>
                </a:solidFill>
              </a:rPr>
              <a:t>động</a:t>
            </a:r>
            <a:r>
              <a:rPr lang="en-US" dirty="0">
                <a:solidFill>
                  <a:schemeClr val="bg1"/>
                </a:solidFill>
              </a:rPr>
              <a:t> </a:t>
            </a:r>
            <a:r>
              <a:rPr lang="en-US" dirty="0" err="1">
                <a:solidFill>
                  <a:schemeClr val="bg1"/>
                </a:solidFill>
              </a:rPr>
              <a:t>để</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sớm</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dấu</a:t>
            </a:r>
            <a:r>
              <a:rPr lang="en-US" dirty="0">
                <a:solidFill>
                  <a:schemeClr val="bg1"/>
                </a:solidFill>
              </a:rPr>
              <a:t> </a:t>
            </a:r>
            <a:r>
              <a:rPr lang="en-US" dirty="0" err="1">
                <a:solidFill>
                  <a:schemeClr val="bg1"/>
                </a:solidFill>
              </a:rPr>
              <a:t>hiệu</a:t>
            </a:r>
            <a:r>
              <a:rPr lang="en-US" dirty="0">
                <a:solidFill>
                  <a:schemeClr val="bg1"/>
                </a:solidFill>
              </a:rPr>
              <a:t> </a:t>
            </a:r>
            <a:r>
              <a:rPr lang="en-US" dirty="0" err="1">
                <a:solidFill>
                  <a:schemeClr val="bg1"/>
                </a:solidFill>
              </a:rPr>
              <a:t>hư</a:t>
            </a:r>
            <a:r>
              <a:rPr lang="en-US" dirty="0">
                <a:solidFill>
                  <a:schemeClr val="bg1"/>
                </a:solidFill>
              </a:rPr>
              <a:t> </a:t>
            </a:r>
            <a:r>
              <a:rPr lang="en-US" dirty="0" err="1">
                <a:solidFill>
                  <a:schemeClr val="bg1"/>
                </a:solidFill>
              </a:rPr>
              <a:t>hỏng</a:t>
            </a:r>
            <a:r>
              <a:rPr lang="en-US" dirty="0">
                <a:solidFill>
                  <a:schemeClr val="bg1"/>
                </a:solidFill>
              </a:rPr>
              <a:t> </a:t>
            </a:r>
            <a:r>
              <a:rPr lang="en-US" dirty="0" err="1">
                <a:solidFill>
                  <a:schemeClr val="bg1"/>
                </a:solidFill>
              </a:rPr>
              <a:t>của</a:t>
            </a:r>
            <a:r>
              <a:rPr lang="en-US" dirty="0">
                <a:solidFill>
                  <a:schemeClr val="bg1"/>
                </a:solidFill>
              </a:rPr>
              <a:t> ổ </a:t>
            </a:r>
            <a:r>
              <a:rPr lang="en-US" dirty="0" err="1">
                <a:solidFill>
                  <a:schemeClr val="bg1"/>
                </a:solidFill>
              </a:rPr>
              <a:t>lăn</a:t>
            </a:r>
            <a:r>
              <a:rPr lang="en-US" dirty="0">
                <a:solidFill>
                  <a:schemeClr val="bg1"/>
                </a:solidFill>
              </a:rPr>
              <a:t> </a:t>
            </a:r>
            <a:r>
              <a:rPr lang="en-US" dirty="0" err="1">
                <a:solidFill>
                  <a:schemeClr val="bg1"/>
                </a:solidFill>
              </a:rPr>
              <a:t>ngay</a:t>
            </a:r>
            <a:r>
              <a:rPr lang="en-US" dirty="0">
                <a:solidFill>
                  <a:schemeClr val="bg1"/>
                </a:solidFill>
              </a:rPr>
              <a:t> </a:t>
            </a:r>
            <a:r>
              <a:rPr lang="en-US" dirty="0" err="1">
                <a:solidFill>
                  <a:schemeClr val="bg1"/>
                </a:solidFill>
              </a:rPr>
              <a:t>từ</a:t>
            </a:r>
            <a:r>
              <a:rPr lang="en-US" dirty="0">
                <a:solidFill>
                  <a:schemeClr val="bg1"/>
                </a:solidFill>
              </a:rPr>
              <a:t> </a:t>
            </a:r>
            <a:r>
              <a:rPr lang="en-US" dirty="0" err="1">
                <a:solidFill>
                  <a:schemeClr val="bg1"/>
                </a:solidFill>
              </a:rPr>
              <a:t>giai</a:t>
            </a:r>
            <a:r>
              <a:rPr lang="en-US" dirty="0">
                <a:solidFill>
                  <a:schemeClr val="bg1"/>
                </a:solidFill>
              </a:rPr>
              <a:t> </a:t>
            </a:r>
            <a:r>
              <a:rPr lang="en-US" dirty="0" err="1">
                <a:solidFill>
                  <a:schemeClr val="bg1"/>
                </a:solidFill>
              </a:rPr>
              <a:t>đoạn</a:t>
            </a:r>
            <a:r>
              <a:rPr lang="en-US" dirty="0">
                <a:solidFill>
                  <a:schemeClr val="bg1"/>
                </a:solidFill>
              </a:rPr>
              <a:t> </a:t>
            </a:r>
            <a:r>
              <a:rPr lang="en-US" dirty="0" err="1">
                <a:solidFill>
                  <a:schemeClr val="bg1"/>
                </a:solidFill>
              </a:rPr>
              <a:t>khởi</a:t>
            </a:r>
            <a:r>
              <a:rPr lang="en-US" dirty="0">
                <a:solidFill>
                  <a:schemeClr val="bg1"/>
                </a:solidFill>
              </a:rPr>
              <a:t> </a:t>
            </a:r>
            <a:r>
              <a:rPr lang="en-US" dirty="0" err="1">
                <a:solidFill>
                  <a:schemeClr val="bg1"/>
                </a:solidFill>
              </a:rPr>
              <a:t>phát</a:t>
            </a:r>
            <a:endParaRPr lang="en-US" dirty="0">
              <a:solidFill>
                <a:schemeClr val="bg1"/>
              </a:solidFill>
            </a:endParaRPr>
          </a:p>
          <a:p>
            <a:pPr marL="342900" indent="-342900">
              <a:buSzPct val="100000"/>
              <a:buChar char="•"/>
            </a:pPr>
            <a:r>
              <a:rPr lang="en-US" b="1" dirty="0">
                <a:solidFill>
                  <a:schemeClr val="bg1"/>
                </a:solidFill>
              </a:rPr>
              <a:t>Hiệu </a:t>
            </a:r>
            <a:r>
              <a:rPr lang="en-US" b="1" dirty="0" err="1">
                <a:solidFill>
                  <a:schemeClr val="bg1"/>
                </a:solidFill>
              </a:rPr>
              <a:t>quả</a:t>
            </a:r>
            <a:r>
              <a:rPr lang="en-US" b="1" dirty="0">
                <a:solidFill>
                  <a:schemeClr val="bg1"/>
                </a:solidFill>
              </a:rPr>
              <a:t>:</a:t>
            </a:r>
            <a:r>
              <a:rPr lang="en-US" dirty="0">
                <a:solidFill>
                  <a:schemeClr val="bg1"/>
                </a:solidFill>
              </a:rPr>
              <a:t> </a:t>
            </a:r>
            <a:r>
              <a:rPr lang="en-US" dirty="0" err="1">
                <a:solidFill>
                  <a:schemeClr val="bg1"/>
                </a:solidFill>
              </a:rPr>
              <a:t>Chủ</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lập</a:t>
            </a:r>
            <a:r>
              <a:rPr lang="en-US" dirty="0">
                <a:solidFill>
                  <a:schemeClr val="bg1"/>
                </a:solidFill>
              </a:rPr>
              <a:t> </a:t>
            </a:r>
            <a:r>
              <a:rPr lang="en-US" dirty="0" err="1">
                <a:solidFill>
                  <a:schemeClr val="bg1"/>
                </a:solidFill>
              </a:rPr>
              <a:t>kế</a:t>
            </a:r>
            <a:r>
              <a:rPr lang="en-US" dirty="0">
                <a:solidFill>
                  <a:schemeClr val="bg1"/>
                </a:solidFill>
              </a:rPr>
              <a:t> </a:t>
            </a:r>
            <a:r>
              <a:rPr lang="en-US" dirty="0" err="1">
                <a:solidFill>
                  <a:schemeClr val="bg1"/>
                </a:solidFill>
              </a:rPr>
              <a:t>hoạch</a:t>
            </a:r>
            <a:r>
              <a:rPr lang="en-US" dirty="0">
                <a:solidFill>
                  <a:schemeClr val="bg1"/>
                </a:solidFill>
              </a:rPr>
              <a:t> </a:t>
            </a:r>
            <a:r>
              <a:rPr lang="en-US" dirty="0" err="1">
                <a:solidFill>
                  <a:schemeClr val="bg1"/>
                </a:solidFill>
              </a:rPr>
              <a:t>bảo</a:t>
            </a:r>
            <a:r>
              <a:rPr lang="en-US" dirty="0">
                <a:solidFill>
                  <a:schemeClr val="bg1"/>
                </a:solidFill>
              </a:rPr>
              <a:t> </a:t>
            </a:r>
            <a:r>
              <a:rPr lang="en-US" dirty="0" err="1">
                <a:solidFill>
                  <a:schemeClr val="bg1"/>
                </a:solidFill>
              </a:rPr>
              <a:t>dưỡng</a:t>
            </a:r>
            <a:r>
              <a:rPr lang="en-US" dirty="0">
                <a:solidFill>
                  <a:schemeClr val="bg1"/>
                </a:solidFill>
              </a:rPr>
              <a:t>, </a:t>
            </a:r>
            <a:r>
              <a:rPr lang="en-US" dirty="0" err="1">
                <a:solidFill>
                  <a:schemeClr val="bg1"/>
                </a:solidFill>
              </a:rPr>
              <a:t>tối</a:t>
            </a:r>
            <a:r>
              <a:rPr lang="en-US" dirty="0">
                <a:solidFill>
                  <a:schemeClr val="bg1"/>
                </a:solidFill>
              </a:rPr>
              <a:t> </a:t>
            </a:r>
            <a:r>
              <a:rPr lang="en-US" dirty="0" err="1">
                <a:solidFill>
                  <a:schemeClr val="bg1"/>
                </a:solidFill>
              </a:rPr>
              <a:t>ưu</a:t>
            </a:r>
            <a:r>
              <a:rPr lang="en-US" dirty="0">
                <a:solidFill>
                  <a:schemeClr val="bg1"/>
                </a:solidFill>
              </a:rPr>
              <a:t> </a:t>
            </a:r>
            <a:r>
              <a:rPr lang="en-US" dirty="0" err="1">
                <a:solidFill>
                  <a:schemeClr val="bg1"/>
                </a:solidFill>
              </a:rPr>
              <a:t>hóa</a:t>
            </a:r>
            <a:r>
              <a:rPr lang="en-US" dirty="0">
                <a:solidFill>
                  <a:schemeClr val="bg1"/>
                </a:solidFill>
              </a:rPr>
              <a:t> </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dừng</a:t>
            </a:r>
            <a:r>
              <a:rPr lang="en-US" dirty="0">
                <a:solidFill>
                  <a:schemeClr val="bg1"/>
                </a:solidFill>
              </a:rPr>
              <a:t> </a:t>
            </a:r>
            <a:r>
              <a:rPr lang="en-US" dirty="0" err="1">
                <a:solidFill>
                  <a:schemeClr val="bg1"/>
                </a:solidFill>
              </a:rPr>
              <a:t>máy</a:t>
            </a:r>
            <a:r>
              <a:rPr lang="en-US" dirty="0">
                <a:solidFill>
                  <a:schemeClr val="bg1"/>
                </a:solidFill>
              </a:rPr>
              <a:t> </a:t>
            </a:r>
            <a:r>
              <a:rPr lang="en-US" dirty="0" err="1">
                <a:solidFill>
                  <a:schemeClr val="bg1"/>
                </a:solidFill>
              </a:rPr>
              <a:t>và</a:t>
            </a:r>
            <a:r>
              <a:rPr lang="en-US" dirty="0">
                <a:solidFill>
                  <a:schemeClr val="bg1"/>
                </a:solidFill>
              </a:rPr>
              <a:t> </a:t>
            </a:r>
            <a:r>
              <a:rPr lang="en-US" dirty="0" err="1">
                <a:solidFill>
                  <a:schemeClr val="bg1"/>
                </a:solidFill>
              </a:rPr>
              <a:t>khai</a:t>
            </a:r>
            <a:r>
              <a:rPr lang="en-US" dirty="0">
                <a:solidFill>
                  <a:schemeClr val="bg1"/>
                </a:solidFill>
              </a:rPr>
              <a:t> </a:t>
            </a:r>
            <a:r>
              <a:rPr lang="en-US" dirty="0" err="1">
                <a:solidFill>
                  <a:schemeClr val="bg1"/>
                </a:solidFill>
              </a:rPr>
              <a:t>thác</a:t>
            </a:r>
            <a:r>
              <a:rPr lang="en-US" dirty="0">
                <a:solidFill>
                  <a:schemeClr val="bg1"/>
                </a:solidFill>
              </a:rPr>
              <a:t> </a:t>
            </a:r>
            <a:r>
              <a:rPr lang="en-US" dirty="0" err="1">
                <a:solidFill>
                  <a:schemeClr val="bg1"/>
                </a:solidFill>
              </a:rPr>
              <a:t>tối</a:t>
            </a:r>
            <a:r>
              <a:rPr lang="en-US" dirty="0">
                <a:solidFill>
                  <a:schemeClr val="bg1"/>
                </a:solidFill>
              </a:rPr>
              <a:t> </a:t>
            </a:r>
            <a:r>
              <a:rPr lang="en-US" dirty="0" err="1">
                <a:solidFill>
                  <a:schemeClr val="bg1"/>
                </a:solidFill>
              </a:rPr>
              <a:t>đa</a:t>
            </a:r>
            <a:r>
              <a:rPr lang="en-US" dirty="0">
                <a:solidFill>
                  <a:schemeClr val="bg1"/>
                </a:solidFill>
              </a:rPr>
              <a:t> </a:t>
            </a:r>
            <a:r>
              <a:rPr lang="en-US" dirty="0" err="1">
                <a:solidFill>
                  <a:schemeClr val="bg1"/>
                </a:solidFill>
              </a:rPr>
              <a:t>tuổi</a:t>
            </a:r>
            <a:r>
              <a:rPr lang="en-US" dirty="0">
                <a:solidFill>
                  <a:schemeClr val="bg1"/>
                </a:solidFill>
              </a:rPr>
              <a:t> </a:t>
            </a:r>
            <a:r>
              <a:rPr lang="en-US" dirty="0" err="1">
                <a:solidFill>
                  <a:schemeClr val="bg1"/>
                </a:solidFill>
              </a:rPr>
              <a:t>thọ</a:t>
            </a:r>
            <a:r>
              <a:rPr lang="en-US" dirty="0">
                <a:solidFill>
                  <a:schemeClr val="bg1"/>
                </a:solidFill>
              </a:rPr>
              <a:t> </a:t>
            </a:r>
            <a:r>
              <a:rPr lang="en-US" dirty="0" err="1">
                <a:solidFill>
                  <a:schemeClr val="bg1"/>
                </a:solidFill>
              </a:rPr>
              <a:t>hữu</a:t>
            </a:r>
            <a:r>
              <a:rPr lang="en-US" dirty="0">
                <a:solidFill>
                  <a:schemeClr val="bg1"/>
                </a:solidFill>
              </a:rPr>
              <a:t> </a:t>
            </a:r>
            <a:r>
              <a:rPr lang="en-US" dirty="0" err="1">
                <a:solidFill>
                  <a:schemeClr val="bg1"/>
                </a:solidFill>
              </a:rPr>
              <a:t>ích</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linh</a:t>
            </a:r>
            <a:r>
              <a:rPr lang="en-US" dirty="0">
                <a:solidFill>
                  <a:schemeClr val="bg1"/>
                </a:solidFill>
              </a:rPr>
              <a:t> </a:t>
            </a:r>
            <a:r>
              <a:rPr lang="en-US" dirty="0" err="1">
                <a:solidFill>
                  <a:schemeClr val="bg1"/>
                </a:solidFill>
              </a:rPr>
              <a:t>kiện</a:t>
            </a:r>
            <a:r>
              <a:rPr lang="en-US" dirty="0">
                <a:solidFill>
                  <a:schemeClr val="bg1"/>
                </a:solidFill>
              </a:rPr>
              <a:t>.</a:t>
            </a:r>
          </a:p>
        </p:txBody>
      </p:sp>
      <p:sp>
        <p:nvSpPr>
          <p:cNvPr id="32" name="Title 31">
            <a:extLst>
              <a:ext uri="{FF2B5EF4-FFF2-40B4-BE49-F238E27FC236}">
                <a16:creationId xmlns:a16="http://schemas.microsoft.com/office/drawing/2014/main" id="{BA197A3E-D45F-5AFC-5843-0BD196DC45FF}"/>
              </a:ext>
            </a:extLst>
          </p:cNvPr>
          <p:cNvSpPr>
            <a:spLocks noGrp="1"/>
          </p:cNvSpPr>
          <p:nvPr>
            <p:ph type="title"/>
          </p:nvPr>
        </p:nvSpPr>
        <p:spPr/>
        <p:txBody>
          <a:bodyPr/>
          <a:lstStyle/>
          <a:p>
            <a:r>
              <a:rPr lang="en-US" dirty="0" err="1"/>
              <a:t>Vì</a:t>
            </a:r>
            <a:r>
              <a:rPr lang="en-US" dirty="0"/>
              <a:t> </a:t>
            </a:r>
            <a:r>
              <a:rPr lang="en-US" dirty="0" err="1"/>
              <a:t>sao</a:t>
            </a:r>
            <a:r>
              <a:rPr lang="en-US" dirty="0"/>
              <a:t> </a:t>
            </a:r>
            <a:r>
              <a:rPr lang="en-US" dirty="0" err="1"/>
              <a:t>cần</a:t>
            </a:r>
            <a:r>
              <a:rPr lang="en-US" dirty="0"/>
              <a:t> </a:t>
            </a:r>
            <a:r>
              <a:rPr lang="en-US" dirty="0" err="1"/>
              <a:t>bảo</a:t>
            </a:r>
            <a:r>
              <a:rPr lang="en-US" dirty="0"/>
              <a:t> </a:t>
            </a:r>
            <a:r>
              <a:rPr lang="en-US" dirty="0" err="1"/>
              <a:t>trì</a:t>
            </a:r>
            <a:r>
              <a:rPr lang="en-US" dirty="0"/>
              <a:t> </a:t>
            </a:r>
            <a:r>
              <a:rPr lang="en-US" dirty="0" err="1"/>
              <a:t>dự</a:t>
            </a:r>
            <a:r>
              <a:rPr lang="en-US" dirty="0"/>
              <a:t> </a:t>
            </a:r>
            <a:r>
              <a:rPr lang="en-US" dirty="0" err="1"/>
              <a:t>đoán</a:t>
            </a:r>
            <a:endParaRPr lang="en-US" dirty="0"/>
          </a:p>
        </p:txBody>
      </p:sp>
      <p:sp>
        <p:nvSpPr>
          <p:cNvPr id="35" name="TextBox 34">
            <a:extLst>
              <a:ext uri="{FF2B5EF4-FFF2-40B4-BE49-F238E27FC236}">
                <a16:creationId xmlns:a16="http://schemas.microsoft.com/office/drawing/2014/main" id="{E68A5DFB-E7E0-CC7C-5632-2D00D53094EA}"/>
              </a:ext>
            </a:extLst>
          </p:cNvPr>
          <p:cNvSpPr txBox="1"/>
          <p:nvPr/>
        </p:nvSpPr>
        <p:spPr>
          <a:xfrm>
            <a:off x="590519" y="5435036"/>
            <a:ext cx="10968048" cy="646331"/>
          </a:xfrm>
          <a:prstGeom prst="rect">
            <a:avLst/>
          </a:prstGeom>
          <a:noFill/>
        </p:spPr>
        <p:txBody>
          <a:bodyPr wrap="square" rtlCol="0">
            <a:spAutoFit/>
          </a:bodyPr>
          <a:lstStyle/>
          <a:p>
            <a:pPr algn="ctr"/>
            <a:r>
              <a:rPr lang="en-US" b="1" dirty="0" err="1"/>
              <a:t>Cảm</a:t>
            </a:r>
            <a:r>
              <a:rPr lang="en-US" b="1" dirty="0"/>
              <a:t> </a:t>
            </a:r>
            <a:r>
              <a:rPr lang="en-US" b="1" dirty="0" err="1"/>
              <a:t>biến</a:t>
            </a:r>
            <a:r>
              <a:rPr lang="en-US" b="1" dirty="0"/>
              <a:t> </a:t>
            </a:r>
            <a:r>
              <a:rPr lang="en-US" b="1" dirty="0" err="1"/>
              <a:t>phát</a:t>
            </a:r>
            <a:r>
              <a:rPr lang="en-US" b="1" dirty="0"/>
              <a:t> </a:t>
            </a:r>
            <a:r>
              <a:rPr lang="en-US" b="1" dirty="0" err="1"/>
              <a:t>hiện</a:t>
            </a:r>
            <a:r>
              <a:rPr lang="en-US" b="1" dirty="0"/>
              <a:t> </a:t>
            </a:r>
            <a:r>
              <a:rPr lang="en-US" b="1" dirty="0" err="1"/>
              <a:t>sớm</a:t>
            </a:r>
            <a:r>
              <a:rPr lang="en-US" b="1" dirty="0"/>
              <a:t> </a:t>
            </a:r>
            <a:r>
              <a:rPr lang="en-US" b="1" dirty="0" err="1"/>
              <a:t>lỗi</a:t>
            </a:r>
            <a:r>
              <a:rPr lang="en-US" b="1" dirty="0"/>
              <a:t> </a:t>
            </a:r>
            <a:r>
              <a:rPr lang="en-US" b="1" dirty="0" err="1"/>
              <a:t>siêu</a:t>
            </a:r>
            <a:r>
              <a:rPr lang="en-US" b="1" dirty="0"/>
              <a:t> </a:t>
            </a:r>
            <a:r>
              <a:rPr lang="en-US" b="1" dirty="0" err="1"/>
              <a:t>nhỏ</a:t>
            </a:r>
            <a:r>
              <a:rPr lang="en-US" b="1" dirty="0"/>
              <a:t> </a:t>
            </a:r>
            <a:r>
              <a:rPr lang="en-US" b="1" dirty="0" err="1"/>
              <a:t>trước</a:t>
            </a:r>
            <a:r>
              <a:rPr lang="en-US" b="1" dirty="0"/>
              <a:t> tai </a:t>
            </a:r>
            <a:r>
              <a:rPr lang="en-US" b="1" dirty="0" err="1"/>
              <a:t>người</a:t>
            </a:r>
            <a:r>
              <a:rPr lang="en-US" b="1" dirty="0"/>
              <a:t> </a:t>
            </a:r>
            <a:r>
              <a:rPr lang="en-US" b="1" dirty="0" err="1"/>
              <a:t>vài</a:t>
            </a:r>
            <a:r>
              <a:rPr lang="en-US" b="1" dirty="0"/>
              <a:t> </a:t>
            </a:r>
            <a:r>
              <a:rPr lang="en-US" b="1" dirty="0" err="1"/>
              <a:t>tuần</a:t>
            </a:r>
            <a:r>
              <a:rPr lang="en-US" b="1" dirty="0"/>
              <a:t>/</a:t>
            </a:r>
            <a:r>
              <a:rPr lang="en-US" b="1" dirty="0" err="1"/>
              <a:t>tháng</a:t>
            </a:r>
            <a:r>
              <a:rPr lang="en-US" b="1" dirty="0"/>
              <a:t>, </a:t>
            </a:r>
            <a:r>
              <a:rPr lang="en-US" b="1" dirty="0" err="1"/>
              <a:t>dù</a:t>
            </a:r>
            <a:r>
              <a:rPr lang="en-US" b="1" dirty="0"/>
              <a:t> </a:t>
            </a:r>
            <a:r>
              <a:rPr lang="en-US" b="1" dirty="0" err="1"/>
              <a:t>vậy</a:t>
            </a:r>
            <a:r>
              <a:rPr lang="en-US" b="1" dirty="0"/>
              <a:t> </a:t>
            </a:r>
            <a:r>
              <a:rPr lang="en-US" b="1" dirty="0" err="1"/>
              <a:t>tín</a:t>
            </a:r>
            <a:r>
              <a:rPr lang="en-US" b="1" dirty="0"/>
              <a:t> </a:t>
            </a:r>
            <a:r>
              <a:rPr lang="en-US" b="1" dirty="0" err="1"/>
              <a:t>hiệu</a:t>
            </a:r>
            <a:r>
              <a:rPr lang="en-US" b="1" dirty="0"/>
              <a:t> ban </a:t>
            </a:r>
            <a:r>
              <a:rPr lang="en-US" b="1" dirty="0" err="1"/>
              <a:t>đầu</a:t>
            </a:r>
            <a:r>
              <a:rPr lang="en-US" b="1" dirty="0"/>
              <a:t> </a:t>
            </a:r>
            <a:r>
              <a:rPr lang="en-US" b="1" dirty="0" err="1"/>
              <a:t>nhỏ</a:t>
            </a:r>
            <a:r>
              <a:rPr lang="en-US" b="1" dirty="0"/>
              <a:t> </a:t>
            </a:r>
            <a:r>
              <a:rPr lang="en-US" b="1" dirty="0" err="1"/>
              <a:t>và</a:t>
            </a:r>
            <a:r>
              <a:rPr lang="en-US" b="1" dirty="0"/>
              <a:t> </a:t>
            </a:r>
            <a:r>
              <a:rPr lang="en-US" b="1" dirty="0" err="1"/>
              <a:t>dễ</a:t>
            </a:r>
            <a:r>
              <a:rPr lang="en-US" b="1" dirty="0"/>
              <a:t> </a:t>
            </a:r>
            <a:r>
              <a:rPr lang="en-US" b="1" dirty="0" err="1"/>
              <a:t>bị</a:t>
            </a:r>
            <a:r>
              <a:rPr lang="en-US" b="1" dirty="0"/>
              <a:t> </a:t>
            </a:r>
            <a:r>
              <a:rPr lang="en-US" b="1" dirty="0" err="1"/>
              <a:t>che</a:t>
            </a:r>
            <a:r>
              <a:rPr lang="en-US" b="1" dirty="0"/>
              <a:t> </a:t>
            </a:r>
            <a:r>
              <a:rPr lang="en-US" b="1" dirty="0" err="1"/>
              <a:t>lấp</a:t>
            </a:r>
            <a:r>
              <a:rPr lang="en-US" b="1" dirty="0"/>
              <a:t> </a:t>
            </a:r>
            <a:r>
              <a:rPr lang="en-US" b="1" dirty="0" err="1"/>
              <a:t>nhiễu</a:t>
            </a:r>
            <a:r>
              <a:rPr lang="en-US" b="1" dirty="0"/>
              <a:t> </a:t>
            </a:r>
            <a:r>
              <a:rPr lang="en-US" b="1" dirty="0" err="1"/>
              <a:t>và</a:t>
            </a:r>
            <a:r>
              <a:rPr lang="en-US" b="1" dirty="0"/>
              <a:t> </a:t>
            </a:r>
            <a:r>
              <a:rPr lang="en-US" b="1" dirty="0" err="1"/>
              <a:t>cần</a:t>
            </a:r>
            <a:r>
              <a:rPr lang="en-US" b="1" dirty="0"/>
              <a:t> </a:t>
            </a:r>
            <a:r>
              <a:rPr lang="en-US" b="1" dirty="0" err="1"/>
              <a:t>xử</a:t>
            </a:r>
            <a:r>
              <a:rPr lang="en-US" b="1" dirty="0"/>
              <a:t> </a:t>
            </a:r>
            <a:r>
              <a:rPr lang="en-US" b="1" dirty="0" err="1"/>
              <a:t>lý</a:t>
            </a:r>
            <a:r>
              <a:rPr lang="en-US" b="1" dirty="0"/>
              <a:t> </a:t>
            </a:r>
            <a:r>
              <a:rPr lang="en-US" b="1" dirty="0" err="1"/>
              <a:t>chuyên</a:t>
            </a:r>
            <a:r>
              <a:rPr lang="en-US" b="1" dirty="0"/>
              <a:t> </a:t>
            </a:r>
            <a:r>
              <a:rPr lang="en-US" b="1" dirty="0" err="1"/>
              <a:t>sâu</a:t>
            </a:r>
            <a:r>
              <a:rPr lang="en-US" b="1" dirty="0"/>
              <a:t>.</a:t>
            </a:r>
            <a:endParaRPr lang="en-US" dirty="0"/>
          </a:p>
        </p:txBody>
      </p:sp>
    </p:spTree>
    <p:extLst>
      <p:ext uri="{BB962C8B-B14F-4D97-AF65-F5344CB8AC3E}">
        <p14:creationId xmlns:p14="http://schemas.microsoft.com/office/powerpoint/2010/main" val="3505952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9DFEEB-8F07-817C-A868-7CC63A23DF6D}"/>
              </a:ext>
            </a:extLst>
          </p:cNvPr>
          <p:cNvSpPr>
            <a:spLocks noGrp="1"/>
          </p:cNvSpPr>
          <p:nvPr>
            <p:ph type="title"/>
          </p:nvPr>
        </p:nvSpPr>
        <p:spPr>
          <a:xfrm>
            <a:off x="338736" y="102815"/>
            <a:ext cx="11514528" cy="436098"/>
          </a:xfrm>
        </p:spPr>
        <p:txBody>
          <a:bodyPr/>
          <a:lstStyle/>
          <a:p>
            <a:r>
              <a:rPr lang="en-US" dirty="0">
                <a:solidFill>
                  <a:srgbClr val="FFFFFF"/>
                </a:solidFill>
                <a:latin typeface="Calibri" pitchFamily="34" charset="0"/>
                <a:ea typeface="Calibri" pitchFamily="34" charset="-122"/>
                <a:cs typeface="Calibri" pitchFamily="34" charset="-120"/>
              </a:rPr>
              <a:t>Quy </a:t>
            </a:r>
            <a:r>
              <a:rPr lang="en-US" dirty="0" err="1">
                <a:solidFill>
                  <a:srgbClr val="FFFFFF"/>
                </a:solidFill>
                <a:latin typeface="Calibri" pitchFamily="34" charset="0"/>
                <a:ea typeface="Calibri" pitchFamily="34" charset="-122"/>
                <a:cs typeface="Calibri" pitchFamily="34" charset="-120"/>
              </a:rPr>
              <a:t>Trình</a:t>
            </a:r>
            <a:r>
              <a:rPr lang="en-US" dirty="0">
                <a:solidFill>
                  <a:srgbClr val="FFFFFF"/>
                </a:solidFill>
                <a:latin typeface="Calibri" pitchFamily="34" charset="0"/>
                <a:ea typeface="Calibri" pitchFamily="34" charset="-122"/>
                <a:cs typeface="Calibri" pitchFamily="34" charset="-120"/>
              </a:rPr>
              <a:t> 7 </a:t>
            </a:r>
            <a:r>
              <a:rPr lang="en-US" dirty="0" err="1">
                <a:solidFill>
                  <a:srgbClr val="FFFFFF"/>
                </a:solidFill>
                <a:latin typeface="Calibri" pitchFamily="34" charset="0"/>
                <a:ea typeface="Calibri" pitchFamily="34" charset="-122"/>
                <a:cs typeface="Calibri" pitchFamily="34" charset="-120"/>
              </a:rPr>
              <a:t>Bước</a:t>
            </a:r>
            <a:endParaRPr lang="en-US" dirty="0"/>
          </a:p>
        </p:txBody>
      </p:sp>
      <p:sp>
        <p:nvSpPr>
          <p:cNvPr id="5" name="Slide Number Placeholder 4">
            <a:extLst>
              <a:ext uri="{FF2B5EF4-FFF2-40B4-BE49-F238E27FC236}">
                <a16:creationId xmlns:a16="http://schemas.microsoft.com/office/drawing/2014/main" id="{E8B4E653-E636-4EED-9A37-BC263FE84A93}"/>
              </a:ext>
            </a:extLst>
          </p:cNvPr>
          <p:cNvSpPr>
            <a:spLocks noGrp="1"/>
          </p:cNvSpPr>
          <p:nvPr>
            <p:ph type="sldNum" sz="quarter" idx="12"/>
          </p:nvPr>
        </p:nvSpPr>
        <p:spPr/>
        <p:txBody>
          <a:bodyPr/>
          <a:lstStyle/>
          <a:p>
            <a:fld id="{9EA0BE3B-158A-4EDF-80DC-E394A0D1600F}" type="slidenum">
              <a:rPr lang="en-US" smtClean="0"/>
              <a:pPr/>
              <a:t>5</a:t>
            </a:fld>
            <a:endParaRPr lang="en-US"/>
          </a:p>
        </p:txBody>
      </p:sp>
      <p:pic>
        <p:nvPicPr>
          <p:cNvPr id="48" name="Picture 47">
            <a:extLst>
              <a:ext uri="{FF2B5EF4-FFF2-40B4-BE49-F238E27FC236}">
                <a16:creationId xmlns:a16="http://schemas.microsoft.com/office/drawing/2014/main" id="{96B269E1-DA61-F11B-C548-D10212D4D991}"/>
              </a:ext>
            </a:extLst>
          </p:cNvPr>
          <p:cNvPicPr>
            <a:picLocks noChangeAspect="1"/>
          </p:cNvPicPr>
          <p:nvPr/>
        </p:nvPicPr>
        <p:blipFill>
          <a:blip r:embed="rId2"/>
          <a:srcRect t="5096" b="18129"/>
          <a:stretch>
            <a:fillRect/>
          </a:stretch>
        </p:blipFill>
        <p:spPr>
          <a:xfrm>
            <a:off x="1219199" y="1337553"/>
            <a:ext cx="10113523" cy="4337248"/>
          </a:xfrm>
          <a:prstGeom prst="rect">
            <a:avLst/>
          </a:prstGeom>
        </p:spPr>
      </p:pic>
    </p:spTree>
    <p:extLst>
      <p:ext uri="{BB962C8B-B14F-4D97-AF65-F5344CB8AC3E}">
        <p14:creationId xmlns:p14="http://schemas.microsoft.com/office/powerpoint/2010/main" val="228770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endParaRPr lang="en-US" b="1" dirty="0">
              <a:solidFill>
                <a:srgbClr val="06D6A0"/>
              </a:solidFill>
              <a:latin typeface="Calibri" pitchFamily="34" charset="0"/>
              <a:ea typeface="Calibri" pitchFamily="34" charset="-122"/>
              <a:cs typeface="Calibri" pitchFamily="34" charset="-120"/>
            </a:endParaRPr>
          </a:p>
          <a:p>
            <a:endParaRPr lang="en-US" b="1" dirty="0">
              <a:solidFill>
                <a:srgbClr val="06D6A0"/>
              </a:solidFill>
              <a:latin typeface="Calibri" pitchFamily="34" charset="0"/>
              <a:ea typeface="Calibri" pitchFamily="34" charset="-122"/>
              <a:cs typeface="Calibri" pitchFamily="34" charset="-120"/>
            </a:endParaRPr>
          </a:p>
          <a:p>
            <a:pPr marL="574675" indent="-515938"/>
            <a:endParaRPr lang="en-US" dirty="0">
              <a:latin typeface="Calibri" pitchFamily="34" charset="0"/>
              <a:ea typeface="Calibri" pitchFamily="34" charset="-122"/>
              <a:cs typeface="Calibri" pitchFamily="34" charset="-120"/>
            </a:endParaRPr>
          </a:p>
          <a:p>
            <a:pPr marL="574675" indent="-515938">
              <a:buFont typeface="Wingdings" panose="05000000000000000000" pitchFamily="2" charset="2"/>
              <a:buChar char="q"/>
            </a:pPr>
            <a:r>
              <a:rPr lang="en-US" sz="2400" dirty="0" err="1">
                <a:latin typeface="Calibri" pitchFamily="34" charset="0"/>
                <a:ea typeface="Calibri" pitchFamily="34" charset="-122"/>
                <a:cs typeface="Calibri" pitchFamily="34" charset="-120"/>
              </a:rPr>
              <a:t>Cấu</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tạo</a:t>
            </a:r>
            <a:r>
              <a:rPr lang="en-US" sz="2400" dirty="0">
                <a:latin typeface="Calibri" pitchFamily="34" charset="0"/>
                <a:ea typeface="Calibri" pitchFamily="34" charset="-122"/>
                <a:cs typeface="Calibri" pitchFamily="34" charset="-120"/>
              </a:rPr>
              <a:t> CWRU Test Rig &amp; </a:t>
            </a:r>
            <a:r>
              <a:rPr lang="en-US" sz="2400" dirty="0" err="1">
                <a:latin typeface="Calibri" pitchFamily="34" charset="0"/>
                <a:ea typeface="Calibri" pitchFamily="34" charset="-122"/>
                <a:cs typeface="Calibri" pitchFamily="34" charset="-120"/>
              </a:rPr>
              <a:t>vị</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trí</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cảm</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biến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Phân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loại</a:t>
            </a:r>
            <a:r>
              <a:rPr lang="en-US" sz="2400" dirty="0">
                <a:latin typeface="Calibri" pitchFamily="34" charset="0"/>
                <a:ea typeface="Calibri" pitchFamily="34" charset="-122"/>
                <a:cs typeface="Calibri" pitchFamily="34" charset="-120"/>
              </a:rPr>
              <a:t> 4 </a:t>
            </a:r>
            <a:r>
              <a:rPr lang="en-US" sz="2400" dirty="0" err="1">
                <a:latin typeface="Calibri" pitchFamily="34" charset="0"/>
                <a:ea typeface="Calibri" pitchFamily="34" charset="-122"/>
                <a:cs typeface="Calibri" pitchFamily="34" charset="-120"/>
              </a:rPr>
              <a:t>trạng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thái</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kỹ</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thuật</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của</a:t>
            </a:r>
            <a:r>
              <a:rPr lang="en-US" sz="2400" dirty="0">
                <a:latin typeface="Calibri" pitchFamily="34" charset="0"/>
                <a:ea typeface="Calibri" pitchFamily="34" charset="-122"/>
                <a:cs typeface="Calibri" pitchFamily="34" charset="-120"/>
              </a:rPr>
              <a:t> ổ </a:t>
            </a:r>
            <a:r>
              <a:rPr lang="en-US" sz="2400" dirty="0" err="1">
                <a:latin typeface="Calibri" pitchFamily="34" charset="0"/>
                <a:ea typeface="Calibri" pitchFamily="34" charset="-122"/>
                <a:cs typeface="Calibri" pitchFamily="34" charset="-120"/>
              </a:rPr>
              <a:t>lăn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Tần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số</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lấy</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mẫu</a:t>
            </a:r>
            <a:r>
              <a:rPr lang="en-US" sz="2400" dirty="0">
                <a:latin typeface="Calibri" pitchFamily="34" charset="0"/>
                <a:ea typeface="Calibri" pitchFamily="34" charset="-122"/>
                <a:cs typeface="Calibri" pitchFamily="34" charset="-120"/>
              </a:rPr>
              <a:t> 12 kHz &amp; </a:t>
            </a:r>
            <a:r>
              <a:rPr lang="en-US" sz="2400" dirty="0" err="1">
                <a:latin typeface="Calibri" pitchFamily="34" charset="0"/>
                <a:ea typeface="Calibri" pitchFamily="34" charset="-122"/>
                <a:cs typeface="Calibri" pitchFamily="34" charset="-120"/>
              </a:rPr>
              <a:t>mức</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tải</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động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cơ</a:t>
            </a:r>
            <a:r>
              <a:rPr lang="en-US" sz="2400" dirty="0">
                <a:latin typeface="Calibri" pitchFamily="34" charset="0"/>
                <a:ea typeface="Calibri" pitchFamily="34" charset="-122"/>
                <a:cs typeface="Calibri" pitchFamily="34" charset="-120"/>
              </a:rPr>
              <a:t>
Công </a:t>
            </a:r>
            <a:r>
              <a:rPr lang="en-US" sz="2400" dirty="0" err="1">
                <a:latin typeface="Calibri" pitchFamily="34" charset="0"/>
                <a:ea typeface="Calibri" pitchFamily="34" charset="-122"/>
                <a:cs typeface="Calibri" pitchFamily="34" charset="-120"/>
              </a:rPr>
              <a:t>thức</a:t>
            </a:r>
            <a:r>
              <a:rPr lang="en-US" sz="2400" dirty="0">
                <a:latin typeface="Calibri" pitchFamily="34" charset="0"/>
                <a:ea typeface="Calibri" pitchFamily="34" charset="-122"/>
                <a:cs typeface="Calibri" pitchFamily="34" charset="-120"/>
              </a:rPr>
              <a:t> &amp; </a:t>
            </a:r>
            <a:r>
              <a:rPr lang="en-US" sz="2400" dirty="0" err="1">
                <a:latin typeface="Calibri" pitchFamily="34" charset="0"/>
                <a:ea typeface="Calibri" pitchFamily="34" charset="-122"/>
                <a:cs typeface="Calibri" pitchFamily="34" charset="-120"/>
              </a:rPr>
              <a:t>tần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số</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đặc</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trưng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lỗi</a:t>
            </a:r>
            <a:r>
              <a:rPr lang="en-US" sz="2400" dirty="0">
                <a:latin typeface="Calibri" pitchFamily="34" charset="0"/>
                <a:ea typeface="Calibri" pitchFamily="34" charset="-122"/>
                <a:cs typeface="Calibri" pitchFamily="34" charset="-120"/>
              </a:rPr>
              <a:t> SKF 6205</a:t>
            </a:r>
            <a:endParaRPr lang="en-US" sz="2400" dirty="0"/>
          </a:p>
          <a:p>
            <a:pPr marL="0" indent="0">
              <a:buNone/>
            </a:pPr>
            <a:endParaRPr lang="en-US" dirty="0"/>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pPr algn="ctr"/>
            <a:r>
              <a:rPr lang="en-US" sz="3500" dirty="0" err="1">
                <a:latin typeface="Calibri" pitchFamily="34" charset="0"/>
                <a:ea typeface="Calibri" pitchFamily="34" charset="-122"/>
                <a:cs typeface="Calibri" pitchFamily="34" charset="-120"/>
              </a:rPr>
              <a:t>Dữ</a:t>
            </a:r>
            <a:r>
              <a:rPr lang="en-US" sz="3500" dirty="0">
                <a:latin typeface="Calibri" pitchFamily="34" charset="0"/>
                <a:ea typeface="Calibri" pitchFamily="34" charset="-122"/>
                <a:cs typeface="Calibri" pitchFamily="34" charset="-120"/>
              </a:rPr>
              <a:t> Liệu CWRU</a:t>
            </a:r>
            <a:br>
              <a:rPr lang="en-US" dirty="0">
                <a:latin typeface="Calibri" pitchFamily="34" charset="0"/>
                <a:ea typeface="Calibri" pitchFamily="34" charset="-122"/>
                <a:cs typeface="Calibri" pitchFamily="34" charset="-120"/>
              </a:rPr>
            </a:br>
            <a:r>
              <a:rPr lang="en-US" sz="1800" b="0" i="1" dirty="0" err="1">
                <a:latin typeface="Calibri" pitchFamily="34" charset="0"/>
                <a:ea typeface="Calibri" pitchFamily="34" charset="-122"/>
                <a:cs typeface="Calibri" pitchFamily="34" charset="-120"/>
              </a:rPr>
              <a:t>Hệ</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thí</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nghiệm</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cảm</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biến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phân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loại</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lỗi</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và</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tần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số</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đặc</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trưng</a:t>
            </a:r>
            <a:r>
              <a:rPr lang="en-US" sz="1800" b="0" i="1" dirty="0">
                <a:latin typeface="Calibri" pitchFamily="34" charset="0"/>
                <a:ea typeface="Calibri" pitchFamily="34" charset="-122"/>
                <a:cs typeface="Calibri" pitchFamily="34" charset="-120"/>
              </a:rPr>
              <a:t> ổ </a:t>
            </a:r>
            <a:r>
              <a:rPr lang="en-US" sz="1800" b="0" i="1" dirty="0" err="1">
                <a:latin typeface="Calibri" pitchFamily="34" charset="0"/>
                <a:ea typeface="Calibri" pitchFamily="34" charset="-122"/>
                <a:cs typeface="Calibri" pitchFamily="34" charset="-120"/>
              </a:rPr>
              <a:t>lăn</a:t>
            </a:r>
            <a:r>
              <a:rPr lang="en-US" sz="1800" b="0" i="1" dirty="0">
                <a:latin typeface="Calibri" pitchFamily="34" charset="0"/>
                <a:ea typeface="Calibri" pitchFamily="34" charset="-122"/>
                <a:cs typeface="Calibri" pitchFamily="34" charset="-120"/>
              </a:rPr>
              <a:t> SKF 6205</a:t>
            </a:r>
            <a:br>
              <a:rPr lang="en-US" sz="1800" b="0" i="1" dirty="0"/>
            </a:br>
            <a:endParaRPr lang="en-US" b="0" dirty="0"/>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6</a:t>
            </a:fld>
            <a:endParaRPr lang="en-US"/>
          </a:p>
        </p:txBody>
      </p:sp>
    </p:spTree>
    <p:extLst>
      <p:ext uri="{BB962C8B-B14F-4D97-AF65-F5344CB8AC3E}">
        <p14:creationId xmlns:p14="http://schemas.microsoft.com/office/powerpoint/2010/main" val="485500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AD8A-1EA9-C7CE-D797-0A3D974FB867}"/>
              </a:ext>
            </a:extLst>
          </p:cNvPr>
          <p:cNvSpPr>
            <a:spLocks noGrp="1"/>
          </p:cNvSpPr>
          <p:nvPr>
            <p:ph type="title"/>
          </p:nvPr>
        </p:nvSpPr>
        <p:spPr/>
        <p:txBody>
          <a:bodyPr/>
          <a:lstStyle/>
          <a:p>
            <a:r>
              <a:rPr lang="en-US" dirty="0">
                <a:solidFill>
                  <a:srgbClr val="FFFFFF"/>
                </a:solidFill>
                <a:latin typeface="Calibri" pitchFamily="34" charset="0"/>
                <a:ea typeface="Calibri" pitchFamily="34" charset="-122"/>
                <a:cs typeface="Calibri" pitchFamily="34" charset="-120"/>
              </a:rPr>
              <a:t>CWRU Test Rig &amp; </a:t>
            </a:r>
            <a:r>
              <a:rPr lang="en-US" dirty="0" err="1">
                <a:solidFill>
                  <a:srgbClr val="FFFFFF"/>
                </a:solidFill>
                <a:latin typeface="Calibri" pitchFamily="34" charset="0"/>
                <a:ea typeface="Calibri" pitchFamily="34" charset="-122"/>
                <a:cs typeface="Calibri" pitchFamily="34" charset="-120"/>
              </a:rPr>
              <a:t>Cảm</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Biến</a:t>
            </a:r>
            <a:endParaRPr lang="en-US" dirty="0"/>
          </a:p>
        </p:txBody>
      </p:sp>
      <p:sp>
        <p:nvSpPr>
          <p:cNvPr id="4" name="Slide Number Placeholder 3">
            <a:extLst>
              <a:ext uri="{FF2B5EF4-FFF2-40B4-BE49-F238E27FC236}">
                <a16:creationId xmlns:a16="http://schemas.microsoft.com/office/drawing/2014/main" id="{F8DD1CE8-660D-F65D-7BA2-062181F1E9B0}"/>
              </a:ext>
            </a:extLst>
          </p:cNvPr>
          <p:cNvSpPr>
            <a:spLocks noGrp="1"/>
          </p:cNvSpPr>
          <p:nvPr>
            <p:ph type="sldNum" sz="quarter" idx="12"/>
          </p:nvPr>
        </p:nvSpPr>
        <p:spPr/>
        <p:txBody>
          <a:bodyPr/>
          <a:lstStyle/>
          <a:p>
            <a:fld id="{9EA0BE3B-158A-4EDF-80DC-E394A0D1600F}" type="slidenum">
              <a:rPr lang="en-US" smtClean="0"/>
              <a:pPr/>
              <a:t>7</a:t>
            </a:fld>
            <a:endParaRPr lang="en-US"/>
          </a:p>
        </p:txBody>
      </p:sp>
      <p:pic>
        <p:nvPicPr>
          <p:cNvPr id="5" name="Image 0" descr="preencoded.png">
            <a:extLst>
              <a:ext uri="{FF2B5EF4-FFF2-40B4-BE49-F238E27FC236}">
                <a16:creationId xmlns:a16="http://schemas.microsoft.com/office/drawing/2014/main" id="{ECCCB16F-D7E5-61A4-B882-215BF3A36917}"/>
              </a:ext>
            </a:extLst>
          </p:cNvPr>
          <p:cNvPicPr>
            <a:picLocks noChangeAspect="1"/>
          </p:cNvPicPr>
          <p:nvPr/>
        </p:nvPicPr>
        <p:blipFill>
          <a:blip r:embed="rId2"/>
          <a:srcRect/>
          <a:stretch/>
        </p:blipFill>
        <p:spPr>
          <a:xfrm>
            <a:off x="338736" y="1124517"/>
            <a:ext cx="5757264" cy="4094054"/>
          </a:xfrm>
          <a:prstGeom prst="rect">
            <a:avLst/>
          </a:prstGeom>
        </p:spPr>
      </p:pic>
      <p:sp>
        <p:nvSpPr>
          <p:cNvPr id="6" name="Shape 3">
            <a:extLst>
              <a:ext uri="{FF2B5EF4-FFF2-40B4-BE49-F238E27FC236}">
                <a16:creationId xmlns:a16="http://schemas.microsoft.com/office/drawing/2014/main" id="{221420C6-B740-C3B5-390F-02A3786D2311}"/>
              </a:ext>
            </a:extLst>
          </p:cNvPr>
          <p:cNvSpPr/>
          <p:nvPr/>
        </p:nvSpPr>
        <p:spPr>
          <a:xfrm>
            <a:off x="6230676" y="1123031"/>
            <a:ext cx="5622588" cy="1979437"/>
          </a:xfrm>
          <a:prstGeom prst="rect">
            <a:avLst/>
          </a:prstGeom>
          <a:solidFill>
            <a:schemeClr val="bg1"/>
          </a:solidFill>
          <a:ln w="12700">
            <a:solidFill>
              <a:srgbClr val="0077B6"/>
            </a:solidFill>
            <a:prstDash val="solid"/>
          </a:ln>
        </p:spPr>
      </p:sp>
      <p:sp>
        <p:nvSpPr>
          <p:cNvPr id="7" name="Text 4">
            <a:extLst>
              <a:ext uri="{FF2B5EF4-FFF2-40B4-BE49-F238E27FC236}">
                <a16:creationId xmlns:a16="http://schemas.microsoft.com/office/drawing/2014/main" id="{7FCAEC26-703F-55D8-CE04-E18B940BE8AD}"/>
              </a:ext>
            </a:extLst>
          </p:cNvPr>
          <p:cNvSpPr/>
          <p:nvPr/>
        </p:nvSpPr>
        <p:spPr>
          <a:xfrm>
            <a:off x="6332972" y="1254301"/>
            <a:ext cx="3931920" cy="274320"/>
          </a:xfrm>
          <a:prstGeom prst="rect">
            <a:avLst/>
          </a:prstGeom>
          <a:noFill/>
          <a:ln/>
        </p:spPr>
        <p:txBody>
          <a:bodyPr wrap="square" rtlCol="0" anchor="ctr"/>
          <a:lstStyle/>
          <a:p>
            <a:pPr marL="0" indent="0">
              <a:buNone/>
            </a:pPr>
            <a:r>
              <a:rPr lang="en-US" b="1" dirty="0">
                <a:solidFill>
                  <a:srgbClr val="00B4D8"/>
                </a:solidFill>
                <a:latin typeface="Calibri" pitchFamily="34" charset="0"/>
                <a:ea typeface="Calibri" pitchFamily="34" charset="-122"/>
                <a:cs typeface="Calibri" pitchFamily="34" charset="-120"/>
              </a:rPr>
              <a:t>🛠️  Cấu trúc bệ thử</a:t>
            </a:r>
            <a:endParaRPr lang="en-US" dirty="0"/>
          </a:p>
        </p:txBody>
      </p:sp>
      <p:sp>
        <p:nvSpPr>
          <p:cNvPr id="8" name="Text 5">
            <a:extLst>
              <a:ext uri="{FF2B5EF4-FFF2-40B4-BE49-F238E27FC236}">
                <a16:creationId xmlns:a16="http://schemas.microsoft.com/office/drawing/2014/main" id="{6B5DA217-590C-B70E-04E6-BAF568316D0B}"/>
              </a:ext>
            </a:extLst>
          </p:cNvPr>
          <p:cNvSpPr/>
          <p:nvPr/>
        </p:nvSpPr>
        <p:spPr>
          <a:xfrm>
            <a:off x="6332972" y="1787414"/>
            <a:ext cx="5417992" cy="868680"/>
          </a:xfrm>
          <a:prstGeom prst="rect">
            <a:avLst/>
          </a:prstGeom>
          <a:noFill/>
          <a:ln/>
        </p:spPr>
        <p:txBody>
          <a:bodyPr wrap="square" rtlCol="0" anchor="ctr"/>
          <a:lstStyle/>
          <a:p>
            <a:r>
              <a:rPr lang="en-US" dirty="0">
                <a:latin typeface="Calibri" pitchFamily="34" charset="0"/>
                <a:ea typeface="Calibri" pitchFamily="34" charset="-122"/>
                <a:cs typeface="Calibri" pitchFamily="34" charset="-120"/>
              </a:rPr>
              <a:t>• Động cơ 2 HP, tốc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1720–1797 RPM
• Ổ lăn thử SKF 6205-2RS, </a:t>
            </a:r>
            <a:r>
              <a:rPr lang="en-US" dirty="0"/>
              <a:t>6203-2RS</a:t>
            </a:r>
            <a:r>
              <a:rPr lang="en-US" dirty="0">
                <a:latin typeface="Calibri" pitchFamily="34" charset="0"/>
                <a:ea typeface="Calibri" pitchFamily="34" charset="-122"/>
                <a:cs typeface="Calibri" pitchFamily="34" charset="-120"/>
              </a:rPr>
              <a:t>
• Khuyết tật nhân tạo EDM: 7, 14, 21 mils
• Tải 0–3 HP qua Dynamometer</a:t>
            </a:r>
            <a:endParaRPr lang="en-US" dirty="0"/>
          </a:p>
        </p:txBody>
      </p:sp>
      <p:sp>
        <p:nvSpPr>
          <p:cNvPr id="9" name="Shape 6">
            <a:extLst>
              <a:ext uri="{FF2B5EF4-FFF2-40B4-BE49-F238E27FC236}">
                <a16:creationId xmlns:a16="http://schemas.microsoft.com/office/drawing/2014/main" id="{B629A365-ADAD-08AC-D29C-C91B055A0D69}"/>
              </a:ext>
            </a:extLst>
          </p:cNvPr>
          <p:cNvSpPr/>
          <p:nvPr/>
        </p:nvSpPr>
        <p:spPr>
          <a:xfrm>
            <a:off x="6230675" y="3239134"/>
            <a:ext cx="5622587" cy="1979437"/>
          </a:xfrm>
          <a:prstGeom prst="rect">
            <a:avLst/>
          </a:prstGeom>
          <a:solidFill>
            <a:schemeClr val="bg1"/>
          </a:solidFill>
          <a:ln w="12700">
            <a:solidFill>
              <a:srgbClr val="0077B6"/>
            </a:solidFill>
            <a:prstDash val="solid"/>
          </a:ln>
        </p:spPr>
      </p:sp>
      <p:sp>
        <p:nvSpPr>
          <p:cNvPr id="10" name="Shape 7">
            <a:extLst>
              <a:ext uri="{FF2B5EF4-FFF2-40B4-BE49-F238E27FC236}">
                <a16:creationId xmlns:a16="http://schemas.microsoft.com/office/drawing/2014/main" id="{2D4B9466-4081-0109-0508-BD36130EB375}"/>
              </a:ext>
            </a:extLst>
          </p:cNvPr>
          <p:cNvSpPr/>
          <p:nvPr/>
        </p:nvSpPr>
        <p:spPr>
          <a:xfrm>
            <a:off x="6230675" y="3252256"/>
            <a:ext cx="5622586" cy="424601"/>
          </a:xfrm>
          <a:prstGeom prst="rect">
            <a:avLst/>
          </a:prstGeom>
          <a:solidFill>
            <a:srgbClr val="0077B6"/>
          </a:solidFill>
          <a:ln w="12700">
            <a:solidFill>
              <a:srgbClr val="0077B6"/>
            </a:solidFill>
            <a:prstDash val="solid"/>
          </a:ln>
        </p:spPr>
      </p:sp>
      <p:sp>
        <p:nvSpPr>
          <p:cNvPr id="11" name="Text 8">
            <a:extLst>
              <a:ext uri="{FF2B5EF4-FFF2-40B4-BE49-F238E27FC236}">
                <a16:creationId xmlns:a16="http://schemas.microsoft.com/office/drawing/2014/main" id="{AC881A95-F0DC-A788-B493-DF0F9A4D02AE}"/>
              </a:ext>
            </a:extLst>
          </p:cNvPr>
          <p:cNvSpPr/>
          <p:nvPr/>
        </p:nvSpPr>
        <p:spPr>
          <a:xfrm>
            <a:off x="6303828" y="3322140"/>
            <a:ext cx="3931920" cy="292608"/>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  Vị trí cảm biến</a:t>
            </a:r>
            <a:endParaRPr lang="en-US" dirty="0"/>
          </a:p>
        </p:txBody>
      </p:sp>
      <p:sp>
        <p:nvSpPr>
          <p:cNvPr id="12" name="Text 9">
            <a:extLst>
              <a:ext uri="{FF2B5EF4-FFF2-40B4-BE49-F238E27FC236}">
                <a16:creationId xmlns:a16="http://schemas.microsoft.com/office/drawing/2014/main" id="{AC801D3A-EB55-FBD5-7561-4AFEE7CDD13F}"/>
              </a:ext>
            </a:extLst>
          </p:cNvPr>
          <p:cNvSpPr/>
          <p:nvPr/>
        </p:nvSpPr>
        <p:spPr>
          <a:xfrm>
            <a:off x="6303828" y="3935650"/>
            <a:ext cx="5447136" cy="1024128"/>
          </a:xfrm>
          <a:prstGeom prst="rect">
            <a:avLst/>
          </a:prstGeom>
          <a:noFill/>
          <a:ln/>
        </p:spPr>
        <p:txBody>
          <a:bodyPr wrap="square" rtlCol="0" anchor="t"/>
          <a:lstStyle/>
          <a:p>
            <a:pPr marL="342900" indent="-342900">
              <a:buSzPct val="100000"/>
              <a:buChar char="•"/>
            </a:pPr>
            <a:r>
              <a:rPr lang="en-US" dirty="0">
                <a:latin typeface="Calibri" pitchFamily="34" charset="0"/>
                <a:ea typeface="Calibri" pitchFamily="34" charset="-122"/>
                <a:cs typeface="Calibri" pitchFamily="34" charset="-120"/>
              </a:rPr>
              <a:t>DE: </a:t>
            </a:r>
            <a:r>
              <a:rPr lang="en-US" dirty="0" err="1"/>
              <a:t>Cảm</a:t>
            </a:r>
            <a:r>
              <a:rPr lang="en-US" dirty="0"/>
              <a:t> </a:t>
            </a:r>
            <a:r>
              <a:rPr lang="en-US" dirty="0" err="1"/>
              <a:t>biến</a:t>
            </a:r>
            <a:r>
              <a:rPr lang="en-US" dirty="0"/>
              <a:t> </a:t>
            </a:r>
            <a:r>
              <a:rPr lang="en-US" dirty="0" err="1"/>
              <a:t>gia</a:t>
            </a:r>
            <a:r>
              <a:rPr lang="en-US" dirty="0"/>
              <a:t> </a:t>
            </a:r>
            <a:r>
              <a:rPr lang="en-US" dirty="0" err="1"/>
              <a:t>tốc</a:t>
            </a:r>
            <a:r>
              <a:rPr lang="en-US" dirty="0"/>
              <a:t> </a:t>
            </a:r>
            <a:r>
              <a:rPr lang="en-US" dirty="0" err="1"/>
              <a:t>đặt</a:t>
            </a:r>
            <a:r>
              <a:rPr lang="en-US" dirty="0"/>
              <a:t> </a:t>
            </a:r>
            <a:r>
              <a:rPr lang="en-US" dirty="0" err="1"/>
              <a:t>tại</a:t>
            </a:r>
            <a:r>
              <a:rPr lang="en-US" dirty="0"/>
              <a:t> </a:t>
            </a:r>
            <a:r>
              <a:rPr lang="en-US" dirty="0" err="1"/>
              <a:t>vỏ</a:t>
            </a:r>
            <a:r>
              <a:rPr lang="en-US" dirty="0"/>
              <a:t> </a:t>
            </a:r>
            <a:r>
              <a:rPr lang="en-US" dirty="0" err="1"/>
              <a:t>gối</a:t>
            </a:r>
            <a:r>
              <a:rPr lang="en-US" dirty="0"/>
              <a:t> </a:t>
            </a:r>
            <a:r>
              <a:rPr lang="en-US" dirty="0" err="1"/>
              <a:t>đỡ</a:t>
            </a:r>
            <a:r>
              <a:rPr lang="en-US" dirty="0"/>
              <a:t> </a:t>
            </a:r>
            <a:r>
              <a:rPr lang="en-US" dirty="0" err="1"/>
              <a:t>phía</a:t>
            </a:r>
            <a:r>
              <a:rPr lang="en-US" dirty="0"/>
              <a:t> </a:t>
            </a:r>
            <a:r>
              <a:rPr lang="en-US" dirty="0" err="1"/>
              <a:t>tải</a:t>
            </a:r>
            <a:endParaRPr lang="en-US" dirty="0"/>
          </a:p>
          <a:p>
            <a:pPr marL="342900" indent="-342900">
              <a:buSzPct val="100000"/>
              <a:buChar char="•"/>
            </a:pPr>
            <a:r>
              <a:rPr lang="en-US" dirty="0">
                <a:latin typeface="Calibri" pitchFamily="34" charset="0"/>
                <a:ea typeface="Calibri" pitchFamily="34" charset="-122"/>
                <a:cs typeface="Calibri" pitchFamily="34" charset="-120"/>
              </a:rPr>
              <a:t>FE: </a:t>
            </a:r>
            <a:r>
              <a:rPr lang="en-US" dirty="0" err="1"/>
              <a:t>Cảm</a:t>
            </a:r>
            <a:r>
              <a:rPr lang="en-US" dirty="0"/>
              <a:t> </a:t>
            </a:r>
            <a:r>
              <a:rPr lang="en-US" dirty="0" err="1"/>
              <a:t>biến</a:t>
            </a:r>
            <a:r>
              <a:rPr lang="en-US" dirty="0"/>
              <a:t> </a:t>
            </a:r>
            <a:r>
              <a:rPr lang="en-US" dirty="0" err="1"/>
              <a:t>gia</a:t>
            </a:r>
            <a:r>
              <a:rPr lang="en-US" dirty="0"/>
              <a:t> </a:t>
            </a:r>
            <a:r>
              <a:rPr lang="en-US" dirty="0" err="1"/>
              <a:t>tốc</a:t>
            </a:r>
            <a:r>
              <a:rPr lang="en-US" dirty="0"/>
              <a:t> </a:t>
            </a:r>
            <a:r>
              <a:rPr lang="en-US" dirty="0" err="1"/>
              <a:t>đặt</a:t>
            </a:r>
            <a:r>
              <a:rPr lang="en-US" dirty="0"/>
              <a:t> </a:t>
            </a:r>
            <a:r>
              <a:rPr lang="en-US" dirty="0" err="1"/>
              <a:t>tại</a:t>
            </a:r>
            <a:r>
              <a:rPr lang="en-US" dirty="0"/>
              <a:t> </a:t>
            </a:r>
            <a:r>
              <a:rPr lang="en-US" dirty="0" err="1"/>
              <a:t>vỏ</a:t>
            </a:r>
            <a:r>
              <a:rPr lang="en-US" dirty="0"/>
              <a:t> </a:t>
            </a:r>
            <a:r>
              <a:rPr lang="en-US" dirty="0" err="1"/>
              <a:t>gối</a:t>
            </a:r>
            <a:r>
              <a:rPr lang="en-US" dirty="0"/>
              <a:t> </a:t>
            </a:r>
            <a:r>
              <a:rPr lang="en-US" dirty="0" err="1"/>
              <a:t>đỡ</a:t>
            </a:r>
            <a:r>
              <a:rPr lang="en-US" dirty="0"/>
              <a:t> </a:t>
            </a:r>
            <a:r>
              <a:rPr lang="en-US" dirty="0" err="1"/>
              <a:t>phía</a:t>
            </a:r>
            <a:r>
              <a:rPr lang="en-US" dirty="0"/>
              <a:t> </a:t>
            </a:r>
            <a:r>
              <a:rPr lang="en-US" dirty="0" err="1"/>
              <a:t>quạt</a:t>
            </a:r>
            <a:endParaRPr lang="en-US" dirty="0"/>
          </a:p>
          <a:p>
            <a:pPr marL="342900" indent="-342900">
              <a:buSzPct val="100000"/>
              <a:buChar char="•"/>
            </a:pPr>
            <a:r>
              <a:rPr lang="en-US" dirty="0">
                <a:latin typeface="Calibri" pitchFamily="34" charset="0"/>
                <a:ea typeface="Calibri" pitchFamily="34" charset="-122"/>
                <a:cs typeface="Calibri" pitchFamily="34" charset="-120"/>
              </a:rPr>
              <a:t>BA: </a:t>
            </a:r>
            <a:r>
              <a:rPr lang="en-US" dirty="0" err="1"/>
              <a:t>Cảm</a:t>
            </a:r>
            <a:r>
              <a:rPr lang="en-US" dirty="0"/>
              <a:t> </a:t>
            </a:r>
            <a:r>
              <a:rPr lang="en-US" dirty="0" err="1"/>
              <a:t>biến</a:t>
            </a:r>
            <a:r>
              <a:rPr lang="en-US" dirty="0"/>
              <a:t> </a:t>
            </a:r>
            <a:r>
              <a:rPr lang="en-US" dirty="0" err="1"/>
              <a:t>gia</a:t>
            </a:r>
            <a:r>
              <a:rPr lang="en-US" dirty="0"/>
              <a:t> </a:t>
            </a:r>
            <a:r>
              <a:rPr lang="en-US" dirty="0" err="1"/>
              <a:t>tốc</a:t>
            </a:r>
            <a:r>
              <a:rPr lang="en-US" dirty="0"/>
              <a:t> </a:t>
            </a:r>
            <a:r>
              <a:rPr lang="en-US" dirty="0" err="1"/>
              <a:t>đặt</a:t>
            </a:r>
            <a:r>
              <a:rPr lang="en-US" dirty="0"/>
              <a:t> </a:t>
            </a:r>
            <a:r>
              <a:rPr lang="en-US" dirty="0" err="1"/>
              <a:t>tại</a:t>
            </a:r>
            <a:r>
              <a:rPr lang="en-US" dirty="0"/>
              <a:t> </a:t>
            </a:r>
            <a:r>
              <a:rPr lang="en-US" dirty="0" err="1"/>
              <a:t>đế</a:t>
            </a:r>
            <a:r>
              <a:rPr lang="en-US" dirty="0"/>
              <a:t> </a:t>
            </a:r>
            <a:r>
              <a:rPr lang="en-US" dirty="0" err="1"/>
              <a:t>động</a:t>
            </a:r>
            <a:r>
              <a:rPr lang="en-US" dirty="0"/>
              <a:t> </a:t>
            </a:r>
            <a:r>
              <a:rPr lang="en-US" dirty="0" err="1"/>
              <a:t>cơ</a:t>
            </a:r>
            <a:endParaRPr lang="en-US" dirty="0"/>
          </a:p>
        </p:txBody>
      </p:sp>
      <p:sp>
        <p:nvSpPr>
          <p:cNvPr id="13" name="Shape 10">
            <a:extLst>
              <a:ext uri="{FF2B5EF4-FFF2-40B4-BE49-F238E27FC236}">
                <a16:creationId xmlns:a16="http://schemas.microsoft.com/office/drawing/2014/main" id="{C086A991-8E92-72EA-1D5E-BFDFCDEF0E7C}"/>
              </a:ext>
            </a:extLst>
          </p:cNvPr>
          <p:cNvSpPr/>
          <p:nvPr/>
        </p:nvSpPr>
        <p:spPr>
          <a:xfrm>
            <a:off x="338736" y="5301576"/>
            <a:ext cx="11514528" cy="749811"/>
          </a:xfrm>
          <a:prstGeom prst="rect">
            <a:avLst/>
          </a:prstGeom>
          <a:solidFill>
            <a:schemeClr val="bg1"/>
          </a:solidFill>
          <a:ln w="12700">
            <a:solidFill>
              <a:schemeClr val="accent1"/>
            </a:solidFill>
            <a:prstDash val="solid"/>
          </a:ln>
        </p:spPr>
      </p:sp>
      <p:sp>
        <p:nvSpPr>
          <p:cNvPr id="14" name="Text 11">
            <a:extLst>
              <a:ext uri="{FF2B5EF4-FFF2-40B4-BE49-F238E27FC236}">
                <a16:creationId xmlns:a16="http://schemas.microsoft.com/office/drawing/2014/main" id="{D21DF648-B173-9D15-3B1F-FC856825FDBC}"/>
              </a:ext>
            </a:extLst>
          </p:cNvPr>
          <p:cNvSpPr/>
          <p:nvPr/>
        </p:nvSpPr>
        <p:spPr>
          <a:xfrm>
            <a:off x="475896" y="5413443"/>
            <a:ext cx="11264212" cy="548640"/>
          </a:xfrm>
          <a:prstGeom prst="rect">
            <a:avLst/>
          </a:prstGeom>
          <a:noFill/>
          <a:ln/>
        </p:spPr>
        <p:txBody>
          <a:bodyPr wrap="square" rtlCol="0" anchor="ctr"/>
          <a:lstStyle/>
          <a:p>
            <a:r>
              <a:rPr lang="en-US" i="1" dirty="0">
                <a:solidFill>
                  <a:srgbClr val="FFD166"/>
                </a:solidFill>
                <a:latin typeface="Calibri" pitchFamily="34" charset="0"/>
                <a:ea typeface="Calibri" pitchFamily="34" charset="-122"/>
                <a:cs typeface="Calibri" pitchFamily="34" charset="-120"/>
              </a:rPr>
              <a:t>💡  </a:t>
            </a:r>
            <a:r>
              <a:rPr lang="en-US" i="1" dirty="0"/>
              <a:t>Hai </a:t>
            </a:r>
            <a:r>
              <a:rPr lang="en-US" i="1" dirty="0" err="1"/>
              <a:t>cảm</a:t>
            </a:r>
            <a:r>
              <a:rPr lang="en-US" i="1" dirty="0"/>
              <a:t> </a:t>
            </a:r>
            <a:r>
              <a:rPr lang="en-US" i="1" dirty="0" err="1"/>
              <a:t>biến</a:t>
            </a:r>
            <a:r>
              <a:rPr lang="en-US" i="1" dirty="0"/>
              <a:t> </a:t>
            </a:r>
            <a:r>
              <a:rPr lang="en-US" b="1" i="1" dirty="0"/>
              <a:t>DE</a:t>
            </a:r>
            <a:r>
              <a:rPr lang="en-US" i="1" dirty="0"/>
              <a:t> </a:t>
            </a:r>
            <a:r>
              <a:rPr lang="en-US" i="1" dirty="0" err="1"/>
              <a:t>và</a:t>
            </a:r>
            <a:r>
              <a:rPr lang="en-US" i="1" dirty="0"/>
              <a:t> </a:t>
            </a:r>
            <a:r>
              <a:rPr lang="en-US" b="1" i="1" dirty="0"/>
              <a:t>FE</a:t>
            </a:r>
            <a:r>
              <a:rPr lang="en-US" i="1" dirty="0"/>
              <a:t> </a:t>
            </a:r>
            <a:r>
              <a:rPr lang="en-US" i="1" dirty="0" err="1"/>
              <a:t>được</a:t>
            </a:r>
            <a:r>
              <a:rPr lang="en-US" i="1" dirty="0"/>
              <a:t> </a:t>
            </a:r>
            <a:r>
              <a:rPr lang="en-US" b="1" i="1" dirty="0" err="1"/>
              <a:t>bố</a:t>
            </a:r>
            <a:r>
              <a:rPr lang="en-US" b="1" i="1" dirty="0"/>
              <a:t> </a:t>
            </a:r>
            <a:r>
              <a:rPr lang="en-US" b="1" i="1" dirty="0" err="1"/>
              <a:t>trí</a:t>
            </a:r>
            <a:r>
              <a:rPr lang="en-US" b="1" i="1" dirty="0"/>
              <a:t> </a:t>
            </a:r>
            <a:r>
              <a:rPr lang="en-US" b="1" i="1" dirty="0" err="1"/>
              <a:t>tại</a:t>
            </a:r>
            <a:r>
              <a:rPr lang="en-US" b="1" i="1" dirty="0"/>
              <a:t> </a:t>
            </a:r>
            <a:r>
              <a:rPr lang="en-US" b="1" i="1" dirty="0" err="1"/>
              <a:t>hai</a:t>
            </a:r>
            <a:r>
              <a:rPr lang="en-US" b="1" i="1" dirty="0"/>
              <a:t> </a:t>
            </a:r>
            <a:r>
              <a:rPr lang="en-US" b="1" i="1" dirty="0" err="1"/>
              <a:t>đầu</a:t>
            </a:r>
            <a:r>
              <a:rPr lang="en-US" b="1" i="1" dirty="0"/>
              <a:t> </a:t>
            </a:r>
            <a:r>
              <a:rPr lang="en-US" b="1" i="1" dirty="0" err="1"/>
              <a:t>trục</a:t>
            </a:r>
            <a:r>
              <a:rPr lang="en-US" b="1" i="1" dirty="0"/>
              <a:t> </a:t>
            </a:r>
            <a:r>
              <a:rPr lang="en-US" b="1" i="1" dirty="0" err="1"/>
              <a:t>để</a:t>
            </a:r>
            <a:r>
              <a:rPr lang="en-US" b="1" i="1" dirty="0"/>
              <a:t> </a:t>
            </a:r>
            <a:r>
              <a:rPr lang="en-US" b="1" i="1" dirty="0" err="1"/>
              <a:t>giám</a:t>
            </a:r>
            <a:r>
              <a:rPr lang="en-US" b="1" i="1" dirty="0"/>
              <a:t> </a:t>
            </a:r>
            <a:r>
              <a:rPr lang="en-US" b="1" i="1" dirty="0" err="1"/>
              <a:t>sát</a:t>
            </a:r>
            <a:r>
              <a:rPr lang="en-US" b="1" i="1" dirty="0"/>
              <a:t> </a:t>
            </a:r>
            <a:r>
              <a:rPr lang="en-US" b="1" i="1" dirty="0" err="1"/>
              <a:t>độc</a:t>
            </a:r>
            <a:r>
              <a:rPr lang="en-US" b="1" i="1" dirty="0"/>
              <a:t> </a:t>
            </a:r>
            <a:r>
              <a:rPr lang="en-US" b="1" i="1" dirty="0" err="1"/>
              <a:t>lập</a:t>
            </a:r>
            <a:r>
              <a:rPr lang="en-US" i="1" dirty="0"/>
              <a:t> </a:t>
            </a:r>
            <a:r>
              <a:rPr lang="en-US" i="1" dirty="0" err="1"/>
              <a:t>hai</a:t>
            </a:r>
            <a:r>
              <a:rPr lang="en-US" i="1" dirty="0"/>
              <a:t> </a:t>
            </a:r>
            <a:r>
              <a:rPr lang="en-US" i="1" dirty="0" err="1"/>
              <a:t>đối</a:t>
            </a:r>
            <a:r>
              <a:rPr lang="en-US" i="1" dirty="0"/>
              <a:t> </a:t>
            </a:r>
            <a:r>
              <a:rPr lang="en-US" i="1" dirty="0" err="1"/>
              <a:t>tượng</a:t>
            </a:r>
            <a:r>
              <a:rPr lang="en-US" i="1" dirty="0"/>
              <a:t> </a:t>
            </a:r>
            <a:r>
              <a:rPr lang="en-US" i="1" dirty="0" err="1"/>
              <a:t>khác</a:t>
            </a:r>
            <a:r>
              <a:rPr lang="en-US" i="1" dirty="0"/>
              <a:t> </a:t>
            </a:r>
            <a:r>
              <a:rPr lang="en-US" i="1" dirty="0" err="1"/>
              <a:t>nhau</a:t>
            </a:r>
            <a:r>
              <a:rPr lang="en-US" i="1" dirty="0"/>
              <a:t>: Ổ </a:t>
            </a:r>
            <a:r>
              <a:rPr lang="en-US" i="1" dirty="0" err="1"/>
              <a:t>lăn</a:t>
            </a:r>
            <a:r>
              <a:rPr lang="en-US" i="1" dirty="0"/>
              <a:t> </a:t>
            </a:r>
            <a:r>
              <a:rPr lang="en-US" i="1" dirty="0" err="1"/>
              <a:t>phía</a:t>
            </a:r>
            <a:r>
              <a:rPr lang="en-US" i="1" dirty="0"/>
              <a:t> </a:t>
            </a:r>
            <a:r>
              <a:rPr lang="en-US" i="1" dirty="0" err="1"/>
              <a:t>tải</a:t>
            </a:r>
            <a:r>
              <a:rPr lang="en-US" i="1" dirty="0"/>
              <a:t> (</a:t>
            </a:r>
            <a:r>
              <a:rPr lang="en-US" b="1" i="1" dirty="0"/>
              <a:t>SKF 6205</a:t>
            </a:r>
            <a:r>
              <a:rPr lang="en-US" i="1" dirty="0"/>
              <a:t>) </a:t>
            </a:r>
            <a:r>
              <a:rPr lang="en-US" i="1" dirty="0" err="1"/>
              <a:t>và</a:t>
            </a:r>
            <a:r>
              <a:rPr lang="en-US" i="1" dirty="0"/>
              <a:t> ổ </a:t>
            </a:r>
            <a:r>
              <a:rPr lang="en-US" i="1" dirty="0" err="1"/>
              <a:t>lăn</a:t>
            </a:r>
            <a:r>
              <a:rPr lang="en-US" i="1" dirty="0"/>
              <a:t> </a:t>
            </a:r>
            <a:r>
              <a:rPr lang="en-US" i="1" dirty="0" err="1"/>
              <a:t>phía</a:t>
            </a:r>
            <a:r>
              <a:rPr lang="en-US" i="1" dirty="0"/>
              <a:t> </a:t>
            </a:r>
            <a:r>
              <a:rPr lang="en-US" i="1" dirty="0" err="1"/>
              <a:t>quạt</a:t>
            </a:r>
            <a:r>
              <a:rPr lang="en-US" i="1" dirty="0"/>
              <a:t> (</a:t>
            </a:r>
            <a:r>
              <a:rPr lang="en-US" b="1" i="1" dirty="0"/>
              <a:t>SKF 6203</a:t>
            </a:r>
            <a:r>
              <a:rPr lang="en-US" i="1" dirty="0"/>
              <a:t>).</a:t>
            </a:r>
            <a:endParaRPr lang="en-US" i="1" dirty="0">
              <a:solidFill>
                <a:schemeClr val="accent1"/>
              </a:solidFill>
            </a:endParaRPr>
          </a:p>
        </p:txBody>
      </p:sp>
      <p:sp>
        <p:nvSpPr>
          <p:cNvPr id="15" name="TextBox 14">
            <a:extLst>
              <a:ext uri="{FF2B5EF4-FFF2-40B4-BE49-F238E27FC236}">
                <a16:creationId xmlns:a16="http://schemas.microsoft.com/office/drawing/2014/main" id="{3577F8AD-A335-3C9D-A941-CA736F285883}"/>
              </a:ext>
            </a:extLst>
          </p:cNvPr>
          <p:cNvSpPr txBox="1"/>
          <p:nvPr/>
        </p:nvSpPr>
        <p:spPr>
          <a:xfrm>
            <a:off x="1763137" y="6437680"/>
            <a:ext cx="6094378" cy="307777"/>
          </a:xfrm>
          <a:prstGeom prst="rect">
            <a:avLst/>
          </a:prstGeom>
          <a:noFill/>
        </p:spPr>
        <p:txBody>
          <a:bodyPr wrap="square">
            <a:spAutoFit/>
          </a:bodyPr>
          <a:lstStyle/>
          <a:p>
            <a:r>
              <a:rPr lang="en-US" sz="1400" i="1" dirty="0">
                <a:hlinkClick r:id="rId3"/>
              </a:rPr>
              <a:t>https://engineering.case.edu/bearingdatacenter/welcome</a:t>
            </a:r>
            <a:endParaRPr lang="en-US" sz="1400" i="1" dirty="0"/>
          </a:p>
        </p:txBody>
      </p:sp>
    </p:spTree>
    <p:extLst>
      <p:ext uri="{BB962C8B-B14F-4D97-AF65-F5344CB8AC3E}">
        <p14:creationId xmlns:p14="http://schemas.microsoft.com/office/powerpoint/2010/main" val="3092516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7B391B-1BF5-6E9B-9F0A-CCA0525D2FF1}"/>
              </a:ext>
            </a:extLst>
          </p:cNvPr>
          <p:cNvSpPr>
            <a:spLocks noGrp="1"/>
          </p:cNvSpPr>
          <p:nvPr>
            <p:ph type="title"/>
          </p:nvPr>
        </p:nvSpPr>
        <p:spPr/>
        <p:txBody>
          <a:bodyPr/>
          <a:lstStyle/>
          <a:p>
            <a:r>
              <a:rPr lang="en-US" dirty="0" err="1">
                <a:solidFill>
                  <a:srgbClr val="FFFFFF"/>
                </a:solidFill>
                <a:latin typeface="Calibri" pitchFamily="34" charset="0"/>
                <a:ea typeface="Calibri" pitchFamily="34" charset="-122"/>
                <a:cs typeface="Calibri" pitchFamily="34" charset="-120"/>
              </a:rPr>
              <a:t>Trạng</a:t>
            </a:r>
            <a:r>
              <a:rPr lang="en-US" dirty="0">
                <a:solidFill>
                  <a:srgbClr val="FFFFFF"/>
                </a:solidFill>
                <a:latin typeface="Calibri" pitchFamily="34" charset="0"/>
                <a:ea typeface="Calibri" pitchFamily="34" charset="-122"/>
                <a:cs typeface="Calibri" pitchFamily="34" charset="-120"/>
              </a:rPr>
              <a:t> Thái Ổ </a:t>
            </a:r>
            <a:r>
              <a:rPr lang="en-US" dirty="0" err="1">
                <a:solidFill>
                  <a:srgbClr val="FFFFFF"/>
                </a:solidFill>
                <a:latin typeface="Calibri" pitchFamily="34" charset="0"/>
                <a:ea typeface="Calibri" pitchFamily="34" charset="-122"/>
                <a:cs typeface="Calibri" pitchFamily="34" charset="-120"/>
              </a:rPr>
              <a:t>Lăn</a:t>
            </a:r>
            <a:r>
              <a:rPr lang="en-US" dirty="0">
                <a:solidFill>
                  <a:srgbClr val="FFFFFF"/>
                </a:solidFill>
                <a:latin typeface="Calibri" pitchFamily="34" charset="0"/>
                <a:ea typeface="Calibri" pitchFamily="34" charset="-122"/>
                <a:cs typeface="Calibri" pitchFamily="34" charset="-120"/>
              </a:rPr>
              <a:t> — </a:t>
            </a:r>
            <a:r>
              <a:rPr lang="en-US" dirty="0" err="1">
                <a:solidFill>
                  <a:srgbClr val="FFFFFF"/>
                </a:solidFill>
                <a:latin typeface="Calibri" pitchFamily="34" charset="0"/>
                <a:ea typeface="Calibri" pitchFamily="34" charset="-122"/>
                <a:cs typeface="Calibri" pitchFamily="34" charset="-120"/>
              </a:rPr>
              <a:t>Đáp</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Ứng</a:t>
            </a:r>
            <a:r>
              <a:rPr lang="en-US" dirty="0">
                <a:solidFill>
                  <a:srgbClr val="FFFFFF"/>
                </a:solidFill>
                <a:latin typeface="Calibri" pitchFamily="34" charset="0"/>
                <a:ea typeface="Calibri" pitchFamily="34" charset="-122"/>
                <a:cs typeface="Calibri" pitchFamily="34" charset="-120"/>
              </a:rPr>
              <a:t> Rung </a:t>
            </a:r>
            <a:r>
              <a:rPr lang="en-US" dirty="0" err="1">
                <a:solidFill>
                  <a:srgbClr val="FFFFFF"/>
                </a:solidFill>
                <a:latin typeface="Calibri" pitchFamily="34" charset="0"/>
                <a:ea typeface="Calibri" pitchFamily="34" charset="-122"/>
                <a:cs typeface="Calibri" pitchFamily="34" charset="-120"/>
              </a:rPr>
              <a:t>Động</a:t>
            </a:r>
            <a:endParaRPr lang="en-US" dirty="0"/>
          </a:p>
        </p:txBody>
      </p:sp>
      <p:sp>
        <p:nvSpPr>
          <p:cNvPr id="2" name="Slide Number Placeholder 1">
            <a:extLst>
              <a:ext uri="{FF2B5EF4-FFF2-40B4-BE49-F238E27FC236}">
                <a16:creationId xmlns:a16="http://schemas.microsoft.com/office/drawing/2014/main" id="{3F787B8F-671E-899B-3B95-4CCE696DE9CF}"/>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8" name="Shape 3">
            <a:extLst>
              <a:ext uri="{FF2B5EF4-FFF2-40B4-BE49-F238E27FC236}">
                <a16:creationId xmlns:a16="http://schemas.microsoft.com/office/drawing/2014/main" id="{1CEF6675-C39B-B823-044A-168735799FF1}"/>
              </a:ext>
            </a:extLst>
          </p:cNvPr>
          <p:cNvSpPr/>
          <p:nvPr/>
        </p:nvSpPr>
        <p:spPr>
          <a:xfrm>
            <a:off x="6302415" y="998242"/>
            <a:ext cx="5577840" cy="1188720"/>
          </a:xfrm>
          <a:prstGeom prst="rect">
            <a:avLst/>
          </a:prstGeom>
          <a:solidFill>
            <a:srgbClr val="063D2A"/>
          </a:solidFill>
          <a:ln w="12700">
            <a:solidFill>
              <a:srgbClr val="0077B6"/>
            </a:solidFill>
            <a:prstDash val="solid"/>
          </a:ln>
        </p:spPr>
      </p:sp>
      <p:sp>
        <p:nvSpPr>
          <p:cNvPr id="9" name="Text 4">
            <a:extLst>
              <a:ext uri="{FF2B5EF4-FFF2-40B4-BE49-F238E27FC236}">
                <a16:creationId xmlns:a16="http://schemas.microsoft.com/office/drawing/2014/main" id="{30A3BC85-E753-A7F3-C507-709988862FF2}"/>
              </a:ext>
            </a:extLst>
          </p:cNvPr>
          <p:cNvSpPr/>
          <p:nvPr/>
        </p:nvSpPr>
        <p:spPr>
          <a:xfrm>
            <a:off x="6393855" y="1102329"/>
            <a:ext cx="5257800" cy="292608"/>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Bình </a:t>
            </a:r>
            <a:r>
              <a:rPr lang="en-US" b="1" dirty="0" err="1">
                <a:solidFill>
                  <a:srgbClr val="FFFFFF"/>
                </a:solidFill>
                <a:latin typeface="Calibri" pitchFamily="34" charset="0"/>
                <a:ea typeface="Calibri" pitchFamily="34" charset="-122"/>
                <a:cs typeface="Calibri" pitchFamily="34" charset="-120"/>
              </a:rPr>
              <a:t>thường</a:t>
            </a:r>
            <a:r>
              <a:rPr lang="en-US" b="1" dirty="0">
                <a:solidFill>
                  <a:srgbClr val="FFFFFF"/>
                </a:solidFill>
                <a:latin typeface="Calibri" pitchFamily="34" charset="0"/>
                <a:ea typeface="Calibri" pitchFamily="34" charset="-122"/>
                <a:cs typeface="Calibri" pitchFamily="34" charset="-120"/>
              </a:rPr>
              <a:t> (N)</a:t>
            </a:r>
            <a:endParaRPr lang="en-US" dirty="0"/>
          </a:p>
        </p:txBody>
      </p:sp>
      <p:sp>
        <p:nvSpPr>
          <p:cNvPr id="10" name="Text 5">
            <a:extLst>
              <a:ext uri="{FF2B5EF4-FFF2-40B4-BE49-F238E27FC236}">
                <a16:creationId xmlns:a16="http://schemas.microsoft.com/office/drawing/2014/main" id="{A313727A-ADAA-1450-3949-03DC9E764675}"/>
              </a:ext>
            </a:extLst>
          </p:cNvPr>
          <p:cNvSpPr/>
          <p:nvPr/>
        </p:nvSpPr>
        <p:spPr>
          <a:xfrm>
            <a:off x="6393855" y="1501361"/>
            <a:ext cx="5257800" cy="457200"/>
          </a:xfrm>
          <a:prstGeom prst="rect">
            <a:avLst/>
          </a:prstGeom>
          <a:noFill/>
          <a:ln/>
        </p:spPr>
        <p:txBody>
          <a:bodyPr wrap="square" rtlCol="0" anchor="ctr"/>
          <a:lstStyle/>
          <a:p>
            <a:pPr marL="0" indent="0">
              <a:buNone/>
            </a:pPr>
            <a:r>
              <a:rPr lang="en-US" dirty="0">
                <a:solidFill>
                  <a:srgbClr val="E8F4FD"/>
                </a:solidFill>
                <a:latin typeface="Calibri" pitchFamily="34" charset="0"/>
                <a:ea typeface="Calibri" pitchFamily="34" charset="-122"/>
                <a:cs typeface="Calibri" pitchFamily="34" charset="-120"/>
              </a:rPr>
              <a:t>Biên độ </a:t>
            </a:r>
            <a:r>
              <a:rPr lang="en-US" dirty="0" err="1">
                <a:solidFill>
                  <a:srgbClr val="E8F4FD"/>
                </a:solidFill>
                <a:latin typeface="Calibri" pitchFamily="34" charset="0"/>
                <a:ea typeface="Calibri" pitchFamily="34" charset="-122"/>
                <a:cs typeface="Calibri" pitchFamily="34" charset="-120"/>
              </a:rPr>
              <a:t>cực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nhỏ</a:t>
            </a:r>
            <a:r>
              <a:rPr lang="en-US" dirty="0">
                <a:solidFill>
                  <a:srgbClr val="E8F4FD"/>
                </a:solidFill>
                <a:latin typeface="Calibri" pitchFamily="34" charset="0"/>
                <a:ea typeface="Calibri" pitchFamily="34" charset="-122"/>
                <a:cs typeface="Calibri" pitchFamily="34" charset="-120"/>
              </a:rPr>
              <a:t>, tín hiệu phẳng, không có xung bất thường.</a:t>
            </a:r>
            <a:endParaRPr lang="en-US" dirty="0"/>
          </a:p>
        </p:txBody>
      </p:sp>
      <p:sp>
        <p:nvSpPr>
          <p:cNvPr id="11" name="Shape 6">
            <a:extLst>
              <a:ext uri="{FF2B5EF4-FFF2-40B4-BE49-F238E27FC236}">
                <a16:creationId xmlns:a16="http://schemas.microsoft.com/office/drawing/2014/main" id="{710D371D-AB83-FFE0-BF52-DA5B2F8BC9FF}"/>
              </a:ext>
            </a:extLst>
          </p:cNvPr>
          <p:cNvSpPr/>
          <p:nvPr/>
        </p:nvSpPr>
        <p:spPr>
          <a:xfrm>
            <a:off x="6302415" y="2308563"/>
            <a:ext cx="5577840" cy="1188720"/>
          </a:xfrm>
          <a:prstGeom prst="rect">
            <a:avLst/>
          </a:prstGeom>
          <a:solidFill>
            <a:srgbClr val="0A2A50"/>
          </a:solidFill>
          <a:ln w="12700">
            <a:solidFill>
              <a:srgbClr val="0077B6"/>
            </a:solidFill>
            <a:prstDash val="solid"/>
          </a:ln>
        </p:spPr>
      </p:sp>
      <p:sp>
        <p:nvSpPr>
          <p:cNvPr id="12" name="Text 7">
            <a:extLst>
              <a:ext uri="{FF2B5EF4-FFF2-40B4-BE49-F238E27FC236}">
                <a16:creationId xmlns:a16="http://schemas.microsoft.com/office/drawing/2014/main" id="{5154445F-E212-8914-5919-94C287E0F2DD}"/>
              </a:ext>
            </a:extLst>
          </p:cNvPr>
          <p:cNvSpPr/>
          <p:nvPr/>
        </p:nvSpPr>
        <p:spPr>
          <a:xfrm>
            <a:off x="6393855" y="2421213"/>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rãnh ngoài (OR)</a:t>
            </a:r>
            <a:endParaRPr lang="en-US" dirty="0"/>
          </a:p>
        </p:txBody>
      </p:sp>
      <p:sp>
        <p:nvSpPr>
          <p:cNvPr id="13" name="Text 8">
            <a:extLst>
              <a:ext uri="{FF2B5EF4-FFF2-40B4-BE49-F238E27FC236}">
                <a16:creationId xmlns:a16="http://schemas.microsoft.com/office/drawing/2014/main" id="{8E3F7F3A-18DE-C8E4-C91B-259DEBDAE7CC}"/>
              </a:ext>
            </a:extLst>
          </p:cNvPr>
          <p:cNvSpPr/>
          <p:nvPr/>
        </p:nvSpPr>
        <p:spPr>
          <a:xfrm>
            <a:off x="6393855" y="2831232"/>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Vết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nứt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đường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lăn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rãnh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ngoài</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cố</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định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Xung</a:t>
            </a:r>
            <a:r>
              <a:rPr lang="en-US" dirty="0">
                <a:solidFill>
                  <a:srgbClr val="E8F4FD"/>
                </a:solidFill>
                <a:latin typeface="Calibri" pitchFamily="34" charset="0"/>
                <a:ea typeface="Calibri" pitchFamily="34" charset="-122"/>
                <a:cs typeface="Calibri" pitchFamily="34" charset="-120"/>
              </a:rPr>
              <a:t> va đập mạnh, chu </a:t>
            </a:r>
            <a:r>
              <a:rPr lang="en-US" dirty="0" err="1">
                <a:solidFill>
                  <a:srgbClr val="E8F4FD"/>
                </a:solidFill>
                <a:latin typeface="Calibri" pitchFamily="34" charset="0"/>
                <a:ea typeface="Calibri" pitchFamily="34" charset="-122"/>
                <a:cs typeface="Calibri" pitchFamily="34" charset="-120"/>
              </a:rPr>
              <a:t>kỳ</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ổn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định</a:t>
            </a:r>
            <a:endParaRPr lang="en-US" dirty="0"/>
          </a:p>
        </p:txBody>
      </p:sp>
      <p:sp>
        <p:nvSpPr>
          <p:cNvPr id="14" name="Shape 9">
            <a:extLst>
              <a:ext uri="{FF2B5EF4-FFF2-40B4-BE49-F238E27FC236}">
                <a16:creationId xmlns:a16="http://schemas.microsoft.com/office/drawing/2014/main" id="{2B1EC4FC-07AF-B3AF-6EF4-3C528B4B7505}"/>
              </a:ext>
            </a:extLst>
          </p:cNvPr>
          <p:cNvSpPr/>
          <p:nvPr/>
        </p:nvSpPr>
        <p:spPr>
          <a:xfrm>
            <a:off x="6302415" y="3609156"/>
            <a:ext cx="5577840" cy="1188720"/>
          </a:xfrm>
          <a:prstGeom prst="rect">
            <a:avLst/>
          </a:prstGeom>
          <a:solidFill>
            <a:srgbClr val="3D2A00"/>
          </a:solidFill>
          <a:ln w="12700">
            <a:solidFill>
              <a:srgbClr val="0077B6"/>
            </a:solidFill>
            <a:prstDash val="solid"/>
          </a:ln>
        </p:spPr>
      </p:sp>
      <p:sp>
        <p:nvSpPr>
          <p:cNvPr id="15" name="Text 10">
            <a:extLst>
              <a:ext uri="{FF2B5EF4-FFF2-40B4-BE49-F238E27FC236}">
                <a16:creationId xmlns:a16="http://schemas.microsoft.com/office/drawing/2014/main" id="{A113BDCB-444D-564A-E6B2-66CB99A16B14}"/>
              </a:ext>
            </a:extLst>
          </p:cNvPr>
          <p:cNvSpPr/>
          <p:nvPr/>
        </p:nvSpPr>
        <p:spPr>
          <a:xfrm>
            <a:off x="6393855" y="3747872"/>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rãnh trong (IR)</a:t>
            </a:r>
            <a:endParaRPr lang="en-US" dirty="0"/>
          </a:p>
        </p:txBody>
      </p:sp>
      <p:sp>
        <p:nvSpPr>
          <p:cNvPr id="16" name="Text 11">
            <a:extLst>
              <a:ext uri="{FF2B5EF4-FFF2-40B4-BE49-F238E27FC236}">
                <a16:creationId xmlns:a16="http://schemas.microsoft.com/office/drawing/2014/main" id="{DB45BE24-4139-1FD0-7B9A-120D16862BDC}"/>
              </a:ext>
            </a:extLst>
          </p:cNvPr>
          <p:cNvSpPr/>
          <p:nvPr/>
        </p:nvSpPr>
        <p:spPr>
          <a:xfrm>
            <a:off x="6393855" y="4098360"/>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Vết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nứt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trong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đương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lẵn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rãnh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trong</a:t>
            </a:r>
            <a:r>
              <a:rPr lang="en-US" dirty="0">
                <a:solidFill>
                  <a:srgbClr val="E8F4FD"/>
                </a:solidFill>
                <a:latin typeface="Calibri" pitchFamily="34" charset="0"/>
                <a:ea typeface="Calibri" pitchFamily="34" charset="-122"/>
                <a:cs typeface="Calibri" pitchFamily="34" charset="-120"/>
              </a:rPr>
              <a:t> quay </a:t>
            </a:r>
            <a:r>
              <a:rPr lang="en-US" dirty="0" err="1">
                <a:solidFill>
                  <a:srgbClr val="E8F4FD"/>
                </a:solidFill>
                <a:latin typeface="Calibri" pitchFamily="34" charset="0"/>
                <a:ea typeface="Calibri" pitchFamily="34" charset="-122"/>
                <a:cs typeface="Calibri" pitchFamily="34" charset="-120"/>
              </a:rPr>
              <a:t>cùng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trục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Xung</a:t>
            </a:r>
            <a:r>
              <a:rPr lang="en-US" dirty="0">
                <a:solidFill>
                  <a:srgbClr val="E8F4FD"/>
                </a:solidFill>
                <a:latin typeface="Calibri" pitchFamily="34" charset="0"/>
                <a:ea typeface="Calibri" pitchFamily="34" charset="-122"/>
                <a:cs typeface="Calibri" pitchFamily="34" charset="-120"/>
              </a:rPr>
              <a:t> bị điều chế biên </a:t>
            </a:r>
            <a:r>
              <a:rPr lang="en-US" dirty="0" err="1">
                <a:solidFill>
                  <a:srgbClr val="E8F4FD"/>
                </a:solidFill>
                <a:latin typeface="Calibri" pitchFamily="34" charset="0"/>
                <a:ea typeface="Calibri" pitchFamily="34" charset="-122"/>
                <a:cs typeface="Calibri" pitchFamily="34" charset="-120"/>
              </a:rPr>
              <a:t>độ</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theo</a:t>
            </a:r>
            <a:r>
              <a:rPr lang="en-US" dirty="0">
                <a:solidFill>
                  <a:srgbClr val="E8F4FD"/>
                </a:solidFill>
                <a:latin typeface="Calibri" pitchFamily="34" charset="0"/>
                <a:ea typeface="Calibri" pitchFamily="34" charset="-122"/>
                <a:cs typeface="Calibri" pitchFamily="34" charset="-120"/>
              </a:rPr>
              <a:t> chu kỳ quay trục.</a:t>
            </a:r>
            <a:endParaRPr lang="en-US" dirty="0"/>
          </a:p>
        </p:txBody>
      </p:sp>
      <p:sp>
        <p:nvSpPr>
          <p:cNvPr id="17" name="Shape 12">
            <a:extLst>
              <a:ext uri="{FF2B5EF4-FFF2-40B4-BE49-F238E27FC236}">
                <a16:creationId xmlns:a16="http://schemas.microsoft.com/office/drawing/2014/main" id="{C840DC34-EC67-C819-4600-476BDB8CDAFA}"/>
              </a:ext>
            </a:extLst>
          </p:cNvPr>
          <p:cNvSpPr/>
          <p:nvPr/>
        </p:nvSpPr>
        <p:spPr>
          <a:xfrm>
            <a:off x="6302415" y="4938933"/>
            <a:ext cx="5577840" cy="1188720"/>
          </a:xfrm>
          <a:prstGeom prst="rect">
            <a:avLst/>
          </a:prstGeom>
          <a:solidFill>
            <a:srgbClr val="3D0A1A"/>
          </a:solidFill>
          <a:ln w="12700">
            <a:solidFill>
              <a:srgbClr val="0077B6"/>
            </a:solidFill>
            <a:prstDash val="solid"/>
          </a:ln>
        </p:spPr>
      </p:sp>
      <p:sp>
        <p:nvSpPr>
          <p:cNvPr id="18" name="Text 13">
            <a:extLst>
              <a:ext uri="{FF2B5EF4-FFF2-40B4-BE49-F238E27FC236}">
                <a16:creationId xmlns:a16="http://schemas.microsoft.com/office/drawing/2014/main" id="{637877E2-70B4-DE72-9D19-7624BE35B5F4}"/>
              </a:ext>
            </a:extLst>
          </p:cNvPr>
          <p:cNvSpPr/>
          <p:nvPr/>
        </p:nvSpPr>
        <p:spPr>
          <a:xfrm>
            <a:off x="6393855" y="5033072"/>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viên bi (Ball)</a:t>
            </a:r>
            <a:endParaRPr lang="en-US" dirty="0"/>
          </a:p>
        </p:txBody>
      </p:sp>
      <p:sp>
        <p:nvSpPr>
          <p:cNvPr id="19" name="Text 14">
            <a:extLst>
              <a:ext uri="{FF2B5EF4-FFF2-40B4-BE49-F238E27FC236}">
                <a16:creationId xmlns:a16="http://schemas.microsoft.com/office/drawing/2014/main" id="{C0EB2737-5D04-C021-04FE-F659C372478D}"/>
              </a:ext>
            </a:extLst>
          </p:cNvPr>
          <p:cNvSpPr/>
          <p:nvPr/>
        </p:nvSpPr>
        <p:spPr>
          <a:xfrm>
            <a:off x="6393855" y="5439248"/>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Khuyết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tật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bề</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mặt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viên</a:t>
            </a:r>
            <a:r>
              <a:rPr lang="en-US" dirty="0">
                <a:solidFill>
                  <a:srgbClr val="E8F4FD"/>
                </a:solidFill>
                <a:latin typeface="Calibri" pitchFamily="34" charset="0"/>
                <a:ea typeface="Calibri" pitchFamily="34" charset="-122"/>
                <a:cs typeface="Calibri" pitchFamily="34" charset="-120"/>
              </a:rPr>
              <a:t> bi. Va đập đa hướng, phức tạp, khó nhận biết nhất.</a:t>
            </a:r>
            <a:endParaRPr lang="en-US" dirty="0"/>
          </a:p>
        </p:txBody>
      </p:sp>
      <p:pic>
        <p:nvPicPr>
          <p:cNvPr id="22" name="Picture 21">
            <a:extLst>
              <a:ext uri="{FF2B5EF4-FFF2-40B4-BE49-F238E27FC236}">
                <a16:creationId xmlns:a16="http://schemas.microsoft.com/office/drawing/2014/main" id="{B9DF1223-4D0A-ECC8-167D-8AFD632B1B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0345" y="1234083"/>
            <a:ext cx="4897417" cy="4526400"/>
          </a:xfrm>
          <a:prstGeom prst="rect">
            <a:avLst/>
          </a:prstGeom>
        </p:spPr>
      </p:pic>
    </p:spTree>
    <p:extLst>
      <p:ext uri="{BB962C8B-B14F-4D97-AF65-F5344CB8AC3E}">
        <p14:creationId xmlns:p14="http://schemas.microsoft.com/office/powerpoint/2010/main" val="42843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CDCA-26D1-DE31-7955-F13FF981A1DC}"/>
              </a:ext>
            </a:extLst>
          </p:cNvPr>
          <p:cNvSpPr>
            <a:spLocks noGrp="1"/>
          </p:cNvSpPr>
          <p:nvPr>
            <p:ph type="title"/>
          </p:nvPr>
        </p:nvSpPr>
        <p:spPr/>
        <p:txBody>
          <a:bodyPr/>
          <a:lstStyle/>
          <a:p>
            <a:r>
              <a:rPr lang="en-US" dirty="0" err="1"/>
              <a:t>Tần</a:t>
            </a:r>
            <a:r>
              <a:rPr lang="en-US" dirty="0"/>
              <a:t> </a:t>
            </a:r>
            <a:r>
              <a:rPr lang="en-US" dirty="0" err="1"/>
              <a:t>số</a:t>
            </a:r>
            <a:r>
              <a:rPr lang="en-US" dirty="0"/>
              <a:t> </a:t>
            </a:r>
            <a:r>
              <a:rPr lang="en-US" dirty="0" err="1"/>
              <a:t>hư</a:t>
            </a:r>
            <a:r>
              <a:rPr lang="en-US" dirty="0"/>
              <a:t> </a:t>
            </a:r>
            <a:r>
              <a:rPr lang="en-US" dirty="0" err="1"/>
              <a:t>hỏng</a:t>
            </a:r>
            <a:r>
              <a:rPr lang="en-US" dirty="0"/>
              <a:t> </a:t>
            </a:r>
            <a:r>
              <a:rPr lang="en-US" dirty="0" err="1"/>
              <a:t>đặc</a:t>
            </a:r>
            <a:r>
              <a:rPr lang="en-US" dirty="0"/>
              <a:t> </a:t>
            </a:r>
            <a:r>
              <a:rPr lang="en-US" dirty="0" err="1"/>
              <a:t>trưng</a:t>
            </a:r>
            <a:endParaRPr lang="en-US" dirty="0"/>
          </a:p>
        </p:txBody>
      </p:sp>
      <p:sp>
        <p:nvSpPr>
          <p:cNvPr id="4" name="Slide Number Placeholder 3">
            <a:extLst>
              <a:ext uri="{FF2B5EF4-FFF2-40B4-BE49-F238E27FC236}">
                <a16:creationId xmlns:a16="http://schemas.microsoft.com/office/drawing/2014/main" id="{F830FB4F-C0E4-5A49-AA97-BCAA527E88FD}"/>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5" name="Shape KeyBox">
            <a:extLst>
              <a:ext uri="{FF2B5EF4-FFF2-40B4-BE49-F238E27FC236}">
                <a16:creationId xmlns:a16="http://schemas.microsoft.com/office/drawing/2014/main" id="{DE16377C-F56D-E2E6-3C62-6A091D3AC95C}"/>
              </a:ext>
            </a:extLst>
          </p:cNvPr>
          <p:cNvSpPr/>
          <p:nvPr/>
        </p:nvSpPr>
        <p:spPr>
          <a:xfrm>
            <a:off x="338735" y="985886"/>
            <a:ext cx="11560976" cy="726176"/>
          </a:xfrm>
          <a:prstGeom prst="rect">
            <a:avLst/>
          </a:prstGeom>
          <a:solidFill>
            <a:schemeClr val="bg1"/>
          </a:solidFill>
          <a:ln w="19050">
            <a:noFill/>
            <a:prstDash val="solid"/>
          </a:ln>
        </p:spPr>
      </p:sp>
      <p:sp>
        <p:nvSpPr>
          <p:cNvPr id="6" name="Text Key">
            <a:extLst>
              <a:ext uri="{FF2B5EF4-FFF2-40B4-BE49-F238E27FC236}">
                <a16:creationId xmlns:a16="http://schemas.microsoft.com/office/drawing/2014/main" id="{DB149966-C3A8-7D2C-5E22-29696C3BA77D}"/>
              </a:ext>
            </a:extLst>
          </p:cNvPr>
          <p:cNvSpPr/>
          <p:nvPr/>
        </p:nvSpPr>
        <p:spPr>
          <a:xfrm>
            <a:off x="407564" y="1130925"/>
            <a:ext cx="11445699" cy="436098"/>
          </a:xfrm>
          <a:prstGeom prst="rect">
            <a:avLst/>
          </a:prstGeom>
          <a:noFill/>
          <a:ln/>
        </p:spPr>
        <p:txBody>
          <a:bodyPr wrap="square" rtlCol="0" anchor="ctr"/>
          <a:lstStyle/>
          <a:p>
            <a:pPr marL="0" indent="0">
              <a:buNone/>
            </a:pPr>
            <a:r>
              <a:rPr lang="en-US" b="1" dirty="0">
                <a:solidFill>
                  <a:srgbClr val="00B4D8"/>
                </a:solidFill>
                <a:latin typeface="Calibri" pitchFamily="34" charset="0"/>
              </a:rPr>
              <a:t>Ý CHÍNH: </a:t>
            </a:r>
            <a:r>
              <a:rPr lang="en-US" dirty="0" err="1">
                <a:latin typeface="Calibri" pitchFamily="34" charset="0"/>
              </a:rPr>
              <a:t>Mỗi</a:t>
            </a:r>
            <a:r>
              <a:rPr lang="en-US" dirty="0">
                <a:latin typeface="Calibri" pitchFamily="34" charset="0"/>
              </a:rPr>
              <a:t> </a:t>
            </a:r>
            <a:r>
              <a:rPr lang="en-US" dirty="0" err="1">
                <a:latin typeface="Calibri" pitchFamily="34" charset="0"/>
              </a:rPr>
              <a:t>dạng</a:t>
            </a:r>
            <a:r>
              <a:rPr lang="en-US" dirty="0">
                <a:latin typeface="Calibri" pitchFamily="34" charset="0"/>
              </a:rPr>
              <a:t> </a:t>
            </a:r>
            <a:r>
              <a:rPr lang="en-US" dirty="0" err="1">
                <a:latin typeface="Calibri" pitchFamily="34" charset="0"/>
              </a:rPr>
              <a:t>khuyết</a:t>
            </a:r>
            <a:r>
              <a:rPr lang="en-US" dirty="0">
                <a:latin typeface="Calibri" pitchFamily="34" charset="0"/>
              </a:rPr>
              <a:t> </a:t>
            </a:r>
            <a:r>
              <a:rPr lang="en-US" dirty="0" err="1">
                <a:latin typeface="Calibri" pitchFamily="34" charset="0"/>
              </a:rPr>
              <a:t>tật</a:t>
            </a:r>
            <a:r>
              <a:rPr lang="en-US" dirty="0">
                <a:latin typeface="Calibri" pitchFamily="34" charset="0"/>
              </a:rPr>
              <a:t> </a:t>
            </a:r>
            <a:r>
              <a:rPr lang="en-US" dirty="0" err="1">
                <a:latin typeface="Calibri" pitchFamily="34" charset="0"/>
              </a:rPr>
              <a:t>ứng</a:t>
            </a:r>
            <a:r>
              <a:rPr lang="en-US" dirty="0">
                <a:latin typeface="Calibri" pitchFamily="34" charset="0"/>
              </a:rPr>
              <a:t> </a:t>
            </a:r>
            <a:r>
              <a:rPr lang="en-US" dirty="0" err="1">
                <a:latin typeface="Calibri" pitchFamily="34" charset="0"/>
              </a:rPr>
              <a:t>với</a:t>
            </a:r>
            <a:r>
              <a:rPr lang="en-US" dirty="0">
                <a:latin typeface="Calibri" pitchFamily="34" charset="0"/>
              </a:rPr>
              <a:t> </a:t>
            </a:r>
            <a:r>
              <a:rPr lang="en-US" dirty="0" err="1">
                <a:latin typeface="Calibri" pitchFamily="34" charset="0"/>
              </a:rPr>
              <a:t>một</a:t>
            </a:r>
            <a:r>
              <a:rPr lang="en-US" dirty="0">
                <a:latin typeface="Calibri" pitchFamily="34" charset="0"/>
              </a:rPr>
              <a:t> </a:t>
            </a:r>
            <a:r>
              <a:rPr lang="en-US" dirty="0" err="1">
                <a:latin typeface="Calibri" pitchFamily="34" charset="0"/>
              </a:rPr>
              <a:t>tần</a:t>
            </a:r>
            <a:r>
              <a:rPr lang="en-US" dirty="0">
                <a:latin typeface="Calibri" pitchFamily="34" charset="0"/>
              </a:rPr>
              <a:t> </a:t>
            </a:r>
            <a:r>
              <a:rPr lang="en-US" dirty="0" err="1">
                <a:latin typeface="Calibri" pitchFamily="34" charset="0"/>
              </a:rPr>
              <a:t>số</a:t>
            </a:r>
            <a:r>
              <a:rPr lang="en-US" dirty="0">
                <a:latin typeface="Calibri" pitchFamily="34" charset="0"/>
              </a:rPr>
              <a:t> </a:t>
            </a:r>
            <a:r>
              <a:rPr lang="en-US" dirty="0" err="1">
                <a:latin typeface="Calibri" pitchFamily="34" charset="0"/>
              </a:rPr>
              <a:t>kích</a:t>
            </a:r>
            <a:r>
              <a:rPr lang="en-US" dirty="0">
                <a:latin typeface="Calibri" pitchFamily="34" charset="0"/>
              </a:rPr>
              <a:t> </a:t>
            </a:r>
            <a:r>
              <a:rPr lang="en-US" dirty="0" err="1">
                <a:latin typeface="Calibri" pitchFamily="34" charset="0"/>
              </a:rPr>
              <a:t>thích</a:t>
            </a:r>
            <a:r>
              <a:rPr lang="en-US" dirty="0">
                <a:latin typeface="Calibri" pitchFamily="34" charset="0"/>
              </a:rPr>
              <a:t> </a:t>
            </a:r>
            <a:r>
              <a:rPr lang="en-US" dirty="0" err="1">
                <a:latin typeface="Calibri" pitchFamily="34" charset="0"/>
              </a:rPr>
              <a:t>riêng</a:t>
            </a:r>
            <a:r>
              <a:rPr lang="en-US" dirty="0">
                <a:latin typeface="Calibri" pitchFamily="34" charset="0"/>
              </a:rPr>
              <a:t> </a:t>
            </a:r>
            <a:r>
              <a:rPr lang="en-US" dirty="0" err="1">
                <a:latin typeface="Calibri" pitchFamily="34" charset="0"/>
              </a:rPr>
              <a:t>biệt</a:t>
            </a:r>
            <a:r>
              <a:rPr lang="en-US" dirty="0">
                <a:latin typeface="Calibri" pitchFamily="34" charset="0"/>
              </a:rPr>
              <a:t>, </a:t>
            </a:r>
            <a:r>
              <a:rPr lang="en-US" b="1" dirty="0" err="1">
                <a:latin typeface="Calibri" pitchFamily="34" charset="0"/>
              </a:rPr>
              <a:t>được</a:t>
            </a:r>
            <a:r>
              <a:rPr lang="en-US" b="1" dirty="0">
                <a:latin typeface="Calibri" pitchFamily="34" charset="0"/>
              </a:rPr>
              <a:t> </a:t>
            </a:r>
            <a:r>
              <a:rPr lang="en-US" b="1" dirty="0" err="1">
                <a:latin typeface="Calibri" pitchFamily="34" charset="0"/>
              </a:rPr>
              <a:t>tính</a:t>
            </a:r>
            <a:r>
              <a:rPr lang="en-US" b="1" dirty="0">
                <a:latin typeface="Calibri" pitchFamily="34" charset="0"/>
              </a:rPr>
              <a:t> </a:t>
            </a:r>
            <a:r>
              <a:rPr lang="en-US" b="1" dirty="0" err="1">
                <a:latin typeface="Calibri" pitchFamily="34" charset="0"/>
              </a:rPr>
              <a:t>toán</a:t>
            </a:r>
            <a:r>
              <a:rPr lang="en-US" b="1" dirty="0">
                <a:latin typeface="Calibri" pitchFamily="34" charset="0"/>
              </a:rPr>
              <a:t> </a:t>
            </a:r>
            <a:r>
              <a:rPr lang="en-US" b="1" dirty="0" err="1">
                <a:latin typeface="Calibri" pitchFamily="34" charset="0"/>
              </a:rPr>
              <a:t>từ</a:t>
            </a:r>
            <a:r>
              <a:rPr lang="en-US" b="1" dirty="0">
                <a:latin typeface="Calibri" pitchFamily="34" charset="0"/>
              </a:rPr>
              <a:t> </a:t>
            </a:r>
            <a:r>
              <a:rPr lang="en-US" b="1" dirty="0" err="1">
                <a:latin typeface="Calibri" pitchFamily="34" charset="0"/>
              </a:rPr>
              <a:t>thông</a:t>
            </a:r>
            <a:r>
              <a:rPr lang="en-US" b="1" dirty="0">
                <a:latin typeface="Calibri" pitchFamily="34" charset="0"/>
              </a:rPr>
              <a:t> </a:t>
            </a:r>
            <a:r>
              <a:rPr lang="en-US" b="1" dirty="0" err="1">
                <a:latin typeface="Calibri" pitchFamily="34" charset="0"/>
              </a:rPr>
              <a:t>số</a:t>
            </a:r>
            <a:r>
              <a:rPr lang="en-US" b="1" dirty="0">
                <a:latin typeface="Calibri" pitchFamily="34" charset="0"/>
              </a:rPr>
              <a:t> </a:t>
            </a:r>
            <a:r>
              <a:rPr lang="en-US" b="1" dirty="0" err="1">
                <a:latin typeface="Calibri" pitchFamily="34" charset="0"/>
              </a:rPr>
              <a:t>hình</a:t>
            </a:r>
            <a:r>
              <a:rPr lang="en-US" b="1" dirty="0">
                <a:latin typeface="Calibri" pitchFamily="34" charset="0"/>
              </a:rPr>
              <a:t> </a:t>
            </a:r>
            <a:r>
              <a:rPr lang="en-US" b="1" dirty="0" err="1">
                <a:latin typeface="Calibri" pitchFamily="34" charset="0"/>
              </a:rPr>
              <a:t>học</a:t>
            </a:r>
            <a:r>
              <a:rPr lang="en-US" b="1" dirty="0">
                <a:latin typeface="Calibri" pitchFamily="34" charset="0"/>
              </a:rPr>
              <a:t> </a:t>
            </a:r>
            <a:r>
              <a:rPr lang="en-US" b="1" dirty="0" err="1">
                <a:latin typeface="Calibri" pitchFamily="34" charset="0"/>
              </a:rPr>
              <a:t>của</a:t>
            </a:r>
            <a:r>
              <a:rPr lang="en-US" b="1" dirty="0">
                <a:latin typeface="Calibri" pitchFamily="34" charset="0"/>
              </a:rPr>
              <a:t> ổ </a:t>
            </a:r>
            <a:r>
              <a:rPr lang="en-US" b="1" dirty="0" err="1">
                <a:latin typeface="Calibri" pitchFamily="34" charset="0"/>
              </a:rPr>
              <a:t>lăn</a:t>
            </a:r>
            <a:r>
              <a:rPr lang="en-US" dirty="0">
                <a:latin typeface="Calibri" pitchFamily="34" charset="0"/>
              </a:rPr>
              <a:t> — </a:t>
            </a:r>
            <a:r>
              <a:rPr lang="en-US" dirty="0" err="1">
                <a:latin typeface="Calibri" pitchFamily="34" charset="0"/>
              </a:rPr>
              <a:t>đây</a:t>
            </a:r>
            <a:r>
              <a:rPr lang="en-US" dirty="0">
                <a:latin typeface="Calibri" pitchFamily="34" charset="0"/>
              </a:rPr>
              <a:t> </a:t>
            </a:r>
            <a:r>
              <a:rPr lang="en-US" dirty="0" err="1">
                <a:latin typeface="Calibri" pitchFamily="34" charset="0"/>
              </a:rPr>
              <a:t>chính</a:t>
            </a:r>
            <a:r>
              <a:rPr lang="en-US" dirty="0">
                <a:latin typeface="Calibri" pitchFamily="34" charset="0"/>
              </a:rPr>
              <a:t> </a:t>
            </a:r>
            <a:r>
              <a:rPr lang="en-US" dirty="0" err="1">
                <a:latin typeface="Calibri" pitchFamily="34" charset="0"/>
              </a:rPr>
              <a:t>là</a:t>
            </a:r>
            <a:r>
              <a:rPr lang="en-US" dirty="0">
                <a:latin typeface="Calibri" pitchFamily="34" charset="0"/>
              </a:rPr>
              <a:t> </a:t>
            </a:r>
            <a:r>
              <a:rPr lang="en-US" dirty="0" err="1">
                <a:latin typeface="Calibri" pitchFamily="34" charset="0"/>
              </a:rPr>
              <a:t>dấu</a:t>
            </a:r>
            <a:r>
              <a:rPr lang="en-US" dirty="0">
                <a:latin typeface="Calibri" pitchFamily="34" charset="0"/>
              </a:rPr>
              <a:t> </a:t>
            </a:r>
            <a:r>
              <a:rPr lang="en-US" dirty="0" err="1">
                <a:latin typeface="Calibri" pitchFamily="34" charset="0"/>
              </a:rPr>
              <a:t>hiệu</a:t>
            </a:r>
            <a:r>
              <a:rPr lang="en-US" dirty="0">
                <a:latin typeface="Calibri" pitchFamily="34" charset="0"/>
              </a:rPr>
              <a:t> </a:t>
            </a:r>
            <a:r>
              <a:rPr lang="en-US" dirty="0" err="1">
                <a:latin typeface="Calibri" pitchFamily="34" charset="0"/>
              </a:rPr>
              <a:t>để</a:t>
            </a:r>
            <a:r>
              <a:rPr lang="en-US" dirty="0">
                <a:latin typeface="Calibri" pitchFamily="34" charset="0"/>
              </a:rPr>
              <a:t> </a:t>
            </a:r>
            <a:r>
              <a:rPr lang="en-US" dirty="0" err="1">
                <a:latin typeface="Calibri" pitchFamily="34" charset="0"/>
              </a:rPr>
              <a:t>nhận</a:t>
            </a:r>
            <a:r>
              <a:rPr lang="en-US" dirty="0">
                <a:latin typeface="Calibri" pitchFamily="34" charset="0"/>
              </a:rPr>
              <a:t> </a:t>
            </a:r>
            <a:r>
              <a:rPr lang="en-US" dirty="0" err="1">
                <a:latin typeface="Calibri" pitchFamily="34" charset="0"/>
              </a:rPr>
              <a:t>diện</a:t>
            </a:r>
            <a:r>
              <a:rPr lang="en-US" dirty="0">
                <a:latin typeface="Calibri" pitchFamily="34" charset="0"/>
              </a:rPr>
              <a:t> </a:t>
            </a:r>
            <a:r>
              <a:rPr lang="en-US" dirty="0" err="1">
                <a:latin typeface="Calibri" pitchFamily="34" charset="0"/>
              </a:rPr>
              <a:t>và</a:t>
            </a:r>
            <a:r>
              <a:rPr lang="en-US" dirty="0">
                <a:latin typeface="Calibri" pitchFamily="34" charset="0"/>
              </a:rPr>
              <a:t> </a:t>
            </a:r>
            <a:r>
              <a:rPr lang="en-US" dirty="0" err="1">
                <a:latin typeface="Calibri" pitchFamily="34" charset="0"/>
              </a:rPr>
              <a:t>xác</a:t>
            </a:r>
            <a:r>
              <a:rPr lang="en-US" dirty="0">
                <a:latin typeface="Calibri" pitchFamily="34" charset="0"/>
              </a:rPr>
              <a:t> </a:t>
            </a:r>
            <a:r>
              <a:rPr lang="en-US" dirty="0" err="1">
                <a:latin typeface="Calibri" pitchFamily="34" charset="0"/>
              </a:rPr>
              <a:t>định</a:t>
            </a:r>
            <a:r>
              <a:rPr lang="en-US" dirty="0">
                <a:latin typeface="Calibri" pitchFamily="34" charset="0"/>
              </a:rPr>
              <a:t> </a:t>
            </a:r>
            <a:r>
              <a:rPr lang="en-US" dirty="0" err="1">
                <a:latin typeface="Calibri" pitchFamily="34" charset="0"/>
              </a:rPr>
              <a:t>loại</a:t>
            </a:r>
            <a:r>
              <a:rPr lang="en-US" dirty="0">
                <a:latin typeface="Calibri" pitchFamily="34" charset="0"/>
              </a:rPr>
              <a:t> </a:t>
            </a:r>
            <a:r>
              <a:rPr lang="en-US" dirty="0" err="1">
                <a:latin typeface="Calibri" pitchFamily="34" charset="0"/>
              </a:rPr>
              <a:t>hư</a:t>
            </a:r>
            <a:r>
              <a:rPr lang="en-US" dirty="0">
                <a:latin typeface="Calibri" pitchFamily="34" charset="0"/>
              </a:rPr>
              <a:t> </a:t>
            </a:r>
            <a:r>
              <a:rPr lang="en-US" dirty="0" err="1">
                <a:latin typeface="Calibri" pitchFamily="34" charset="0"/>
              </a:rPr>
              <a:t>hỏng</a:t>
            </a:r>
            <a:r>
              <a:rPr lang="en-US" dirty="0">
                <a:latin typeface="Calibri" pitchFamily="34" charset="0"/>
              </a:rPr>
              <a:t>.</a:t>
            </a:r>
          </a:p>
        </p:txBody>
      </p:sp>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E8796D80-6B10-FE70-4D67-DE6569B027C2}"/>
                  </a:ext>
                </a:extLst>
              </p:cNvPr>
              <p:cNvGraphicFramePr>
                <a:graphicFrameLocks noGrp="1"/>
              </p:cNvGraphicFramePr>
              <p:nvPr>
                <p:extLst>
                  <p:ext uri="{D42A27DB-BD31-4B8C-83A1-F6EECF244321}">
                    <p14:modId xmlns:p14="http://schemas.microsoft.com/office/powerpoint/2010/main" val="4068512884"/>
                  </p:ext>
                </p:extLst>
              </p:nvPr>
            </p:nvGraphicFramePr>
            <p:xfrm>
              <a:off x="1202987" y="2089580"/>
              <a:ext cx="9786026" cy="2853944"/>
            </p:xfrm>
            <a:graphic>
              <a:graphicData uri="http://schemas.openxmlformats.org/drawingml/2006/table">
                <a:tbl>
                  <a:tblPr firstRow="1" bandRow="1">
                    <a:tableStyleId>{5940675A-B579-460E-94D1-54222C63F5DA}</a:tableStyleId>
                  </a:tblPr>
                  <a:tblGrid>
                    <a:gridCol w="2797757">
                      <a:extLst>
                        <a:ext uri="{9D8B030D-6E8A-4147-A177-3AD203B41FA5}">
                          <a16:colId xmlns:a16="http://schemas.microsoft.com/office/drawing/2014/main" val="755063102"/>
                        </a:ext>
                      </a:extLst>
                    </a:gridCol>
                    <a:gridCol w="2659460">
                      <a:extLst>
                        <a:ext uri="{9D8B030D-6E8A-4147-A177-3AD203B41FA5}">
                          <a16:colId xmlns:a16="http://schemas.microsoft.com/office/drawing/2014/main" val="919845592"/>
                        </a:ext>
                      </a:extLst>
                    </a:gridCol>
                    <a:gridCol w="1984443">
                      <a:extLst>
                        <a:ext uri="{9D8B030D-6E8A-4147-A177-3AD203B41FA5}">
                          <a16:colId xmlns:a16="http://schemas.microsoft.com/office/drawing/2014/main" val="1655169045"/>
                        </a:ext>
                      </a:extLst>
                    </a:gridCol>
                    <a:gridCol w="2344366">
                      <a:extLst>
                        <a:ext uri="{9D8B030D-6E8A-4147-A177-3AD203B41FA5}">
                          <a16:colId xmlns:a16="http://schemas.microsoft.com/office/drawing/2014/main" val="2870351229"/>
                        </a:ext>
                      </a:extLst>
                    </a:gridCol>
                  </a:tblGrid>
                  <a:tr h="370840">
                    <a:tc>
                      <a:txBody>
                        <a:bodyPr/>
                        <a:lstStyle/>
                        <a:p>
                          <a:r>
                            <a:rPr lang="en-US" b="1" dirty="0" err="1"/>
                            <a:t>Ký</a:t>
                          </a:r>
                          <a:r>
                            <a:rPr lang="en-US" b="1" dirty="0"/>
                            <a:t> </a:t>
                          </a:r>
                          <a:r>
                            <a:rPr lang="en-US" b="1" dirty="0" err="1"/>
                            <a:t>hiệu</a:t>
                          </a:r>
                          <a:endParaRPr lang="en-US" b="1" dirty="0"/>
                        </a:p>
                      </a:txBody>
                      <a:tcPr anchor="ctr"/>
                    </a:tc>
                    <a:tc>
                      <a:txBody>
                        <a:bodyPr/>
                        <a:lstStyle/>
                        <a:p>
                          <a:pPr algn="ctr"/>
                          <a:r>
                            <a:rPr lang="en-US" b="1" dirty="0"/>
                            <a:t>Công </a:t>
                          </a:r>
                          <a:r>
                            <a:rPr lang="en-US" b="1" dirty="0" err="1"/>
                            <a:t>thức</a:t>
                          </a:r>
                          <a:r>
                            <a:rPr lang="en-US" b="1" dirty="0"/>
                            <a:t> </a:t>
                          </a:r>
                          <a:r>
                            <a:rPr lang="en-US" b="1" dirty="0" err="1"/>
                            <a:t>xác</a:t>
                          </a:r>
                          <a:r>
                            <a:rPr lang="en-US" b="1" dirty="0"/>
                            <a:t> </a:t>
                          </a:r>
                          <a:r>
                            <a:rPr lang="en-US" b="1" dirty="0" err="1"/>
                            <a:t>định</a:t>
                          </a:r>
                          <a:endParaRPr lang="en-US" b="1" dirty="0"/>
                        </a:p>
                      </a:txBody>
                      <a:tcPr anchor="ctr"/>
                    </a:tc>
                    <a:tc>
                      <a:txBody>
                        <a:bodyPr/>
                        <a:lstStyle/>
                        <a:p>
                          <a:pPr algn="ctr"/>
                          <a:r>
                            <a:rPr lang="en-US" b="1" dirty="0" err="1"/>
                            <a:t>Hệ</a:t>
                          </a:r>
                          <a:r>
                            <a:rPr lang="en-US" b="1" dirty="0"/>
                            <a:t> </a:t>
                          </a:r>
                          <a:r>
                            <a:rPr lang="en-US" b="1" dirty="0" err="1"/>
                            <a:t>số</a:t>
                          </a:r>
                          <a:r>
                            <a:rPr lang="en-US" b="1" dirty="0"/>
                            <a:t> </a:t>
                          </a:r>
                          <a:r>
                            <a:rPr lang="en-US" b="1" dirty="0" err="1"/>
                            <a:t>hư</a:t>
                          </a:r>
                          <a:r>
                            <a:rPr lang="en-US" b="1" dirty="0"/>
                            <a:t> </a:t>
                          </a:r>
                          <a:r>
                            <a:rPr lang="en-US" b="1" dirty="0" err="1"/>
                            <a:t>hỏng</a:t>
                          </a:r>
                          <a:r>
                            <a:rPr lang="en-US" b="1" dirty="0"/>
                            <a:t> (</a:t>
                          </a:r>
                          <a:r>
                            <a:rPr lang="en-US" b="1" dirty="0">
                              <a:latin typeface="Calibri" pitchFamily="34" charset="0"/>
                              <a:ea typeface="Calibri" pitchFamily="34" charset="-122"/>
                              <a:cs typeface="Calibri" pitchFamily="34" charset="-120"/>
                            </a:rPr>
                            <a:t>SKF 6205-2RS)</a:t>
                          </a:r>
                          <a:endParaRPr lang="en-US" b="1" dirty="0"/>
                        </a:p>
                      </a:txBody>
                      <a:tcPr anchor="ctr"/>
                    </a:tc>
                    <a:tc>
                      <a:txBody>
                        <a:bodyPr/>
                        <a:lstStyle/>
                        <a:p>
                          <a:pPr algn="ctr"/>
                          <a:r>
                            <a:rPr lang="en-US" b="1" dirty="0"/>
                            <a:t>@1797 RPM (0 HP)</a:t>
                          </a:r>
                        </a:p>
                      </a:txBody>
                      <a:tcPr anchor="ctr"/>
                    </a:tc>
                    <a:extLst>
                      <a:ext uri="{0D108BD9-81ED-4DB2-BD59-A6C34878D82A}">
                        <a16:rowId xmlns:a16="http://schemas.microsoft.com/office/drawing/2014/main" val="2632798780"/>
                      </a:ext>
                    </a:extLst>
                  </a:tr>
                  <a:tr h="370840">
                    <a:tc>
                      <a:txBody>
                        <a:bodyPr/>
                        <a:lstStyle/>
                        <a:p>
                          <a:pPr marL="0" indent="0">
                            <a:buNone/>
                          </a:pPr>
                          <a:r>
                            <a:rPr lang="en-US" sz="1800" b="1" dirty="0">
                              <a:solidFill>
                                <a:schemeClr val="tx1"/>
                              </a:solidFill>
                              <a:latin typeface="Calibri" pitchFamily="34" charset="0"/>
                            </a:rPr>
                            <a:t>BPFO</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3.585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EF476F"/>
                              </a:solidFill>
                              <a:latin typeface="Calibri" pitchFamily="34" charset="0"/>
                            </a:rPr>
                            <a:t>≈ 107 Hz</a:t>
                          </a:r>
                        </a:p>
                      </a:txBody>
                      <a:tcPr anchor="ctr"/>
                    </a:tc>
                    <a:extLst>
                      <a:ext uri="{0D108BD9-81ED-4DB2-BD59-A6C34878D82A}">
                        <a16:rowId xmlns:a16="http://schemas.microsoft.com/office/drawing/2014/main" val="1905425267"/>
                      </a:ext>
                    </a:extLst>
                  </a:tr>
                  <a:tr h="370840">
                    <a:tc>
                      <a:txBody>
                        <a:bodyPr/>
                        <a:lstStyle/>
                        <a:p>
                          <a:pPr marL="0" indent="0">
                            <a:buNone/>
                          </a:pPr>
                          <a:r>
                            <a:rPr lang="en-US" sz="1800" b="1" dirty="0">
                              <a:solidFill>
                                <a:schemeClr val="tx1"/>
                              </a:solidFill>
                              <a:latin typeface="Calibri" pitchFamily="34" charset="0"/>
                            </a:rPr>
                            <a:t>BPFI</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trong</a:t>
                          </a:r>
                          <a:endParaRPr lang="en-US" sz="1200" i="1" dirty="0">
                            <a:solidFill>
                              <a:schemeClr val="tx1"/>
                            </a:solidFill>
                            <a:latin typeface="Calibri"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5.415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B4D8"/>
                              </a:solidFill>
                              <a:latin typeface="Calibri" pitchFamily="34" charset="0"/>
                            </a:rPr>
                            <a:t>≈ 162 Hz</a:t>
                          </a:r>
                        </a:p>
                      </a:txBody>
                      <a:tcPr anchor="ctr"/>
                    </a:tc>
                    <a:extLst>
                      <a:ext uri="{0D108BD9-81ED-4DB2-BD59-A6C34878D82A}">
                        <a16:rowId xmlns:a16="http://schemas.microsoft.com/office/drawing/2014/main" val="4108585213"/>
                      </a:ext>
                    </a:extLst>
                  </a:tr>
                  <a:tr h="370840">
                    <a:tc>
                      <a:txBody>
                        <a:bodyPr/>
                        <a:lstStyle/>
                        <a:p>
                          <a:pPr marL="0" indent="0">
                            <a:buNone/>
                          </a:pPr>
                          <a:r>
                            <a:rPr lang="en-US" sz="1800" b="1" dirty="0">
                              <a:solidFill>
                                <a:schemeClr val="tx1"/>
                              </a:solidFill>
                              <a:latin typeface="Calibri" pitchFamily="34" charset="0"/>
                            </a:rPr>
                            <a:t>BFS</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𝑑</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r>
                                      <a:rPr lang="en-US" sz="1600" b="0" i="1" smtClean="0">
                                        <a:latin typeface="Cambria Math" panose="02040503050406030204" pitchFamily="18" charset="0"/>
                                      </a:rPr>
                                      <m:t>𝐷</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e>
                                  <m:sup>
                                    <m:r>
                                      <a:rPr lang="en-US" sz="1600" b="0" i="1" smtClean="0">
                                        <a:latin typeface="Cambria Math" panose="02040503050406030204" pitchFamily="18" charset="0"/>
                                        <a:ea typeface="Cambria Math" panose="02040503050406030204" pitchFamily="18" charset="0"/>
                                      </a:rPr>
                                      <m:t>2</m:t>
                                    </m:r>
                                  </m:sup>
                                </m:sSup>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2.357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D166"/>
                              </a:solidFill>
                              <a:latin typeface="Calibri" pitchFamily="34" charset="0"/>
                            </a:rPr>
                            <a:t>≈ 70.6 Hz</a:t>
                          </a:r>
                        </a:p>
                      </a:txBody>
                      <a:tcPr anchor="ctr"/>
                    </a:tc>
                    <a:extLst>
                      <a:ext uri="{0D108BD9-81ED-4DB2-BD59-A6C34878D82A}">
                        <a16:rowId xmlns:a16="http://schemas.microsoft.com/office/drawing/2014/main" val="79463702"/>
                      </a:ext>
                    </a:extLst>
                  </a:tr>
                  <a:tr h="370840">
                    <a:tc>
                      <a:txBody>
                        <a:bodyPr/>
                        <a:lstStyle/>
                        <a:p>
                          <a:r>
                            <a:rPr lang="en-US" b="1" dirty="0"/>
                            <a:t>FTF</a:t>
                          </a:r>
                        </a:p>
                        <a:p>
                          <a:r>
                            <a:rPr lang="en-US" sz="1200" b="0" i="1" dirty="0" err="1"/>
                            <a:t>Tần</a:t>
                          </a:r>
                          <a:r>
                            <a:rPr lang="en-US" sz="1200" b="0" i="1" dirty="0"/>
                            <a:t> </a:t>
                          </a:r>
                          <a:r>
                            <a:rPr lang="en-US" sz="1200" b="0" i="1" dirty="0" err="1"/>
                            <a:t>số</a:t>
                          </a:r>
                          <a:r>
                            <a:rPr lang="en-US" sz="1200" b="0" i="1" dirty="0"/>
                            <a:t> quay </a:t>
                          </a:r>
                          <a:r>
                            <a:rPr lang="en-US" sz="1200" b="0" i="1" dirty="0" err="1"/>
                            <a:t>vòng</a:t>
                          </a:r>
                          <a:r>
                            <a:rPr lang="en-US" sz="1200" b="0" i="1" dirty="0"/>
                            <a:t> </a:t>
                          </a:r>
                          <a:r>
                            <a:rPr lang="en-US" sz="1200" b="0" i="1" dirty="0" err="1"/>
                            <a:t>cách</a:t>
                          </a:r>
                          <a:endParaRPr lang="en-US" sz="1200" b="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algn="ctr"/>
                          <a:r>
                            <a:rPr lang="en-US" sz="1800" dirty="0">
                              <a:solidFill>
                                <a:schemeClr val="tx1"/>
                              </a:solidFill>
                              <a:latin typeface="Calibri" pitchFamily="34" charset="0"/>
                            </a:rPr>
                            <a:t>0.398</a:t>
                          </a:r>
                          <a:endParaRPr lang="en-US"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8BAFC7"/>
                              </a:solidFill>
                              <a:latin typeface="Calibri" pitchFamily="34" charset="0"/>
                            </a:rPr>
                            <a:t>≈ 12 Hz</a:t>
                          </a:r>
                        </a:p>
                      </a:txBody>
                      <a:tcPr anchor="ctr"/>
                    </a:tc>
                    <a:extLst>
                      <a:ext uri="{0D108BD9-81ED-4DB2-BD59-A6C34878D82A}">
                        <a16:rowId xmlns:a16="http://schemas.microsoft.com/office/drawing/2014/main" val="17107518"/>
                      </a:ext>
                    </a:extLst>
                  </a:tr>
                </a:tbl>
              </a:graphicData>
            </a:graphic>
          </p:graphicFrame>
        </mc:Choice>
        <mc:Fallback xmlns="">
          <p:graphicFrame>
            <p:nvGraphicFramePr>
              <p:cNvPr id="36" name="Table 35">
                <a:extLst>
                  <a:ext uri="{FF2B5EF4-FFF2-40B4-BE49-F238E27FC236}">
                    <a16:creationId xmlns:a16="http://schemas.microsoft.com/office/drawing/2014/main" id="{E8796D80-6B10-FE70-4D67-DE6569B027C2}"/>
                  </a:ext>
                </a:extLst>
              </p:cNvPr>
              <p:cNvGraphicFramePr>
                <a:graphicFrameLocks noGrp="1"/>
              </p:cNvGraphicFramePr>
              <p:nvPr>
                <p:extLst>
                  <p:ext uri="{D42A27DB-BD31-4B8C-83A1-F6EECF244321}">
                    <p14:modId xmlns:p14="http://schemas.microsoft.com/office/powerpoint/2010/main" val="4068512884"/>
                  </p:ext>
                </p:extLst>
              </p:nvPr>
            </p:nvGraphicFramePr>
            <p:xfrm>
              <a:off x="1202987" y="2089580"/>
              <a:ext cx="9786026" cy="2853944"/>
            </p:xfrm>
            <a:graphic>
              <a:graphicData uri="http://schemas.openxmlformats.org/drawingml/2006/table">
                <a:tbl>
                  <a:tblPr firstRow="1" bandRow="1">
                    <a:tableStyleId>{5940675A-B579-460E-94D1-54222C63F5DA}</a:tableStyleId>
                  </a:tblPr>
                  <a:tblGrid>
                    <a:gridCol w="2797757">
                      <a:extLst>
                        <a:ext uri="{9D8B030D-6E8A-4147-A177-3AD203B41FA5}">
                          <a16:colId xmlns:a16="http://schemas.microsoft.com/office/drawing/2014/main" val="755063102"/>
                        </a:ext>
                      </a:extLst>
                    </a:gridCol>
                    <a:gridCol w="2659460">
                      <a:extLst>
                        <a:ext uri="{9D8B030D-6E8A-4147-A177-3AD203B41FA5}">
                          <a16:colId xmlns:a16="http://schemas.microsoft.com/office/drawing/2014/main" val="919845592"/>
                        </a:ext>
                      </a:extLst>
                    </a:gridCol>
                    <a:gridCol w="1984443">
                      <a:extLst>
                        <a:ext uri="{9D8B030D-6E8A-4147-A177-3AD203B41FA5}">
                          <a16:colId xmlns:a16="http://schemas.microsoft.com/office/drawing/2014/main" val="1655169045"/>
                        </a:ext>
                      </a:extLst>
                    </a:gridCol>
                    <a:gridCol w="2344366">
                      <a:extLst>
                        <a:ext uri="{9D8B030D-6E8A-4147-A177-3AD203B41FA5}">
                          <a16:colId xmlns:a16="http://schemas.microsoft.com/office/drawing/2014/main" val="2870351229"/>
                        </a:ext>
                      </a:extLst>
                    </a:gridCol>
                  </a:tblGrid>
                  <a:tr h="640080">
                    <a:tc>
                      <a:txBody>
                        <a:bodyPr/>
                        <a:lstStyle/>
                        <a:p>
                          <a:r>
                            <a:rPr lang="en-US" b="1" dirty="0" err="1"/>
                            <a:t>Ký</a:t>
                          </a:r>
                          <a:r>
                            <a:rPr lang="en-US" b="1" dirty="0"/>
                            <a:t> </a:t>
                          </a:r>
                          <a:r>
                            <a:rPr lang="en-US" b="1" dirty="0" err="1"/>
                            <a:t>hiệu</a:t>
                          </a:r>
                          <a:endParaRPr lang="en-US" b="1" dirty="0"/>
                        </a:p>
                      </a:txBody>
                      <a:tcPr anchor="ctr"/>
                    </a:tc>
                    <a:tc>
                      <a:txBody>
                        <a:bodyPr/>
                        <a:lstStyle/>
                        <a:p>
                          <a:pPr algn="ctr"/>
                          <a:r>
                            <a:rPr lang="en-US" b="1" dirty="0"/>
                            <a:t>Công </a:t>
                          </a:r>
                          <a:r>
                            <a:rPr lang="en-US" b="1" dirty="0" err="1"/>
                            <a:t>thức</a:t>
                          </a:r>
                          <a:r>
                            <a:rPr lang="en-US" b="1" dirty="0"/>
                            <a:t> </a:t>
                          </a:r>
                          <a:r>
                            <a:rPr lang="en-US" b="1" dirty="0" err="1"/>
                            <a:t>xác</a:t>
                          </a:r>
                          <a:r>
                            <a:rPr lang="en-US" b="1" dirty="0"/>
                            <a:t> </a:t>
                          </a:r>
                          <a:r>
                            <a:rPr lang="en-US" b="1" dirty="0" err="1"/>
                            <a:t>định</a:t>
                          </a:r>
                          <a:endParaRPr lang="en-US" b="1" dirty="0"/>
                        </a:p>
                      </a:txBody>
                      <a:tcPr anchor="ctr"/>
                    </a:tc>
                    <a:tc>
                      <a:txBody>
                        <a:bodyPr/>
                        <a:lstStyle/>
                        <a:p>
                          <a:pPr algn="ctr"/>
                          <a:r>
                            <a:rPr lang="en-US" b="1" dirty="0" err="1"/>
                            <a:t>Hệ</a:t>
                          </a:r>
                          <a:r>
                            <a:rPr lang="en-US" b="1" dirty="0"/>
                            <a:t> </a:t>
                          </a:r>
                          <a:r>
                            <a:rPr lang="en-US" b="1" dirty="0" err="1"/>
                            <a:t>số</a:t>
                          </a:r>
                          <a:r>
                            <a:rPr lang="en-US" b="1" dirty="0"/>
                            <a:t> </a:t>
                          </a:r>
                          <a:r>
                            <a:rPr lang="en-US" b="1" dirty="0" err="1"/>
                            <a:t>hư</a:t>
                          </a:r>
                          <a:r>
                            <a:rPr lang="en-US" b="1" dirty="0"/>
                            <a:t> </a:t>
                          </a:r>
                          <a:r>
                            <a:rPr lang="en-US" b="1" dirty="0" err="1"/>
                            <a:t>hỏng</a:t>
                          </a:r>
                          <a:r>
                            <a:rPr lang="en-US" b="1" dirty="0"/>
                            <a:t> (</a:t>
                          </a:r>
                          <a:r>
                            <a:rPr lang="en-US" b="1" dirty="0">
                              <a:latin typeface="Calibri" pitchFamily="34" charset="0"/>
                              <a:ea typeface="Calibri" pitchFamily="34" charset="-122"/>
                              <a:cs typeface="Calibri" pitchFamily="34" charset="-120"/>
                            </a:rPr>
                            <a:t>SKF 6205-2RS)</a:t>
                          </a:r>
                          <a:endParaRPr lang="en-US" b="1" dirty="0"/>
                        </a:p>
                      </a:txBody>
                      <a:tcPr anchor="ctr"/>
                    </a:tc>
                    <a:tc>
                      <a:txBody>
                        <a:bodyPr/>
                        <a:lstStyle/>
                        <a:p>
                          <a:pPr algn="ctr"/>
                          <a:r>
                            <a:rPr lang="en-US" b="1" dirty="0"/>
                            <a:t>@1797 RPM (0 HP)</a:t>
                          </a:r>
                        </a:p>
                      </a:txBody>
                      <a:tcPr anchor="ctr"/>
                    </a:tc>
                    <a:extLst>
                      <a:ext uri="{0D108BD9-81ED-4DB2-BD59-A6C34878D82A}">
                        <a16:rowId xmlns:a16="http://schemas.microsoft.com/office/drawing/2014/main" val="2632798780"/>
                      </a:ext>
                    </a:extLst>
                  </a:tr>
                  <a:tr h="553466">
                    <a:tc>
                      <a:txBody>
                        <a:bodyPr/>
                        <a:lstStyle/>
                        <a:p>
                          <a:pPr marL="0" indent="0">
                            <a:buNone/>
                          </a:pPr>
                          <a:r>
                            <a:rPr lang="en-US" sz="1800" b="1" dirty="0">
                              <a:solidFill>
                                <a:schemeClr val="tx1"/>
                              </a:solidFill>
                              <a:latin typeface="Calibri" pitchFamily="34" charset="0"/>
                            </a:rPr>
                            <a:t>BPFO</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120879" r="-162929" b="-3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3.585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EF476F"/>
                              </a:solidFill>
                              <a:latin typeface="Calibri" pitchFamily="34" charset="0"/>
                            </a:rPr>
                            <a:t>≈ 107 Hz</a:t>
                          </a:r>
                        </a:p>
                      </a:txBody>
                      <a:tcPr anchor="ctr"/>
                    </a:tc>
                    <a:extLst>
                      <a:ext uri="{0D108BD9-81ED-4DB2-BD59-A6C34878D82A}">
                        <a16:rowId xmlns:a16="http://schemas.microsoft.com/office/drawing/2014/main" val="1905425267"/>
                      </a:ext>
                    </a:extLst>
                  </a:tr>
                  <a:tr h="553466">
                    <a:tc>
                      <a:txBody>
                        <a:bodyPr/>
                        <a:lstStyle/>
                        <a:p>
                          <a:pPr marL="0" indent="0">
                            <a:buNone/>
                          </a:pPr>
                          <a:r>
                            <a:rPr lang="en-US" sz="1800" b="1" dirty="0">
                              <a:solidFill>
                                <a:schemeClr val="tx1"/>
                              </a:solidFill>
                              <a:latin typeface="Calibri" pitchFamily="34" charset="0"/>
                            </a:rPr>
                            <a:t>BPFI</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trong</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220879" r="-162929" b="-2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5.415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B4D8"/>
                              </a:solidFill>
                              <a:latin typeface="Calibri" pitchFamily="34" charset="0"/>
                            </a:rPr>
                            <a:t>≈ 162 Hz</a:t>
                          </a:r>
                        </a:p>
                      </a:txBody>
                      <a:tcPr anchor="ctr"/>
                    </a:tc>
                    <a:extLst>
                      <a:ext uri="{0D108BD9-81ED-4DB2-BD59-A6C34878D82A}">
                        <a16:rowId xmlns:a16="http://schemas.microsoft.com/office/drawing/2014/main" val="4108585213"/>
                      </a:ext>
                    </a:extLst>
                  </a:tr>
                  <a:tr h="553466">
                    <a:tc>
                      <a:txBody>
                        <a:bodyPr/>
                        <a:lstStyle/>
                        <a:p>
                          <a:pPr marL="0" indent="0">
                            <a:buNone/>
                          </a:pPr>
                          <a:r>
                            <a:rPr lang="en-US" sz="1800" b="1" dirty="0">
                              <a:solidFill>
                                <a:schemeClr val="tx1"/>
                              </a:solidFill>
                              <a:latin typeface="Calibri" pitchFamily="34" charset="0"/>
                            </a:rPr>
                            <a:t>BFS</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320879" r="-162929" b="-1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2.357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D166"/>
                              </a:solidFill>
                              <a:latin typeface="Calibri" pitchFamily="34" charset="0"/>
                            </a:rPr>
                            <a:t>≈ 70.6 Hz</a:t>
                          </a:r>
                        </a:p>
                      </a:txBody>
                      <a:tcPr anchor="ctr"/>
                    </a:tc>
                    <a:extLst>
                      <a:ext uri="{0D108BD9-81ED-4DB2-BD59-A6C34878D82A}">
                        <a16:rowId xmlns:a16="http://schemas.microsoft.com/office/drawing/2014/main" val="79463702"/>
                      </a:ext>
                    </a:extLst>
                  </a:tr>
                  <a:tr h="553466">
                    <a:tc>
                      <a:txBody>
                        <a:bodyPr/>
                        <a:lstStyle/>
                        <a:p>
                          <a:r>
                            <a:rPr lang="en-US" b="1" dirty="0"/>
                            <a:t>FTF</a:t>
                          </a:r>
                        </a:p>
                        <a:p>
                          <a:r>
                            <a:rPr lang="en-US" sz="1200" b="0" i="1" dirty="0" err="1"/>
                            <a:t>Tần</a:t>
                          </a:r>
                          <a:r>
                            <a:rPr lang="en-US" sz="1200" b="0" i="1" dirty="0"/>
                            <a:t> </a:t>
                          </a:r>
                          <a:r>
                            <a:rPr lang="en-US" sz="1200" b="0" i="1" dirty="0" err="1"/>
                            <a:t>số</a:t>
                          </a:r>
                          <a:r>
                            <a:rPr lang="en-US" sz="1200" b="0" i="1" dirty="0"/>
                            <a:t> quay </a:t>
                          </a:r>
                          <a:r>
                            <a:rPr lang="en-US" sz="1200" b="0" i="1" dirty="0" err="1"/>
                            <a:t>vòng</a:t>
                          </a:r>
                          <a:r>
                            <a:rPr lang="en-US" sz="1200" b="0" i="1" dirty="0"/>
                            <a:t> </a:t>
                          </a:r>
                          <a:r>
                            <a:rPr lang="en-US" sz="1200" b="0" i="1" dirty="0" err="1"/>
                            <a:t>cách</a:t>
                          </a:r>
                          <a:endParaRPr lang="en-US" sz="1200" b="0" i="1" dirty="0"/>
                        </a:p>
                      </a:txBody>
                      <a:tcPr/>
                    </a:tc>
                    <a:tc>
                      <a:txBody>
                        <a:bodyPr/>
                        <a:lstStyle/>
                        <a:p>
                          <a:endParaRPr lang="en-US"/>
                        </a:p>
                      </a:txBody>
                      <a:tcPr>
                        <a:blipFill>
                          <a:blip r:embed="rId2"/>
                          <a:stretch>
                            <a:fillRect l="-105263" t="-420879" r="-162929" b="-7692"/>
                          </a:stretch>
                        </a:blipFill>
                      </a:tcPr>
                    </a:tc>
                    <a:tc>
                      <a:txBody>
                        <a:bodyPr/>
                        <a:lstStyle/>
                        <a:p>
                          <a:pPr algn="ctr"/>
                          <a:r>
                            <a:rPr lang="en-US" sz="1800" dirty="0">
                              <a:solidFill>
                                <a:schemeClr val="tx1"/>
                              </a:solidFill>
                              <a:latin typeface="Calibri" pitchFamily="34" charset="0"/>
                            </a:rPr>
                            <a:t>0.398</a:t>
                          </a:r>
                          <a:endParaRPr lang="en-US"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8BAFC7"/>
                              </a:solidFill>
                              <a:latin typeface="Calibri" pitchFamily="34" charset="0"/>
                            </a:rPr>
                            <a:t>≈ 12 Hz</a:t>
                          </a:r>
                        </a:p>
                      </a:txBody>
                      <a:tcPr anchor="ctr"/>
                    </a:tc>
                    <a:extLst>
                      <a:ext uri="{0D108BD9-81ED-4DB2-BD59-A6C34878D82A}">
                        <a16:rowId xmlns:a16="http://schemas.microsoft.com/office/drawing/2014/main" val="17107518"/>
                      </a:ext>
                    </a:extLst>
                  </a:tr>
                </a:tbl>
              </a:graphicData>
            </a:graphic>
          </p:graphicFrame>
        </mc:Fallback>
      </mc:AlternateContent>
      <p:sp>
        <p:nvSpPr>
          <p:cNvPr id="38" name="TextBox 37">
            <a:extLst>
              <a:ext uri="{FF2B5EF4-FFF2-40B4-BE49-F238E27FC236}">
                <a16:creationId xmlns:a16="http://schemas.microsoft.com/office/drawing/2014/main" id="{97C7D58F-64B9-79EB-224F-DED7C14E39DA}"/>
              </a:ext>
            </a:extLst>
          </p:cNvPr>
          <p:cNvSpPr txBox="1"/>
          <p:nvPr/>
        </p:nvSpPr>
        <p:spPr>
          <a:xfrm>
            <a:off x="2358588" y="5279536"/>
            <a:ext cx="4680002" cy="923330"/>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Calibri" pitchFamily="34" charset="0"/>
              </a:rPr>
              <a:t>n : </a:t>
            </a:r>
            <a:r>
              <a:rPr lang="en-US" sz="1800" dirty="0" err="1">
                <a:latin typeface="Calibri" pitchFamily="34" charset="0"/>
              </a:rPr>
              <a:t>số</a:t>
            </a:r>
            <a:r>
              <a:rPr lang="en-US" sz="1800" dirty="0">
                <a:latin typeface="Calibri" pitchFamily="34" charset="0"/>
              </a:rPr>
              <a:t> </a:t>
            </a:r>
            <a:r>
              <a:rPr lang="en-US" sz="1800" dirty="0" err="1">
                <a:latin typeface="Calibri" pitchFamily="34" charset="0"/>
              </a:rPr>
              <a:t>vi</a:t>
            </a:r>
            <a:r>
              <a:rPr lang="en-US" dirty="0" err="1">
                <a:latin typeface="Calibri" pitchFamily="34" charset="0"/>
              </a:rPr>
              <a:t>ê</a:t>
            </a:r>
            <a:r>
              <a:rPr lang="en-US" sz="1800" dirty="0" err="1">
                <a:latin typeface="Calibri" pitchFamily="34" charset="0"/>
              </a:rPr>
              <a:t>n</a:t>
            </a:r>
            <a:r>
              <a:rPr lang="en-US" sz="1800" dirty="0">
                <a:latin typeface="Calibri" pitchFamily="34" charset="0"/>
              </a:rPr>
              <a:t> bi  </a:t>
            </a:r>
          </a:p>
          <a:p>
            <a:pPr marL="285750" indent="-285750">
              <a:buFont typeface="Arial" panose="020B0604020202020204" pitchFamily="34" charset="0"/>
              <a:buChar char="•"/>
            </a:pPr>
            <a:r>
              <a:rPr lang="en-US" sz="1800" dirty="0">
                <a:latin typeface="Calibri" pitchFamily="34" charset="0"/>
              </a:rPr>
              <a:t>d : </a:t>
            </a:r>
            <a:r>
              <a:rPr lang="en-US" dirty="0" err="1">
                <a:latin typeface="Calibri" pitchFamily="34" charset="0"/>
              </a:rPr>
              <a:t>đường</a:t>
            </a:r>
            <a:r>
              <a:rPr lang="en-US" sz="1800" dirty="0">
                <a:latin typeface="Calibri" pitchFamily="34" charset="0"/>
              </a:rPr>
              <a:t> </a:t>
            </a:r>
            <a:r>
              <a:rPr lang="en-US" sz="1800" dirty="0" err="1">
                <a:latin typeface="Calibri" pitchFamily="34" charset="0"/>
              </a:rPr>
              <a:t>k</a:t>
            </a:r>
            <a:r>
              <a:rPr lang="en-US" dirty="0" err="1">
                <a:latin typeface="Calibri" pitchFamily="34" charset="0"/>
              </a:rPr>
              <a:t>í</a:t>
            </a:r>
            <a:r>
              <a:rPr lang="en-US" sz="1800" dirty="0" err="1">
                <a:latin typeface="Calibri" pitchFamily="34" charset="0"/>
              </a:rPr>
              <a:t>nh</a:t>
            </a:r>
            <a:r>
              <a:rPr lang="en-US" sz="1800" dirty="0">
                <a:latin typeface="Calibri" pitchFamily="34" charset="0"/>
              </a:rPr>
              <a:t> </a:t>
            </a:r>
            <a:r>
              <a:rPr lang="en-US" sz="1800" dirty="0" err="1">
                <a:latin typeface="Calibri" pitchFamily="34" charset="0"/>
              </a:rPr>
              <a:t>vi</a:t>
            </a:r>
            <a:r>
              <a:rPr lang="en-US" dirty="0" err="1">
                <a:latin typeface="Calibri" pitchFamily="34" charset="0"/>
              </a:rPr>
              <a:t>ê</a:t>
            </a:r>
            <a:r>
              <a:rPr lang="en-US" sz="1800" dirty="0" err="1">
                <a:latin typeface="Calibri" pitchFamily="34" charset="0"/>
              </a:rPr>
              <a:t>n</a:t>
            </a:r>
            <a:r>
              <a:rPr lang="en-US" sz="1800" dirty="0">
                <a:latin typeface="Calibri" pitchFamily="34" charset="0"/>
              </a:rPr>
              <a:t> bi  (mm)</a:t>
            </a:r>
          </a:p>
          <a:p>
            <a:pPr marL="285750" indent="-285750">
              <a:buFont typeface="Arial" panose="020B0604020202020204" pitchFamily="34" charset="0"/>
              <a:buChar char="•"/>
            </a:pPr>
            <a:r>
              <a:rPr lang="en-US" sz="1800" dirty="0">
                <a:latin typeface="Calibri" pitchFamily="34" charset="0"/>
              </a:rPr>
              <a:t>D : </a:t>
            </a:r>
            <a:r>
              <a:rPr lang="en-US" dirty="0" err="1">
                <a:latin typeface="Calibri" pitchFamily="34" charset="0"/>
              </a:rPr>
              <a:t>đường</a:t>
            </a:r>
            <a:r>
              <a:rPr lang="en-US" sz="1800" dirty="0">
                <a:latin typeface="Calibri" pitchFamily="34" charset="0"/>
              </a:rPr>
              <a:t> </a:t>
            </a:r>
            <a:r>
              <a:rPr lang="en-US" sz="1800" dirty="0" err="1">
                <a:latin typeface="Calibri" pitchFamily="34" charset="0"/>
              </a:rPr>
              <a:t>kinh</a:t>
            </a:r>
            <a:r>
              <a:rPr lang="en-US" sz="1800" dirty="0">
                <a:latin typeface="Calibri" pitchFamily="34" charset="0"/>
              </a:rPr>
              <a:t> </a:t>
            </a:r>
            <a:r>
              <a:rPr lang="en-US" sz="1800" dirty="0" err="1">
                <a:latin typeface="Calibri" pitchFamily="34" charset="0"/>
              </a:rPr>
              <a:t>v</a:t>
            </a:r>
            <a:r>
              <a:rPr lang="en-US" dirty="0" err="1">
                <a:latin typeface="Calibri" pitchFamily="34" charset="0"/>
              </a:rPr>
              <a:t>ò</a:t>
            </a:r>
            <a:r>
              <a:rPr lang="en-US" sz="1800" dirty="0" err="1">
                <a:latin typeface="Calibri" pitchFamily="34" charset="0"/>
              </a:rPr>
              <a:t>ng</a:t>
            </a:r>
            <a:r>
              <a:rPr lang="en-US" sz="1800" dirty="0">
                <a:latin typeface="Calibri" pitchFamily="34" charset="0"/>
              </a:rPr>
              <a:t> chia (mm)</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7B97680-750F-78E6-0339-C3A321FD5F75}"/>
                  </a:ext>
                </a:extLst>
              </p:cNvPr>
              <p:cNvSpPr txBox="1"/>
              <p:nvPr/>
            </p:nvSpPr>
            <p:spPr>
              <a:xfrm>
                <a:off x="6567960" y="5279536"/>
                <a:ext cx="4680002" cy="646331"/>
              </a:xfrm>
              <a:prstGeom prst="rect">
                <a:avLst/>
              </a:prstGeom>
              <a:noFill/>
            </p:spPr>
            <p:txBody>
              <a:bodyPr wrap="square">
                <a:spAutoFit/>
              </a:bodyPr>
              <a:lstStyle/>
              <a:p>
                <a:pPr marL="285750" indent="-285750">
                  <a:buFont typeface="Arial" panose="020B0604020202020204" pitchFamily="34" charset="0"/>
                  <a:buChar char="•"/>
                </a:pPr>
                <a:r>
                  <a:rPr lang="el-GR" dirty="0">
                    <a:latin typeface="Calibri" pitchFamily="34" charset="0"/>
                    <a:ea typeface="Calibri" pitchFamily="34" charset="-122"/>
                    <a:cs typeface="Calibri" pitchFamily="34" charset="-120"/>
                  </a:rPr>
                  <a:t>α</a:t>
                </a:r>
                <a:r>
                  <a:rPr lang="en-US" dirty="0">
                    <a:latin typeface="Calibri" pitchFamily="34" charset="0"/>
                    <a:ea typeface="Calibri" pitchFamily="34" charset="-122"/>
                    <a:cs typeface="Calibri" pitchFamily="34" charset="-120"/>
                  </a:rPr>
                  <a:t> : </a:t>
                </a:r>
                <a:r>
                  <a:rPr lang="en-US" dirty="0" err="1">
                    <a:latin typeface="Calibri" pitchFamily="34" charset="0"/>
                    <a:ea typeface="Calibri" pitchFamily="34" charset="-122"/>
                    <a:cs typeface="Calibri" pitchFamily="34" charset="-120"/>
                  </a:rPr>
                  <a:t>góc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tiếp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xúc</a:t>
                </a:r>
                <a:r>
                  <a:rPr lang="en-US" dirty="0">
                    <a:latin typeface="Calibri" pitchFamily="34" charset="0"/>
                    <a:ea typeface="Calibri" pitchFamily="34" charset="-122"/>
                    <a:cs typeface="Calibri" pitchFamily="34" charset="-120"/>
                  </a:rPr>
                  <a:t> ( ˚ )</a:t>
                </a: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ea typeface="Calibri" pitchFamily="34" charset="-122"/>
                            <a:cs typeface="Calibri" pitchFamily="34" charset="-120"/>
                          </a:rPr>
                        </m:ctrlPr>
                      </m:sSubPr>
                      <m:e>
                        <m:r>
                          <a:rPr lang="en-US" b="0" i="1" smtClean="0">
                            <a:latin typeface="Cambria Math" panose="02040503050406030204" pitchFamily="18" charset="0"/>
                            <a:ea typeface="Calibri" pitchFamily="34" charset="-122"/>
                            <a:cs typeface="Calibri" pitchFamily="34" charset="-120"/>
                          </a:rPr>
                          <m:t>𝑓</m:t>
                        </m:r>
                      </m:e>
                      <m:sub>
                        <m:r>
                          <a:rPr lang="en-US" b="0" i="1" smtClean="0">
                            <a:latin typeface="Cambria Math" panose="02040503050406030204" pitchFamily="18" charset="0"/>
                            <a:ea typeface="Calibri" pitchFamily="34" charset="-122"/>
                            <a:cs typeface="Calibri" pitchFamily="34" charset="-120"/>
                          </a:rPr>
                          <m:t>𝑠</m:t>
                        </m:r>
                      </m:sub>
                    </m:sSub>
                  </m:oMath>
                </a14:m>
                <a:r>
                  <a:rPr lang="en-US" dirty="0">
                    <a:latin typeface="Calibri" pitchFamily="34" charset="0"/>
                    <a:ea typeface="Calibri" pitchFamily="34" charset="-122"/>
                    <a:cs typeface="Calibri" pitchFamily="34" charset="-120"/>
                  </a:rPr>
                  <a:t> : </a:t>
                </a:r>
                <a:r>
                  <a:rPr lang="en-US" dirty="0" err="1">
                    <a:latin typeface="Calibri" pitchFamily="34" charset="0"/>
                    <a:ea typeface="Calibri" pitchFamily="34" charset="-122"/>
                    <a:cs typeface="Calibri" pitchFamily="34" charset="-120"/>
                  </a:rPr>
                  <a:t>tần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số</a:t>
                </a:r>
                <a:r>
                  <a:rPr lang="en-US" dirty="0">
                    <a:latin typeface="Calibri" pitchFamily="34" charset="0"/>
                    <a:ea typeface="Calibri" pitchFamily="34" charset="-122"/>
                    <a:cs typeface="Calibri" pitchFamily="34" charset="-120"/>
                  </a:rPr>
                  <a:t> quay (Hz)</a:t>
                </a:r>
                <a:endParaRPr lang="en-US" dirty="0"/>
              </a:p>
            </p:txBody>
          </p:sp>
        </mc:Choice>
        <mc:Fallback xmlns="">
          <p:sp>
            <p:nvSpPr>
              <p:cNvPr id="39" name="TextBox 38">
                <a:extLst>
                  <a:ext uri="{FF2B5EF4-FFF2-40B4-BE49-F238E27FC236}">
                    <a16:creationId xmlns:a16="http://schemas.microsoft.com/office/drawing/2014/main" id="{B7B97680-750F-78E6-0339-C3A321FD5F75}"/>
                  </a:ext>
                </a:extLst>
              </p:cNvPr>
              <p:cNvSpPr txBox="1">
                <a:spLocks noRot="1" noChangeAspect="1" noMove="1" noResize="1" noEditPoints="1" noAdjustHandles="1" noChangeArrowheads="1" noChangeShapeType="1" noTextEdit="1"/>
              </p:cNvSpPr>
              <p:nvPr/>
            </p:nvSpPr>
            <p:spPr>
              <a:xfrm>
                <a:off x="6567960" y="5279536"/>
                <a:ext cx="4680002" cy="646331"/>
              </a:xfrm>
              <a:prstGeom prst="rect">
                <a:avLst/>
              </a:prstGeom>
              <a:blipFill>
                <a:blip r:embed="rId3"/>
                <a:stretch>
                  <a:fillRect l="-781" t="-4717" b="-14151"/>
                </a:stretch>
              </a:blipFill>
            </p:spPr>
            <p:txBody>
              <a:bodyPr/>
              <a:lstStyle/>
              <a:p>
                <a:r>
                  <a:rPr lang="en-US">
                    <a:noFill/>
                  </a:rPr>
                  <a:t> </a:t>
                </a:r>
              </a:p>
            </p:txBody>
          </p:sp>
        </mc:Fallback>
      </mc:AlternateContent>
    </p:spTree>
    <p:extLst>
      <p:ext uri="{BB962C8B-B14F-4D97-AF65-F5344CB8AC3E}">
        <p14:creationId xmlns:p14="http://schemas.microsoft.com/office/powerpoint/2010/main" val="3001568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C05717-7927-F23D-8237-4958A4E514FF}"/>
              </a:ext>
            </a:extLst>
          </p:cNvPr>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dạng</a:t>
            </a:r>
            <a:r>
              <a:rPr lang="en-US" dirty="0"/>
              <a:t> </a:t>
            </a:r>
            <a:r>
              <a:rPr lang="en-US" dirty="0" err="1"/>
              <a:t>sóng</a:t>
            </a:r>
            <a:endParaRPr lang="en-US" dirty="0"/>
          </a:p>
        </p:txBody>
      </p:sp>
      <p:sp>
        <p:nvSpPr>
          <p:cNvPr id="2" name="Slide Number Placeholder 1">
            <a:extLst>
              <a:ext uri="{FF2B5EF4-FFF2-40B4-BE49-F238E27FC236}">
                <a16:creationId xmlns:a16="http://schemas.microsoft.com/office/drawing/2014/main" id="{4E248DCA-B91F-BC5A-64CE-246CF3581AEB}"/>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8" name="Image 0" descr="preencoded.png">
            <a:extLst>
              <a:ext uri="{FF2B5EF4-FFF2-40B4-BE49-F238E27FC236}">
                <a16:creationId xmlns:a16="http://schemas.microsoft.com/office/drawing/2014/main" id="{E1658AD1-7555-FB08-6313-37336BA43395}"/>
              </a:ext>
            </a:extLst>
          </p:cNvPr>
          <p:cNvPicPr>
            <a:picLocks noChangeAspect="1"/>
          </p:cNvPicPr>
          <p:nvPr/>
        </p:nvPicPr>
        <p:blipFill>
          <a:blip r:embed="rId2"/>
          <a:srcRect/>
          <a:stretch/>
        </p:blipFill>
        <p:spPr>
          <a:xfrm>
            <a:off x="6306767" y="1500901"/>
            <a:ext cx="5514793" cy="4197148"/>
          </a:xfrm>
          <a:prstGeom prst="rect">
            <a:avLst/>
          </a:prstGeom>
        </p:spPr>
      </p:pic>
      <p:sp>
        <p:nvSpPr>
          <p:cNvPr id="10" name="TextBox 9">
            <a:extLst>
              <a:ext uri="{FF2B5EF4-FFF2-40B4-BE49-F238E27FC236}">
                <a16:creationId xmlns:a16="http://schemas.microsoft.com/office/drawing/2014/main" id="{B94E1E46-ED63-E54D-6B30-F4F1AE800608}"/>
              </a:ext>
            </a:extLst>
          </p:cNvPr>
          <p:cNvSpPr txBox="1"/>
          <p:nvPr/>
        </p:nvSpPr>
        <p:spPr>
          <a:xfrm>
            <a:off x="280551" y="995149"/>
            <a:ext cx="11691131" cy="400110"/>
          </a:xfrm>
          <a:prstGeom prst="rect">
            <a:avLst/>
          </a:prstGeom>
          <a:noFill/>
        </p:spPr>
        <p:txBody>
          <a:bodyPr wrap="square">
            <a:spAutoFit/>
          </a:bodyPr>
          <a:lstStyle/>
          <a:p>
            <a:r>
              <a:rPr lang="en-US" sz="2000" b="1" dirty="0" err="1">
                <a:solidFill>
                  <a:srgbClr val="1F1F1F"/>
                </a:solidFill>
              </a:rPr>
              <a:t>Đánh</a:t>
            </a:r>
            <a:r>
              <a:rPr lang="en-US" sz="2000" b="1" dirty="0">
                <a:solidFill>
                  <a:srgbClr val="1F1F1F"/>
                </a:solidFill>
              </a:rPr>
              <a:t> </a:t>
            </a:r>
            <a:r>
              <a:rPr lang="en-US" sz="2000" b="1" dirty="0" err="1">
                <a:solidFill>
                  <a:srgbClr val="1F1F1F"/>
                </a:solidFill>
              </a:rPr>
              <a:t>giá</a:t>
            </a:r>
            <a:r>
              <a:rPr lang="en-US" sz="2000" b="1" i="0" dirty="0">
                <a:solidFill>
                  <a:srgbClr val="1F1F1F"/>
                </a:solidFill>
                <a:effectLst/>
              </a:rPr>
              <a:t> </a:t>
            </a:r>
            <a:r>
              <a:rPr lang="en-US" sz="2000" b="1" i="0" dirty="0" err="1">
                <a:solidFill>
                  <a:srgbClr val="1F1F1F"/>
                </a:solidFill>
                <a:effectLst/>
              </a:rPr>
              <a:t>trực</a:t>
            </a:r>
            <a:r>
              <a:rPr lang="en-US" sz="2000" b="1" i="0" dirty="0">
                <a:solidFill>
                  <a:srgbClr val="1F1F1F"/>
                </a:solidFill>
                <a:effectLst/>
              </a:rPr>
              <a:t> </a:t>
            </a:r>
            <a:r>
              <a:rPr lang="en-US" sz="2000" b="1" i="0" dirty="0" err="1">
                <a:solidFill>
                  <a:srgbClr val="1F1F1F"/>
                </a:solidFill>
                <a:effectLst/>
              </a:rPr>
              <a:t>quan</a:t>
            </a:r>
            <a:r>
              <a:rPr lang="en-US" sz="2000" b="1" i="0" dirty="0">
                <a:solidFill>
                  <a:srgbClr val="1F1F1F"/>
                </a:solidFill>
                <a:effectLst/>
              </a:rPr>
              <a:t> </a:t>
            </a:r>
            <a:r>
              <a:rPr lang="en-US" sz="2000" b="1" i="0" dirty="0" err="1">
                <a:solidFill>
                  <a:srgbClr val="1F1F1F"/>
                </a:solidFill>
                <a:effectLst/>
              </a:rPr>
              <a:t>trong</a:t>
            </a:r>
            <a:r>
              <a:rPr lang="en-US" sz="2000" b="1" i="0" dirty="0">
                <a:solidFill>
                  <a:srgbClr val="1F1F1F"/>
                </a:solidFill>
                <a:effectLst/>
              </a:rPr>
              <a:t> </a:t>
            </a:r>
            <a:r>
              <a:rPr lang="en-US" sz="2000" b="1" i="0" dirty="0" err="1">
                <a:solidFill>
                  <a:srgbClr val="1F1F1F"/>
                </a:solidFill>
                <a:effectLst/>
              </a:rPr>
              <a:t>miền</a:t>
            </a:r>
            <a:r>
              <a:rPr lang="en-US" sz="2000" b="1" i="0" dirty="0">
                <a:solidFill>
                  <a:srgbClr val="1F1F1F"/>
                </a:solidFill>
                <a:effectLst/>
              </a:rPr>
              <a:t> </a:t>
            </a:r>
            <a:r>
              <a:rPr lang="en-US" sz="2000" b="1" i="0" dirty="0" err="1">
                <a:solidFill>
                  <a:srgbClr val="1F1F1F"/>
                </a:solidFill>
                <a:effectLst/>
              </a:rPr>
              <a:t>thời</a:t>
            </a:r>
            <a:r>
              <a:rPr lang="en-US" sz="2000" b="1" i="0" dirty="0">
                <a:solidFill>
                  <a:srgbClr val="1F1F1F"/>
                </a:solidFill>
                <a:effectLst/>
              </a:rPr>
              <a:t> </a:t>
            </a:r>
            <a:r>
              <a:rPr lang="en-US" sz="2000" b="1" i="0" dirty="0" err="1">
                <a:solidFill>
                  <a:srgbClr val="1F1F1F"/>
                </a:solidFill>
                <a:effectLst/>
              </a:rPr>
              <a:t>gian</a:t>
            </a:r>
            <a:r>
              <a:rPr lang="en-US" sz="2000" b="1" i="0" dirty="0">
                <a:solidFill>
                  <a:srgbClr val="1F1F1F"/>
                </a:solidFill>
                <a:effectLst/>
              </a:rPr>
              <a:t>:</a:t>
            </a:r>
            <a:endParaRPr lang="en-US" sz="2000" dirty="0"/>
          </a:p>
        </p:txBody>
      </p:sp>
      <p:sp>
        <p:nvSpPr>
          <p:cNvPr id="12" name="Text 4">
            <a:extLst>
              <a:ext uri="{FF2B5EF4-FFF2-40B4-BE49-F238E27FC236}">
                <a16:creationId xmlns:a16="http://schemas.microsoft.com/office/drawing/2014/main" id="{1BB83EB0-93E3-3D42-C62C-194525204BA1}"/>
              </a:ext>
            </a:extLst>
          </p:cNvPr>
          <p:cNvSpPr/>
          <p:nvPr/>
        </p:nvSpPr>
        <p:spPr>
          <a:xfrm>
            <a:off x="280551" y="1648146"/>
            <a:ext cx="5604683" cy="303651"/>
          </a:xfrm>
          <a:prstGeom prst="rect">
            <a:avLst/>
          </a:prstGeom>
          <a:noFill/>
          <a:ln/>
        </p:spPr>
        <p:txBody>
          <a:bodyPr wrap="square" rtlCol="0" anchor="ctr"/>
          <a:lstStyle/>
          <a:p>
            <a:pPr marL="285750" indent="-285750">
              <a:buFont typeface="Wingdings" panose="05000000000000000000" pitchFamily="2" charset="2"/>
              <a:buChar char="q"/>
            </a:pPr>
            <a:r>
              <a:rPr lang="en-US" b="1" dirty="0">
                <a:solidFill>
                  <a:srgbClr val="68C496"/>
                </a:solidFill>
                <a:latin typeface="Calibri" pitchFamily="34" charset="0"/>
                <a:ea typeface="Calibri" pitchFamily="34" charset="-122"/>
                <a:cs typeface="Calibri" pitchFamily="34" charset="-120"/>
              </a:rPr>
              <a:t>Bình </a:t>
            </a:r>
            <a:r>
              <a:rPr lang="en-US" b="1" dirty="0" err="1">
                <a:solidFill>
                  <a:srgbClr val="68C496"/>
                </a:solidFill>
                <a:latin typeface="Calibri" pitchFamily="34" charset="0"/>
                <a:ea typeface="Calibri" pitchFamily="34" charset="-122"/>
                <a:cs typeface="Calibri" pitchFamily="34" charset="-120"/>
              </a:rPr>
              <a:t>thường</a:t>
            </a:r>
            <a:r>
              <a:rPr lang="en-US" b="1" dirty="0">
                <a:solidFill>
                  <a:srgbClr val="68C496"/>
                </a:solidFill>
                <a:latin typeface="Calibri" pitchFamily="34" charset="0"/>
                <a:ea typeface="Calibri" pitchFamily="34" charset="-122"/>
                <a:cs typeface="Calibri" pitchFamily="34" charset="-120"/>
              </a:rPr>
              <a:t> (N)</a:t>
            </a:r>
            <a:endParaRPr lang="en-US" dirty="0">
              <a:solidFill>
                <a:srgbClr val="68C496"/>
              </a:solidFill>
            </a:endParaRPr>
          </a:p>
        </p:txBody>
      </p:sp>
      <p:sp>
        <p:nvSpPr>
          <p:cNvPr id="13" name="Text 5">
            <a:extLst>
              <a:ext uri="{FF2B5EF4-FFF2-40B4-BE49-F238E27FC236}">
                <a16:creationId xmlns:a16="http://schemas.microsoft.com/office/drawing/2014/main" id="{9F25A2FD-037E-5795-9342-CEEA76CBBDC0}"/>
              </a:ext>
            </a:extLst>
          </p:cNvPr>
          <p:cNvSpPr/>
          <p:nvPr/>
        </p:nvSpPr>
        <p:spPr>
          <a:xfrm>
            <a:off x="280551" y="2047178"/>
            <a:ext cx="5604683" cy="474455"/>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Biên độ </a:t>
            </a:r>
            <a:r>
              <a:rPr lang="en-US" dirty="0" err="1">
                <a:latin typeface="Calibri" pitchFamily="34" charset="0"/>
                <a:ea typeface="Calibri" pitchFamily="34" charset="-122"/>
                <a:cs typeface="Calibri" pitchFamily="34" charset="-120"/>
              </a:rPr>
              <a:t>cực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nhỏ</a:t>
            </a:r>
            <a:r>
              <a:rPr lang="en-US" dirty="0">
                <a:latin typeface="Calibri" pitchFamily="34" charset="0"/>
                <a:ea typeface="Calibri" pitchFamily="34" charset="-122"/>
                <a:cs typeface="Calibri" pitchFamily="34" charset="-120"/>
              </a:rPr>
              <a:t> (0.2 g), tín hiệu phẳng, </a:t>
            </a:r>
            <a:r>
              <a:rPr lang="en-US" dirty="0" err="1">
                <a:latin typeface="Calibri" pitchFamily="34" charset="0"/>
                <a:ea typeface="Calibri" pitchFamily="34" charset="-122"/>
                <a:cs typeface="Calibri" pitchFamily="34" charset="-120"/>
              </a:rPr>
              <a:t>không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xuất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hiện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các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bất thường.</a:t>
            </a:r>
            <a:endParaRPr lang="en-US" dirty="0"/>
          </a:p>
        </p:txBody>
      </p:sp>
      <p:sp>
        <p:nvSpPr>
          <p:cNvPr id="15" name="Text 7">
            <a:extLst>
              <a:ext uri="{FF2B5EF4-FFF2-40B4-BE49-F238E27FC236}">
                <a16:creationId xmlns:a16="http://schemas.microsoft.com/office/drawing/2014/main" id="{8F2EECFA-3CF4-10CB-8CC8-08D9FB4B4186}"/>
              </a:ext>
            </a:extLst>
          </p:cNvPr>
          <p:cNvSpPr/>
          <p:nvPr/>
        </p:nvSpPr>
        <p:spPr>
          <a:xfrm>
            <a:off x="280551" y="2715001"/>
            <a:ext cx="5604683" cy="303651"/>
          </a:xfrm>
          <a:prstGeom prst="rect">
            <a:avLst/>
          </a:prstGeom>
          <a:noFill/>
          <a:ln/>
        </p:spPr>
        <p:txBody>
          <a:bodyPr wrap="square" rtlCol="0" anchor="ctr"/>
          <a:lstStyle/>
          <a:p>
            <a:pPr marL="285750" indent="-285750">
              <a:buFont typeface="Wingdings" panose="05000000000000000000" pitchFamily="2" charset="2"/>
              <a:buChar char="q"/>
            </a:pPr>
            <a:r>
              <a:rPr lang="en-US" b="1" dirty="0" err="1">
                <a:solidFill>
                  <a:srgbClr val="63A6D5"/>
                </a:solidFill>
                <a:latin typeface="Calibri" pitchFamily="34" charset="0"/>
                <a:ea typeface="Calibri" pitchFamily="34" charset="-122"/>
                <a:cs typeface="Calibri" pitchFamily="34" charset="-120"/>
              </a:rPr>
              <a:t>Lỗi</a:t>
            </a:r>
            <a:r>
              <a:rPr lang="en-US" b="1" dirty="0">
                <a:solidFill>
                  <a:srgbClr val="63A6D5"/>
                </a:solidFill>
                <a:latin typeface="Calibri" pitchFamily="34" charset="0"/>
                <a:ea typeface="Calibri" pitchFamily="34" charset="-122"/>
                <a:cs typeface="Calibri" pitchFamily="34" charset="-120"/>
              </a:rPr>
              <a:t> </a:t>
            </a:r>
            <a:r>
              <a:rPr lang="en-US" b="1" dirty="0" err="1">
                <a:solidFill>
                  <a:srgbClr val="63A6D5"/>
                </a:solidFill>
                <a:latin typeface="Calibri" pitchFamily="34" charset="0"/>
                <a:ea typeface="Calibri" pitchFamily="34" charset="-122"/>
                <a:cs typeface="Calibri" pitchFamily="34" charset="-120"/>
              </a:rPr>
              <a:t>vòng</a:t>
            </a:r>
            <a:r>
              <a:rPr lang="en-US" b="1" dirty="0">
                <a:solidFill>
                  <a:srgbClr val="63A6D5"/>
                </a:solidFill>
                <a:latin typeface="Calibri" pitchFamily="34" charset="0"/>
                <a:ea typeface="Calibri" pitchFamily="34" charset="-122"/>
                <a:cs typeface="Calibri" pitchFamily="34" charset="-120"/>
              </a:rPr>
              <a:t> </a:t>
            </a:r>
            <a:r>
              <a:rPr lang="en-US" b="1" dirty="0" err="1">
                <a:solidFill>
                  <a:srgbClr val="63A6D5"/>
                </a:solidFill>
                <a:latin typeface="Calibri" pitchFamily="34" charset="0"/>
                <a:ea typeface="Calibri" pitchFamily="34" charset="-122"/>
                <a:cs typeface="Calibri" pitchFamily="34" charset="-120"/>
              </a:rPr>
              <a:t>trong</a:t>
            </a:r>
            <a:r>
              <a:rPr lang="en-US" b="1" dirty="0">
                <a:solidFill>
                  <a:srgbClr val="63A6D5"/>
                </a:solidFill>
                <a:latin typeface="Calibri" pitchFamily="34" charset="0"/>
                <a:ea typeface="Calibri" pitchFamily="34" charset="-122"/>
                <a:cs typeface="Calibri" pitchFamily="34" charset="-120"/>
              </a:rPr>
              <a:t> (IR)</a:t>
            </a:r>
            <a:endParaRPr lang="en-US" dirty="0">
              <a:solidFill>
                <a:srgbClr val="63A6D5"/>
              </a:solidFill>
            </a:endParaRPr>
          </a:p>
        </p:txBody>
      </p:sp>
      <p:sp>
        <p:nvSpPr>
          <p:cNvPr id="16" name="Text 8">
            <a:extLst>
              <a:ext uri="{FF2B5EF4-FFF2-40B4-BE49-F238E27FC236}">
                <a16:creationId xmlns:a16="http://schemas.microsoft.com/office/drawing/2014/main" id="{09F55884-EB50-3CC0-C903-FB62517A517A}"/>
              </a:ext>
            </a:extLst>
          </p:cNvPr>
          <p:cNvSpPr/>
          <p:nvPr/>
        </p:nvSpPr>
        <p:spPr>
          <a:xfrm>
            <a:off x="280551" y="3125020"/>
            <a:ext cx="5604683" cy="474455"/>
          </a:xfrm>
          <a:prstGeom prst="rect">
            <a:avLst/>
          </a:prstGeom>
          <a:noFill/>
          <a:ln/>
        </p:spPr>
        <p:txBody>
          <a:bodyPr wrap="square" rtlCol="0" anchor="ctr"/>
          <a:lstStyle/>
          <a:p>
            <a:pPr marL="0" indent="0">
              <a:buNone/>
            </a:pPr>
            <a:r>
              <a:rPr lang="en-US" dirty="0" err="1">
                <a:latin typeface="Calibri" pitchFamily="34" charset="0"/>
                <a:ea typeface="Calibri" pitchFamily="34" charset="-122"/>
                <a:cs typeface="Calibri" pitchFamily="34" charset="-120"/>
              </a:rPr>
              <a:t>Vết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nứt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đường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lăn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rãnh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trong</a:t>
            </a:r>
            <a:r>
              <a:rPr lang="en-US" dirty="0">
                <a:latin typeface="Calibri" pitchFamily="34" charset="0"/>
                <a:ea typeface="Calibri" pitchFamily="34" charset="-122"/>
                <a:cs typeface="Calibri" pitchFamily="34" charset="-120"/>
              </a:rPr>
              <a:t> quay </a:t>
            </a:r>
            <a:r>
              <a:rPr lang="en-US" dirty="0" err="1">
                <a:latin typeface="Calibri" pitchFamily="34" charset="0"/>
                <a:ea typeface="Calibri" pitchFamily="34" charset="-122"/>
                <a:cs typeface="Calibri" pitchFamily="34" charset="-120"/>
              </a:rPr>
              <a:t>cùng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trục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va đập mạnh, </a:t>
            </a:r>
            <a:r>
              <a:rPr lang="en-US" dirty="0" err="1">
                <a:latin typeface="Calibri" pitchFamily="34" charset="0"/>
                <a:ea typeface="Calibri" pitchFamily="34" charset="-122"/>
                <a:cs typeface="Calibri" pitchFamily="34" charset="-120"/>
              </a:rPr>
              <a:t>không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đều</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và</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bị</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điều</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biến</a:t>
            </a:r>
            <a:r>
              <a:rPr lang="en-US" dirty="0">
                <a:latin typeface="Calibri" pitchFamily="34" charset="0"/>
                <a:ea typeface="Calibri" pitchFamily="34" charset="-122"/>
                <a:cs typeface="Calibri" pitchFamily="34" charset="-120"/>
              </a:rPr>
              <a:t>.</a:t>
            </a:r>
            <a:endParaRPr lang="en-US" dirty="0"/>
          </a:p>
        </p:txBody>
      </p:sp>
      <p:sp>
        <p:nvSpPr>
          <p:cNvPr id="18" name="Text 10">
            <a:extLst>
              <a:ext uri="{FF2B5EF4-FFF2-40B4-BE49-F238E27FC236}">
                <a16:creationId xmlns:a16="http://schemas.microsoft.com/office/drawing/2014/main" id="{2F5D1185-0853-5C25-A75D-1F3009C0097B}"/>
              </a:ext>
            </a:extLst>
          </p:cNvPr>
          <p:cNvSpPr/>
          <p:nvPr/>
        </p:nvSpPr>
        <p:spPr>
          <a:xfrm>
            <a:off x="280551" y="3816169"/>
            <a:ext cx="5604683" cy="303651"/>
          </a:xfrm>
          <a:prstGeom prst="rect">
            <a:avLst/>
          </a:prstGeom>
          <a:noFill/>
          <a:ln/>
        </p:spPr>
        <p:txBody>
          <a:bodyPr wrap="square" rtlCol="0" anchor="ctr"/>
          <a:lstStyle/>
          <a:p>
            <a:pPr marL="285750" indent="-285750">
              <a:buFont typeface="Wingdings" panose="05000000000000000000" pitchFamily="2" charset="2"/>
              <a:buChar char="q"/>
            </a:pPr>
            <a:r>
              <a:rPr lang="en-US" b="1" dirty="0" err="1">
                <a:solidFill>
                  <a:srgbClr val="D55043"/>
                </a:solidFill>
                <a:latin typeface="Calibri" pitchFamily="34" charset="0"/>
                <a:ea typeface="Calibri" pitchFamily="34" charset="-122"/>
                <a:cs typeface="Calibri" pitchFamily="34" charset="-120"/>
              </a:rPr>
              <a:t>Lỗi</a:t>
            </a:r>
            <a:r>
              <a:rPr lang="en-US" b="1" dirty="0">
                <a:solidFill>
                  <a:srgbClr val="D55043"/>
                </a:solidFill>
                <a:latin typeface="Calibri" pitchFamily="34" charset="0"/>
                <a:ea typeface="Calibri" pitchFamily="34" charset="-122"/>
                <a:cs typeface="Calibri" pitchFamily="34" charset="-120"/>
              </a:rPr>
              <a:t> </a:t>
            </a:r>
            <a:r>
              <a:rPr lang="en-US" b="1" dirty="0" err="1">
                <a:solidFill>
                  <a:srgbClr val="D55043"/>
                </a:solidFill>
                <a:latin typeface="Calibri" pitchFamily="34" charset="0"/>
                <a:ea typeface="Calibri" pitchFamily="34" charset="-122"/>
                <a:cs typeface="Calibri" pitchFamily="34" charset="-120"/>
              </a:rPr>
              <a:t>vòng</a:t>
            </a:r>
            <a:r>
              <a:rPr lang="en-US" b="1" dirty="0">
                <a:solidFill>
                  <a:srgbClr val="D55043"/>
                </a:solidFill>
                <a:latin typeface="Calibri" pitchFamily="34" charset="0"/>
                <a:ea typeface="Calibri" pitchFamily="34" charset="-122"/>
                <a:cs typeface="Calibri" pitchFamily="34" charset="-120"/>
              </a:rPr>
              <a:t> </a:t>
            </a:r>
            <a:r>
              <a:rPr lang="en-US" b="1" dirty="0" err="1">
                <a:solidFill>
                  <a:srgbClr val="D55043"/>
                </a:solidFill>
                <a:latin typeface="Calibri" pitchFamily="34" charset="0"/>
                <a:ea typeface="Calibri" pitchFamily="34" charset="-122"/>
                <a:cs typeface="Calibri" pitchFamily="34" charset="-120"/>
              </a:rPr>
              <a:t>ngoài</a:t>
            </a:r>
            <a:r>
              <a:rPr lang="en-US" b="1" dirty="0">
                <a:solidFill>
                  <a:srgbClr val="D55043"/>
                </a:solidFill>
                <a:latin typeface="Calibri" pitchFamily="34" charset="0"/>
                <a:ea typeface="Calibri" pitchFamily="34" charset="-122"/>
                <a:cs typeface="Calibri" pitchFamily="34" charset="-120"/>
              </a:rPr>
              <a:t> (OR)</a:t>
            </a:r>
            <a:endParaRPr lang="en-US" dirty="0">
              <a:solidFill>
                <a:srgbClr val="D55043"/>
              </a:solidFill>
            </a:endParaRPr>
          </a:p>
        </p:txBody>
      </p:sp>
      <p:sp>
        <p:nvSpPr>
          <p:cNvPr id="19" name="Text 11">
            <a:extLst>
              <a:ext uri="{FF2B5EF4-FFF2-40B4-BE49-F238E27FC236}">
                <a16:creationId xmlns:a16="http://schemas.microsoft.com/office/drawing/2014/main" id="{77E0A2CE-24B4-392C-57D0-01B6A516CA4F}"/>
              </a:ext>
            </a:extLst>
          </p:cNvPr>
          <p:cNvSpPr/>
          <p:nvPr/>
        </p:nvSpPr>
        <p:spPr>
          <a:xfrm>
            <a:off x="280551" y="4166657"/>
            <a:ext cx="5604683" cy="474455"/>
          </a:xfrm>
          <a:prstGeom prst="rect">
            <a:avLst/>
          </a:prstGeom>
          <a:noFill/>
          <a:ln/>
        </p:spPr>
        <p:txBody>
          <a:bodyPr wrap="square" rtlCol="0" anchor="ctr"/>
          <a:lstStyle/>
          <a:p>
            <a:r>
              <a:rPr lang="en-US" dirty="0" err="1">
                <a:latin typeface="Calibri" pitchFamily="34" charset="0"/>
                <a:ea typeface="Calibri" pitchFamily="34" charset="-122"/>
                <a:cs typeface="Calibri" pitchFamily="34" charset="-120"/>
              </a:rPr>
              <a:t>Vết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nứt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trong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đương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lẵn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rãnh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ngoài</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cố</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đinh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mạnh</a:t>
            </a:r>
            <a:r>
              <a:rPr lang="en-US" dirty="0">
                <a:latin typeface="Calibri" pitchFamily="34" charset="0"/>
                <a:ea typeface="Calibri" pitchFamily="34" charset="-122"/>
                <a:cs typeface="Calibri" pitchFamily="34" charset="-120"/>
              </a:rPr>
              <a:t>, chu </a:t>
            </a:r>
            <a:r>
              <a:rPr lang="en-US" dirty="0" err="1">
                <a:latin typeface="Calibri" pitchFamily="34" charset="0"/>
                <a:ea typeface="Calibri" pitchFamily="34" charset="-122"/>
                <a:cs typeface="Calibri" pitchFamily="34" charset="-120"/>
              </a:rPr>
              <a:t>kỳ</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và</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ổn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định</a:t>
            </a:r>
            <a:r>
              <a:rPr lang="en-US" dirty="0">
                <a:latin typeface="Calibri" pitchFamily="34" charset="0"/>
                <a:ea typeface="Calibri" pitchFamily="34" charset="-122"/>
                <a:cs typeface="Calibri" pitchFamily="34" charset="-120"/>
              </a:rPr>
              <a:t>.</a:t>
            </a:r>
            <a:endParaRPr lang="en-US" dirty="0"/>
          </a:p>
        </p:txBody>
      </p:sp>
      <p:sp>
        <p:nvSpPr>
          <p:cNvPr id="21" name="Text 13">
            <a:extLst>
              <a:ext uri="{FF2B5EF4-FFF2-40B4-BE49-F238E27FC236}">
                <a16:creationId xmlns:a16="http://schemas.microsoft.com/office/drawing/2014/main" id="{EE5A043D-050F-7268-1357-445FE372519A}"/>
              </a:ext>
            </a:extLst>
          </p:cNvPr>
          <p:cNvSpPr/>
          <p:nvPr/>
        </p:nvSpPr>
        <p:spPr>
          <a:xfrm>
            <a:off x="280551" y="4827049"/>
            <a:ext cx="5604684" cy="303651"/>
          </a:xfrm>
          <a:prstGeom prst="rect">
            <a:avLst/>
          </a:prstGeom>
          <a:noFill/>
          <a:ln/>
        </p:spPr>
        <p:txBody>
          <a:bodyPr wrap="square" rtlCol="0" anchor="ctr"/>
          <a:lstStyle/>
          <a:p>
            <a:pPr marL="285750" indent="-285750">
              <a:buFont typeface="Wingdings" panose="05000000000000000000" pitchFamily="2" charset="2"/>
              <a:buChar char="q"/>
            </a:pPr>
            <a:r>
              <a:rPr lang="en-US" b="1" dirty="0" err="1">
                <a:solidFill>
                  <a:srgbClr val="E9BF73"/>
                </a:solidFill>
                <a:latin typeface="Calibri" pitchFamily="34" charset="0"/>
                <a:ea typeface="Calibri" pitchFamily="34" charset="-122"/>
                <a:cs typeface="Calibri" pitchFamily="34" charset="-120"/>
              </a:rPr>
              <a:t>Lỗi</a:t>
            </a:r>
            <a:r>
              <a:rPr lang="en-US" b="1" dirty="0">
                <a:solidFill>
                  <a:srgbClr val="E9BF73"/>
                </a:solidFill>
                <a:latin typeface="Calibri" pitchFamily="34" charset="0"/>
                <a:ea typeface="Calibri" pitchFamily="34" charset="-122"/>
                <a:cs typeface="Calibri" pitchFamily="34" charset="-120"/>
              </a:rPr>
              <a:t> viên bi (Ball)</a:t>
            </a:r>
            <a:endParaRPr lang="en-US" dirty="0">
              <a:solidFill>
                <a:srgbClr val="E9BF73"/>
              </a:solidFill>
            </a:endParaRPr>
          </a:p>
        </p:txBody>
      </p:sp>
      <p:sp>
        <p:nvSpPr>
          <p:cNvPr id="22" name="Text 14">
            <a:extLst>
              <a:ext uri="{FF2B5EF4-FFF2-40B4-BE49-F238E27FC236}">
                <a16:creationId xmlns:a16="http://schemas.microsoft.com/office/drawing/2014/main" id="{C580D33B-7928-ADE3-02EA-4D7706CF5E89}"/>
              </a:ext>
            </a:extLst>
          </p:cNvPr>
          <p:cNvSpPr/>
          <p:nvPr/>
        </p:nvSpPr>
        <p:spPr>
          <a:xfrm>
            <a:off x="280551" y="5233225"/>
            <a:ext cx="5604684" cy="474455"/>
          </a:xfrm>
          <a:prstGeom prst="rect">
            <a:avLst/>
          </a:prstGeom>
          <a:noFill/>
          <a:ln/>
        </p:spPr>
        <p:txBody>
          <a:bodyPr wrap="square" rtlCol="0" anchor="ctr"/>
          <a:lstStyle/>
          <a:p>
            <a:pPr marL="0" indent="0">
              <a:buNone/>
            </a:pPr>
            <a:r>
              <a:rPr lang="en-US" dirty="0" err="1">
                <a:latin typeface="Calibri" pitchFamily="34" charset="0"/>
                <a:ea typeface="Calibri" pitchFamily="34" charset="-122"/>
                <a:cs typeface="Calibri" pitchFamily="34" charset="-120"/>
              </a:rPr>
              <a:t>Khuyết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tật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bề</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mặt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viên</a:t>
            </a:r>
            <a:r>
              <a:rPr lang="en-US" dirty="0">
                <a:latin typeface="Calibri" pitchFamily="34" charset="0"/>
                <a:ea typeface="Calibri" pitchFamily="34" charset="-122"/>
                <a:cs typeface="Calibri" pitchFamily="34" charset="-120"/>
              </a:rPr>
              <a:t> bi. Va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hướng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phức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tạp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khó</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nhận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nhất</a:t>
            </a:r>
            <a:r>
              <a:rPr lang="en-US" dirty="0">
                <a:latin typeface="Calibri" pitchFamily="34" charset="0"/>
                <a:ea typeface="Calibri" pitchFamily="34" charset="-122"/>
                <a:cs typeface="Calibri" pitchFamily="34" charset="-120"/>
              </a:rPr>
              <a:t>.</a:t>
            </a:r>
            <a:endParaRPr lang="en-US" dirty="0"/>
          </a:p>
        </p:txBody>
      </p:sp>
    </p:spTree>
    <p:extLst>
      <p:ext uri="{BB962C8B-B14F-4D97-AF65-F5344CB8AC3E}">
        <p14:creationId xmlns:p14="http://schemas.microsoft.com/office/powerpoint/2010/main" val="3594598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D09F245-72C1-BF3B-18FC-F3CA6122F227}"/>
              </a:ext>
            </a:extLst>
          </p:cNvPr>
          <p:cNvSpPr/>
          <p:nvPr/>
        </p:nvSpPr>
        <p:spPr>
          <a:xfrm>
            <a:off x="6170581" y="3565888"/>
            <a:ext cx="5669280" cy="2346774"/>
          </a:xfrm>
          <a:prstGeom prst="roundRect">
            <a:avLst>
              <a:gd name="adj" fmla="val 861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C9C7C2D-B5F1-7E79-1F0A-B2705595D0EE}"/>
              </a:ext>
            </a:extLst>
          </p:cNvPr>
          <p:cNvSpPr/>
          <p:nvPr/>
        </p:nvSpPr>
        <p:spPr>
          <a:xfrm>
            <a:off x="6170582" y="982974"/>
            <a:ext cx="5669280" cy="2350008"/>
          </a:xfrm>
          <a:prstGeom prst="roundRect">
            <a:avLst>
              <a:gd name="adj" fmla="val 861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FFC3432-B7C8-3557-0EFC-991D49166F31}"/>
              </a:ext>
            </a:extLst>
          </p:cNvPr>
          <p:cNvSpPr/>
          <p:nvPr/>
        </p:nvSpPr>
        <p:spPr>
          <a:xfrm>
            <a:off x="358192" y="3565887"/>
            <a:ext cx="5536771" cy="2346775"/>
          </a:xfrm>
          <a:prstGeom prst="roundRect">
            <a:avLst>
              <a:gd name="adj" fmla="val 861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F871F68-279D-D87B-F8BC-1DF0610A7CF1}"/>
              </a:ext>
            </a:extLst>
          </p:cNvPr>
          <p:cNvSpPr/>
          <p:nvPr/>
        </p:nvSpPr>
        <p:spPr>
          <a:xfrm>
            <a:off x="358192" y="985673"/>
            <a:ext cx="5536771" cy="2350008"/>
          </a:xfrm>
          <a:prstGeom prst="roundRect">
            <a:avLst>
              <a:gd name="adj" fmla="val 8619"/>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6B1920-4595-C18D-5B9A-CB36FDFA57C1}"/>
              </a:ext>
            </a:extLst>
          </p:cNvPr>
          <p:cNvSpPr>
            <a:spLocks noGrp="1"/>
          </p:cNvSpPr>
          <p:nvPr>
            <p:ph type="title"/>
          </p:nvPr>
        </p:nvSpPr>
        <p:spPr/>
        <p:txBody>
          <a:bodyPr/>
          <a:lstStyle/>
          <a:p>
            <a:r>
              <a:rPr lang="en-US" dirty="0"/>
              <a:t>Định </a:t>
            </a:r>
            <a:r>
              <a:rPr lang="en-US" dirty="0" err="1"/>
              <a:t>lượng</a:t>
            </a:r>
            <a:r>
              <a:rPr lang="en-US" dirty="0"/>
              <a:t> </a:t>
            </a:r>
            <a:r>
              <a:rPr lang="en-US" dirty="0" err="1"/>
              <a:t>mức</a:t>
            </a:r>
            <a:r>
              <a:rPr lang="en-US" dirty="0"/>
              <a:t> </a:t>
            </a:r>
            <a:r>
              <a:rPr lang="en-US" dirty="0" err="1"/>
              <a:t>độ</a:t>
            </a:r>
            <a:r>
              <a:rPr lang="en-US" dirty="0"/>
              <a:t> rung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09DB75D-D8C6-75EC-808F-F3142C0A78E8}"/>
                  </a:ext>
                </a:extLst>
              </p:cNvPr>
              <p:cNvSpPr>
                <a:spLocks noGrp="1"/>
              </p:cNvSpPr>
              <p:nvPr>
                <p:ph type="body" sz="quarter" idx="13"/>
              </p:nvPr>
            </p:nvSpPr>
            <p:spPr>
              <a:xfrm>
                <a:off x="459149" y="1054183"/>
                <a:ext cx="5309356" cy="1417797"/>
              </a:xfrm>
            </p:spPr>
            <p:txBody>
              <a:bodyPr/>
              <a:lstStyle/>
              <a:p>
                <a:pPr marL="0" indent="0">
                  <a:buNone/>
                </a:pPr>
                <a:r>
                  <a:rPr lang="en-US" sz="1800" b="1" dirty="0">
                    <a:latin typeface="+mn-lt"/>
                  </a:rPr>
                  <a:t>RMS (</a:t>
                </a:r>
                <a:r>
                  <a:rPr lang="en-US" sz="1800" b="1" dirty="0" err="1">
                    <a:latin typeface="+mn-lt"/>
                  </a:rPr>
                  <a:t>Trị</a:t>
                </a:r>
                <a:r>
                  <a:rPr lang="en-US" sz="1800" b="1" dirty="0">
                    <a:latin typeface="+mn-lt"/>
                  </a:rPr>
                  <a:t> </a:t>
                </a:r>
                <a:r>
                  <a:rPr lang="en-US" sz="1800" b="1" dirty="0" err="1">
                    <a:latin typeface="+mn-lt"/>
                  </a:rPr>
                  <a:t>hiệu</a:t>
                </a:r>
                <a:r>
                  <a:rPr lang="en-US" sz="1800" b="1" dirty="0">
                    <a:latin typeface="+mn-lt"/>
                  </a:rPr>
                  <a:t> </a:t>
                </a:r>
                <a:r>
                  <a:rPr lang="en-US" sz="1800" b="1" dirty="0" err="1">
                    <a:latin typeface="+mn-lt"/>
                  </a:rPr>
                  <a:t>dụng</a:t>
                </a:r>
                <a:r>
                  <a:rPr lang="en-US" sz="1800" b="1" dirty="0">
                    <a:latin typeface="+mn-lt"/>
                  </a:rPr>
                  <a:t>):</a:t>
                </a:r>
              </a:p>
              <a:p>
                <a:pPr marL="0" indent="0">
                  <a:spcBef>
                    <a:spcPts val="0"/>
                  </a:spcBef>
                  <a:buNone/>
                </a:pPr>
                <a:endParaRPr lang="en-US" sz="18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𝑅𝑀𝑆</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𝑛</m:t>
                              </m:r>
                            </m:den>
                          </m:f>
                          <m:r>
                            <a:rPr lang="en-US" sz="1600" i="1">
                              <a:latin typeface="Cambria Math" panose="02040503050406030204" pitchFamily="18" charset="0"/>
                              <a:ea typeface="Cambria Math" panose="02040503050406030204" pitchFamily="18" charset="0"/>
                            </a:rPr>
                            <m:t>∙</m:t>
                          </m:r>
                          <m:nary>
                            <m:naryPr>
                              <m:chr m:val="∑"/>
                              <m:supHide m:val="on"/>
                              <m:ctrlPr>
                                <a:rPr lang="en-US" sz="1600" i="1">
                                  <a:latin typeface="Cambria Math" panose="02040503050406030204" pitchFamily="18" charset="0"/>
                                </a:rPr>
                              </m:ctrlPr>
                            </m:naryPr>
                            <m:sub>
                              <m:r>
                                <m:rPr>
                                  <m:brk m:alnAt="7"/>
                                </m:rPr>
                                <a:rPr lang="en-US" sz="1600" b="0" i="1" smtClean="0">
                                  <a:latin typeface="Cambria Math" panose="02040503050406030204" pitchFamily="18" charset="0"/>
                                </a:rPr>
                                <m:t>𝑖</m:t>
                              </m:r>
                              <m:r>
                                <a:rPr lang="en-US" sz="1600" b="0" i="1" smtClean="0">
                                  <a:latin typeface="Cambria Math" panose="02040503050406030204" pitchFamily="18" charset="0"/>
                                </a:rPr>
                                <m:t>=1,…,</m:t>
                              </m:r>
                              <m:r>
                                <a:rPr lang="en-US" sz="1600" b="0" i="1" smtClean="0">
                                  <a:latin typeface="Cambria Math" panose="02040503050406030204" pitchFamily="18" charset="0"/>
                                </a:rPr>
                                <m:t>𝑛</m:t>
                              </m:r>
                            </m:sub>
                            <m:sup/>
                            <m:e>
                              <m:sSubSup>
                                <m:sSubSupPr>
                                  <m:ctrlPr>
                                    <a:rPr lang="en-US" sz="1600" i="1" smtClean="0">
                                      <a:latin typeface="Cambria Math" panose="02040503050406030204" pitchFamily="18" charset="0"/>
                                    </a:rPr>
                                  </m:ctrlPr>
                                </m:sSubSup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up>
                                  <m:r>
                                    <a:rPr lang="en-US" sz="1600" b="0" i="1" smtClean="0">
                                      <a:latin typeface="Cambria Math" panose="02040503050406030204" pitchFamily="18" charset="0"/>
                                    </a:rPr>
                                    <m:t>2</m:t>
                                  </m:r>
                                </m:sup>
                              </m:sSubSup>
                            </m:e>
                          </m:nary>
                        </m:e>
                      </m:rad>
                    </m:oMath>
                  </m:oMathPara>
                </a14:m>
                <a:endParaRPr lang="en-US" sz="1600" dirty="0">
                  <a:latin typeface="+mn-lt"/>
                </a:endParaRPr>
              </a:p>
              <a:p>
                <a:pPr>
                  <a:lnSpc>
                    <a:spcPct val="100000"/>
                  </a:lnSpc>
                  <a:spcBef>
                    <a:spcPts val="600"/>
                  </a:spcBef>
                </a:pPr>
                <a:r>
                  <a:rPr lang="en-US" sz="1800" dirty="0" err="1">
                    <a:latin typeface="+mn-lt"/>
                  </a:rPr>
                  <a:t>Đo</a:t>
                </a:r>
                <a:r>
                  <a:rPr lang="en-US" sz="1800" dirty="0">
                    <a:latin typeface="+mn-lt"/>
                  </a:rPr>
                  <a:t> </a:t>
                </a:r>
                <a:r>
                  <a:rPr lang="en-US" sz="1800" b="1" dirty="0" err="1">
                    <a:latin typeface="+mn-lt"/>
                  </a:rPr>
                  <a:t>tổng</a:t>
                </a:r>
                <a:r>
                  <a:rPr lang="en-US" sz="1800" b="1" dirty="0">
                    <a:latin typeface="+mn-lt"/>
                  </a:rPr>
                  <a:t> </a:t>
                </a:r>
                <a:r>
                  <a:rPr lang="en-US" sz="1800" b="1" dirty="0" err="1">
                    <a:latin typeface="+mn-lt"/>
                  </a:rPr>
                  <a:t>năng</a:t>
                </a:r>
                <a:r>
                  <a:rPr lang="en-US" sz="1800" b="1" dirty="0">
                    <a:latin typeface="+mn-lt"/>
                  </a:rPr>
                  <a:t> </a:t>
                </a:r>
                <a:r>
                  <a:rPr lang="en-US" sz="1800" b="1" dirty="0" err="1">
                    <a:latin typeface="+mn-lt"/>
                  </a:rPr>
                  <a:t>lượng</a:t>
                </a:r>
                <a:r>
                  <a:rPr lang="en-US" sz="1800" b="1" dirty="0">
                    <a:latin typeface="+mn-lt"/>
                  </a:rPr>
                  <a:t> dao </a:t>
                </a:r>
                <a:r>
                  <a:rPr lang="en-US" sz="1800" b="1" dirty="0" err="1">
                    <a:latin typeface="+mn-lt"/>
                  </a:rPr>
                  <a:t>động</a:t>
                </a:r>
                <a:r>
                  <a:rPr lang="en-US" sz="1800" dirty="0">
                    <a:latin typeface="+mn-lt"/>
                  </a:rPr>
                  <a:t> </a:t>
                </a:r>
                <a:r>
                  <a:rPr lang="en-US" sz="1800" dirty="0" err="1">
                    <a:latin typeface="+mn-lt"/>
                  </a:rPr>
                  <a:t>toàn</a:t>
                </a:r>
                <a:r>
                  <a:rPr lang="en-US" sz="1800" dirty="0">
                    <a:latin typeface="+mn-lt"/>
                  </a:rPr>
                  <a:t> </a:t>
                </a:r>
                <a:r>
                  <a:rPr lang="en-US" sz="1800" dirty="0" err="1">
                    <a:latin typeface="+mn-lt"/>
                  </a:rPr>
                  <a:t>phần</a:t>
                </a:r>
                <a:r>
                  <a:rPr lang="en-US" sz="1800" dirty="0">
                    <a:latin typeface="+mn-lt"/>
                  </a:rPr>
                  <a:t> </a:t>
                </a:r>
                <a:r>
                  <a:rPr lang="en-US" sz="1800" dirty="0" err="1">
                    <a:latin typeface="+mn-lt"/>
                  </a:rPr>
                  <a:t>của</a:t>
                </a:r>
                <a:r>
                  <a:rPr lang="en-US" sz="1800" dirty="0">
                    <a:latin typeface="+mn-lt"/>
                  </a:rPr>
                  <a:t> </a:t>
                </a:r>
                <a:r>
                  <a:rPr lang="en-US" sz="1800" dirty="0" err="1">
                    <a:latin typeface="+mn-lt"/>
                  </a:rPr>
                  <a:t>hệ</a:t>
                </a:r>
                <a:r>
                  <a:rPr lang="en-US" sz="1800" dirty="0">
                    <a:latin typeface="+mn-lt"/>
                  </a:rPr>
                  <a:t> </a:t>
                </a:r>
                <a:r>
                  <a:rPr lang="en-US" sz="1800" dirty="0" err="1">
                    <a:latin typeface="+mn-lt"/>
                  </a:rPr>
                  <a:t>thống</a:t>
                </a:r>
                <a:r>
                  <a:rPr lang="en-US" sz="1800" dirty="0">
                    <a:latin typeface="+mn-lt"/>
                  </a:rPr>
                  <a:t>.</a:t>
                </a:r>
              </a:p>
              <a:p>
                <a:pPr>
                  <a:lnSpc>
                    <a:spcPct val="100000"/>
                  </a:lnSpc>
                  <a:spcBef>
                    <a:spcPts val="600"/>
                  </a:spcBef>
                </a:pPr>
                <a:r>
                  <a:rPr lang="en-US" sz="1800" dirty="0">
                    <a:latin typeface="+mn-lt"/>
                  </a:rPr>
                  <a:t>Phản </a:t>
                </a:r>
                <a:r>
                  <a:rPr lang="en-US" sz="1800" dirty="0" err="1">
                    <a:latin typeface="+mn-lt"/>
                  </a:rPr>
                  <a:t>ánh</a:t>
                </a:r>
                <a:r>
                  <a:rPr lang="en-US" sz="1800" dirty="0">
                    <a:latin typeface="+mn-lt"/>
                  </a:rPr>
                  <a:t> </a:t>
                </a:r>
                <a:r>
                  <a:rPr lang="en-US" sz="1800" b="1" dirty="0" err="1">
                    <a:latin typeface="+mn-lt"/>
                  </a:rPr>
                  <a:t>mức</a:t>
                </a:r>
                <a:r>
                  <a:rPr lang="en-US" sz="1800" b="1" dirty="0">
                    <a:latin typeface="+mn-lt"/>
                  </a:rPr>
                  <a:t> </a:t>
                </a:r>
                <a:r>
                  <a:rPr lang="en-US" sz="1800" b="1" dirty="0" err="1">
                    <a:latin typeface="+mn-lt"/>
                  </a:rPr>
                  <a:t>độ</a:t>
                </a:r>
                <a:r>
                  <a:rPr lang="en-US" sz="1800" b="1" dirty="0">
                    <a:latin typeface="+mn-lt"/>
                  </a:rPr>
                  <a:t> </a:t>
                </a:r>
                <a:r>
                  <a:rPr lang="en-US" sz="1800" b="1" dirty="0" err="1">
                    <a:latin typeface="+mn-lt"/>
                  </a:rPr>
                  <a:t>hủy</a:t>
                </a:r>
                <a:r>
                  <a:rPr lang="en-US" sz="1800" b="1" dirty="0">
                    <a:latin typeface="+mn-lt"/>
                  </a:rPr>
                  <a:t> </a:t>
                </a:r>
                <a:r>
                  <a:rPr lang="en-US" sz="1800" b="1" dirty="0" err="1">
                    <a:latin typeface="+mn-lt"/>
                  </a:rPr>
                  <a:t>hoại</a:t>
                </a:r>
                <a:r>
                  <a:rPr lang="en-US" sz="1800" b="1" dirty="0">
                    <a:latin typeface="+mn-lt"/>
                  </a:rPr>
                  <a:t> </a:t>
                </a:r>
                <a:r>
                  <a:rPr lang="en-US" sz="1800" b="1" dirty="0" err="1">
                    <a:latin typeface="+mn-lt"/>
                  </a:rPr>
                  <a:t>kết</a:t>
                </a:r>
                <a:r>
                  <a:rPr lang="en-US" sz="1800" b="1" dirty="0">
                    <a:latin typeface="+mn-lt"/>
                  </a:rPr>
                  <a:t> </a:t>
                </a:r>
                <a:r>
                  <a:rPr lang="en-US" sz="1800" b="1" dirty="0" err="1">
                    <a:latin typeface="+mn-lt"/>
                  </a:rPr>
                  <a:t>cấu</a:t>
                </a:r>
                <a:r>
                  <a:rPr lang="en-US" sz="1800" b="1" dirty="0">
                    <a:latin typeface="+mn-lt"/>
                  </a:rPr>
                  <a:t>.</a:t>
                </a:r>
                <a:endParaRPr lang="en-US" sz="1800" dirty="0">
                  <a:latin typeface="+mn-lt"/>
                </a:endParaRPr>
              </a:p>
              <a:p>
                <a:pPr marL="0" indent="0">
                  <a:spcBef>
                    <a:spcPts val="0"/>
                  </a:spcBef>
                  <a:buNone/>
                </a:pPr>
                <a:endParaRPr lang="en-US" sz="1800" dirty="0">
                  <a:latin typeface="+mn-lt"/>
                </a:endParaRPr>
              </a:p>
            </p:txBody>
          </p:sp>
        </mc:Choice>
        <mc:Fallback xmlns="">
          <p:sp>
            <p:nvSpPr>
              <p:cNvPr id="3" name="Text Placeholder 2">
                <a:extLst>
                  <a:ext uri="{FF2B5EF4-FFF2-40B4-BE49-F238E27FC236}">
                    <a16:creationId xmlns:a16="http://schemas.microsoft.com/office/drawing/2014/main" id="{009DB75D-D8C6-75EC-808F-F3142C0A78E8}"/>
                  </a:ext>
                </a:extLst>
              </p:cNvPr>
              <p:cNvSpPr>
                <a:spLocks noGrp="1" noRot="1" noChangeAspect="1" noMove="1" noResize="1" noEditPoints="1" noAdjustHandles="1" noChangeArrowheads="1" noChangeShapeType="1" noTextEdit="1"/>
              </p:cNvSpPr>
              <p:nvPr>
                <p:ph type="body" sz="quarter" idx="13"/>
              </p:nvPr>
            </p:nvSpPr>
            <p:spPr>
              <a:xfrm>
                <a:off x="459149" y="1054183"/>
                <a:ext cx="5309356" cy="1417797"/>
              </a:xfrm>
              <a:blipFill>
                <a:blip r:embed="rId2"/>
                <a:stretch>
                  <a:fillRect l="-918" t="-4292" b="-6223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A86FA57-B775-9A88-C9B1-A274CD1CB6EA}"/>
              </a:ext>
            </a:extLst>
          </p:cNvPr>
          <p:cNvSpPr>
            <a:spLocks noGrp="1"/>
          </p:cNvSpPr>
          <p:nvPr>
            <p:ph type="sldNum" sz="quarter" idx="12"/>
          </p:nvPr>
        </p:nvSpPr>
        <p:spPr/>
        <p:txBody>
          <a:bodyPr/>
          <a:lstStyle/>
          <a:p>
            <a:fld id="{9EA0BE3B-158A-4EDF-80DC-E394A0D1600F}" type="slidenum">
              <a:rPr lang="en-US" smtClean="0"/>
              <a:pPr/>
              <a:t>11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DD2A36A-968D-19BC-9AF1-B00767AAD78F}"/>
                  </a:ext>
                </a:extLst>
              </p:cNvPr>
              <p:cNvSpPr txBox="1"/>
              <p:nvPr/>
            </p:nvSpPr>
            <p:spPr>
              <a:xfrm>
                <a:off x="6247429" y="1068641"/>
                <a:ext cx="5515584" cy="2178673"/>
              </a:xfrm>
              <a:prstGeom prst="rect">
                <a:avLst/>
              </a:prstGeom>
              <a:noFill/>
            </p:spPr>
            <p:txBody>
              <a:bodyPr wrap="square" rtlCol="0">
                <a:spAutoFit/>
              </a:bodyPr>
              <a:lstStyle/>
              <a:p>
                <a:r>
                  <a:rPr lang="en-US" b="1" dirty="0"/>
                  <a:t>Crest Factor (</a:t>
                </a:r>
                <a:r>
                  <a:rPr lang="en-US" b="1" dirty="0" err="1"/>
                  <a:t>Hệ</a:t>
                </a:r>
                <a:r>
                  <a:rPr lang="en-US" b="1" dirty="0"/>
                  <a:t> </a:t>
                </a:r>
                <a:r>
                  <a:rPr lang="en-US" b="1" dirty="0" err="1"/>
                  <a:t>số</a:t>
                </a:r>
                <a:r>
                  <a:rPr lang="en-US" b="1" dirty="0"/>
                  <a:t> </a:t>
                </a:r>
                <a:r>
                  <a:rPr lang="en-US" b="1" dirty="0" err="1"/>
                  <a:t>đỉnh</a:t>
                </a:r>
                <a:r>
                  <a:rPr lang="en-US" b="1" dirty="0"/>
                  <a:t>):</a:t>
                </a:r>
                <a:endParaRPr lang="en-US" dirty="0"/>
              </a:p>
              <a:p>
                <a:pPr>
                  <a:lnSpc>
                    <a:spcPct val="150000"/>
                  </a:lnSpc>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𝐶𝐹</m:t>
                      </m:r>
                      <m:r>
                        <a:rPr lang="en-US" sz="1600" i="1">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𝑃𝑒𝑎𝑘</m:t>
                          </m:r>
                        </m:num>
                        <m:den>
                          <m:r>
                            <a:rPr lang="en-US" sz="1600" i="1">
                              <a:latin typeface="Cambria Math" panose="02040503050406030204" pitchFamily="18" charset="0"/>
                            </a:rPr>
                            <m:t>𝑅𝑀𝑆</m:t>
                          </m:r>
                        </m:den>
                      </m:f>
                    </m:oMath>
                  </m:oMathPara>
                </a14:m>
                <a:endParaRPr lang="en-US" sz="1600" dirty="0"/>
              </a:p>
              <a:p>
                <a:pPr marL="285750" indent="-285750">
                  <a:buFont typeface="Arial" panose="020B0604020202020204" pitchFamily="34" charset="0"/>
                  <a:buChar char="•"/>
                </a:pPr>
                <a:r>
                  <a:rPr lang="en-US" dirty="0" err="1"/>
                  <a:t>Đánh</a:t>
                </a:r>
                <a:r>
                  <a:rPr lang="en-US" dirty="0"/>
                  <a:t> </a:t>
                </a:r>
                <a:r>
                  <a:rPr lang="en-US" dirty="0" err="1"/>
                  <a:t>giá</a:t>
                </a:r>
                <a:r>
                  <a:rPr lang="en-US" dirty="0"/>
                  <a:t> </a:t>
                </a:r>
                <a:r>
                  <a:rPr lang="en-US" b="1" dirty="0" err="1"/>
                  <a:t>độ</a:t>
                </a:r>
                <a:r>
                  <a:rPr lang="en-US" b="1" dirty="0"/>
                  <a:t> </a:t>
                </a:r>
                <a:r>
                  <a:rPr lang="en-US" b="1" dirty="0" err="1"/>
                  <a:t>sắc</a:t>
                </a:r>
                <a:r>
                  <a:rPr lang="en-US" b="1" dirty="0"/>
                  <a:t> </a:t>
                </a:r>
                <a:r>
                  <a:rPr lang="en-US" b="1" dirty="0" err="1"/>
                  <a:t>nhọn</a:t>
                </a:r>
                <a:r>
                  <a:rPr lang="en-US" b="1" dirty="0"/>
                  <a:t> </a:t>
                </a:r>
                <a:r>
                  <a:rPr lang="en-US" b="1" dirty="0" err="1"/>
                  <a:t>của</a:t>
                </a:r>
                <a:r>
                  <a:rPr lang="en-US" b="1" dirty="0"/>
                  <a:t> </a:t>
                </a:r>
                <a:r>
                  <a:rPr lang="en-US" b="1" dirty="0" err="1"/>
                  <a:t>xung</a:t>
                </a:r>
                <a:r>
                  <a:rPr lang="en-US" dirty="0"/>
                  <a:t> </a:t>
                </a:r>
                <a:r>
                  <a:rPr lang="en-US" dirty="0" err="1"/>
                  <a:t>thông</a:t>
                </a:r>
                <a:r>
                  <a:rPr lang="en-US" dirty="0"/>
                  <a:t> qua </a:t>
                </a:r>
                <a:r>
                  <a:rPr lang="en-US" dirty="0" err="1"/>
                  <a:t>tỷ</a:t>
                </a:r>
                <a:r>
                  <a:rPr lang="en-US" dirty="0"/>
                  <a:t> </a:t>
                </a:r>
                <a:r>
                  <a:rPr lang="en-US" dirty="0" err="1"/>
                  <a:t>lệ</a:t>
                </a:r>
                <a:r>
                  <a:rPr lang="en-US" dirty="0"/>
                  <a:t> </a:t>
                </a:r>
                <a:r>
                  <a:rPr lang="en-US" dirty="0" err="1"/>
                  <a:t>giữa</a:t>
                </a:r>
                <a:r>
                  <a:rPr lang="en-US" dirty="0"/>
                  <a:t> Peak </a:t>
                </a:r>
                <a:r>
                  <a:rPr lang="en-US" dirty="0" err="1"/>
                  <a:t>và</a:t>
                </a:r>
                <a:r>
                  <a:rPr lang="en-US" dirty="0"/>
                  <a:t> RMS.</a:t>
                </a:r>
              </a:p>
              <a:p>
                <a:pPr marL="285750" indent="-285750">
                  <a:buFont typeface="Arial" panose="020B0604020202020204" pitchFamily="34" charset="0"/>
                  <a:buChar char="•"/>
                </a:pPr>
                <a:r>
                  <a:rPr lang="en-US" dirty="0" err="1"/>
                  <a:t>Nhạy</a:t>
                </a:r>
                <a:r>
                  <a:rPr lang="en-US" dirty="0"/>
                  <a:t> </a:t>
                </a:r>
                <a:r>
                  <a:rPr lang="en-US" dirty="0" err="1"/>
                  <a:t>với</a:t>
                </a:r>
                <a:r>
                  <a:rPr lang="en-US" dirty="0"/>
                  <a:t> </a:t>
                </a:r>
                <a:r>
                  <a:rPr lang="en-US" b="1" dirty="0" err="1"/>
                  <a:t>giai</a:t>
                </a:r>
                <a:r>
                  <a:rPr lang="en-US" b="1" dirty="0"/>
                  <a:t> </a:t>
                </a:r>
                <a:r>
                  <a:rPr lang="en-US" b="1" dirty="0" err="1"/>
                  <a:t>đoạn</a:t>
                </a:r>
                <a:r>
                  <a:rPr lang="en-US" b="1" dirty="0"/>
                  <a:t> </a:t>
                </a:r>
                <a:r>
                  <a:rPr lang="en-US" b="1" dirty="0" err="1"/>
                  <a:t>chớm</a:t>
                </a:r>
                <a:r>
                  <a:rPr lang="en-US" b="1" dirty="0"/>
                  <a:t> </a:t>
                </a:r>
                <a:r>
                  <a:rPr lang="en-US" b="1" dirty="0" err="1"/>
                  <a:t>lỗi</a:t>
                </a:r>
                <a:r>
                  <a:rPr lang="en-US" dirty="0"/>
                  <a:t>, </a:t>
                </a:r>
                <a:r>
                  <a:rPr lang="en-US" dirty="0" err="1"/>
                  <a:t>nhưng</a:t>
                </a:r>
                <a:r>
                  <a:rPr lang="en-US" dirty="0"/>
                  <a:t> </a:t>
                </a:r>
                <a:r>
                  <a:rPr lang="en-US" dirty="0" err="1"/>
                  <a:t>giảm</a:t>
                </a:r>
                <a:r>
                  <a:rPr lang="en-US" dirty="0"/>
                  <a:t> </a:t>
                </a:r>
                <a:r>
                  <a:rPr lang="en-US" dirty="0" err="1"/>
                  <a:t>ngược</a:t>
                </a:r>
                <a:r>
                  <a:rPr lang="en-US" dirty="0"/>
                  <a:t> </a:t>
                </a:r>
                <a:r>
                  <a:rPr lang="en-US" dirty="0" err="1"/>
                  <a:t>khi</a:t>
                </a:r>
                <a:r>
                  <a:rPr lang="en-US" dirty="0"/>
                  <a:t> </a:t>
                </a:r>
                <a:r>
                  <a:rPr lang="en-US" dirty="0" err="1"/>
                  <a:t>lỗi</a:t>
                </a:r>
                <a:r>
                  <a:rPr lang="en-US" dirty="0"/>
                  <a:t> lan </a:t>
                </a:r>
                <a:r>
                  <a:rPr lang="en-US" dirty="0" err="1"/>
                  <a:t>rộng</a:t>
                </a:r>
                <a:r>
                  <a:rPr lang="en-US" dirty="0"/>
                  <a:t> (do RMS </a:t>
                </a:r>
                <a:r>
                  <a:rPr lang="en-US" dirty="0" err="1"/>
                  <a:t>tăng</a:t>
                </a:r>
                <a:r>
                  <a:rPr lang="en-US" dirty="0"/>
                  <a:t> </a:t>
                </a:r>
                <a:r>
                  <a:rPr lang="en-US" dirty="0" err="1"/>
                  <a:t>mạnh</a:t>
                </a:r>
                <a:r>
                  <a:rPr lang="en-US" dirty="0"/>
                  <a:t>).</a:t>
                </a:r>
              </a:p>
            </p:txBody>
          </p:sp>
        </mc:Choice>
        <mc:Fallback xmlns="">
          <p:sp>
            <p:nvSpPr>
              <p:cNvPr id="5" name="TextBox 4">
                <a:extLst>
                  <a:ext uri="{FF2B5EF4-FFF2-40B4-BE49-F238E27FC236}">
                    <a16:creationId xmlns:a16="http://schemas.microsoft.com/office/drawing/2014/main" id="{0DD2A36A-968D-19BC-9AF1-B00767AAD78F}"/>
                  </a:ext>
                </a:extLst>
              </p:cNvPr>
              <p:cNvSpPr txBox="1">
                <a:spLocks noRot="1" noChangeAspect="1" noMove="1" noResize="1" noEditPoints="1" noAdjustHandles="1" noChangeArrowheads="1" noChangeShapeType="1" noTextEdit="1"/>
              </p:cNvSpPr>
              <p:nvPr/>
            </p:nvSpPr>
            <p:spPr>
              <a:xfrm>
                <a:off x="6247429" y="1068641"/>
                <a:ext cx="5515584" cy="2178673"/>
              </a:xfrm>
              <a:prstGeom prst="rect">
                <a:avLst/>
              </a:prstGeom>
              <a:blipFill>
                <a:blip r:embed="rId3"/>
                <a:stretch>
                  <a:fillRect l="-994" t="-1397" b="-33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693228D-86DA-50E8-FF6D-F9E1ABC007DA}"/>
                  </a:ext>
                </a:extLst>
              </p:cNvPr>
              <p:cNvSpPr txBox="1"/>
              <p:nvPr/>
            </p:nvSpPr>
            <p:spPr>
              <a:xfrm>
                <a:off x="459150" y="3643005"/>
                <a:ext cx="5309356" cy="2246769"/>
              </a:xfrm>
              <a:prstGeom prst="rect">
                <a:avLst/>
              </a:prstGeom>
              <a:noFill/>
            </p:spPr>
            <p:txBody>
              <a:bodyPr wrap="square">
                <a:spAutoFit/>
              </a:bodyPr>
              <a:lstStyle/>
              <a:p>
                <a:r>
                  <a:rPr lang="en-US" sz="1800" b="1" dirty="0">
                    <a:latin typeface="+mn-lt"/>
                  </a:rPr>
                  <a:t>Peak (</a:t>
                </a:r>
                <a:r>
                  <a:rPr lang="en-US" sz="1800" b="1" dirty="0" err="1">
                    <a:latin typeface="+mn-lt"/>
                  </a:rPr>
                  <a:t>Biên</a:t>
                </a:r>
                <a:r>
                  <a:rPr lang="en-US" sz="1800" b="1" dirty="0">
                    <a:latin typeface="+mn-lt"/>
                  </a:rPr>
                  <a:t> </a:t>
                </a:r>
                <a:r>
                  <a:rPr lang="en-US" sz="1800" b="1" dirty="0" err="1">
                    <a:latin typeface="+mn-lt"/>
                  </a:rPr>
                  <a:t>độ</a:t>
                </a:r>
                <a:r>
                  <a:rPr lang="en-US" sz="1800" b="1" dirty="0">
                    <a:latin typeface="+mn-lt"/>
                  </a:rPr>
                  <a:t> </a:t>
                </a:r>
                <a:r>
                  <a:rPr lang="en-US" sz="1800" b="1" dirty="0" err="1">
                    <a:latin typeface="+mn-lt"/>
                  </a:rPr>
                  <a:t>đỉnh</a:t>
                </a:r>
                <a:r>
                  <a:rPr lang="en-US" sz="1800" b="1" dirty="0">
                    <a:latin typeface="+mn-lt"/>
                  </a:rPr>
                  <a:t>):</a:t>
                </a:r>
              </a:p>
              <a:p>
                <a:endParaRPr lang="en-US" sz="18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𝑃𝑒𝑎𝑘</m:t>
                      </m:r>
                      <m:r>
                        <a:rPr lang="en-US" sz="1600" b="0" i="1" smtClean="0">
                          <a:latin typeface="Cambria Math" panose="02040503050406030204" pitchFamily="18" charset="0"/>
                        </a:rPr>
                        <m:t>=</m:t>
                      </m:r>
                      <m:r>
                        <a:rPr lang="en-US" sz="1600" b="0" i="1" smtClean="0">
                          <a:latin typeface="Cambria Math" panose="02040503050406030204" pitchFamily="18" charset="0"/>
                        </a:rPr>
                        <m:t>𝑀𝑎𝑥</m:t>
                      </m:r>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e>
                      </m:d>
                    </m:oMath>
                  </m:oMathPara>
                </a14:m>
                <a:endParaRPr lang="en-US" sz="1600" dirty="0"/>
              </a:p>
              <a:p>
                <a:pPr marL="0" indent="0">
                  <a:buNone/>
                </a:pPr>
                <a:endParaRPr lang="en-US" sz="1600" dirty="0"/>
              </a:p>
              <a:p>
                <a:pPr marL="285750" indent="-285750">
                  <a:buFont typeface="Arial" panose="020B0604020202020204" pitchFamily="34" charset="0"/>
                  <a:buChar char="•"/>
                </a:pPr>
                <a:r>
                  <a:rPr lang="en-US" dirty="0" err="1"/>
                  <a:t>Ghi</a:t>
                </a:r>
                <a:r>
                  <a:rPr lang="en-US" dirty="0"/>
                  <a:t> </a:t>
                </a:r>
                <a:r>
                  <a:rPr lang="en-US" dirty="0" err="1"/>
                  <a:t>nhận</a:t>
                </a:r>
                <a:r>
                  <a:rPr lang="en-US" dirty="0"/>
                  <a:t> </a:t>
                </a:r>
                <a:r>
                  <a:rPr lang="en-US" b="1" dirty="0" err="1"/>
                  <a:t>biên</a:t>
                </a:r>
                <a:r>
                  <a:rPr lang="en-US" b="1" dirty="0"/>
                  <a:t> </a:t>
                </a:r>
                <a:r>
                  <a:rPr lang="en-US" b="1" dirty="0" err="1"/>
                  <a:t>độ</a:t>
                </a:r>
                <a:r>
                  <a:rPr lang="en-US" b="1" dirty="0"/>
                  <a:t> </a:t>
                </a:r>
                <a:r>
                  <a:rPr lang="en-US" b="1" dirty="0" err="1"/>
                  <a:t>cực</a:t>
                </a:r>
                <a:r>
                  <a:rPr lang="en-US" b="1" dirty="0"/>
                  <a:t> </a:t>
                </a:r>
                <a:r>
                  <a:rPr lang="en-US" b="1" dirty="0" err="1"/>
                  <a:t>đại</a:t>
                </a:r>
                <a:r>
                  <a:rPr lang="en-US" b="1" dirty="0"/>
                  <a:t> </a:t>
                </a:r>
                <a:r>
                  <a:rPr lang="en-US" b="1" dirty="0" err="1"/>
                  <a:t>tức</a:t>
                </a:r>
                <a:r>
                  <a:rPr lang="en-US" b="1" dirty="0"/>
                  <a:t> </a:t>
                </a:r>
                <a:r>
                  <a:rPr lang="en-US" b="1" dirty="0" err="1"/>
                  <a:t>thời</a:t>
                </a:r>
                <a:r>
                  <a:rPr lang="en-US" dirty="0"/>
                  <a:t> </a:t>
                </a:r>
                <a:r>
                  <a:rPr lang="en-US" dirty="0" err="1"/>
                  <a:t>của</a:t>
                </a:r>
                <a:r>
                  <a:rPr lang="en-US" dirty="0"/>
                  <a:t> </a:t>
                </a:r>
                <a:r>
                  <a:rPr lang="en-US" dirty="0" err="1"/>
                  <a:t>các</a:t>
                </a:r>
                <a:r>
                  <a:rPr lang="en-US" dirty="0"/>
                  <a:t> </a:t>
                </a:r>
                <a:r>
                  <a:rPr lang="en-US" dirty="0" err="1"/>
                  <a:t>xung</a:t>
                </a:r>
                <a:r>
                  <a:rPr lang="en-US" dirty="0"/>
                  <a:t> </a:t>
                </a:r>
                <a:r>
                  <a:rPr lang="en-US" dirty="0" err="1"/>
                  <a:t>va</a:t>
                </a:r>
                <a:r>
                  <a:rPr lang="en-US" dirty="0"/>
                  <a:t> </a:t>
                </a:r>
                <a:r>
                  <a:rPr lang="en-US" dirty="0" err="1"/>
                  <a:t>đập</a:t>
                </a:r>
                <a:r>
                  <a:rPr lang="en-US" dirty="0"/>
                  <a:t> </a:t>
                </a:r>
                <a:r>
                  <a:rPr lang="en-US" dirty="0" err="1"/>
                  <a:t>động</a:t>
                </a:r>
                <a:r>
                  <a:rPr lang="en-US" dirty="0"/>
                  <a:t>.</a:t>
                </a:r>
              </a:p>
              <a:p>
                <a:pPr marL="285750" indent="-285750">
                  <a:buFont typeface="Arial" panose="020B0604020202020204" pitchFamily="34" charset="0"/>
                  <a:buChar char="•"/>
                </a:pPr>
                <a:r>
                  <a:rPr lang="en-US" dirty="0" err="1"/>
                  <a:t>Nhạy</a:t>
                </a:r>
                <a:r>
                  <a:rPr lang="en-US" dirty="0"/>
                  <a:t> </a:t>
                </a:r>
                <a:r>
                  <a:rPr lang="en-US" dirty="0" err="1"/>
                  <a:t>với</a:t>
                </a:r>
                <a:r>
                  <a:rPr lang="en-US" dirty="0"/>
                  <a:t> </a:t>
                </a:r>
                <a:r>
                  <a:rPr lang="en-US" dirty="0" err="1"/>
                  <a:t>va</a:t>
                </a:r>
                <a:r>
                  <a:rPr lang="en-US" dirty="0"/>
                  <a:t> </a:t>
                </a:r>
                <a:r>
                  <a:rPr lang="en-US" dirty="0" err="1"/>
                  <a:t>chạm</a:t>
                </a:r>
                <a:r>
                  <a:rPr lang="en-US" dirty="0"/>
                  <a:t> </a:t>
                </a:r>
                <a:r>
                  <a:rPr lang="en-US" dirty="0" err="1"/>
                  <a:t>cục</a:t>
                </a:r>
                <a:r>
                  <a:rPr lang="en-US" dirty="0"/>
                  <a:t> </a:t>
                </a:r>
                <a:r>
                  <a:rPr lang="en-US" dirty="0" err="1"/>
                  <a:t>bộ</a:t>
                </a:r>
                <a:r>
                  <a:rPr lang="en-US" dirty="0"/>
                  <a:t>, </a:t>
                </a:r>
                <a:r>
                  <a:rPr lang="en-US" dirty="0" err="1"/>
                  <a:t>nhưng</a:t>
                </a:r>
                <a:r>
                  <a:rPr lang="en-US" dirty="0"/>
                  <a:t> </a:t>
                </a:r>
                <a:r>
                  <a:rPr lang="en-US" dirty="0" err="1"/>
                  <a:t>dễ</a:t>
                </a:r>
                <a:r>
                  <a:rPr lang="en-US" dirty="0"/>
                  <a:t> </a:t>
                </a:r>
                <a:r>
                  <a:rPr lang="en-US" dirty="0" err="1"/>
                  <a:t>bị</a:t>
                </a:r>
                <a:r>
                  <a:rPr lang="en-US" dirty="0"/>
                  <a:t> </a:t>
                </a:r>
                <a:r>
                  <a:rPr lang="en-US" b="1" dirty="0" err="1"/>
                  <a:t>sai</a:t>
                </a:r>
                <a:r>
                  <a:rPr lang="en-US" b="1" dirty="0"/>
                  <a:t> </a:t>
                </a:r>
                <a:r>
                  <a:rPr lang="en-US" b="1" dirty="0" err="1"/>
                  <a:t>lệch</a:t>
                </a:r>
                <a:r>
                  <a:rPr lang="en-US" b="1" dirty="0"/>
                  <a:t> do </a:t>
                </a:r>
                <a:r>
                  <a:rPr lang="en-US" b="1" dirty="0" err="1"/>
                  <a:t>nhiễu</a:t>
                </a:r>
                <a:r>
                  <a:rPr lang="en-US" b="1" dirty="0"/>
                  <a:t> </a:t>
                </a:r>
                <a:r>
                  <a:rPr lang="en-US" b="1" dirty="0" err="1"/>
                  <a:t>đỉnh</a:t>
                </a:r>
                <a:r>
                  <a:rPr lang="en-US" b="1" dirty="0"/>
                  <a:t> </a:t>
                </a:r>
                <a:r>
                  <a:rPr lang="en-US" b="1" dirty="0" err="1"/>
                  <a:t>ngẫu</a:t>
                </a:r>
                <a:r>
                  <a:rPr lang="en-US" b="1" dirty="0"/>
                  <a:t> </a:t>
                </a:r>
                <a:r>
                  <a:rPr lang="en-US" b="1" dirty="0" err="1"/>
                  <a:t>nhiên</a:t>
                </a:r>
                <a:r>
                  <a:rPr lang="en-US" dirty="0"/>
                  <a:t>.</a:t>
                </a:r>
              </a:p>
            </p:txBody>
          </p:sp>
        </mc:Choice>
        <mc:Fallback xmlns="">
          <p:sp>
            <p:nvSpPr>
              <p:cNvPr id="8" name="TextBox 7">
                <a:extLst>
                  <a:ext uri="{FF2B5EF4-FFF2-40B4-BE49-F238E27FC236}">
                    <a16:creationId xmlns:a16="http://schemas.microsoft.com/office/drawing/2014/main" id="{9693228D-86DA-50E8-FF6D-F9E1ABC007DA}"/>
                  </a:ext>
                </a:extLst>
              </p:cNvPr>
              <p:cNvSpPr txBox="1">
                <a:spLocks noRot="1" noChangeAspect="1" noMove="1" noResize="1" noEditPoints="1" noAdjustHandles="1" noChangeArrowheads="1" noChangeShapeType="1" noTextEdit="1"/>
              </p:cNvSpPr>
              <p:nvPr/>
            </p:nvSpPr>
            <p:spPr>
              <a:xfrm>
                <a:off x="459150" y="3643005"/>
                <a:ext cx="5309356" cy="2246769"/>
              </a:xfrm>
              <a:prstGeom prst="rect">
                <a:avLst/>
              </a:prstGeom>
              <a:blipFill>
                <a:blip r:embed="rId4"/>
                <a:stretch>
                  <a:fillRect l="-918" t="-1630" b="-35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B9A3B98-D9BA-7E87-0709-74A5C549EE62}"/>
                  </a:ext>
                </a:extLst>
              </p:cNvPr>
              <p:cNvSpPr txBox="1"/>
              <p:nvPr/>
            </p:nvSpPr>
            <p:spPr>
              <a:xfrm>
                <a:off x="6247429" y="3647869"/>
                <a:ext cx="5515584" cy="2070247"/>
              </a:xfrm>
              <a:prstGeom prst="rect">
                <a:avLst/>
              </a:prstGeom>
              <a:noFill/>
            </p:spPr>
            <p:txBody>
              <a:bodyPr wrap="square">
                <a:spAutoFit/>
              </a:bodyPr>
              <a:lstStyle/>
              <a:p>
                <a:r>
                  <a:rPr lang="en-US" b="1" dirty="0"/>
                  <a:t>Kurtosis (</a:t>
                </a:r>
                <a:r>
                  <a:rPr lang="en-US" b="1" dirty="0" err="1"/>
                  <a:t>Độ</a:t>
                </a:r>
                <a:r>
                  <a:rPr lang="en-US" b="1" dirty="0"/>
                  <a:t> </a:t>
                </a:r>
                <a:r>
                  <a:rPr lang="en-US" b="1" dirty="0" err="1"/>
                  <a:t>nhọn</a:t>
                </a:r>
                <a:r>
                  <a:rPr lang="en-US" b="1" dirty="0"/>
                  <a:t>):</a:t>
                </a:r>
              </a:p>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𝐾𝑢𝑟𝑡𝑜𝑠𝑖𝑠</m:t>
                      </m:r>
                      <m:r>
                        <a:rPr lang="en-US" sz="1600" b="0" i="1" smtClean="0">
                          <a:latin typeface="Cambria Math" panose="02040503050406030204" pitchFamily="18" charset="0"/>
                        </a:rPr>
                        <m:t>=</m:t>
                      </m:r>
                      <m:f>
                        <m:fPr>
                          <m:ctrlPr>
                            <a:rPr lang="en-US" sz="1600" i="1">
                              <a:latin typeface="Cambria Math" panose="02040503050406030204" pitchFamily="18" charset="0"/>
                            </a:rPr>
                          </m:ctrlPr>
                        </m:fPr>
                        <m:num>
                          <m:f>
                            <m:fPr>
                              <m:ctrlPr>
                                <a:rPr lang="en-US" sz="1600" i="1">
                                  <a:latin typeface="Cambria Math" panose="02040503050406030204" pitchFamily="18" charset="0"/>
                                </a:rPr>
                              </m:ctrlPr>
                            </m:fPr>
                            <m:num>
                              <m:r>
                                <a:rPr lang="en-US" sz="1600" b="0" i="1">
                                  <a:latin typeface="Cambria Math" panose="02040503050406030204" pitchFamily="18" charset="0"/>
                                </a:rPr>
                                <m:t>1</m:t>
                              </m:r>
                            </m:num>
                            <m:den>
                              <m:r>
                                <a:rPr lang="en-US" sz="1600" b="0" i="1">
                                  <a:latin typeface="Cambria Math" panose="02040503050406030204" pitchFamily="18" charset="0"/>
                                </a:rPr>
                                <m:t>𝑛</m:t>
                              </m:r>
                            </m:den>
                          </m:f>
                          <m:nary>
                            <m:naryPr>
                              <m:chr m:val="∑"/>
                              <m:ctrlPr>
                                <a:rPr lang="en-US" sz="1600" i="1">
                                  <a:latin typeface="Cambria Math" panose="02040503050406030204" pitchFamily="18" charset="0"/>
                                </a:rPr>
                              </m:ctrlPr>
                            </m:naryPr>
                            <m:sub>
                              <m:r>
                                <a:rPr lang="en-US" sz="1600" b="0" i="1">
                                  <a:latin typeface="Cambria Math" panose="02040503050406030204" pitchFamily="18" charset="0"/>
                                </a:rPr>
                                <m:t>𝑖</m:t>
                              </m:r>
                              <m:r>
                                <a:rPr lang="en-US" sz="1600" b="0" i="1">
                                  <a:latin typeface="Cambria Math" panose="02040503050406030204" pitchFamily="18" charset="0"/>
                                </a:rPr>
                                <m:t>=1</m:t>
                              </m:r>
                            </m:sub>
                            <m:sup>
                              <m:r>
                                <a:rPr lang="en-US" sz="1600" b="0" i="1">
                                  <a:latin typeface="Cambria Math" panose="02040503050406030204" pitchFamily="18" charset="0"/>
                                </a:rPr>
                                <m:t>𝑛</m:t>
                              </m:r>
                            </m:sup>
                            <m:e>
                              <m:sSubSup>
                                <m:sSubSupPr>
                                  <m:ctrlPr>
                                    <a:rPr lang="en-US" sz="1600" i="1">
                                      <a:latin typeface="Cambria Math" panose="02040503050406030204" pitchFamily="18" charset="0"/>
                                    </a:rPr>
                                  </m:ctrlPr>
                                </m:sSubSupPr>
                                <m:e>
                                  <m:r>
                                    <a:rPr lang="en-US" sz="1600" b="0" i="1">
                                      <a:latin typeface="Cambria Math" panose="02040503050406030204" pitchFamily="18" charset="0"/>
                                    </a:rPr>
                                    <m:t>𝑥</m:t>
                                  </m:r>
                                </m:e>
                                <m:sub>
                                  <m:r>
                                    <a:rPr lang="en-US" sz="1600" b="0" i="1">
                                      <a:latin typeface="Cambria Math" panose="02040503050406030204" pitchFamily="18" charset="0"/>
                                    </a:rPr>
                                    <m:t>𝑖</m:t>
                                  </m:r>
                                </m:sub>
                                <m:sup>
                                  <m:r>
                                    <a:rPr lang="en-US" sz="1600" b="0" i="1">
                                      <a:latin typeface="Cambria Math" panose="02040503050406030204" pitchFamily="18" charset="0"/>
                                    </a:rPr>
                                    <m:t>4</m:t>
                                  </m:r>
                                </m:sup>
                              </m:sSubSup>
                            </m:e>
                          </m:nary>
                        </m:num>
                        <m:den>
                          <m:r>
                            <a:rPr lang="en-US" sz="1600" b="0" i="1">
                              <a:latin typeface="Cambria Math" panose="02040503050406030204" pitchFamily="18" charset="0"/>
                            </a:rPr>
                            <m:t>𝑅𝑀</m:t>
                          </m:r>
                          <m:sSup>
                            <m:sSupPr>
                              <m:ctrlPr>
                                <a:rPr lang="en-US" sz="1600" i="1">
                                  <a:latin typeface="Cambria Math" panose="02040503050406030204" pitchFamily="18" charset="0"/>
                                </a:rPr>
                              </m:ctrlPr>
                            </m:sSupPr>
                            <m:e>
                              <m:r>
                                <a:rPr lang="en-US" sz="1600" b="0" i="1">
                                  <a:latin typeface="Cambria Math" panose="02040503050406030204" pitchFamily="18" charset="0"/>
                                </a:rPr>
                                <m:t>𝑆</m:t>
                              </m:r>
                            </m:e>
                            <m:sup>
                              <m:r>
                                <a:rPr lang="en-US" sz="1600" b="0" i="1">
                                  <a:latin typeface="Cambria Math" panose="02040503050406030204" pitchFamily="18" charset="0"/>
                                </a:rPr>
                                <m:t>4</m:t>
                              </m:r>
                            </m:sup>
                          </m:sSup>
                        </m:den>
                      </m:f>
                    </m:oMath>
                  </m:oMathPara>
                </a14:m>
                <a:endParaRPr lang="en-US" sz="1600" dirty="0"/>
              </a:p>
              <a:p>
                <a:endParaRPr lang="en-US" sz="1600" dirty="0"/>
              </a:p>
              <a:p>
                <a:pPr marL="285750" indent="-285750">
                  <a:buFont typeface="Arial" panose="020B0604020202020204" pitchFamily="34" charset="0"/>
                  <a:buChar char="•"/>
                </a:pPr>
                <a:r>
                  <a:rPr lang="en-US" dirty="0" err="1"/>
                  <a:t>Mô</a:t>
                </a:r>
                <a:r>
                  <a:rPr lang="en-US" dirty="0"/>
                  <a:t>-men </a:t>
                </a:r>
                <a:r>
                  <a:rPr lang="en-US" dirty="0" err="1"/>
                  <a:t>bậc</a:t>
                </a:r>
                <a:r>
                  <a:rPr lang="en-US" dirty="0"/>
                  <a:t> 4, </a:t>
                </a:r>
                <a:r>
                  <a:rPr lang="en-US" dirty="0" err="1"/>
                  <a:t>đo</a:t>
                </a:r>
                <a:r>
                  <a:rPr lang="en-US" dirty="0"/>
                  <a:t> </a:t>
                </a:r>
                <a:r>
                  <a:rPr lang="en-US" b="1" dirty="0" err="1"/>
                  <a:t>độ</a:t>
                </a:r>
                <a:r>
                  <a:rPr lang="en-US" b="1" dirty="0"/>
                  <a:t> </a:t>
                </a:r>
                <a:r>
                  <a:rPr lang="en-US" b="1" dirty="0" err="1"/>
                  <a:t>dày</a:t>
                </a:r>
                <a:r>
                  <a:rPr lang="en-US" b="1" dirty="0"/>
                  <a:t> </a:t>
                </a:r>
                <a:r>
                  <a:rPr lang="en-US" b="1" dirty="0" err="1"/>
                  <a:t>của</a:t>
                </a:r>
                <a:r>
                  <a:rPr lang="en-US" b="1" dirty="0"/>
                  <a:t> </a:t>
                </a:r>
                <a:r>
                  <a:rPr lang="en-US" b="1" dirty="0" err="1"/>
                  <a:t>đuôi</a:t>
                </a:r>
                <a:r>
                  <a:rPr lang="en-US" b="1" dirty="0"/>
                  <a:t> </a:t>
                </a:r>
                <a:r>
                  <a:rPr lang="en-US" b="1" dirty="0" err="1"/>
                  <a:t>phân</a:t>
                </a:r>
                <a:r>
                  <a:rPr lang="en-US" b="1" dirty="0"/>
                  <a:t> </a:t>
                </a:r>
                <a:r>
                  <a:rPr lang="en-US" b="1" dirty="0" err="1"/>
                  <a:t>phối</a:t>
                </a:r>
                <a:r>
                  <a:rPr lang="en-US" dirty="0"/>
                  <a:t> do </a:t>
                </a:r>
                <a:r>
                  <a:rPr lang="en-US" dirty="0" err="1"/>
                  <a:t>xung</a:t>
                </a:r>
                <a:r>
                  <a:rPr lang="en-US" dirty="0"/>
                  <a:t> </a:t>
                </a:r>
                <a:r>
                  <a:rPr lang="en-US" dirty="0" err="1"/>
                  <a:t>đột</a:t>
                </a:r>
                <a:r>
                  <a:rPr lang="en-US" dirty="0"/>
                  <a:t> </a:t>
                </a:r>
                <a:r>
                  <a:rPr lang="en-US" dirty="0" err="1"/>
                  <a:t>biến</a:t>
                </a:r>
                <a:r>
                  <a:rPr lang="en-US" dirty="0"/>
                  <a:t> </a:t>
                </a:r>
                <a:r>
                  <a:rPr lang="en-US" dirty="0" err="1"/>
                  <a:t>gây</a:t>
                </a:r>
                <a:r>
                  <a:rPr lang="en-US" dirty="0"/>
                  <a:t> </a:t>
                </a:r>
                <a:r>
                  <a:rPr lang="en-US" dirty="0" err="1"/>
                  <a:t>ra.</a:t>
                </a:r>
                <a:endParaRPr lang="en-US" dirty="0"/>
              </a:p>
              <a:p>
                <a:pPr marL="285750" indent="-285750">
                  <a:buFont typeface="Arial" panose="020B0604020202020204" pitchFamily="34" charset="0"/>
                  <a:buChar char="•"/>
                </a:pPr>
                <a:r>
                  <a:rPr lang="en-US" dirty="0" err="1"/>
                  <a:t>Phát</a:t>
                </a:r>
                <a:r>
                  <a:rPr lang="en-US" dirty="0"/>
                  <a:t> </a:t>
                </a:r>
                <a:r>
                  <a:rPr lang="en-US" dirty="0" err="1"/>
                  <a:t>hiện</a:t>
                </a:r>
                <a:r>
                  <a:rPr lang="en-US" dirty="0"/>
                  <a:t> </a:t>
                </a:r>
                <a:r>
                  <a:rPr lang="en-US" dirty="0" err="1"/>
                  <a:t>sớm</a:t>
                </a:r>
                <a:r>
                  <a:rPr lang="en-US" dirty="0"/>
                  <a:t> </a:t>
                </a:r>
                <a:r>
                  <a:rPr lang="en-US" dirty="0" err="1"/>
                  <a:t>các</a:t>
                </a:r>
                <a:r>
                  <a:rPr lang="en-US" dirty="0"/>
                  <a:t> </a:t>
                </a:r>
                <a:r>
                  <a:rPr lang="en-US" dirty="0" err="1"/>
                  <a:t>khuyết</a:t>
                </a:r>
                <a:r>
                  <a:rPr lang="en-US" dirty="0"/>
                  <a:t> </a:t>
                </a:r>
                <a:r>
                  <a:rPr lang="en-US" dirty="0" err="1"/>
                  <a:t>tật</a:t>
                </a:r>
                <a:r>
                  <a:rPr lang="en-US" dirty="0"/>
                  <a:t> </a:t>
                </a:r>
                <a:r>
                  <a:rPr lang="en-US" dirty="0" err="1"/>
                  <a:t>cục</a:t>
                </a:r>
                <a:r>
                  <a:rPr lang="en-US" dirty="0"/>
                  <a:t> </a:t>
                </a:r>
                <a:r>
                  <a:rPr lang="en-US" dirty="0" err="1"/>
                  <a:t>bộ</a:t>
                </a:r>
                <a:endParaRPr lang="en-US" dirty="0"/>
              </a:p>
            </p:txBody>
          </p:sp>
        </mc:Choice>
        <mc:Fallback xmlns="">
          <p:sp>
            <p:nvSpPr>
              <p:cNvPr id="10" name="TextBox 9">
                <a:extLst>
                  <a:ext uri="{FF2B5EF4-FFF2-40B4-BE49-F238E27FC236}">
                    <a16:creationId xmlns:a16="http://schemas.microsoft.com/office/drawing/2014/main" id="{0B9A3B98-D9BA-7E87-0709-74A5C549EE62}"/>
                  </a:ext>
                </a:extLst>
              </p:cNvPr>
              <p:cNvSpPr txBox="1">
                <a:spLocks noRot="1" noChangeAspect="1" noMove="1" noResize="1" noEditPoints="1" noAdjustHandles="1" noChangeArrowheads="1" noChangeShapeType="1" noTextEdit="1"/>
              </p:cNvSpPr>
              <p:nvPr/>
            </p:nvSpPr>
            <p:spPr>
              <a:xfrm>
                <a:off x="6247429" y="3647869"/>
                <a:ext cx="5515584" cy="2070247"/>
              </a:xfrm>
              <a:prstGeom prst="rect">
                <a:avLst/>
              </a:prstGeom>
              <a:blipFill>
                <a:blip r:embed="rId5"/>
                <a:stretch>
                  <a:fillRect l="-994" t="-1471" b="-3529"/>
                </a:stretch>
              </a:blipFill>
            </p:spPr>
            <p:txBody>
              <a:bodyPr/>
              <a:lstStyle/>
              <a:p>
                <a:r>
                  <a:rPr lang="en-US">
                    <a:noFill/>
                  </a:rPr>
                  <a:t> </a:t>
                </a:r>
              </a:p>
            </p:txBody>
          </p:sp>
        </mc:Fallback>
      </mc:AlternateContent>
    </p:spTree>
    <p:extLst>
      <p:ext uri="{BB962C8B-B14F-4D97-AF65-F5344CB8AC3E}">
        <p14:creationId xmlns:p14="http://schemas.microsoft.com/office/powerpoint/2010/main" val="156314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B16C0-74C7-45C0-5DB7-62AF75AF5517}"/>
              </a:ext>
            </a:extLst>
          </p:cNvPr>
          <p:cNvSpPr>
            <a:spLocks noGrp="1"/>
          </p:cNvSpPr>
          <p:nvPr>
            <p:ph type="title"/>
          </p:nvPr>
        </p:nvSpPr>
        <p:spPr/>
        <p:txBody>
          <a:bodyPr/>
          <a:lstStyle/>
          <a:p>
            <a:r>
              <a:rPr lang="en-US" dirty="0"/>
              <a:t>So </a:t>
            </a:r>
            <a:r>
              <a:rPr lang="en-US" dirty="0" err="1"/>
              <a:t>sánh</a:t>
            </a:r>
            <a:r>
              <a:rPr lang="en-US" dirty="0"/>
              <a:t> </a:t>
            </a:r>
            <a:r>
              <a:rPr lang="en-US" dirty="0" err="1"/>
              <a:t>mức</a:t>
            </a:r>
            <a:r>
              <a:rPr lang="en-US" dirty="0"/>
              <a:t> </a:t>
            </a:r>
            <a:r>
              <a:rPr lang="en-US" dirty="0" err="1"/>
              <a:t>độ</a:t>
            </a:r>
            <a:r>
              <a:rPr lang="en-US" dirty="0"/>
              <a:t> rung </a:t>
            </a:r>
            <a:r>
              <a:rPr lang="en-US" dirty="0" err="1"/>
              <a:t>động</a:t>
            </a:r>
            <a:endParaRPr lang="en-US" dirty="0"/>
          </a:p>
        </p:txBody>
      </p:sp>
      <p:sp>
        <p:nvSpPr>
          <p:cNvPr id="4" name="Slide Number Placeholder 3">
            <a:extLst>
              <a:ext uri="{FF2B5EF4-FFF2-40B4-BE49-F238E27FC236}">
                <a16:creationId xmlns:a16="http://schemas.microsoft.com/office/drawing/2014/main" id="{853BE65B-A9E4-259E-ED1D-3ADF91FC94F3}"/>
              </a:ext>
            </a:extLst>
          </p:cNvPr>
          <p:cNvSpPr>
            <a:spLocks noGrp="1"/>
          </p:cNvSpPr>
          <p:nvPr>
            <p:ph type="sldNum" sz="quarter" idx="12"/>
          </p:nvPr>
        </p:nvSpPr>
        <p:spPr/>
        <p:txBody>
          <a:bodyPr/>
          <a:lstStyle/>
          <a:p>
            <a:fld id="{9EA0BE3B-158A-4EDF-80DC-E394A0D1600F}" type="slidenum">
              <a:rPr lang="en-US" smtClean="0"/>
              <a:pPr/>
              <a:t>12</a:t>
            </a:fld>
            <a:endParaRPr lang="en-US"/>
          </a:p>
        </p:txBody>
      </p:sp>
      <p:pic>
        <p:nvPicPr>
          <p:cNvPr id="8" name="Picture 7">
            <a:extLst>
              <a:ext uri="{FF2B5EF4-FFF2-40B4-BE49-F238E27FC236}">
                <a16:creationId xmlns:a16="http://schemas.microsoft.com/office/drawing/2014/main" id="{5A5AB750-B065-1593-ED2F-7365BF920A3B}"/>
              </a:ext>
            </a:extLst>
          </p:cNvPr>
          <p:cNvPicPr>
            <a:picLocks noChangeAspect="1"/>
          </p:cNvPicPr>
          <p:nvPr/>
        </p:nvPicPr>
        <p:blipFill>
          <a:blip r:embed="rId2">
            <a:extLst>
              <a:ext uri="{28A0092B-C50C-407E-A947-70E740481C1C}">
                <a14:useLocalDpi xmlns:a14="http://schemas.microsoft.com/office/drawing/2010/main" val="0"/>
              </a:ext>
            </a:extLst>
          </a:blip>
          <a:srcRect t="9220"/>
          <a:stretch>
            <a:fillRect/>
          </a:stretch>
        </p:blipFill>
        <p:spPr>
          <a:xfrm>
            <a:off x="1661683" y="884143"/>
            <a:ext cx="8868633" cy="5420454"/>
          </a:xfrm>
          <a:prstGeom prst="rect">
            <a:avLst/>
          </a:prstGeom>
        </p:spPr>
      </p:pic>
    </p:spTree>
    <p:extLst>
      <p:ext uri="{BB962C8B-B14F-4D97-AF65-F5344CB8AC3E}">
        <p14:creationId xmlns:p14="http://schemas.microsoft.com/office/powerpoint/2010/main" val="1826585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4FB72-47B5-DFC4-6D40-B2D34623BA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4D458E-25C2-80C2-CA0B-2885582F9E86}"/>
              </a:ext>
            </a:extLst>
          </p:cNvPr>
          <p:cNvSpPr>
            <a:spLocks noGrp="1"/>
          </p:cNvSpPr>
          <p:nvPr>
            <p:ph sz="quarter" idx="13"/>
          </p:nvPr>
        </p:nvSpPr>
        <p:spPr/>
        <p:txBody>
          <a:bodyPr/>
          <a:lstStyle/>
          <a:p>
            <a:endParaRPr lang="en-US" b="1" dirty="0">
              <a:solidFill>
                <a:srgbClr val="06D6A0"/>
              </a:solidFill>
              <a:latin typeface="Calibri" pitchFamily="34" charset="0"/>
              <a:ea typeface="Calibri" pitchFamily="34" charset="-122"/>
              <a:cs typeface="Calibri" pitchFamily="34" charset="-120"/>
            </a:endParaRPr>
          </a:p>
          <a:p>
            <a:endParaRPr lang="en-US" b="1" dirty="0">
              <a:solidFill>
                <a:srgbClr val="06D6A0"/>
              </a:solidFill>
              <a:latin typeface="Calibri" pitchFamily="34" charset="0"/>
              <a:ea typeface="Calibri" pitchFamily="34" charset="-122"/>
              <a:cs typeface="Calibri" pitchFamily="34" charset="-120"/>
            </a:endParaRPr>
          </a:p>
          <a:p>
            <a:pPr marL="574675" indent="-515938"/>
            <a:endParaRPr lang="en-US" dirty="0">
              <a:latin typeface="Calibri" pitchFamily="34" charset="0"/>
              <a:ea typeface="Calibri" pitchFamily="34" charset="-122"/>
              <a:cs typeface="Calibri" pitchFamily="34" charset="-120"/>
            </a:endParaRPr>
          </a:p>
          <a:p>
            <a:pPr marL="574675" indent="-515938">
              <a:buFont typeface="Wingdings" panose="05000000000000000000" pitchFamily="2" charset="2"/>
              <a:buChar char="q"/>
            </a:pPr>
            <a:r>
              <a:rPr lang="en-US" sz="2400" dirty="0" err="1">
                <a:latin typeface="+mn-lt"/>
              </a:rPr>
              <a:t>Biến</a:t>
            </a:r>
            <a:r>
              <a:rPr lang="en-US" sz="2400" dirty="0">
                <a:latin typeface="+mn-lt"/>
              </a:rPr>
              <a:t> </a:t>
            </a:r>
            <a:r>
              <a:rPr lang="en-US" sz="2400" dirty="0" err="1">
                <a:latin typeface="+mn-lt"/>
              </a:rPr>
              <a:t>đổi</a:t>
            </a:r>
            <a:r>
              <a:rPr lang="en-US" sz="2400" dirty="0">
                <a:latin typeface="+mn-lt"/>
              </a:rPr>
              <a:t> Fourier </a:t>
            </a:r>
            <a:r>
              <a:rPr lang="en-US" sz="2400" dirty="0" err="1">
                <a:latin typeface="+mn-lt"/>
              </a:rPr>
              <a:t>nhanh</a:t>
            </a:r>
            <a:r>
              <a:rPr lang="en-US" sz="2400" dirty="0">
                <a:latin typeface="+mn-lt"/>
              </a:rPr>
              <a:t> (FFT) </a:t>
            </a:r>
            <a:r>
              <a:rPr lang="en-US" sz="2400" dirty="0">
                <a:latin typeface="+mn-lt"/>
                <a:ea typeface="Calibri" pitchFamily="34" charset="-122"/>
                <a:cs typeface="Calibri" pitchFamily="34" charset="-120"/>
              </a:rPr>
              <a:t>
</a:t>
            </a:r>
            <a:r>
              <a:rPr lang="en-US" sz="2400" dirty="0" err="1">
                <a:latin typeface="+mn-lt"/>
              </a:rPr>
              <a:t>Hạn</a:t>
            </a:r>
            <a:r>
              <a:rPr lang="en-US" sz="2400" dirty="0">
                <a:latin typeface="+mn-lt"/>
              </a:rPr>
              <a:t> </a:t>
            </a:r>
            <a:r>
              <a:rPr lang="en-US" sz="2400" dirty="0" err="1">
                <a:latin typeface="+mn-lt"/>
              </a:rPr>
              <a:t>chế</a:t>
            </a:r>
            <a:r>
              <a:rPr lang="en-US" sz="2400" dirty="0">
                <a:latin typeface="+mn-lt"/>
              </a:rPr>
              <a:t> </a:t>
            </a:r>
            <a:r>
              <a:rPr lang="en-US" sz="2400" dirty="0" err="1">
                <a:latin typeface="+mn-lt"/>
              </a:rPr>
              <a:t>của</a:t>
            </a:r>
            <a:r>
              <a:rPr lang="en-US" sz="2400" dirty="0">
                <a:latin typeface="+mn-lt"/>
              </a:rPr>
              <a:t> FFT </a:t>
            </a:r>
            <a:r>
              <a:rPr lang="en-US" sz="2400" dirty="0" err="1">
                <a:latin typeface="+mn-lt"/>
              </a:rPr>
              <a:t>thô</a:t>
            </a:r>
            <a:r>
              <a:rPr lang="en-US" sz="2400" dirty="0">
                <a:latin typeface="+mn-lt"/>
              </a:rPr>
              <a:t> &amp; </a:t>
            </a:r>
            <a:r>
              <a:rPr lang="en-US" sz="2400" dirty="0" err="1">
                <a:latin typeface="+mn-lt"/>
              </a:rPr>
              <a:t>Cơ</a:t>
            </a:r>
            <a:r>
              <a:rPr lang="en-US" sz="2400" dirty="0">
                <a:latin typeface="+mn-lt"/>
              </a:rPr>
              <a:t> </a:t>
            </a:r>
            <a:r>
              <a:rPr lang="en-US" sz="2400" dirty="0" err="1">
                <a:latin typeface="+mn-lt"/>
              </a:rPr>
              <a:t>chế</a:t>
            </a:r>
            <a:r>
              <a:rPr lang="en-US" sz="2400" dirty="0">
                <a:latin typeface="+mn-lt"/>
              </a:rPr>
              <a:t> </a:t>
            </a:r>
            <a:r>
              <a:rPr lang="en-US" sz="2400" dirty="0" err="1">
                <a:latin typeface="+mn-lt"/>
              </a:rPr>
              <a:t>điều</a:t>
            </a:r>
            <a:r>
              <a:rPr lang="en-US" sz="2400" dirty="0">
                <a:latin typeface="+mn-lt"/>
              </a:rPr>
              <a:t> </a:t>
            </a:r>
            <a:r>
              <a:rPr lang="en-US" sz="2400" dirty="0" err="1">
                <a:latin typeface="+mn-lt"/>
              </a:rPr>
              <a:t>biên</a:t>
            </a:r>
            <a:r>
              <a:rPr lang="en-US" sz="2400" dirty="0">
                <a:latin typeface="+mn-lt"/>
              </a:rPr>
              <a:t> </a:t>
            </a:r>
            <a:r>
              <a:rPr lang="en-US" sz="2400" dirty="0">
                <a:latin typeface="+mn-lt"/>
                <a:ea typeface="Calibri" pitchFamily="34" charset="-122"/>
                <a:cs typeface="Calibri" pitchFamily="34" charset="-120"/>
              </a:rPr>
              <a:t>
</a:t>
            </a:r>
            <a:r>
              <a:rPr lang="en-US" sz="2400" dirty="0" err="1">
                <a:latin typeface="+mn-lt"/>
              </a:rPr>
              <a:t>Kỹ</a:t>
            </a:r>
            <a:r>
              <a:rPr lang="en-US" sz="2400" dirty="0">
                <a:latin typeface="+mn-lt"/>
              </a:rPr>
              <a:t> </a:t>
            </a:r>
            <a:r>
              <a:rPr lang="en-US" sz="2400" dirty="0" err="1">
                <a:latin typeface="+mn-lt"/>
              </a:rPr>
              <a:t>thuật</a:t>
            </a:r>
            <a:r>
              <a:rPr lang="en-US" sz="2400" dirty="0">
                <a:latin typeface="+mn-lt"/>
              </a:rPr>
              <a:t> </a:t>
            </a:r>
            <a:r>
              <a:rPr lang="en-US" sz="2400" dirty="0" err="1">
                <a:latin typeface="+mn-lt"/>
              </a:rPr>
              <a:t>phân</a:t>
            </a:r>
            <a:r>
              <a:rPr lang="en-US" sz="2400" dirty="0">
                <a:latin typeface="+mn-lt"/>
              </a:rPr>
              <a:t> </a:t>
            </a:r>
            <a:r>
              <a:rPr lang="en-US" sz="2400" dirty="0" err="1">
                <a:latin typeface="+mn-lt"/>
              </a:rPr>
              <a:t>tích</a:t>
            </a:r>
            <a:r>
              <a:rPr lang="en-US" sz="2400" dirty="0">
                <a:latin typeface="+mn-lt"/>
              </a:rPr>
              <a:t> </a:t>
            </a:r>
            <a:r>
              <a:rPr lang="en-US" sz="2400" dirty="0" err="1">
                <a:latin typeface="+mn-lt"/>
              </a:rPr>
              <a:t>phổ</a:t>
            </a:r>
            <a:r>
              <a:rPr lang="en-US" sz="2400" dirty="0">
                <a:latin typeface="+mn-lt"/>
              </a:rPr>
              <a:t> bao </a:t>
            </a:r>
            <a:r>
              <a:rPr lang="en-US" sz="2400" dirty="0">
                <a:latin typeface="+mn-lt"/>
                <a:ea typeface="Calibri" pitchFamily="34" charset="-122"/>
                <a:cs typeface="Calibri" pitchFamily="34" charset="-120"/>
              </a:rPr>
              <a:t>
</a:t>
            </a:r>
            <a:r>
              <a:rPr lang="en-US" sz="2400" dirty="0" err="1">
                <a:latin typeface="+mn-lt"/>
              </a:rPr>
              <a:t>Nhận</a:t>
            </a:r>
            <a:r>
              <a:rPr lang="en-US" sz="2400" dirty="0">
                <a:latin typeface="+mn-lt"/>
              </a:rPr>
              <a:t> </a:t>
            </a:r>
            <a:r>
              <a:rPr lang="en-US" sz="2400" dirty="0" err="1">
                <a:latin typeface="+mn-lt"/>
              </a:rPr>
              <a:t>diện</a:t>
            </a:r>
            <a:r>
              <a:rPr lang="en-US" sz="2400" dirty="0">
                <a:latin typeface="+mn-lt"/>
              </a:rPr>
              <a:t> </a:t>
            </a:r>
            <a:r>
              <a:rPr lang="en-US" sz="2400" dirty="0" err="1">
                <a:latin typeface="+mn-lt"/>
              </a:rPr>
              <a:t>tần</a:t>
            </a:r>
            <a:r>
              <a:rPr lang="en-US" sz="2400" dirty="0">
                <a:latin typeface="+mn-lt"/>
              </a:rPr>
              <a:t> </a:t>
            </a:r>
            <a:r>
              <a:rPr lang="en-US" sz="2400" dirty="0" err="1">
                <a:latin typeface="+mn-lt"/>
              </a:rPr>
              <a:t>số</a:t>
            </a:r>
            <a:r>
              <a:rPr lang="en-US" sz="2400" dirty="0">
                <a:latin typeface="+mn-lt"/>
              </a:rPr>
              <a:t> </a:t>
            </a:r>
            <a:r>
              <a:rPr lang="en-US" sz="2400" dirty="0" err="1">
                <a:latin typeface="+mn-lt"/>
              </a:rPr>
              <a:t>lỗi</a:t>
            </a:r>
            <a:r>
              <a:rPr lang="en-US" sz="2400" dirty="0">
                <a:latin typeface="+mn-lt"/>
              </a:rPr>
              <a:t> </a:t>
            </a:r>
            <a:r>
              <a:rPr lang="en-US" sz="2400" dirty="0" err="1">
                <a:latin typeface="+mn-lt"/>
              </a:rPr>
              <a:t>đặc</a:t>
            </a:r>
            <a:r>
              <a:rPr lang="en-US" sz="2400" dirty="0">
                <a:latin typeface="+mn-lt"/>
              </a:rPr>
              <a:t> </a:t>
            </a:r>
            <a:r>
              <a:rPr lang="en-US" sz="2400" dirty="0" err="1">
                <a:latin typeface="+mn-lt"/>
              </a:rPr>
              <a:t>trưng</a:t>
            </a:r>
            <a:endParaRPr lang="en-US" sz="2400" dirty="0">
              <a:latin typeface="+mn-lt"/>
            </a:endParaRPr>
          </a:p>
          <a:p>
            <a:pPr marL="0" indent="0">
              <a:buNone/>
            </a:pPr>
            <a:endParaRPr lang="en-US" dirty="0"/>
          </a:p>
        </p:txBody>
      </p:sp>
      <p:sp>
        <p:nvSpPr>
          <p:cNvPr id="3" name="Title 2">
            <a:extLst>
              <a:ext uri="{FF2B5EF4-FFF2-40B4-BE49-F238E27FC236}">
                <a16:creationId xmlns:a16="http://schemas.microsoft.com/office/drawing/2014/main" id="{3C535F1C-8F5E-12BB-C8CC-CADEA660B025}"/>
              </a:ext>
            </a:extLst>
          </p:cNvPr>
          <p:cNvSpPr>
            <a:spLocks noGrp="1"/>
          </p:cNvSpPr>
          <p:nvPr>
            <p:ph type="title"/>
          </p:nvPr>
        </p:nvSpPr>
        <p:spPr/>
        <p:txBody>
          <a:bodyPr/>
          <a:lstStyle/>
          <a:p>
            <a:pPr algn="ctr"/>
            <a:r>
              <a:rPr lang="en-US" sz="3500" dirty="0" err="1">
                <a:latin typeface="Calibri" pitchFamily="34" charset="0"/>
                <a:ea typeface="Calibri" pitchFamily="34" charset="-122"/>
                <a:cs typeface="Calibri" pitchFamily="34" charset="-120"/>
              </a:rPr>
              <a:t>Phân</a:t>
            </a:r>
            <a:r>
              <a:rPr lang="en-US" sz="3500" dirty="0">
                <a:latin typeface="Calibri" pitchFamily="34" charset="0"/>
                <a:ea typeface="Calibri" pitchFamily="34" charset="-122"/>
                <a:cs typeface="Calibri" pitchFamily="34" charset="-120"/>
              </a:rPr>
              <a:t> </a:t>
            </a:r>
            <a:r>
              <a:rPr lang="en-US" sz="3500" dirty="0" err="1">
                <a:latin typeface="Calibri" pitchFamily="34" charset="0"/>
                <a:ea typeface="Calibri" pitchFamily="34" charset="-122"/>
                <a:cs typeface="Calibri" pitchFamily="34" charset="-120"/>
              </a:rPr>
              <a:t>tích</a:t>
            </a:r>
            <a:r>
              <a:rPr lang="en-US" sz="3500" dirty="0">
                <a:latin typeface="Calibri" pitchFamily="34" charset="0"/>
                <a:ea typeface="Calibri" pitchFamily="34" charset="-122"/>
                <a:cs typeface="Calibri" pitchFamily="34" charset="-120"/>
              </a:rPr>
              <a:t> </a:t>
            </a:r>
            <a:r>
              <a:rPr lang="en-US" sz="3500" dirty="0" err="1">
                <a:latin typeface="Calibri" pitchFamily="34" charset="0"/>
                <a:ea typeface="Calibri" pitchFamily="34" charset="-122"/>
                <a:cs typeface="Calibri" pitchFamily="34" charset="-120"/>
              </a:rPr>
              <a:t>tần</a:t>
            </a:r>
            <a:r>
              <a:rPr lang="en-US" sz="3500" dirty="0">
                <a:latin typeface="Calibri" pitchFamily="34" charset="0"/>
                <a:ea typeface="Calibri" pitchFamily="34" charset="-122"/>
                <a:cs typeface="Calibri" pitchFamily="34" charset="-120"/>
              </a:rPr>
              <a:t> </a:t>
            </a:r>
            <a:r>
              <a:rPr lang="en-US" sz="3500" dirty="0" err="1">
                <a:latin typeface="Calibri" pitchFamily="34" charset="0"/>
                <a:ea typeface="Calibri" pitchFamily="34" charset="-122"/>
                <a:cs typeface="Calibri" pitchFamily="34" charset="-120"/>
              </a:rPr>
              <a:t>số</a:t>
            </a:r>
            <a:br>
              <a:rPr lang="en-US" dirty="0">
                <a:latin typeface="Calibri" pitchFamily="34" charset="0"/>
                <a:ea typeface="Calibri" pitchFamily="34" charset="-122"/>
                <a:cs typeface="Calibri" pitchFamily="34" charset="-120"/>
              </a:rPr>
            </a:br>
            <a:r>
              <a:rPr lang="en-US" sz="1800" b="0" i="1" dirty="0">
                <a:latin typeface="Calibri" pitchFamily="34" charset="0"/>
                <a:ea typeface="Calibri" pitchFamily="34" charset="-122"/>
                <a:cs typeface="Calibri" pitchFamily="34" charset="-120"/>
              </a:rPr>
              <a:t>FFT · Envelope Analysis</a:t>
            </a:r>
            <a:br>
              <a:rPr lang="en-US" sz="1800" b="0" i="1" dirty="0"/>
            </a:br>
            <a:endParaRPr lang="en-US" b="0" dirty="0"/>
          </a:p>
        </p:txBody>
      </p:sp>
      <p:sp>
        <p:nvSpPr>
          <p:cNvPr id="4" name="Slide Number Placeholder 3">
            <a:extLst>
              <a:ext uri="{FF2B5EF4-FFF2-40B4-BE49-F238E27FC236}">
                <a16:creationId xmlns:a16="http://schemas.microsoft.com/office/drawing/2014/main" id="{9775E945-D0F4-E0A6-1DF0-17A3EA7297DE}"/>
              </a:ext>
            </a:extLst>
          </p:cNvPr>
          <p:cNvSpPr>
            <a:spLocks noGrp="1"/>
          </p:cNvSpPr>
          <p:nvPr>
            <p:ph type="sldNum" sz="quarter" idx="12"/>
          </p:nvPr>
        </p:nvSpPr>
        <p:spPr/>
        <p:txBody>
          <a:bodyPr/>
          <a:lstStyle/>
          <a:p>
            <a:fld id="{9EA0BE3B-158A-4EDF-80DC-E394A0D1600F}" type="slidenum">
              <a:rPr lang="en-US" smtClean="0"/>
              <a:pPr/>
              <a:t>13</a:t>
            </a:fld>
            <a:endParaRPr lang="en-US"/>
          </a:p>
        </p:txBody>
      </p:sp>
    </p:spTree>
    <p:extLst>
      <p:ext uri="{BB962C8B-B14F-4D97-AF65-F5344CB8AC3E}">
        <p14:creationId xmlns:p14="http://schemas.microsoft.com/office/powerpoint/2010/main" val="2159627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B13FC3-CEF3-4172-FDE5-1AF8DE94A21E}"/>
              </a:ext>
            </a:extLst>
          </p:cNvPr>
          <p:cNvSpPr>
            <a:spLocks noGrp="1"/>
          </p:cNvSpPr>
          <p:nvPr>
            <p:ph type="title"/>
          </p:nvPr>
        </p:nvSpPr>
        <p:spPr/>
        <p:txBody>
          <a:bodyPr/>
          <a:lstStyle/>
          <a:p>
            <a:r>
              <a:rPr lang="en-US" dirty="0" err="1"/>
              <a:t>Biến</a:t>
            </a:r>
            <a:r>
              <a:rPr lang="en-US" dirty="0"/>
              <a:t> </a:t>
            </a:r>
            <a:r>
              <a:rPr lang="en-US" dirty="0" err="1"/>
              <a:t>đổi</a:t>
            </a:r>
            <a:r>
              <a:rPr lang="en-US" dirty="0"/>
              <a:t> Fourier</a:t>
            </a:r>
          </a:p>
        </p:txBody>
      </p:sp>
      <p:sp>
        <p:nvSpPr>
          <p:cNvPr id="2" name="Slide Number Placeholder 1">
            <a:extLst>
              <a:ext uri="{FF2B5EF4-FFF2-40B4-BE49-F238E27FC236}">
                <a16:creationId xmlns:a16="http://schemas.microsoft.com/office/drawing/2014/main" id="{FDBC4A59-5BA4-D0B1-7322-947B975DA0D3}"/>
              </a:ext>
            </a:extLst>
          </p:cNvPr>
          <p:cNvSpPr>
            <a:spLocks noGrp="1"/>
          </p:cNvSpPr>
          <p:nvPr>
            <p:ph type="sldNum" sz="quarter" idx="12"/>
          </p:nvPr>
        </p:nvSpPr>
        <p:spPr/>
        <p:txBody>
          <a:bodyPr/>
          <a:lstStyle/>
          <a:p>
            <a:fld id="{9EA0BE3B-158A-4EDF-80DC-E394A0D1600F}" type="slidenum">
              <a:rPr lang="en-US" smtClean="0"/>
              <a:pPr/>
              <a:t>14</a:t>
            </a:fld>
            <a:endParaRPr lang="en-US"/>
          </a:p>
        </p:txBody>
      </p:sp>
      <p:pic>
        <p:nvPicPr>
          <p:cNvPr id="7" name="vidssave.com Fourier Transform Explained in 90 Seconds 360P">
            <a:hlinkClick r:id="" action="ppaction://media"/>
            <a:extLst>
              <a:ext uri="{FF2B5EF4-FFF2-40B4-BE49-F238E27FC236}">
                <a16:creationId xmlns:a16="http://schemas.microsoft.com/office/drawing/2014/main" id="{0E5A35D2-8FEE-A515-80E5-D8D7279A552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092954" y="1240882"/>
            <a:ext cx="3158248" cy="4559751"/>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66D4722E-A3D9-55A8-3333-734AE3592D02}"/>
                  </a:ext>
                </a:extLst>
              </p:cNvPr>
              <p:cNvSpPr txBox="1"/>
              <p:nvPr/>
            </p:nvSpPr>
            <p:spPr>
              <a:xfrm>
                <a:off x="397103" y="1007416"/>
                <a:ext cx="6937553" cy="5026441"/>
              </a:xfrm>
              <a:prstGeom prst="rect">
                <a:avLst/>
              </a:prstGeom>
              <a:noFill/>
            </p:spPr>
            <p:txBody>
              <a:bodyPr wrap="square" rtlCol="0">
                <a:spAutoFit/>
              </a:bodyPr>
              <a:lstStyle/>
              <a:p>
                <a:r>
                  <a:rPr lang="en-US" dirty="0"/>
                  <a:t>Công </a:t>
                </a:r>
                <a:r>
                  <a:rPr lang="en-US" dirty="0" err="1"/>
                  <a:t>cụ</a:t>
                </a:r>
                <a:r>
                  <a:rPr lang="en-US" dirty="0"/>
                  <a:t> </a:t>
                </a:r>
                <a:r>
                  <a:rPr lang="en-US" dirty="0" err="1"/>
                  <a:t>toán</a:t>
                </a:r>
                <a:r>
                  <a:rPr lang="en-US" dirty="0"/>
                  <a:t> </a:t>
                </a:r>
                <a:r>
                  <a:rPr lang="en-US" dirty="0" err="1"/>
                  <a:t>học</a:t>
                </a:r>
                <a:r>
                  <a:rPr lang="en-US" dirty="0"/>
                  <a:t> </a:t>
                </a:r>
                <a:r>
                  <a:rPr lang="en-US" dirty="0" err="1"/>
                  <a:t>nền</a:t>
                </a:r>
                <a:r>
                  <a:rPr lang="en-US" dirty="0"/>
                  <a:t> </a:t>
                </a:r>
                <a:r>
                  <a:rPr lang="en-US" dirty="0" err="1"/>
                  <a:t>tảng</a:t>
                </a:r>
                <a:r>
                  <a:rPr lang="en-US" dirty="0"/>
                  <a:t> </a:t>
                </a:r>
                <a:r>
                  <a:rPr lang="en-US" dirty="0" err="1"/>
                  <a:t>giúp</a:t>
                </a:r>
                <a:r>
                  <a:rPr lang="en-US" dirty="0"/>
                  <a:t> </a:t>
                </a:r>
                <a:r>
                  <a:rPr lang="en-US" dirty="0" err="1"/>
                  <a:t>chuyển</a:t>
                </a:r>
                <a:r>
                  <a:rPr lang="en-US" dirty="0"/>
                  <a:t> </a:t>
                </a:r>
                <a:r>
                  <a:rPr lang="en-US" dirty="0" err="1"/>
                  <a:t>đổi</a:t>
                </a:r>
                <a:r>
                  <a:rPr lang="en-US" dirty="0"/>
                  <a:t> </a:t>
                </a:r>
                <a:r>
                  <a:rPr lang="en-US" dirty="0" err="1"/>
                  <a:t>tín</a:t>
                </a:r>
                <a:r>
                  <a:rPr lang="en-US" dirty="0"/>
                  <a:t> </a:t>
                </a:r>
                <a:r>
                  <a:rPr lang="en-US" dirty="0" err="1"/>
                  <a:t>hiệu</a:t>
                </a:r>
                <a:r>
                  <a:rPr lang="en-US" dirty="0"/>
                  <a:t> </a:t>
                </a:r>
                <a:r>
                  <a:rPr lang="en-US" dirty="0" err="1"/>
                  <a:t>từ</a:t>
                </a:r>
                <a:r>
                  <a:rPr lang="en-US" dirty="0"/>
                  <a:t> </a:t>
                </a:r>
                <a:r>
                  <a:rPr lang="en-US" b="1" dirty="0" err="1"/>
                  <a:t>miền</a:t>
                </a:r>
                <a:r>
                  <a:rPr lang="en-US" b="1" dirty="0"/>
                  <a:t> </a:t>
                </a:r>
                <a:r>
                  <a:rPr lang="en-US" b="1" dirty="0" err="1"/>
                  <a:t>thời</a:t>
                </a:r>
                <a:r>
                  <a:rPr lang="en-US" b="1" dirty="0"/>
                  <a:t> </a:t>
                </a:r>
                <a:r>
                  <a:rPr lang="en-US" b="1" dirty="0" err="1"/>
                  <a:t>gian</a:t>
                </a:r>
                <a:r>
                  <a:rPr lang="en-US" dirty="0"/>
                  <a:t> sang </a:t>
                </a:r>
                <a:r>
                  <a:rPr lang="en-US" b="1" dirty="0" err="1"/>
                  <a:t>miền</a:t>
                </a:r>
                <a:r>
                  <a:rPr lang="en-US" b="1" dirty="0"/>
                  <a:t> </a:t>
                </a:r>
                <a:r>
                  <a:rPr lang="en-US" b="1" dirty="0" err="1"/>
                  <a:t>tần</a:t>
                </a:r>
                <a:r>
                  <a:rPr lang="en-US" b="1" dirty="0"/>
                  <a:t> </a:t>
                </a:r>
                <a:r>
                  <a:rPr lang="en-US" b="1" dirty="0" err="1"/>
                  <a:t>số</a:t>
                </a:r>
                <a:r>
                  <a:rPr lang="en-US" dirty="0"/>
                  <a:t> </a:t>
                </a:r>
                <a:r>
                  <a:rPr lang="en-US" dirty="0" err="1"/>
                  <a:t>nhằm</a:t>
                </a:r>
                <a:r>
                  <a:rPr lang="en-US" dirty="0"/>
                  <a:t> </a:t>
                </a:r>
                <a:r>
                  <a:rPr lang="en-US" dirty="0" err="1"/>
                  <a:t>tách</a:t>
                </a:r>
                <a:r>
                  <a:rPr lang="en-US" dirty="0"/>
                  <a:t> </a:t>
                </a:r>
                <a:r>
                  <a:rPr lang="en-US" dirty="0" err="1"/>
                  <a:t>biệt</a:t>
                </a:r>
                <a:r>
                  <a:rPr lang="en-US" dirty="0"/>
                  <a:t> </a:t>
                </a:r>
                <a:r>
                  <a:rPr lang="en-US" dirty="0" err="1"/>
                  <a:t>và</a:t>
                </a:r>
                <a:r>
                  <a:rPr lang="en-US" dirty="0"/>
                  <a:t> </a:t>
                </a:r>
                <a:r>
                  <a:rPr lang="en-US" dirty="0" err="1"/>
                  <a:t>bộc</a:t>
                </a:r>
                <a:r>
                  <a:rPr lang="en-US" dirty="0"/>
                  <a:t> </a:t>
                </a:r>
                <a:r>
                  <a:rPr lang="en-US" dirty="0" err="1"/>
                  <a:t>lộ</a:t>
                </a:r>
                <a:r>
                  <a:rPr lang="en-US" dirty="0"/>
                  <a:t> </a:t>
                </a:r>
                <a:r>
                  <a:rPr lang="en-US" dirty="0" err="1"/>
                  <a:t>bản</a:t>
                </a:r>
                <a:r>
                  <a:rPr lang="en-US" dirty="0"/>
                  <a:t> </a:t>
                </a:r>
                <a:r>
                  <a:rPr lang="en-US" dirty="0" err="1"/>
                  <a:t>chất</a:t>
                </a:r>
                <a:r>
                  <a:rPr lang="en-US" dirty="0"/>
                  <a:t> </a:t>
                </a:r>
                <a:r>
                  <a:rPr lang="en-US" dirty="0" err="1"/>
                  <a:t>các</a:t>
                </a:r>
                <a:r>
                  <a:rPr lang="en-US" dirty="0"/>
                  <a:t> </a:t>
                </a:r>
                <a:r>
                  <a:rPr lang="en-US" dirty="0" err="1"/>
                  <a:t>thành</a:t>
                </a:r>
                <a:r>
                  <a:rPr lang="en-US" dirty="0"/>
                  <a:t> </a:t>
                </a:r>
                <a:r>
                  <a:rPr lang="en-US" dirty="0" err="1"/>
                  <a:t>phần</a:t>
                </a:r>
                <a:r>
                  <a:rPr lang="en-US" dirty="0"/>
                  <a:t> dao </a:t>
                </a:r>
                <a:r>
                  <a:rPr lang="en-US" dirty="0" err="1"/>
                  <a:t>động</a:t>
                </a:r>
                <a:r>
                  <a:rPr lang="en-US" dirty="0"/>
                  <a:t> </a:t>
                </a:r>
                <a:r>
                  <a:rPr lang="en-US" dirty="0" err="1"/>
                  <a:t>cơ</a:t>
                </a:r>
                <a:r>
                  <a:rPr lang="en-US" dirty="0"/>
                  <a:t> </a:t>
                </a:r>
                <a:r>
                  <a:rPr lang="en-US" dirty="0" err="1"/>
                  <a:t>khí</a:t>
                </a:r>
                <a:r>
                  <a:rPr lang="en-US" dirty="0"/>
                  <a:t>.</a:t>
                </a:r>
              </a:p>
              <a:p>
                <a:endParaRPr lang="en-US" dirty="0"/>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i="1">
                              <a:latin typeface="Cambria Math" panose="02040503050406030204" pitchFamily="18" charset="0"/>
                            </a:rPr>
                            <m:t>𝑦</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e>
                      </m:nary>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𝑗</m:t>
                          </m:r>
                          <m:f>
                            <m:fPr>
                              <m:ctrlPr>
                                <a:rPr lang="en-US" i="1">
                                  <a:latin typeface="Cambria Math" panose="02040503050406030204" pitchFamily="18" charset="0"/>
                                </a:rPr>
                              </m:ctrlPr>
                            </m:fPr>
                            <m:num>
                              <m:r>
                                <a:rPr lang="en-US" i="1">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𝑘𝑛</m:t>
                              </m:r>
                            </m:num>
                            <m:den>
                              <m:r>
                                <a:rPr lang="en-US" i="1">
                                  <a:latin typeface="Cambria Math" panose="02040503050406030204" pitchFamily="18" charset="0"/>
                                </a:rPr>
                                <m:t>𝑁</m:t>
                              </m:r>
                            </m:den>
                          </m:f>
                        </m:sup>
                      </m:sSup>
                    </m:oMath>
                  </m:oMathPara>
                </a14:m>
                <a:endParaRPr lang="en-US" dirty="0"/>
              </a:p>
              <a:p>
                <a:endParaRPr lang="en-US" dirty="0"/>
              </a:p>
              <a:p>
                <a:pPr marL="2857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 </m:t>
                    </m:r>
                  </m:oMath>
                </a14:m>
                <a:r>
                  <a:rPr lang="en-US" dirty="0" err="1"/>
                  <a:t>Tín</a:t>
                </a:r>
                <a:r>
                  <a:rPr lang="en-US" dirty="0"/>
                  <a:t> </a:t>
                </a:r>
                <a:r>
                  <a:rPr lang="en-US" dirty="0" err="1"/>
                  <a:t>hiệu</a:t>
                </a:r>
                <a:r>
                  <a:rPr lang="en-US" dirty="0"/>
                  <a:t> rung </a:t>
                </a:r>
                <a:r>
                  <a:rPr lang="en-US" dirty="0" err="1"/>
                  <a:t>động</a:t>
                </a:r>
                <a:r>
                  <a:rPr lang="en-US" dirty="0"/>
                  <a:t> </a:t>
                </a:r>
                <a:r>
                  <a:rPr lang="en-US" dirty="0" err="1"/>
                  <a:t>rời</a:t>
                </a:r>
                <a:r>
                  <a:rPr lang="en-US" dirty="0"/>
                  <a:t> </a:t>
                </a:r>
                <a:r>
                  <a:rPr lang="en-US" dirty="0" err="1"/>
                  <a:t>rạc</a:t>
                </a:r>
                <a:r>
                  <a:rPr lang="en-US" dirty="0"/>
                  <a:t> </a:t>
                </a:r>
                <a:r>
                  <a:rPr lang="en-US" dirty="0" err="1"/>
                  <a:t>trong</a:t>
                </a:r>
                <a:r>
                  <a:rPr lang="en-US" dirty="0"/>
                  <a:t> </a:t>
                </a:r>
                <a:r>
                  <a:rPr lang="en-US" dirty="0" err="1"/>
                  <a:t>miền</a:t>
                </a:r>
                <a:r>
                  <a:rPr lang="en-US" dirty="0"/>
                  <a:t> </a:t>
                </a:r>
                <a:r>
                  <a:rPr lang="en-US" dirty="0" err="1"/>
                  <a:t>thời</a:t>
                </a:r>
                <a:r>
                  <a:rPr lang="en-US" dirty="0"/>
                  <a:t> </a:t>
                </a:r>
                <a:r>
                  <a:rPr lang="en-US" dirty="0" err="1"/>
                  <a:t>gian</a:t>
                </a:r>
                <a:r>
                  <a:rPr lang="en-US" dirty="0"/>
                  <a:t>.</a:t>
                </a:r>
              </a:p>
              <a:p>
                <a:pPr marL="2857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𝑌</m:t>
                    </m:r>
                    <m:r>
                      <a:rPr lang="en-US" i="1" dirty="0">
                        <a:latin typeface="Cambria Math" panose="02040503050406030204" pitchFamily="18" charset="0"/>
                      </a:rPr>
                      <m:t>[</m:t>
                    </m:r>
                    <m:r>
                      <a:rPr lang="en-US" i="1" dirty="0">
                        <a:latin typeface="Cambria Math" panose="02040503050406030204" pitchFamily="18" charset="0"/>
                      </a:rPr>
                      <m:t>𝑘</m:t>
                    </m:r>
                    <m:r>
                      <a:rPr lang="en-US" i="1" dirty="0" smtClean="0">
                        <a:latin typeface="Cambria Math" panose="02040503050406030204" pitchFamily="18" charset="0"/>
                      </a:rPr>
                      <m:t>]</m:t>
                    </m:r>
                  </m:oMath>
                </a14:m>
                <a:r>
                  <a:rPr lang="en-US" dirty="0"/>
                  <a:t>: </a:t>
                </a:r>
                <a:r>
                  <a:rPr lang="en-US" dirty="0" err="1"/>
                  <a:t>Biên</a:t>
                </a:r>
                <a:r>
                  <a:rPr lang="en-US" dirty="0"/>
                  <a:t> </a:t>
                </a:r>
                <a:r>
                  <a:rPr lang="en-US" dirty="0" err="1"/>
                  <a:t>độ</a:t>
                </a:r>
                <a:r>
                  <a:rPr lang="en-US" dirty="0"/>
                  <a:t> </a:t>
                </a:r>
                <a:r>
                  <a:rPr lang="en-US" dirty="0" err="1"/>
                  <a:t>phổ</a:t>
                </a:r>
                <a:r>
                  <a:rPr lang="en-US" dirty="0"/>
                  <a:t> </a:t>
                </a:r>
                <a:r>
                  <a:rPr lang="en-US" dirty="0" err="1"/>
                  <a:t>tương</a:t>
                </a:r>
                <a:r>
                  <a:rPr lang="en-US" dirty="0"/>
                  <a:t> </a:t>
                </a:r>
                <a:r>
                  <a:rPr lang="en-US" dirty="0" err="1"/>
                  <a:t>ứng</a:t>
                </a:r>
                <a:r>
                  <a:rPr lang="en-US" dirty="0"/>
                  <a:t> </a:t>
                </a:r>
                <a:r>
                  <a:rPr lang="en-US" dirty="0" err="1"/>
                  <a:t>trong</a:t>
                </a:r>
                <a:r>
                  <a:rPr lang="en-US" dirty="0"/>
                  <a:t> </a:t>
                </a:r>
                <a:r>
                  <a:rPr lang="en-US" dirty="0" err="1"/>
                  <a:t>miền</a:t>
                </a:r>
                <a:r>
                  <a:rPr lang="en-US" dirty="0"/>
                  <a:t> </a:t>
                </a:r>
                <a:r>
                  <a:rPr lang="en-US" dirty="0" err="1"/>
                  <a:t>tần</a:t>
                </a:r>
                <a:r>
                  <a:rPr lang="en-US" dirty="0"/>
                  <a:t> </a:t>
                </a:r>
                <a:r>
                  <a:rPr lang="en-US" dirty="0" err="1"/>
                  <a:t>số</a:t>
                </a:r>
                <a:r>
                  <a:rPr lang="en-US" dirty="0"/>
                  <a:t>.</a:t>
                </a:r>
              </a:p>
              <a:p>
                <a:pPr marL="285750" indent="-285750">
                  <a:buFont typeface="Arial" panose="020B0604020202020204" pitchFamily="34" charset="0"/>
                  <a:buChar char="•"/>
                </a:pPr>
                <a:endParaRPr lang="en-US" dirty="0"/>
              </a:p>
              <a:p>
                <a:endParaRPr lang="en-US" dirty="0"/>
              </a:p>
              <a:p>
                <a:r>
                  <a:rPr lang="en-US" b="1" dirty="0" err="1"/>
                  <a:t>Giá</a:t>
                </a:r>
                <a:r>
                  <a:rPr lang="en-US" b="1" dirty="0"/>
                  <a:t> </a:t>
                </a:r>
                <a:r>
                  <a:rPr lang="en-US" b="1" dirty="0" err="1"/>
                  <a:t>trị</a:t>
                </a:r>
                <a:r>
                  <a:rPr lang="en-US" b="1" dirty="0"/>
                  <a:t> </a:t>
                </a:r>
                <a:r>
                  <a:rPr lang="en-US" b="1" dirty="0" err="1"/>
                  <a:t>chẩn</a:t>
                </a:r>
                <a:r>
                  <a:rPr lang="en-US" b="1" dirty="0"/>
                  <a:t> </a:t>
                </a:r>
                <a:r>
                  <a:rPr lang="en-US" b="1" dirty="0" err="1"/>
                  <a:t>đoán</a:t>
                </a:r>
                <a:r>
                  <a:rPr lang="en-US" b="1" dirty="0"/>
                  <a:t>:</a:t>
                </a:r>
              </a:p>
              <a:p>
                <a:pPr marL="285750" indent="-285750">
                  <a:buFont typeface="Arial" panose="020B0604020202020204" pitchFamily="34" charset="0"/>
                  <a:buChar char="•"/>
                </a:pPr>
                <a:r>
                  <a:rPr lang="en-US" b="1" dirty="0" err="1"/>
                  <a:t>Tách</a:t>
                </a:r>
                <a:r>
                  <a:rPr lang="en-US" b="1" dirty="0"/>
                  <a:t> </a:t>
                </a:r>
                <a:r>
                  <a:rPr lang="en-US" b="1" dirty="0" err="1"/>
                  <a:t>phổ</a:t>
                </a:r>
                <a:r>
                  <a:rPr lang="en-US" b="1" dirty="0"/>
                  <a:t>:</a:t>
                </a:r>
                <a:r>
                  <a:rPr lang="en-US" dirty="0"/>
                  <a:t> </a:t>
                </a:r>
                <a:r>
                  <a:rPr lang="en-US" dirty="0" err="1"/>
                  <a:t>Mọi</a:t>
                </a:r>
                <a:r>
                  <a:rPr lang="en-US" dirty="0"/>
                  <a:t> </a:t>
                </a:r>
                <a:r>
                  <a:rPr lang="en-US" dirty="0" err="1"/>
                  <a:t>tín</a:t>
                </a:r>
                <a:r>
                  <a:rPr lang="en-US" dirty="0"/>
                  <a:t> </a:t>
                </a:r>
                <a:r>
                  <a:rPr lang="en-US" dirty="0" err="1"/>
                  <a:t>hiệu</a:t>
                </a:r>
                <a:r>
                  <a:rPr lang="en-US" dirty="0"/>
                  <a:t> </a:t>
                </a:r>
                <a:r>
                  <a:rPr lang="en-US" dirty="0" err="1"/>
                  <a:t>phức</a:t>
                </a:r>
                <a:r>
                  <a:rPr lang="en-US" dirty="0"/>
                  <a:t> </a:t>
                </a:r>
                <a:r>
                  <a:rPr lang="en-US" dirty="0" err="1"/>
                  <a:t>tạp</a:t>
                </a:r>
                <a:r>
                  <a:rPr lang="en-US" dirty="0"/>
                  <a:t> </a:t>
                </a:r>
                <a:r>
                  <a:rPr lang="en-US" dirty="0" err="1"/>
                  <a:t>đều</a:t>
                </a:r>
                <a:r>
                  <a:rPr lang="en-US" dirty="0"/>
                  <a:t> </a:t>
                </a:r>
                <a:r>
                  <a:rPr lang="en-US" dirty="0" err="1"/>
                  <a:t>là</a:t>
                </a:r>
                <a:r>
                  <a:rPr lang="en-US" dirty="0"/>
                  <a:t> </a:t>
                </a:r>
                <a:r>
                  <a:rPr lang="en-US" dirty="0" err="1"/>
                  <a:t>tổng</a:t>
                </a:r>
                <a:r>
                  <a:rPr lang="en-US" dirty="0"/>
                  <a:t> </a:t>
                </a:r>
                <a:r>
                  <a:rPr lang="en-US" dirty="0" err="1"/>
                  <a:t>hợp</a:t>
                </a:r>
                <a:r>
                  <a:rPr lang="en-US" dirty="0"/>
                  <a:t> </a:t>
                </a:r>
                <a:r>
                  <a:rPr lang="en-US" dirty="0" err="1"/>
                  <a:t>của</a:t>
                </a:r>
                <a:r>
                  <a:rPr lang="en-US" dirty="0"/>
                  <a:t> </a:t>
                </a:r>
                <a:r>
                  <a:rPr lang="en-US" dirty="0" err="1"/>
                  <a:t>các</a:t>
                </a:r>
                <a:r>
                  <a:rPr lang="en-US" dirty="0"/>
                  <a:t> </a:t>
                </a:r>
                <a:r>
                  <a:rPr lang="en-US" dirty="0" err="1"/>
                  <a:t>sóng</a:t>
                </a:r>
                <a:r>
                  <a:rPr lang="en-US" dirty="0"/>
                  <a:t> sin </a:t>
                </a:r>
                <a:r>
                  <a:rPr lang="en-US" dirty="0" err="1"/>
                  <a:t>đơn</a:t>
                </a:r>
                <a:r>
                  <a:rPr lang="en-US" dirty="0"/>
                  <a:t> </a:t>
                </a:r>
                <a:r>
                  <a:rPr lang="en-US" dirty="0" err="1"/>
                  <a:t>lẻ</a:t>
                </a:r>
                <a:r>
                  <a:rPr lang="en-US" dirty="0"/>
                  <a:t>.</a:t>
                </a:r>
              </a:p>
              <a:p>
                <a:pPr marL="285750" indent="-285750">
                  <a:buFont typeface="Arial" panose="020B0604020202020204" pitchFamily="34" charset="0"/>
                  <a:buChar char="•"/>
                </a:pPr>
                <a:r>
                  <a:rPr lang="en-US" b="1" dirty="0" err="1"/>
                  <a:t>Giải</a:t>
                </a:r>
                <a:r>
                  <a:rPr lang="en-US" b="1" dirty="0"/>
                  <a:t> </a:t>
                </a:r>
                <a:r>
                  <a:rPr lang="en-US" b="1" dirty="0" err="1"/>
                  <a:t>mã</a:t>
                </a:r>
                <a:r>
                  <a:rPr lang="en-US" b="1" dirty="0"/>
                  <a:t> </a:t>
                </a:r>
                <a:r>
                  <a:rPr lang="en-US" b="1" dirty="0" err="1"/>
                  <a:t>điểm</a:t>
                </a:r>
                <a:r>
                  <a:rPr lang="en-US" b="1" dirty="0"/>
                  <a:t> </a:t>
                </a:r>
                <a:r>
                  <a:rPr lang="en-US" b="1" dirty="0" err="1"/>
                  <a:t>mù</a:t>
                </a:r>
                <a:r>
                  <a:rPr lang="en-US" b="1" dirty="0"/>
                  <a:t>:</a:t>
                </a:r>
                <a:r>
                  <a:rPr lang="en-US" dirty="0"/>
                  <a:t> </a:t>
                </a:r>
                <a:r>
                  <a:rPr lang="en-US" dirty="0" err="1"/>
                  <a:t>Nhìn</a:t>
                </a:r>
                <a:r>
                  <a:rPr lang="en-US" dirty="0"/>
                  <a:t> </a:t>
                </a:r>
                <a:r>
                  <a:rPr lang="en-US" dirty="0" err="1"/>
                  <a:t>theo</a:t>
                </a:r>
                <a:r>
                  <a:rPr lang="en-US" dirty="0"/>
                  <a:t> </a:t>
                </a:r>
                <a:r>
                  <a:rPr lang="en-US" dirty="0" err="1"/>
                  <a:t>miền</a:t>
                </a:r>
                <a:r>
                  <a:rPr lang="en-US" dirty="0"/>
                  <a:t> </a:t>
                </a:r>
                <a:r>
                  <a:rPr lang="en-US" dirty="0" err="1"/>
                  <a:t>thời</a:t>
                </a:r>
                <a:r>
                  <a:rPr lang="en-US" dirty="0"/>
                  <a:t> </a:t>
                </a:r>
                <a:r>
                  <a:rPr lang="en-US" dirty="0" err="1"/>
                  <a:t>gian</a:t>
                </a:r>
                <a:r>
                  <a:rPr lang="en-US" dirty="0"/>
                  <a:t> </a:t>
                </a:r>
                <a:r>
                  <a:rPr lang="en-US" dirty="0" err="1"/>
                  <a:t>tín</a:t>
                </a:r>
                <a:r>
                  <a:rPr lang="en-US" dirty="0"/>
                  <a:t> </a:t>
                </a:r>
                <a:r>
                  <a:rPr lang="en-US" dirty="0" err="1"/>
                  <a:t>hiệu</a:t>
                </a:r>
                <a:r>
                  <a:rPr lang="en-US" dirty="0"/>
                  <a:t> </a:t>
                </a:r>
                <a:r>
                  <a:rPr lang="en-US" dirty="0" err="1"/>
                  <a:t>rất</a:t>
                </a:r>
                <a:r>
                  <a:rPr lang="en-US" dirty="0"/>
                  <a:t> </a:t>
                </a:r>
                <a:r>
                  <a:rPr lang="en-US" dirty="0" err="1"/>
                  <a:t>hỗn</a:t>
                </a:r>
                <a:r>
                  <a:rPr lang="en-US" dirty="0"/>
                  <a:t> </a:t>
                </a:r>
                <a:r>
                  <a:rPr lang="en-US" dirty="0" err="1"/>
                  <a:t>loạn</a:t>
                </a:r>
                <a:r>
                  <a:rPr lang="en-US" dirty="0"/>
                  <a:t> </a:t>
                </a:r>
                <a:r>
                  <a:rPr lang="en-US" dirty="0" err="1"/>
                  <a:t>và</a:t>
                </a:r>
                <a:r>
                  <a:rPr lang="en-US" dirty="0"/>
                  <a:t> "</a:t>
                </a:r>
                <a:r>
                  <a:rPr lang="en-US" dirty="0" err="1"/>
                  <a:t>mù</a:t>
                </a:r>
                <a:r>
                  <a:rPr lang="en-US" dirty="0"/>
                  <a:t> </a:t>
                </a:r>
                <a:r>
                  <a:rPr lang="en-US" dirty="0" err="1"/>
                  <a:t>thông</a:t>
                </a:r>
                <a:r>
                  <a:rPr lang="en-US" dirty="0"/>
                  <a:t> tin </a:t>
                </a:r>
                <a:r>
                  <a:rPr lang="en-US" dirty="0" err="1"/>
                  <a:t>vị</a:t>
                </a:r>
                <a:r>
                  <a:rPr lang="en-US" dirty="0"/>
                  <a:t> </a:t>
                </a:r>
                <a:r>
                  <a:rPr lang="en-US" dirty="0" err="1"/>
                  <a:t>trí</a:t>
                </a:r>
                <a:r>
                  <a:rPr lang="en-US" dirty="0"/>
                  <a:t>", </a:t>
                </a:r>
                <a:r>
                  <a:rPr lang="en-US" dirty="0" err="1"/>
                  <a:t>giúp</a:t>
                </a:r>
                <a:r>
                  <a:rPr lang="en-US" dirty="0"/>
                  <a:t> </a:t>
                </a:r>
                <a:r>
                  <a:rPr lang="en-US" dirty="0" err="1"/>
                  <a:t>khoanh</a:t>
                </a:r>
                <a:r>
                  <a:rPr lang="en-US" dirty="0"/>
                  <a:t> </a:t>
                </a:r>
                <a:r>
                  <a:rPr lang="en-US" dirty="0" err="1"/>
                  <a:t>vùng</a:t>
                </a:r>
                <a:r>
                  <a:rPr lang="en-US" dirty="0"/>
                  <a:t> </a:t>
                </a:r>
                <a:r>
                  <a:rPr lang="en-US" dirty="0" err="1"/>
                  <a:t>xác</a:t>
                </a:r>
                <a:r>
                  <a:rPr lang="en-US" dirty="0"/>
                  <a:t> </a:t>
                </a:r>
                <a:r>
                  <a:rPr lang="en-US" dirty="0" err="1"/>
                  <a:t>định</a:t>
                </a:r>
                <a:r>
                  <a:rPr lang="en-US" dirty="0"/>
                  <a:t> </a:t>
                </a:r>
                <a:r>
                  <a:rPr lang="en-US" b="1" dirty="0" err="1"/>
                  <a:t>vị</a:t>
                </a:r>
                <a:r>
                  <a:rPr lang="en-US" b="1" dirty="0"/>
                  <a:t> </a:t>
                </a:r>
                <a:r>
                  <a:rPr lang="en-US" b="1" dirty="0" err="1"/>
                  <a:t>trí</a:t>
                </a:r>
                <a:r>
                  <a:rPr lang="en-US" b="1" dirty="0"/>
                  <a:t> </a:t>
                </a:r>
                <a:r>
                  <a:rPr lang="en-US" b="1" dirty="0" err="1"/>
                  <a:t>xảy</a:t>
                </a:r>
                <a:r>
                  <a:rPr lang="en-US" b="1" dirty="0"/>
                  <a:t> </a:t>
                </a:r>
                <a:r>
                  <a:rPr lang="en-US" b="1" dirty="0" err="1"/>
                  <a:t>ra</a:t>
                </a:r>
                <a:r>
                  <a:rPr lang="en-US" b="1" dirty="0"/>
                  <a:t> </a:t>
                </a:r>
                <a:r>
                  <a:rPr lang="en-US" b="1" dirty="0" err="1"/>
                  <a:t>hư</a:t>
                </a:r>
                <a:r>
                  <a:rPr lang="en-US" b="1" dirty="0"/>
                  <a:t> </a:t>
                </a:r>
                <a:r>
                  <a:rPr lang="en-US" b="1" dirty="0" err="1"/>
                  <a:t>hỏng</a:t>
                </a:r>
                <a:r>
                  <a:rPr lang="en-US" dirty="0"/>
                  <a:t> (</a:t>
                </a:r>
                <a:r>
                  <a:rPr lang="en-US" dirty="0" err="1"/>
                  <a:t>trục</a:t>
                </a:r>
                <a:r>
                  <a:rPr lang="en-US" dirty="0"/>
                  <a:t>, ổ </a:t>
                </a:r>
                <a:r>
                  <a:rPr lang="en-US" dirty="0" err="1"/>
                  <a:t>lăn</a:t>
                </a:r>
                <a:r>
                  <a:rPr lang="en-US" dirty="0"/>
                  <a:t>, </a:t>
                </a:r>
                <a:r>
                  <a:rPr lang="en-US" dirty="0" err="1"/>
                  <a:t>động</a:t>
                </a:r>
                <a:r>
                  <a:rPr lang="en-US" dirty="0"/>
                  <a:t> </a:t>
                </a:r>
                <a:r>
                  <a:rPr lang="en-US" dirty="0" err="1"/>
                  <a:t>cơ</a:t>
                </a:r>
                <a:r>
                  <a:rPr lang="en-US" dirty="0"/>
                  <a:t>,…).</a:t>
                </a:r>
                <a:endParaRPr lang="en-US" b="1" dirty="0"/>
              </a:p>
            </p:txBody>
          </p:sp>
        </mc:Choice>
        <mc:Fallback>
          <p:sp>
            <p:nvSpPr>
              <p:cNvPr id="8" name="TextBox 7">
                <a:extLst>
                  <a:ext uri="{FF2B5EF4-FFF2-40B4-BE49-F238E27FC236}">
                    <a16:creationId xmlns:a16="http://schemas.microsoft.com/office/drawing/2014/main" id="{66D4722E-A3D9-55A8-3333-734AE3592D02}"/>
                  </a:ext>
                </a:extLst>
              </p:cNvPr>
              <p:cNvSpPr txBox="1">
                <a:spLocks noRot="1" noChangeAspect="1" noMove="1" noResize="1" noEditPoints="1" noAdjustHandles="1" noChangeArrowheads="1" noChangeShapeType="1" noTextEdit="1"/>
              </p:cNvSpPr>
              <p:nvPr/>
            </p:nvSpPr>
            <p:spPr>
              <a:xfrm>
                <a:off x="397103" y="1007416"/>
                <a:ext cx="6937553" cy="5026441"/>
              </a:xfrm>
              <a:prstGeom prst="rect">
                <a:avLst/>
              </a:prstGeom>
              <a:blipFill>
                <a:blip r:embed="rId5"/>
                <a:stretch>
                  <a:fillRect l="-703" t="-606" r="-88" b="-970"/>
                </a:stretch>
              </a:blipFill>
            </p:spPr>
            <p:txBody>
              <a:bodyPr/>
              <a:lstStyle/>
              <a:p>
                <a:r>
                  <a:rPr lang="en-US">
                    <a:noFill/>
                  </a:rPr>
                  <a:t> </a:t>
                </a:r>
              </a:p>
            </p:txBody>
          </p:sp>
        </mc:Fallback>
      </mc:AlternateContent>
    </p:spTree>
    <p:extLst>
      <p:ext uri="{BB962C8B-B14F-4D97-AF65-F5344CB8AC3E}">
        <p14:creationId xmlns:p14="http://schemas.microsoft.com/office/powerpoint/2010/main" val="110984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915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A4257-73F6-B648-9B8B-7F6C1EBE5835}"/>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biến</a:t>
            </a:r>
            <a:r>
              <a:rPr lang="en-US" dirty="0"/>
              <a:t> </a:t>
            </a:r>
            <a:r>
              <a:rPr lang="en-US" dirty="0" err="1"/>
              <a:t>đổi</a:t>
            </a:r>
            <a:r>
              <a:rPr lang="en-US" dirty="0"/>
              <a:t> Fourier</a:t>
            </a:r>
          </a:p>
        </p:txBody>
      </p:sp>
      <p:sp>
        <p:nvSpPr>
          <p:cNvPr id="4" name="Slide Number Placeholder 3">
            <a:extLst>
              <a:ext uri="{FF2B5EF4-FFF2-40B4-BE49-F238E27FC236}">
                <a16:creationId xmlns:a16="http://schemas.microsoft.com/office/drawing/2014/main" id="{F60E6597-4768-CEAB-F136-D95E522F745A}"/>
              </a:ext>
            </a:extLst>
          </p:cNvPr>
          <p:cNvSpPr>
            <a:spLocks noGrp="1"/>
          </p:cNvSpPr>
          <p:nvPr>
            <p:ph type="sldNum" sz="quarter" idx="12"/>
          </p:nvPr>
        </p:nvSpPr>
        <p:spPr/>
        <p:txBody>
          <a:bodyPr/>
          <a:lstStyle/>
          <a:p>
            <a:fld id="{9EA0BE3B-158A-4EDF-80DC-E394A0D1600F}" type="slidenum">
              <a:rPr lang="en-US" smtClean="0"/>
              <a:pPr/>
              <a:t>15</a:t>
            </a:fld>
            <a:endParaRPr lang="en-US"/>
          </a:p>
        </p:txBody>
      </p:sp>
      <p:pic>
        <p:nvPicPr>
          <p:cNvPr id="6" name="Picture 5">
            <a:extLst>
              <a:ext uri="{FF2B5EF4-FFF2-40B4-BE49-F238E27FC236}">
                <a16:creationId xmlns:a16="http://schemas.microsoft.com/office/drawing/2014/main" id="{9B8ADC8C-1FE4-E3F2-883B-C73949C039F7}"/>
              </a:ext>
            </a:extLst>
          </p:cNvPr>
          <p:cNvPicPr>
            <a:picLocks noChangeAspect="1"/>
          </p:cNvPicPr>
          <p:nvPr/>
        </p:nvPicPr>
        <p:blipFill>
          <a:blip r:embed="rId2"/>
          <a:stretch>
            <a:fillRect/>
          </a:stretch>
        </p:blipFill>
        <p:spPr>
          <a:xfrm>
            <a:off x="338736" y="1225512"/>
            <a:ext cx="11577753" cy="4406975"/>
          </a:xfrm>
          <a:prstGeom prst="rect">
            <a:avLst/>
          </a:prstGeom>
        </p:spPr>
      </p:pic>
    </p:spTree>
    <p:extLst>
      <p:ext uri="{BB962C8B-B14F-4D97-AF65-F5344CB8AC3E}">
        <p14:creationId xmlns:p14="http://schemas.microsoft.com/office/powerpoint/2010/main" val="1738597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97F82-0C80-E32F-A7BE-CBC9711241AC}"/>
              </a:ext>
            </a:extLst>
          </p:cNvPr>
          <p:cNvSpPr>
            <a:spLocks noGrp="1"/>
          </p:cNvSpPr>
          <p:nvPr>
            <p:ph type="title"/>
          </p:nvPr>
        </p:nvSpPr>
        <p:spPr/>
        <p:txBody>
          <a:bodyPr/>
          <a:lstStyle/>
          <a:p>
            <a:r>
              <a:rPr lang="en-US" dirty="0" err="1"/>
              <a:t>Ưu</a:t>
            </a:r>
            <a:r>
              <a:rPr lang="en-US" dirty="0"/>
              <a:t> </a:t>
            </a:r>
            <a:r>
              <a:rPr lang="en-US" dirty="0" err="1"/>
              <a:t>điểm</a:t>
            </a:r>
            <a:r>
              <a:rPr lang="en-US" dirty="0"/>
              <a:t> &amp; </a:t>
            </a:r>
            <a:r>
              <a:rPr lang="en-US" dirty="0" err="1"/>
              <a:t>Hạn</a:t>
            </a:r>
            <a:r>
              <a:rPr lang="en-US" dirty="0"/>
              <a:t> </a:t>
            </a:r>
            <a:r>
              <a:rPr lang="en-US" dirty="0" err="1"/>
              <a:t>chế</a:t>
            </a:r>
            <a:r>
              <a:rPr lang="en-US" dirty="0"/>
              <a:t> </a:t>
            </a:r>
            <a:r>
              <a:rPr lang="en-US" dirty="0" err="1"/>
              <a:t>của</a:t>
            </a:r>
            <a:r>
              <a:rPr lang="en-US" dirty="0"/>
              <a:t> </a:t>
            </a:r>
            <a:r>
              <a:rPr lang="en-US" dirty="0" err="1"/>
              <a:t>biến</a:t>
            </a:r>
            <a:r>
              <a:rPr lang="en-US" dirty="0"/>
              <a:t> </a:t>
            </a:r>
            <a:r>
              <a:rPr lang="en-US" dirty="0" err="1"/>
              <a:t>đổi</a:t>
            </a:r>
            <a:r>
              <a:rPr lang="en-US" dirty="0"/>
              <a:t> Fourier</a:t>
            </a:r>
          </a:p>
        </p:txBody>
      </p:sp>
      <p:sp>
        <p:nvSpPr>
          <p:cNvPr id="4" name="Slide Number Placeholder 3">
            <a:extLst>
              <a:ext uri="{FF2B5EF4-FFF2-40B4-BE49-F238E27FC236}">
                <a16:creationId xmlns:a16="http://schemas.microsoft.com/office/drawing/2014/main" id="{EF85B4FF-8C0B-C6B6-859D-24F2DE849B90}"/>
              </a:ext>
            </a:extLst>
          </p:cNvPr>
          <p:cNvSpPr>
            <a:spLocks noGrp="1"/>
          </p:cNvSpPr>
          <p:nvPr>
            <p:ph type="sldNum" sz="quarter" idx="12"/>
          </p:nvPr>
        </p:nvSpPr>
        <p:spPr/>
        <p:txBody>
          <a:bodyPr/>
          <a:lstStyle/>
          <a:p>
            <a:fld id="{9EA0BE3B-158A-4EDF-80DC-E394A0D1600F}" type="slidenum">
              <a:rPr lang="en-US" smtClean="0"/>
              <a:pPr/>
              <a:t>16</a:t>
            </a:fld>
            <a:endParaRPr lang="en-US"/>
          </a:p>
        </p:txBody>
      </p:sp>
      <p:pic>
        <p:nvPicPr>
          <p:cNvPr id="6" name="Picture 5">
            <a:extLst>
              <a:ext uri="{FF2B5EF4-FFF2-40B4-BE49-F238E27FC236}">
                <a16:creationId xmlns:a16="http://schemas.microsoft.com/office/drawing/2014/main" id="{64E5B71F-F1DB-5F19-5171-2C3AEABD458C}"/>
              </a:ext>
            </a:extLst>
          </p:cNvPr>
          <p:cNvPicPr>
            <a:picLocks noChangeAspect="1"/>
          </p:cNvPicPr>
          <p:nvPr/>
        </p:nvPicPr>
        <p:blipFill>
          <a:blip r:embed="rId2">
            <a:extLst>
              <a:ext uri="{28A0092B-C50C-407E-A947-70E740481C1C}">
                <a14:useLocalDpi xmlns:a14="http://schemas.microsoft.com/office/drawing/2010/main" val="0"/>
              </a:ext>
            </a:extLst>
          </a:blip>
          <a:srcRect t="4255"/>
          <a:stretch>
            <a:fillRect/>
          </a:stretch>
        </p:blipFill>
        <p:spPr>
          <a:xfrm>
            <a:off x="5466945" y="1339985"/>
            <a:ext cx="6432766" cy="4178029"/>
          </a:xfrm>
          <a:prstGeom prst="rect">
            <a:avLst/>
          </a:prstGeom>
        </p:spPr>
      </p:pic>
      <p:sp>
        <p:nvSpPr>
          <p:cNvPr id="7" name="TextBox 6">
            <a:extLst>
              <a:ext uri="{FF2B5EF4-FFF2-40B4-BE49-F238E27FC236}">
                <a16:creationId xmlns:a16="http://schemas.microsoft.com/office/drawing/2014/main" id="{09DEAE4F-D0A7-788F-FB3C-7A06EEFE58B7}"/>
              </a:ext>
            </a:extLst>
          </p:cNvPr>
          <p:cNvSpPr txBox="1"/>
          <p:nvPr/>
        </p:nvSpPr>
        <p:spPr>
          <a:xfrm>
            <a:off x="338736" y="1166841"/>
            <a:ext cx="4885017" cy="4524315"/>
          </a:xfrm>
          <a:prstGeom prst="rect">
            <a:avLst/>
          </a:prstGeom>
          <a:noFill/>
        </p:spPr>
        <p:txBody>
          <a:bodyPr wrap="square" rtlCol="0">
            <a:spAutoFit/>
          </a:bodyPr>
          <a:lstStyle/>
          <a:p>
            <a:r>
              <a:rPr lang="en-US" b="1" dirty="0" err="1"/>
              <a:t>Ưu</a:t>
            </a:r>
            <a:r>
              <a:rPr lang="en-US" b="1" dirty="0"/>
              <a:t> </a:t>
            </a:r>
            <a:r>
              <a:rPr lang="en-US" b="1" dirty="0" err="1"/>
              <a:t>điểm</a:t>
            </a:r>
            <a:r>
              <a:rPr lang="en-US" b="1" dirty="0"/>
              <a:t>:</a:t>
            </a:r>
          </a:p>
          <a:p>
            <a:pPr marL="285750" indent="-285750">
              <a:buFont typeface="Arial" panose="020B0604020202020204" pitchFamily="34" charset="0"/>
              <a:buChar char="•"/>
            </a:pPr>
            <a:r>
              <a:rPr lang="en-US" b="1" dirty="0" err="1"/>
              <a:t>Bộc</a:t>
            </a:r>
            <a:r>
              <a:rPr lang="en-US" b="1" dirty="0"/>
              <a:t> </a:t>
            </a:r>
            <a:r>
              <a:rPr lang="en-US" b="1" dirty="0" err="1"/>
              <a:t>lộ</a:t>
            </a:r>
            <a:r>
              <a:rPr lang="en-US" b="1" dirty="0"/>
              <a:t> </a:t>
            </a:r>
            <a:r>
              <a:rPr lang="en-US" b="1" dirty="0" err="1"/>
              <a:t>vùng</a:t>
            </a:r>
            <a:r>
              <a:rPr lang="en-US" b="1" dirty="0"/>
              <a:t> </a:t>
            </a:r>
            <a:r>
              <a:rPr lang="en-US" b="1" dirty="0" err="1"/>
              <a:t>cộng</a:t>
            </a:r>
            <a:r>
              <a:rPr lang="en-US" b="1" dirty="0"/>
              <a:t> </a:t>
            </a:r>
            <a:r>
              <a:rPr lang="en-US" b="1" dirty="0" err="1"/>
              <a:t>hưởng</a:t>
            </a:r>
            <a:r>
              <a:rPr lang="en-US" b="1" dirty="0"/>
              <a:t>:</a:t>
            </a:r>
            <a:r>
              <a:rPr lang="en-US" dirty="0"/>
              <a:t> </a:t>
            </a:r>
            <a:r>
              <a:rPr lang="en-US" dirty="0" err="1"/>
              <a:t>Chỉ</a:t>
            </a:r>
            <a:r>
              <a:rPr lang="en-US" dirty="0"/>
              <a:t> </a:t>
            </a:r>
            <a:r>
              <a:rPr lang="en-US" dirty="0" err="1"/>
              <a:t>rõ</a:t>
            </a:r>
            <a:r>
              <a:rPr lang="en-US" dirty="0"/>
              <a:t> </a:t>
            </a:r>
            <a:r>
              <a:rPr lang="en-US" dirty="0" err="1"/>
              <a:t>cụm</a:t>
            </a:r>
            <a:r>
              <a:rPr lang="en-US" dirty="0"/>
              <a:t> </a:t>
            </a:r>
            <a:r>
              <a:rPr lang="en-US" dirty="0" err="1"/>
              <a:t>năng</a:t>
            </a:r>
            <a:r>
              <a:rPr lang="en-US" dirty="0"/>
              <a:t> </a:t>
            </a:r>
            <a:r>
              <a:rPr lang="en-US" dirty="0" err="1"/>
              <a:t>lượng</a:t>
            </a:r>
            <a:r>
              <a:rPr lang="en-US" dirty="0"/>
              <a:t> </a:t>
            </a:r>
            <a:r>
              <a:rPr lang="en-US" dirty="0" err="1"/>
              <a:t>tại</a:t>
            </a:r>
            <a:r>
              <a:rPr lang="en-US" dirty="0"/>
              <a:t> </a:t>
            </a:r>
            <a:r>
              <a:rPr lang="en-US" dirty="0" err="1"/>
              <a:t>các</a:t>
            </a:r>
            <a:r>
              <a:rPr lang="en-US" dirty="0"/>
              <a:t> </a:t>
            </a:r>
            <a:r>
              <a:rPr lang="en-US" dirty="0" err="1"/>
              <a:t>dải</a:t>
            </a:r>
            <a:r>
              <a:rPr lang="en-US" dirty="0"/>
              <a:t> </a:t>
            </a:r>
            <a:r>
              <a:rPr lang="en-US" dirty="0" err="1"/>
              <a:t>tần</a:t>
            </a:r>
            <a:r>
              <a:rPr lang="en-US" dirty="0"/>
              <a:t> </a:t>
            </a:r>
            <a:r>
              <a:rPr lang="en-US" dirty="0" err="1"/>
              <a:t>số</a:t>
            </a:r>
            <a:r>
              <a:rPr lang="en-US" dirty="0"/>
              <a:t> </a:t>
            </a:r>
            <a:r>
              <a:rPr lang="en-US" dirty="0" err="1"/>
              <a:t>cộng</a:t>
            </a:r>
            <a:r>
              <a:rPr lang="en-US" dirty="0"/>
              <a:t> </a:t>
            </a:r>
            <a:r>
              <a:rPr lang="en-US" dirty="0" err="1"/>
              <a:t>hưởng</a:t>
            </a:r>
            <a:r>
              <a:rPr lang="en-US" dirty="0"/>
              <a:t> </a:t>
            </a:r>
            <a:r>
              <a:rPr lang="en-US" dirty="0" err="1"/>
              <a:t>tự</a:t>
            </a:r>
            <a:r>
              <a:rPr lang="en-US" dirty="0"/>
              <a:t> </a:t>
            </a:r>
            <a:r>
              <a:rPr lang="en-US" dirty="0" err="1"/>
              <a:t>nhiên</a:t>
            </a:r>
            <a:r>
              <a:rPr lang="en-US" dirty="0"/>
              <a:t> do </a:t>
            </a:r>
            <a:r>
              <a:rPr lang="en-US" dirty="0" err="1"/>
              <a:t>xung</a:t>
            </a:r>
            <a:r>
              <a:rPr lang="en-US" dirty="0"/>
              <a:t> </a:t>
            </a:r>
            <a:r>
              <a:rPr lang="en-US" dirty="0" err="1"/>
              <a:t>lỗi</a:t>
            </a:r>
            <a:r>
              <a:rPr lang="en-US" dirty="0"/>
              <a:t> </a:t>
            </a:r>
            <a:r>
              <a:rPr lang="en-US" dirty="0" err="1"/>
              <a:t>kích</a:t>
            </a:r>
            <a:r>
              <a:rPr lang="en-US" dirty="0"/>
              <a:t> </a:t>
            </a:r>
            <a:r>
              <a:rPr lang="en-US" dirty="0" err="1"/>
              <a:t>thích</a:t>
            </a:r>
            <a:r>
              <a:rPr lang="en-US" dirty="0"/>
              <a:t>.</a:t>
            </a:r>
          </a:p>
          <a:p>
            <a:pPr marL="285750" indent="-285750">
              <a:buFont typeface="Arial" panose="020B0604020202020204" pitchFamily="34" charset="0"/>
              <a:buChar char="•"/>
            </a:pPr>
            <a:r>
              <a:rPr lang="en-US" b="1" dirty="0"/>
              <a:t>Theo </a:t>
            </a:r>
            <a:r>
              <a:rPr lang="en-US" b="1" dirty="0" err="1"/>
              <a:t>dõi</a:t>
            </a:r>
            <a:r>
              <a:rPr lang="en-US" b="1" dirty="0"/>
              <a:t> </a:t>
            </a:r>
            <a:r>
              <a:rPr lang="en-US" b="1" dirty="0" err="1"/>
              <a:t>nền</a:t>
            </a:r>
            <a:r>
              <a:rPr lang="en-US" b="1" dirty="0"/>
              <a:t> </a:t>
            </a:r>
            <a:r>
              <a:rPr lang="en-US" b="1" dirty="0" err="1"/>
              <a:t>phổ</a:t>
            </a:r>
            <a:r>
              <a:rPr lang="en-US" b="1" dirty="0"/>
              <a:t>:</a:t>
            </a:r>
            <a:r>
              <a:rPr lang="en-US" dirty="0"/>
              <a:t> Phản </a:t>
            </a:r>
            <a:r>
              <a:rPr lang="en-US" dirty="0" err="1"/>
              <a:t>ánh</a:t>
            </a:r>
            <a:r>
              <a:rPr lang="en-US" dirty="0"/>
              <a:t> </a:t>
            </a:r>
            <a:r>
              <a:rPr lang="en-US" dirty="0" err="1"/>
              <a:t>trực</a:t>
            </a:r>
            <a:r>
              <a:rPr lang="en-US" dirty="0"/>
              <a:t> </a:t>
            </a:r>
            <a:r>
              <a:rPr lang="en-US" dirty="0" err="1"/>
              <a:t>quan</a:t>
            </a:r>
            <a:r>
              <a:rPr lang="en-US" dirty="0"/>
              <a:t> xu </a:t>
            </a:r>
            <a:r>
              <a:rPr lang="en-US" dirty="0" err="1"/>
              <a:t>hướng</a:t>
            </a:r>
            <a:r>
              <a:rPr lang="en-US" dirty="0"/>
              <a:t> </a:t>
            </a:r>
            <a:r>
              <a:rPr lang="en-US" dirty="0" err="1"/>
              <a:t>gia</a:t>
            </a:r>
            <a:r>
              <a:rPr lang="en-US" dirty="0"/>
              <a:t> </a:t>
            </a:r>
            <a:r>
              <a:rPr lang="en-US" dirty="0" err="1"/>
              <a:t>tăng</a:t>
            </a:r>
            <a:r>
              <a:rPr lang="en-US" dirty="0"/>
              <a:t> </a:t>
            </a:r>
            <a:r>
              <a:rPr lang="en-US" dirty="0" err="1"/>
              <a:t>năng</a:t>
            </a:r>
            <a:r>
              <a:rPr lang="en-US" dirty="0"/>
              <a:t> </a:t>
            </a:r>
            <a:r>
              <a:rPr lang="en-US" dirty="0" err="1"/>
              <a:t>lượng</a:t>
            </a:r>
            <a:r>
              <a:rPr lang="en-US" dirty="0"/>
              <a:t> </a:t>
            </a:r>
            <a:r>
              <a:rPr lang="en-US" dirty="0" err="1"/>
              <a:t>và</a:t>
            </a:r>
            <a:r>
              <a:rPr lang="en-US" dirty="0"/>
              <a:t> </a:t>
            </a:r>
            <a:r>
              <a:rPr lang="en-US" dirty="0" err="1"/>
              <a:t>hiện</a:t>
            </a:r>
            <a:r>
              <a:rPr lang="en-US" dirty="0"/>
              <a:t> </a:t>
            </a:r>
            <a:r>
              <a:rPr lang="en-US" dirty="0" err="1"/>
              <a:t>tượng</a:t>
            </a:r>
            <a:r>
              <a:rPr lang="en-US" dirty="0"/>
              <a:t> </a:t>
            </a:r>
            <a:r>
              <a:rPr lang="en-US" b="1" dirty="0" err="1"/>
              <a:t>nâng</a:t>
            </a:r>
            <a:r>
              <a:rPr lang="en-US" b="1" dirty="0"/>
              <a:t> </a:t>
            </a:r>
            <a:r>
              <a:rPr lang="en-US" b="1" dirty="0" err="1"/>
              <a:t>cao</a:t>
            </a:r>
            <a:r>
              <a:rPr lang="en-US" b="1" dirty="0"/>
              <a:t> </a:t>
            </a:r>
            <a:r>
              <a:rPr lang="en-US" b="1" dirty="0" err="1"/>
              <a:t>nền</a:t>
            </a:r>
            <a:r>
              <a:rPr lang="en-US" b="1" dirty="0"/>
              <a:t> </a:t>
            </a:r>
            <a:r>
              <a:rPr lang="en-US" b="1" dirty="0" err="1"/>
              <a:t>phổ</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b="1" dirty="0"/>
          </a:p>
          <a:p>
            <a:r>
              <a:rPr lang="en-US" b="1" dirty="0" err="1"/>
              <a:t>Nhược</a:t>
            </a:r>
            <a:r>
              <a:rPr lang="en-US" b="1" dirty="0"/>
              <a:t> </a:t>
            </a:r>
            <a:r>
              <a:rPr lang="en-US" b="1" dirty="0" err="1"/>
              <a:t>điểm</a:t>
            </a:r>
            <a:r>
              <a:rPr lang="en-US" b="1" dirty="0"/>
              <a:t>:</a:t>
            </a:r>
          </a:p>
          <a:p>
            <a:pPr marL="285750" indent="-285750">
              <a:buFont typeface="Arial" panose="020B0604020202020204" pitchFamily="34" charset="0"/>
              <a:buChar char="•"/>
            </a:pPr>
            <a:r>
              <a:rPr lang="en-US" b="1" dirty="0" err="1"/>
              <a:t>Mất</a:t>
            </a:r>
            <a:r>
              <a:rPr lang="en-US" b="1" dirty="0"/>
              <a:t> </a:t>
            </a:r>
            <a:r>
              <a:rPr lang="en-US" b="1" dirty="0" err="1"/>
              <a:t>tính</a:t>
            </a:r>
            <a:r>
              <a:rPr lang="en-US" b="1" dirty="0"/>
              <a:t> </a:t>
            </a:r>
            <a:r>
              <a:rPr lang="en-US" b="1" dirty="0" err="1"/>
              <a:t>thời</a:t>
            </a:r>
            <a:r>
              <a:rPr lang="en-US" b="1" dirty="0"/>
              <a:t> </a:t>
            </a:r>
            <a:r>
              <a:rPr lang="en-US" b="1" dirty="0" err="1"/>
              <a:t>gian</a:t>
            </a:r>
            <a:r>
              <a:rPr lang="en-US" b="1" dirty="0"/>
              <a:t>:</a:t>
            </a:r>
            <a:r>
              <a:rPr lang="en-US" dirty="0"/>
              <a:t> FFT </a:t>
            </a:r>
            <a:r>
              <a:rPr lang="en-US" dirty="0" err="1"/>
              <a:t>không</a:t>
            </a:r>
            <a:r>
              <a:rPr lang="en-US" dirty="0"/>
              <a:t> </a:t>
            </a:r>
            <a:r>
              <a:rPr lang="en-US" dirty="0" err="1"/>
              <a:t>nắm</a:t>
            </a:r>
            <a:r>
              <a:rPr lang="en-US" dirty="0"/>
              <a:t> </a:t>
            </a:r>
            <a:r>
              <a:rPr lang="en-US" dirty="0" err="1"/>
              <a:t>bắt</a:t>
            </a:r>
            <a:r>
              <a:rPr lang="en-US" dirty="0"/>
              <a:t> </a:t>
            </a:r>
            <a:r>
              <a:rPr lang="en-US" dirty="0" err="1"/>
              <a:t>được</a:t>
            </a:r>
            <a:r>
              <a:rPr lang="en-US" dirty="0"/>
              <a:t> </a:t>
            </a:r>
            <a:r>
              <a:rPr lang="en-US" dirty="0" err="1"/>
              <a:t>các</a:t>
            </a:r>
            <a:r>
              <a:rPr lang="en-US" dirty="0"/>
              <a:t> </a:t>
            </a:r>
            <a:r>
              <a:rPr lang="en-US" dirty="0" err="1"/>
              <a:t>thay</a:t>
            </a:r>
            <a:r>
              <a:rPr lang="en-US" dirty="0"/>
              <a:t> </a:t>
            </a:r>
            <a:r>
              <a:rPr lang="en-US" dirty="0" err="1"/>
              <a:t>đổi</a:t>
            </a:r>
            <a:r>
              <a:rPr lang="en-US" dirty="0"/>
              <a:t> </a:t>
            </a:r>
            <a:r>
              <a:rPr lang="en-US" dirty="0" err="1"/>
              <a:t>của</a:t>
            </a:r>
            <a:r>
              <a:rPr lang="en-US" dirty="0"/>
              <a:t> </a:t>
            </a:r>
            <a:r>
              <a:rPr lang="en-US" dirty="0" err="1"/>
              <a:t>tín</a:t>
            </a:r>
            <a:r>
              <a:rPr lang="en-US" dirty="0"/>
              <a:t> </a:t>
            </a:r>
            <a:r>
              <a:rPr lang="en-US" dirty="0" err="1"/>
              <a:t>hiệu</a:t>
            </a:r>
            <a:r>
              <a:rPr lang="en-US" dirty="0"/>
              <a:t> </a:t>
            </a:r>
            <a:r>
              <a:rPr lang="en-US" dirty="0" err="1"/>
              <a:t>theo</a:t>
            </a:r>
            <a:r>
              <a:rPr lang="en-US" dirty="0"/>
              <a:t> </a:t>
            </a:r>
            <a:r>
              <a:rPr lang="en-US" dirty="0" err="1"/>
              <a:t>thời</a:t>
            </a:r>
            <a:r>
              <a:rPr lang="en-US" dirty="0"/>
              <a:t> </a:t>
            </a:r>
            <a:r>
              <a:rPr lang="en-US" dirty="0" err="1"/>
              <a:t>gian</a:t>
            </a:r>
            <a:r>
              <a:rPr lang="en-US" dirty="0"/>
              <a:t>.</a:t>
            </a:r>
          </a:p>
          <a:p>
            <a:pPr marL="285750" indent="-285750">
              <a:buFont typeface="Arial" panose="020B0604020202020204" pitchFamily="34" charset="0"/>
              <a:buChar char="•"/>
            </a:pPr>
            <a:r>
              <a:rPr lang="en-US" b="1" dirty="0" err="1"/>
              <a:t>Chưa</a:t>
            </a:r>
            <a:r>
              <a:rPr lang="en-US" b="1" dirty="0"/>
              <a:t> </a:t>
            </a:r>
            <a:r>
              <a:rPr lang="en-US" b="1" dirty="0" err="1"/>
              <a:t>thể</a:t>
            </a:r>
            <a:r>
              <a:rPr lang="en-US" b="1" dirty="0"/>
              <a:t> </a:t>
            </a:r>
            <a:r>
              <a:rPr lang="en-US" b="1" dirty="0" err="1"/>
              <a:t>định</a:t>
            </a:r>
            <a:r>
              <a:rPr lang="en-US" b="1" dirty="0"/>
              <a:t> </a:t>
            </a:r>
            <a:r>
              <a:rPr lang="en-US" b="1" dirty="0" err="1"/>
              <a:t>danh</a:t>
            </a:r>
            <a:r>
              <a:rPr lang="en-US" b="1" dirty="0"/>
              <a:t> </a:t>
            </a:r>
            <a:r>
              <a:rPr lang="en-US" b="1" dirty="0" err="1"/>
              <a:t>lỗi</a:t>
            </a:r>
            <a:r>
              <a:rPr lang="en-US" b="1" dirty="0"/>
              <a:t>:</a:t>
            </a:r>
            <a:r>
              <a:rPr lang="en-US" dirty="0"/>
              <a:t> </a:t>
            </a:r>
            <a:r>
              <a:rPr lang="en-US" dirty="0" err="1"/>
              <a:t>Xung</a:t>
            </a:r>
            <a:r>
              <a:rPr lang="en-US" dirty="0"/>
              <a:t> rung </a:t>
            </a:r>
            <a:r>
              <a:rPr lang="en-US" dirty="0" err="1"/>
              <a:t>động</a:t>
            </a:r>
            <a:r>
              <a:rPr lang="en-US" dirty="0"/>
              <a:t> </a:t>
            </a:r>
            <a:r>
              <a:rPr lang="en-US" dirty="0" err="1"/>
              <a:t>lỗi</a:t>
            </a:r>
            <a:r>
              <a:rPr lang="en-US" dirty="0"/>
              <a:t> ổ </a:t>
            </a:r>
            <a:r>
              <a:rPr lang="en-US" dirty="0" err="1"/>
              <a:t>lăn</a:t>
            </a:r>
            <a:r>
              <a:rPr lang="en-US" dirty="0"/>
              <a:t> </a:t>
            </a:r>
            <a:r>
              <a:rPr lang="en-US" dirty="0" err="1"/>
              <a:t>có</a:t>
            </a:r>
            <a:r>
              <a:rPr lang="en-US" dirty="0"/>
              <a:t> </a:t>
            </a:r>
            <a:r>
              <a:rPr lang="en-US" dirty="0" err="1"/>
              <a:t>năng</a:t>
            </a:r>
            <a:r>
              <a:rPr lang="en-US" dirty="0"/>
              <a:t> </a:t>
            </a:r>
            <a:r>
              <a:rPr lang="en-US" dirty="0" err="1"/>
              <a:t>lượng</a:t>
            </a:r>
            <a:r>
              <a:rPr lang="en-US" dirty="0"/>
              <a:t> </a:t>
            </a:r>
            <a:r>
              <a:rPr lang="en-US" dirty="0" err="1"/>
              <a:t>yếu</a:t>
            </a:r>
            <a:r>
              <a:rPr lang="en-US" dirty="0"/>
              <a:t>, </a:t>
            </a:r>
            <a:r>
              <a:rPr lang="en-US" dirty="0" err="1"/>
              <a:t>dễ</a:t>
            </a:r>
            <a:r>
              <a:rPr lang="en-US" dirty="0"/>
              <a:t> </a:t>
            </a:r>
            <a:r>
              <a:rPr lang="en-US" dirty="0" err="1"/>
              <a:t>bị</a:t>
            </a:r>
            <a:r>
              <a:rPr lang="en-US" dirty="0"/>
              <a:t> </a:t>
            </a:r>
            <a:r>
              <a:rPr lang="en-US" b="1" dirty="0" err="1"/>
              <a:t>chôn</a:t>
            </a:r>
            <a:r>
              <a:rPr lang="en-US" b="1" dirty="0"/>
              <a:t> </a:t>
            </a:r>
            <a:r>
              <a:rPr lang="en-US" b="1" dirty="0" err="1"/>
              <a:t>vùi</a:t>
            </a:r>
            <a:r>
              <a:rPr lang="en-US" b="1" dirty="0"/>
              <a:t> </a:t>
            </a:r>
            <a:r>
              <a:rPr lang="en-US" b="1" dirty="0" err="1"/>
              <a:t>dưới</a:t>
            </a:r>
            <a:r>
              <a:rPr lang="en-US" b="1" dirty="0"/>
              <a:t> </a:t>
            </a:r>
            <a:r>
              <a:rPr lang="en-US" b="1" dirty="0" err="1"/>
              <a:t>nền</a:t>
            </a:r>
            <a:r>
              <a:rPr lang="en-US" b="1" dirty="0"/>
              <a:t> </a:t>
            </a:r>
            <a:r>
              <a:rPr lang="en-US" b="1" dirty="0" err="1"/>
              <a:t>nhiễu</a:t>
            </a:r>
            <a:r>
              <a:rPr lang="en-US" b="1" dirty="0"/>
              <a:t> </a:t>
            </a:r>
            <a:r>
              <a:rPr lang="en-US" b="1" dirty="0" err="1"/>
              <a:t>và</a:t>
            </a:r>
            <a:r>
              <a:rPr lang="en-US" b="1" dirty="0"/>
              <a:t> </a:t>
            </a:r>
            <a:r>
              <a:rPr lang="en-US" b="1" dirty="0" err="1"/>
              <a:t>các</a:t>
            </a:r>
            <a:r>
              <a:rPr lang="en-US" b="1" dirty="0"/>
              <a:t> </a:t>
            </a:r>
            <a:r>
              <a:rPr lang="en-US" b="1" dirty="0" err="1"/>
              <a:t>thành</a:t>
            </a:r>
            <a:r>
              <a:rPr lang="en-US" b="1" dirty="0"/>
              <a:t> </a:t>
            </a:r>
            <a:r>
              <a:rPr lang="en-US" b="1" dirty="0" err="1"/>
              <a:t>phần</a:t>
            </a:r>
            <a:r>
              <a:rPr lang="en-US" b="1" dirty="0"/>
              <a:t> rung </a:t>
            </a:r>
            <a:r>
              <a:rPr lang="en-US" b="1" dirty="0" err="1"/>
              <a:t>động</a:t>
            </a:r>
            <a:r>
              <a:rPr lang="en-US" b="1" dirty="0"/>
              <a:t> </a:t>
            </a:r>
            <a:r>
              <a:rPr lang="en-US" b="1" dirty="0" err="1"/>
              <a:t>khác</a:t>
            </a:r>
            <a:r>
              <a:rPr lang="en-US" dirty="0"/>
              <a:t> </a:t>
            </a:r>
            <a:r>
              <a:rPr lang="en-US" dirty="0" err="1"/>
              <a:t>khiến</a:t>
            </a:r>
            <a:r>
              <a:rPr lang="en-US" dirty="0"/>
              <a:t> FFT </a:t>
            </a:r>
            <a:r>
              <a:rPr lang="en-US" dirty="0" err="1"/>
              <a:t>thuần</a:t>
            </a:r>
            <a:r>
              <a:rPr lang="en-US" dirty="0"/>
              <a:t> </a:t>
            </a:r>
            <a:r>
              <a:rPr lang="en-US" dirty="0" err="1"/>
              <a:t>túy</a:t>
            </a:r>
            <a:r>
              <a:rPr lang="en-US" dirty="0"/>
              <a:t> </a:t>
            </a:r>
            <a:r>
              <a:rPr lang="en-US" dirty="0" err="1"/>
              <a:t>chưa</a:t>
            </a:r>
            <a:r>
              <a:rPr lang="en-US" dirty="0"/>
              <a:t> </a:t>
            </a:r>
            <a:r>
              <a:rPr lang="en-US" dirty="0" err="1"/>
              <a:t>phân</a:t>
            </a:r>
            <a:r>
              <a:rPr lang="en-US" dirty="0"/>
              <a:t> </a:t>
            </a:r>
            <a:r>
              <a:rPr lang="en-US" dirty="0" err="1"/>
              <a:t>biệt</a:t>
            </a:r>
            <a:r>
              <a:rPr lang="en-US" dirty="0"/>
              <a:t> </a:t>
            </a:r>
            <a:r>
              <a:rPr lang="en-US" dirty="0" err="1"/>
              <a:t>rõ</a:t>
            </a:r>
            <a:r>
              <a:rPr lang="en-US" dirty="0"/>
              <a:t> </a:t>
            </a:r>
            <a:r>
              <a:rPr lang="en-US" dirty="0" err="1"/>
              <a:t>loại</a:t>
            </a:r>
            <a:r>
              <a:rPr lang="en-US" dirty="0"/>
              <a:t> </a:t>
            </a:r>
            <a:r>
              <a:rPr lang="en-US" dirty="0" err="1"/>
              <a:t>lỗi</a:t>
            </a:r>
            <a:r>
              <a:rPr lang="en-US" dirty="0"/>
              <a:t>.</a:t>
            </a:r>
            <a:endParaRPr lang="en-US" b="1" dirty="0"/>
          </a:p>
        </p:txBody>
      </p:sp>
    </p:spTree>
    <p:extLst>
      <p:ext uri="{BB962C8B-B14F-4D97-AF65-F5344CB8AC3E}">
        <p14:creationId xmlns:p14="http://schemas.microsoft.com/office/powerpoint/2010/main" val="123693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E29C2-0C09-BFC5-2B13-4C90D949DE61}"/>
              </a:ext>
            </a:extLst>
          </p:cNvPr>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phổ</a:t>
            </a:r>
            <a:r>
              <a:rPr lang="en-US" dirty="0"/>
              <a:t> </a:t>
            </a:r>
            <a:r>
              <a:rPr lang="en-US" dirty="0" err="1"/>
              <a:t>đường</a:t>
            </a:r>
            <a:r>
              <a:rPr lang="en-US" dirty="0"/>
              <a:t> bao</a:t>
            </a:r>
          </a:p>
        </p:txBody>
      </p:sp>
      <p:sp>
        <p:nvSpPr>
          <p:cNvPr id="4" name="Slide Number Placeholder 3">
            <a:extLst>
              <a:ext uri="{FF2B5EF4-FFF2-40B4-BE49-F238E27FC236}">
                <a16:creationId xmlns:a16="http://schemas.microsoft.com/office/drawing/2014/main" id="{BE85274E-B455-0FC4-2F17-8E1BF84F05DE}"/>
              </a:ext>
            </a:extLst>
          </p:cNvPr>
          <p:cNvSpPr>
            <a:spLocks noGrp="1"/>
          </p:cNvSpPr>
          <p:nvPr>
            <p:ph type="sldNum" sz="quarter" idx="12"/>
          </p:nvPr>
        </p:nvSpPr>
        <p:spPr/>
        <p:txBody>
          <a:bodyPr/>
          <a:lstStyle/>
          <a:p>
            <a:fld id="{9EA0BE3B-158A-4EDF-80DC-E394A0D1600F}" type="slidenum">
              <a:rPr lang="en-US" smtClean="0"/>
              <a:pPr/>
              <a:t>17</a:t>
            </a:fld>
            <a:endParaRPr lang="en-US"/>
          </a:p>
        </p:txBody>
      </p:sp>
      <p:pic>
        <p:nvPicPr>
          <p:cNvPr id="5" name="videoplayback">
            <a:hlinkClick r:id="" action="ppaction://media"/>
            <a:extLst>
              <a:ext uri="{FF2B5EF4-FFF2-40B4-BE49-F238E27FC236}">
                <a16:creationId xmlns:a16="http://schemas.microsoft.com/office/drawing/2014/main" id="{CA0B7A55-F6E4-84F8-691E-6E29017AB97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343089" y="1082358"/>
            <a:ext cx="2743200" cy="4876800"/>
          </a:xfrm>
          <a:prstGeom prst="rect">
            <a:avLst/>
          </a:prstGeom>
        </p:spPr>
      </p:pic>
      <p:sp>
        <p:nvSpPr>
          <p:cNvPr id="6" name="TextBox 5">
            <a:extLst>
              <a:ext uri="{FF2B5EF4-FFF2-40B4-BE49-F238E27FC236}">
                <a16:creationId xmlns:a16="http://schemas.microsoft.com/office/drawing/2014/main" id="{176FEEF6-1857-21EA-C8FA-AC4A46EBA143}"/>
              </a:ext>
            </a:extLst>
          </p:cNvPr>
          <p:cNvSpPr txBox="1"/>
          <p:nvPr/>
        </p:nvSpPr>
        <p:spPr>
          <a:xfrm>
            <a:off x="338736" y="1082358"/>
            <a:ext cx="7472575" cy="4801314"/>
          </a:xfrm>
          <a:prstGeom prst="rect">
            <a:avLst/>
          </a:prstGeom>
          <a:noFill/>
        </p:spPr>
        <p:txBody>
          <a:bodyPr wrap="square" rtlCol="0">
            <a:spAutoFit/>
          </a:bodyPr>
          <a:lstStyle/>
          <a:p>
            <a:r>
              <a:rPr lang="en-US" dirty="0" err="1"/>
              <a:t>Là</a:t>
            </a:r>
            <a:r>
              <a:rPr lang="en-US" dirty="0"/>
              <a:t> </a:t>
            </a:r>
            <a:r>
              <a:rPr lang="en-US" dirty="0" err="1"/>
              <a:t>kỹ</a:t>
            </a:r>
            <a:r>
              <a:rPr lang="en-US" dirty="0"/>
              <a:t> </a:t>
            </a:r>
            <a:r>
              <a:rPr lang="en-US" dirty="0" err="1"/>
              <a:t>thuật</a:t>
            </a:r>
            <a:r>
              <a:rPr lang="en-US" dirty="0"/>
              <a:t> </a:t>
            </a:r>
            <a:r>
              <a:rPr lang="en-US" b="1" dirty="0" err="1"/>
              <a:t>giải</a:t>
            </a:r>
            <a:r>
              <a:rPr lang="en-US" b="1" dirty="0"/>
              <a:t> </a:t>
            </a:r>
            <a:r>
              <a:rPr lang="en-US" b="1" dirty="0" err="1"/>
              <a:t>điều</a:t>
            </a:r>
            <a:r>
              <a:rPr lang="en-US" b="1" dirty="0"/>
              <a:t> </a:t>
            </a:r>
            <a:r>
              <a:rPr lang="en-US" b="1" dirty="0" err="1"/>
              <a:t>chế</a:t>
            </a:r>
            <a:r>
              <a:rPr lang="en-US" b="1" dirty="0"/>
              <a:t> </a:t>
            </a:r>
            <a:r>
              <a:rPr lang="en-US" b="1" dirty="0" err="1"/>
              <a:t>biên</a:t>
            </a:r>
            <a:r>
              <a:rPr lang="en-US" b="1" dirty="0"/>
              <a:t> </a:t>
            </a:r>
            <a:r>
              <a:rPr lang="en-US" b="1" dirty="0" err="1"/>
              <a:t>độ</a:t>
            </a:r>
            <a:r>
              <a:rPr lang="en-US" b="1" dirty="0"/>
              <a:t> (Amplitude Demodulation)</a:t>
            </a:r>
            <a:r>
              <a:rPr lang="en-US" dirty="0"/>
              <a:t> </a:t>
            </a:r>
            <a:r>
              <a:rPr lang="en-US" dirty="0" err="1"/>
              <a:t>nhằm</a:t>
            </a:r>
            <a:r>
              <a:rPr lang="en-US" dirty="0"/>
              <a:t> </a:t>
            </a:r>
            <a:r>
              <a:rPr lang="en-US" dirty="0" err="1"/>
              <a:t>tách</a:t>
            </a:r>
            <a:r>
              <a:rPr lang="en-US" dirty="0"/>
              <a:t> </a:t>
            </a:r>
            <a:r>
              <a:rPr lang="en-US" dirty="0" err="1"/>
              <a:t>biệt</a:t>
            </a:r>
            <a:r>
              <a:rPr lang="en-US" dirty="0"/>
              <a:t> </a:t>
            </a:r>
            <a:r>
              <a:rPr lang="en-US" dirty="0" err="1"/>
              <a:t>tần</a:t>
            </a:r>
            <a:r>
              <a:rPr lang="en-US" dirty="0"/>
              <a:t> </a:t>
            </a:r>
            <a:r>
              <a:rPr lang="en-US" dirty="0" err="1"/>
              <a:t>số</a:t>
            </a:r>
            <a:r>
              <a:rPr lang="en-US" dirty="0"/>
              <a:t> </a:t>
            </a:r>
            <a:r>
              <a:rPr lang="en-US" dirty="0" err="1"/>
              <a:t>va</a:t>
            </a:r>
            <a:r>
              <a:rPr lang="en-US" dirty="0"/>
              <a:t> </a:t>
            </a:r>
            <a:r>
              <a:rPr lang="en-US" dirty="0" err="1"/>
              <a:t>đập</a:t>
            </a:r>
            <a:r>
              <a:rPr lang="en-US" dirty="0"/>
              <a:t> chu </a:t>
            </a:r>
            <a:r>
              <a:rPr lang="en-US" dirty="0" err="1"/>
              <a:t>kỳ</a:t>
            </a:r>
            <a:r>
              <a:rPr lang="en-US" dirty="0"/>
              <a:t> </a:t>
            </a:r>
            <a:r>
              <a:rPr lang="en-US" dirty="0" err="1"/>
              <a:t>ra</a:t>
            </a:r>
            <a:r>
              <a:rPr lang="en-US" dirty="0"/>
              <a:t> </a:t>
            </a:r>
            <a:r>
              <a:rPr lang="en-US" dirty="0" err="1"/>
              <a:t>khỏi</a:t>
            </a:r>
            <a:r>
              <a:rPr lang="en-US" dirty="0"/>
              <a:t> </a:t>
            </a:r>
            <a:r>
              <a:rPr lang="en-US" dirty="0" err="1"/>
              <a:t>sóng</a:t>
            </a:r>
            <a:r>
              <a:rPr lang="en-US" dirty="0"/>
              <a:t> </a:t>
            </a:r>
            <a:r>
              <a:rPr lang="en-US" dirty="0" err="1"/>
              <a:t>mang</a:t>
            </a:r>
            <a:r>
              <a:rPr lang="en-US" dirty="0"/>
              <a:t> </a:t>
            </a:r>
            <a:r>
              <a:rPr lang="en-US" dirty="0" err="1"/>
              <a:t>là</a:t>
            </a:r>
            <a:r>
              <a:rPr lang="en-US" dirty="0"/>
              <a:t> </a:t>
            </a:r>
            <a:r>
              <a:rPr lang="en-US" dirty="0" err="1"/>
              <a:t>tần</a:t>
            </a:r>
            <a:r>
              <a:rPr lang="en-US" dirty="0"/>
              <a:t> </a:t>
            </a:r>
            <a:r>
              <a:rPr lang="en-US" dirty="0" err="1"/>
              <a:t>số</a:t>
            </a:r>
            <a:r>
              <a:rPr lang="en-US" dirty="0"/>
              <a:t> </a:t>
            </a:r>
            <a:r>
              <a:rPr lang="en-US" dirty="0" err="1"/>
              <a:t>cộng</a:t>
            </a:r>
            <a:r>
              <a:rPr lang="en-US" dirty="0"/>
              <a:t> </a:t>
            </a:r>
            <a:r>
              <a:rPr lang="en-US" dirty="0" err="1"/>
              <a:t>hưởng</a:t>
            </a:r>
            <a:r>
              <a:rPr lang="en-US" dirty="0"/>
              <a:t> </a:t>
            </a:r>
            <a:r>
              <a:rPr lang="en-US" dirty="0" err="1"/>
              <a:t>tự</a:t>
            </a:r>
            <a:r>
              <a:rPr lang="en-US" dirty="0"/>
              <a:t> </a:t>
            </a:r>
            <a:r>
              <a:rPr lang="en-US" dirty="0" err="1"/>
              <a:t>nhiên</a:t>
            </a:r>
            <a:r>
              <a:rPr lang="en-US" dirty="0"/>
              <a:t> </a:t>
            </a:r>
            <a:r>
              <a:rPr lang="en-US" dirty="0" err="1"/>
              <a:t>của</a:t>
            </a:r>
            <a:r>
              <a:rPr lang="en-US" dirty="0"/>
              <a:t> </a:t>
            </a:r>
            <a:r>
              <a:rPr lang="en-US" dirty="0" err="1"/>
              <a:t>kết</a:t>
            </a:r>
            <a:r>
              <a:rPr lang="en-US" dirty="0"/>
              <a:t> </a:t>
            </a:r>
            <a:r>
              <a:rPr lang="en-US" dirty="0" err="1"/>
              <a:t>cấu</a:t>
            </a:r>
            <a:r>
              <a:rPr lang="en-US" dirty="0"/>
              <a:t>.</a:t>
            </a:r>
          </a:p>
          <a:p>
            <a:endParaRPr lang="en-US" dirty="0"/>
          </a:p>
          <a:p>
            <a:r>
              <a:rPr lang="en-US" b="1" dirty="0"/>
              <a:t>Quy </a:t>
            </a:r>
            <a:r>
              <a:rPr lang="en-US" b="1" dirty="0" err="1"/>
              <a:t>trình</a:t>
            </a:r>
            <a:r>
              <a:rPr lang="en-US" b="1" dirty="0"/>
              <a:t> </a:t>
            </a:r>
            <a:r>
              <a:rPr lang="en-US" b="1" dirty="0" err="1"/>
              <a:t>thực</a:t>
            </a:r>
            <a:r>
              <a:rPr lang="en-US" b="1" dirty="0"/>
              <a:t> </a:t>
            </a:r>
            <a:r>
              <a:rPr lang="en-US" b="1" dirty="0" err="1"/>
              <a:t>hiện</a:t>
            </a:r>
            <a:r>
              <a:rPr lang="en-US" b="1" dirty="0"/>
              <a:t>:</a:t>
            </a:r>
          </a:p>
          <a:p>
            <a:pPr marL="342900" indent="-342900">
              <a:buFont typeface="+mj-lt"/>
              <a:buAutoNum type="arabicPeriod"/>
            </a:pPr>
            <a:r>
              <a:rPr lang="en-US" b="1" dirty="0" err="1"/>
              <a:t>Lọc</a:t>
            </a:r>
            <a:r>
              <a:rPr lang="en-US" b="1" dirty="0"/>
              <a:t> </a:t>
            </a:r>
            <a:r>
              <a:rPr lang="en-US" b="1" dirty="0" err="1"/>
              <a:t>dải</a:t>
            </a:r>
            <a:r>
              <a:rPr lang="en-US" b="1" dirty="0"/>
              <a:t> </a:t>
            </a:r>
            <a:r>
              <a:rPr lang="en-US" b="1" dirty="0" err="1"/>
              <a:t>thông</a:t>
            </a:r>
            <a:r>
              <a:rPr lang="en-US" b="1" dirty="0"/>
              <a:t>:</a:t>
            </a:r>
            <a:r>
              <a:rPr lang="en-US" dirty="0"/>
              <a:t> </a:t>
            </a:r>
            <a:r>
              <a:rPr lang="en-US" dirty="0" err="1"/>
              <a:t>Cô</a:t>
            </a:r>
            <a:r>
              <a:rPr lang="en-US" dirty="0"/>
              <a:t> </a:t>
            </a:r>
            <a:r>
              <a:rPr lang="en-US" dirty="0" err="1"/>
              <a:t>lập</a:t>
            </a:r>
            <a:r>
              <a:rPr lang="en-US" dirty="0"/>
              <a:t> </a:t>
            </a:r>
            <a:r>
              <a:rPr lang="en-US" dirty="0" err="1"/>
              <a:t>vùng</a:t>
            </a:r>
            <a:r>
              <a:rPr lang="en-US" dirty="0"/>
              <a:t> </a:t>
            </a:r>
            <a:r>
              <a:rPr lang="en-US" dirty="0" err="1"/>
              <a:t>tần</a:t>
            </a:r>
            <a:r>
              <a:rPr lang="en-US" dirty="0"/>
              <a:t> </a:t>
            </a:r>
            <a:r>
              <a:rPr lang="en-US" dirty="0" err="1"/>
              <a:t>số</a:t>
            </a:r>
            <a:r>
              <a:rPr lang="en-US" dirty="0"/>
              <a:t> </a:t>
            </a:r>
            <a:r>
              <a:rPr lang="en-US" dirty="0" err="1"/>
              <a:t>cộng</a:t>
            </a:r>
            <a:r>
              <a:rPr lang="en-US" dirty="0"/>
              <a:t> </a:t>
            </a:r>
            <a:r>
              <a:rPr lang="en-US" dirty="0" err="1"/>
              <a:t>hưởng</a:t>
            </a:r>
            <a:r>
              <a:rPr lang="en-US" dirty="0"/>
              <a:t> </a:t>
            </a:r>
            <a:r>
              <a:rPr lang="en-US" dirty="0" err="1"/>
              <a:t>tần</a:t>
            </a:r>
            <a:r>
              <a:rPr lang="en-US" dirty="0"/>
              <a:t> </a:t>
            </a:r>
            <a:r>
              <a:rPr lang="en-US" dirty="0" err="1"/>
              <a:t>số</a:t>
            </a:r>
            <a:r>
              <a:rPr lang="en-US" dirty="0"/>
              <a:t> </a:t>
            </a:r>
            <a:r>
              <a:rPr lang="en-US" dirty="0" err="1"/>
              <a:t>cao</a:t>
            </a:r>
            <a:r>
              <a:rPr lang="en-US" dirty="0"/>
              <a:t> — </a:t>
            </a:r>
            <a:r>
              <a:rPr lang="en-US" dirty="0" err="1"/>
              <a:t>nơi</a:t>
            </a:r>
            <a:r>
              <a:rPr lang="en-US" dirty="0"/>
              <a:t> </a:t>
            </a:r>
            <a:r>
              <a:rPr lang="en-US" dirty="0" err="1"/>
              <a:t>năng</a:t>
            </a:r>
            <a:r>
              <a:rPr lang="en-US" dirty="0"/>
              <a:t> </a:t>
            </a:r>
            <a:r>
              <a:rPr lang="en-US" dirty="0" err="1"/>
              <a:t>lượng</a:t>
            </a:r>
            <a:r>
              <a:rPr lang="en-US" dirty="0"/>
              <a:t> </a:t>
            </a:r>
            <a:r>
              <a:rPr lang="en-US" dirty="0" err="1"/>
              <a:t>va</a:t>
            </a:r>
            <a:r>
              <a:rPr lang="en-US" dirty="0"/>
              <a:t> </a:t>
            </a:r>
            <a:r>
              <a:rPr lang="en-US" dirty="0" err="1"/>
              <a:t>đập</a:t>
            </a:r>
            <a:r>
              <a:rPr lang="en-US" dirty="0"/>
              <a:t> </a:t>
            </a:r>
            <a:r>
              <a:rPr lang="en-US" dirty="0" err="1"/>
              <a:t>mạnh</a:t>
            </a:r>
            <a:r>
              <a:rPr lang="en-US" dirty="0"/>
              <a:t> </a:t>
            </a:r>
            <a:r>
              <a:rPr lang="en-US" dirty="0" err="1"/>
              <a:t>nhất</a:t>
            </a:r>
            <a:r>
              <a:rPr lang="en-US" dirty="0"/>
              <a:t> </a:t>
            </a:r>
            <a:r>
              <a:rPr lang="en-US" dirty="0" err="1"/>
              <a:t>và</a:t>
            </a:r>
            <a:r>
              <a:rPr lang="en-US" dirty="0"/>
              <a:t> </a:t>
            </a:r>
            <a:r>
              <a:rPr lang="en-US" dirty="0" err="1"/>
              <a:t>sạch</a:t>
            </a:r>
            <a:r>
              <a:rPr lang="en-US" dirty="0"/>
              <a:t> </a:t>
            </a:r>
            <a:r>
              <a:rPr lang="en-US" dirty="0" err="1"/>
              <a:t>nhiễu</a:t>
            </a:r>
            <a:r>
              <a:rPr lang="en-US" dirty="0"/>
              <a:t> </a:t>
            </a:r>
            <a:r>
              <a:rPr lang="en-US" dirty="0" err="1"/>
              <a:t>nền</a:t>
            </a:r>
            <a:r>
              <a:rPr lang="en-US" dirty="0"/>
              <a:t> </a:t>
            </a:r>
            <a:r>
              <a:rPr lang="en-US" dirty="0" err="1"/>
              <a:t>từ</a:t>
            </a:r>
            <a:r>
              <a:rPr lang="en-US" dirty="0"/>
              <a:t> dao </a:t>
            </a:r>
            <a:r>
              <a:rPr lang="en-US" dirty="0" err="1"/>
              <a:t>động</a:t>
            </a:r>
            <a:r>
              <a:rPr lang="en-US" dirty="0"/>
              <a:t> quay </a:t>
            </a:r>
            <a:r>
              <a:rPr lang="en-US" dirty="0" err="1"/>
              <a:t>trục</a:t>
            </a:r>
            <a:r>
              <a:rPr lang="en-US" dirty="0"/>
              <a:t>.</a:t>
            </a:r>
          </a:p>
          <a:p>
            <a:pPr marL="342900" indent="-342900">
              <a:buFont typeface="+mj-lt"/>
              <a:buAutoNum type="arabicPeriod"/>
            </a:pPr>
            <a:r>
              <a:rPr lang="en-US" b="1" dirty="0" err="1"/>
              <a:t>Biến</a:t>
            </a:r>
            <a:r>
              <a:rPr lang="en-US" b="1" dirty="0"/>
              <a:t> </a:t>
            </a:r>
            <a:r>
              <a:rPr lang="en-US" b="1" dirty="0" err="1"/>
              <a:t>đổi</a:t>
            </a:r>
            <a:r>
              <a:rPr lang="en-US" b="1" dirty="0"/>
              <a:t> Hilbert:</a:t>
            </a:r>
            <a:r>
              <a:rPr lang="en-US" dirty="0"/>
              <a:t> </a:t>
            </a:r>
            <a:r>
              <a:rPr lang="en-US" dirty="0" err="1"/>
              <a:t>Thiết</a:t>
            </a:r>
            <a:r>
              <a:rPr lang="en-US" dirty="0"/>
              <a:t> </a:t>
            </a:r>
            <a:r>
              <a:rPr lang="en-US" dirty="0" err="1"/>
              <a:t>lập</a:t>
            </a:r>
            <a:r>
              <a:rPr lang="en-US" dirty="0"/>
              <a:t> </a:t>
            </a:r>
            <a:r>
              <a:rPr lang="en-US" dirty="0" err="1"/>
              <a:t>tín</a:t>
            </a:r>
            <a:r>
              <a:rPr lang="en-US" dirty="0"/>
              <a:t> </a:t>
            </a:r>
            <a:r>
              <a:rPr lang="en-US" dirty="0" err="1"/>
              <a:t>hiệu</a:t>
            </a:r>
            <a:r>
              <a:rPr lang="en-US" dirty="0"/>
              <a:t> </a:t>
            </a:r>
            <a:r>
              <a:rPr lang="en-US" dirty="0" err="1"/>
              <a:t>giải</a:t>
            </a:r>
            <a:r>
              <a:rPr lang="en-US" dirty="0"/>
              <a:t> </a:t>
            </a:r>
            <a:r>
              <a:rPr lang="en-US" dirty="0" err="1"/>
              <a:t>tích</a:t>
            </a:r>
            <a:r>
              <a:rPr lang="en-US" dirty="0"/>
              <a:t> </a:t>
            </a:r>
            <a:r>
              <a:rPr lang="en-US" dirty="0" err="1"/>
              <a:t>phức</a:t>
            </a:r>
            <a:r>
              <a:rPr lang="en-US" dirty="0"/>
              <a:t> </a:t>
            </a:r>
            <a:r>
              <a:rPr lang="en-US" dirty="0" err="1"/>
              <a:t>nhằm</a:t>
            </a:r>
            <a:r>
              <a:rPr lang="en-US" dirty="0"/>
              <a:t> </a:t>
            </a:r>
            <a:r>
              <a:rPr lang="en-US" dirty="0" err="1"/>
              <a:t>trích</a:t>
            </a:r>
            <a:r>
              <a:rPr lang="en-US" dirty="0"/>
              <a:t> </a:t>
            </a:r>
            <a:r>
              <a:rPr lang="en-US" dirty="0" err="1"/>
              <a:t>xuất</a:t>
            </a:r>
            <a:r>
              <a:rPr lang="en-US" dirty="0"/>
              <a:t> </a:t>
            </a:r>
            <a:r>
              <a:rPr lang="en-US" dirty="0" err="1"/>
              <a:t>biên</a:t>
            </a:r>
            <a:r>
              <a:rPr lang="en-US" dirty="0"/>
              <a:t> </a:t>
            </a:r>
            <a:r>
              <a:rPr lang="en-US" dirty="0" err="1"/>
              <a:t>độ</a:t>
            </a:r>
            <a:r>
              <a:rPr lang="en-US" dirty="0"/>
              <a:t> </a:t>
            </a:r>
            <a:r>
              <a:rPr lang="en-US" dirty="0" err="1"/>
              <a:t>đường</a:t>
            </a:r>
            <a:r>
              <a:rPr lang="en-US" dirty="0"/>
              <a:t> bao </a:t>
            </a:r>
            <a:r>
              <a:rPr lang="en-US" dirty="0" err="1"/>
              <a:t>và</a:t>
            </a:r>
            <a:r>
              <a:rPr lang="en-US" dirty="0"/>
              <a:t> </a:t>
            </a:r>
            <a:r>
              <a:rPr lang="en-US" dirty="0" err="1"/>
              <a:t>triệt</a:t>
            </a:r>
            <a:r>
              <a:rPr lang="en-US" dirty="0"/>
              <a:t> </a:t>
            </a:r>
            <a:r>
              <a:rPr lang="en-US" dirty="0" err="1"/>
              <a:t>tiêu</a:t>
            </a:r>
            <a:r>
              <a:rPr lang="en-US" dirty="0"/>
              <a:t> </a:t>
            </a:r>
            <a:r>
              <a:rPr lang="en-US" dirty="0" err="1"/>
              <a:t>thành</a:t>
            </a:r>
            <a:r>
              <a:rPr lang="en-US" dirty="0"/>
              <a:t> </a:t>
            </a:r>
            <a:r>
              <a:rPr lang="en-US" dirty="0" err="1"/>
              <a:t>phần</a:t>
            </a:r>
            <a:r>
              <a:rPr lang="en-US" dirty="0"/>
              <a:t> </a:t>
            </a:r>
            <a:r>
              <a:rPr lang="en-US" dirty="0" err="1"/>
              <a:t>sóng</a:t>
            </a:r>
            <a:r>
              <a:rPr lang="en-US" dirty="0"/>
              <a:t> </a:t>
            </a:r>
            <a:r>
              <a:rPr lang="en-US" dirty="0" err="1"/>
              <a:t>mang</a:t>
            </a:r>
            <a:r>
              <a:rPr lang="en-US" dirty="0"/>
              <a:t>.</a:t>
            </a:r>
          </a:p>
          <a:p>
            <a:pPr marL="342900" indent="-342900">
              <a:buFont typeface="+mj-lt"/>
              <a:buAutoNum type="arabicPeriod"/>
            </a:pPr>
            <a:r>
              <a:rPr lang="en-US" b="1" dirty="0"/>
              <a:t>FFT </a:t>
            </a:r>
            <a:r>
              <a:rPr lang="en-US" b="1" dirty="0" err="1"/>
              <a:t>đường</a:t>
            </a:r>
            <a:r>
              <a:rPr lang="en-US" b="1" dirty="0"/>
              <a:t> bao:</a:t>
            </a:r>
            <a:r>
              <a:rPr lang="en-US" dirty="0"/>
              <a:t> </a:t>
            </a:r>
            <a:r>
              <a:rPr lang="en-US" dirty="0" err="1"/>
              <a:t>Thực</a:t>
            </a:r>
            <a:r>
              <a:rPr lang="en-US" dirty="0"/>
              <a:t> </a:t>
            </a:r>
            <a:r>
              <a:rPr lang="en-US" dirty="0" err="1"/>
              <a:t>hiện</a:t>
            </a:r>
            <a:r>
              <a:rPr lang="en-US" dirty="0"/>
              <a:t> </a:t>
            </a:r>
            <a:r>
              <a:rPr lang="en-US" dirty="0" err="1"/>
              <a:t>biến</a:t>
            </a:r>
            <a:r>
              <a:rPr lang="en-US" dirty="0"/>
              <a:t> </a:t>
            </a:r>
            <a:r>
              <a:rPr lang="en-US" dirty="0" err="1"/>
              <a:t>đổi</a:t>
            </a:r>
            <a:r>
              <a:rPr lang="en-US" dirty="0"/>
              <a:t> Fourier </a:t>
            </a:r>
            <a:r>
              <a:rPr lang="en-US" dirty="0" err="1"/>
              <a:t>nhanh</a:t>
            </a:r>
            <a:r>
              <a:rPr lang="en-US" dirty="0"/>
              <a:t> </a:t>
            </a:r>
            <a:r>
              <a:rPr lang="en-US" dirty="0" err="1"/>
              <a:t>trên</a:t>
            </a:r>
            <a:r>
              <a:rPr lang="en-US" dirty="0"/>
              <a:t> </a:t>
            </a:r>
            <a:r>
              <a:rPr lang="en-US" dirty="0" err="1"/>
              <a:t>đường</a:t>
            </a:r>
            <a:r>
              <a:rPr lang="en-US" dirty="0"/>
              <a:t> bao </a:t>
            </a:r>
            <a:r>
              <a:rPr lang="en-US" dirty="0" err="1"/>
              <a:t>biên</a:t>
            </a:r>
            <a:r>
              <a:rPr lang="en-US" dirty="0"/>
              <a:t> </a:t>
            </a:r>
            <a:r>
              <a:rPr lang="en-US" dirty="0" err="1"/>
              <a:t>độ</a:t>
            </a:r>
            <a:r>
              <a:rPr lang="en-US" dirty="0"/>
              <a:t> </a:t>
            </a:r>
            <a:r>
              <a:rPr lang="en-US" dirty="0" err="1"/>
              <a:t>vừa</a:t>
            </a:r>
            <a:r>
              <a:rPr lang="en-US" dirty="0"/>
              <a:t> </a:t>
            </a:r>
            <a:r>
              <a:rPr lang="en-US" dirty="0" err="1"/>
              <a:t>thu</a:t>
            </a:r>
            <a:r>
              <a:rPr lang="en-US" dirty="0"/>
              <a:t> </a:t>
            </a:r>
            <a:r>
              <a:rPr lang="en-US" dirty="0" err="1"/>
              <a:t>được</a:t>
            </a:r>
            <a:r>
              <a:rPr lang="en-US" dirty="0"/>
              <a:t>.</a:t>
            </a:r>
          </a:p>
          <a:p>
            <a:pPr marL="342900" indent="-342900">
              <a:buFont typeface="+mj-lt"/>
              <a:buAutoNum type="arabicPeriod"/>
            </a:pPr>
            <a:endParaRPr lang="en-US" dirty="0"/>
          </a:p>
          <a:p>
            <a:r>
              <a:rPr lang="en-US" b="1" dirty="0" err="1"/>
              <a:t>Giá</a:t>
            </a:r>
            <a:r>
              <a:rPr lang="en-US" b="1" dirty="0"/>
              <a:t> </a:t>
            </a:r>
            <a:r>
              <a:rPr lang="en-US" b="1" dirty="0" err="1"/>
              <a:t>trị</a:t>
            </a:r>
            <a:r>
              <a:rPr lang="en-US" b="1" dirty="0"/>
              <a:t> </a:t>
            </a:r>
            <a:r>
              <a:rPr lang="en-US" b="1" dirty="0" err="1"/>
              <a:t>chẩn</a:t>
            </a:r>
            <a:r>
              <a:rPr lang="en-US" b="1" dirty="0"/>
              <a:t> </a:t>
            </a:r>
            <a:r>
              <a:rPr lang="en-US" b="1" dirty="0" err="1"/>
              <a:t>đoán</a:t>
            </a:r>
            <a:r>
              <a:rPr lang="en-US" b="1" dirty="0"/>
              <a:t>:</a:t>
            </a:r>
          </a:p>
          <a:p>
            <a:pPr marL="285750" indent="-285750">
              <a:buFont typeface="Arial" panose="020B0604020202020204" pitchFamily="34" charset="0"/>
              <a:buChar char="•"/>
            </a:pPr>
            <a:r>
              <a:rPr lang="en-US" dirty="0"/>
              <a:t>Làm </a:t>
            </a:r>
            <a:r>
              <a:rPr lang="en-US" dirty="0" err="1"/>
              <a:t>bộc</a:t>
            </a:r>
            <a:r>
              <a:rPr lang="en-US" dirty="0"/>
              <a:t> </a:t>
            </a:r>
            <a:r>
              <a:rPr lang="en-US" dirty="0" err="1"/>
              <a:t>lộ</a:t>
            </a:r>
            <a:r>
              <a:rPr lang="en-US" dirty="0"/>
              <a:t> </a:t>
            </a:r>
            <a:r>
              <a:rPr lang="en-US" dirty="0" err="1"/>
              <a:t>rõ</a:t>
            </a:r>
            <a:r>
              <a:rPr lang="en-US" dirty="0"/>
              <a:t> </a:t>
            </a:r>
            <a:r>
              <a:rPr lang="en-US" dirty="0" err="1"/>
              <a:t>rệt</a:t>
            </a:r>
            <a:r>
              <a:rPr lang="en-US" dirty="0"/>
              <a:t> </a:t>
            </a:r>
            <a:r>
              <a:rPr lang="en-US" dirty="0" err="1"/>
              <a:t>các</a:t>
            </a:r>
            <a:r>
              <a:rPr lang="en-US" dirty="0"/>
              <a:t> </a:t>
            </a:r>
            <a:r>
              <a:rPr lang="en-US" dirty="0" err="1"/>
              <a:t>đỉnh</a:t>
            </a:r>
            <a:r>
              <a:rPr lang="en-US" dirty="0"/>
              <a:t> </a:t>
            </a:r>
            <a:r>
              <a:rPr lang="en-US" dirty="0" err="1"/>
              <a:t>phổ</a:t>
            </a:r>
            <a:r>
              <a:rPr lang="en-US" dirty="0"/>
              <a:t> </a:t>
            </a:r>
            <a:r>
              <a:rPr lang="en-US" dirty="0" err="1"/>
              <a:t>đặc</a:t>
            </a:r>
            <a:r>
              <a:rPr lang="en-US" dirty="0"/>
              <a:t> </a:t>
            </a:r>
            <a:r>
              <a:rPr lang="en-US" dirty="0" err="1"/>
              <a:t>trưng</a:t>
            </a:r>
            <a:r>
              <a:rPr lang="en-US" dirty="0"/>
              <a:t> </a:t>
            </a:r>
            <a:r>
              <a:rPr lang="en-US" dirty="0" err="1"/>
              <a:t>lỗi</a:t>
            </a:r>
            <a:r>
              <a:rPr lang="en-US" dirty="0"/>
              <a:t> </a:t>
            </a:r>
            <a:r>
              <a:rPr lang="en-US" dirty="0" err="1"/>
              <a:t>hình</a:t>
            </a:r>
            <a:r>
              <a:rPr lang="en-US" dirty="0"/>
              <a:t> </a:t>
            </a:r>
            <a:r>
              <a:rPr lang="en-US" dirty="0" err="1"/>
              <a:t>học</a:t>
            </a:r>
            <a:r>
              <a:rPr lang="en-US" dirty="0"/>
              <a:t> (BPFI, BPFO, BSF) </a:t>
            </a:r>
            <a:r>
              <a:rPr lang="en-US" dirty="0" err="1"/>
              <a:t>sắc</a:t>
            </a:r>
            <a:r>
              <a:rPr lang="en-US" dirty="0"/>
              <a:t> </a:t>
            </a:r>
            <a:r>
              <a:rPr lang="en-US" dirty="0" err="1"/>
              <a:t>nét</a:t>
            </a:r>
            <a:endParaRPr lang="en-US" dirty="0"/>
          </a:p>
          <a:p>
            <a:pPr marL="285750" indent="-285750">
              <a:buFont typeface="Arial" panose="020B0604020202020204" pitchFamily="34" charset="0"/>
              <a:buChar char="•"/>
            </a:pPr>
            <a:r>
              <a:rPr lang="en-US" dirty="0"/>
              <a:t>Cung </a:t>
            </a:r>
            <a:r>
              <a:rPr lang="en-US" dirty="0" err="1"/>
              <a:t>cấp</a:t>
            </a:r>
            <a:r>
              <a:rPr lang="en-US" dirty="0"/>
              <a:t> vector </a:t>
            </a:r>
            <a:r>
              <a:rPr lang="en-US" dirty="0" err="1"/>
              <a:t>đặc</a:t>
            </a:r>
            <a:r>
              <a:rPr lang="en-US" dirty="0"/>
              <a:t> </a:t>
            </a:r>
            <a:r>
              <a:rPr lang="en-US" dirty="0" err="1"/>
              <a:t>trưng</a:t>
            </a:r>
            <a:r>
              <a:rPr lang="en-US" dirty="0"/>
              <a:t> </a:t>
            </a:r>
            <a:r>
              <a:rPr lang="en-US" dirty="0" err="1"/>
              <a:t>đầu</a:t>
            </a:r>
            <a:r>
              <a:rPr lang="en-US" dirty="0"/>
              <a:t> </a:t>
            </a:r>
            <a:r>
              <a:rPr lang="en-US" dirty="0" err="1"/>
              <a:t>vào</a:t>
            </a:r>
            <a:r>
              <a:rPr lang="en-US" dirty="0"/>
              <a:t> </a:t>
            </a:r>
            <a:r>
              <a:rPr lang="en-US" dirty="0" err="1"/>
              <a:t>có</a:t>
            </a:r>
            <a:r>
              <a:rPr lang="en-US" dirty="0"/>
              <a:t> </a:t>
            </a:r>
            <a:r>
              <a:rPr lang="en-US" dirty="0" err="1"/>
              <a:t>tính</a:t>
            </a:r>
            <a:r>
              <a:rPr lang="en-US" dirty="0"/>
              <a:t> </a:t>
            </a:r>
            <a:r>
              <a:rPr lang="en-US" dirty="0" err="1"/>
              <a:t>tường</a:t>
            </a:r>
            <a:r>
              <a:rPr lang="en-US" dirty="0"/>
              <a:t> </a:t>
            </a:r>
            <a:r>
              <a:rPr lang="en-US" dirty="0" err="1"/>
              <a:t>minh</a:t>
            </a:r>
            <a:r>
              <a:rPr lang="en-US" dirty="0"/>
              <a:t> </a:t>
            </a:r>
            <a:r>
              <a:rPr lang="en-US" dirty="0" err="1"/>
              <a:t>và</a:t>
            </a:r>
            <a:r>
              <a:rPr lang="en-US" dirty="0"/>
              <a:t> </a:t>
            </a:r>
            <a:r>
              <a:rPr lang="en-US" dirty="0" err="1"/>
              <a:t>phân</a:t>
            </a:r>
            <a:r>
              <a:rPr lang="en-US" dirty="0"/>
              <a:t> </a:t>
            </a:r>
            <a:r>
              <a:rPr lang="en-US" dirty="0" err="1"/>
              <a:t>tách</a:t>
            </a:r>
            <a:r>
              <a:rPr lang="en-US" dirty="0"/>
              <a:t> </a:t>
            </a:r>
            <a:r>
              <a:rPr lang="en-US" dirty="0" err="1"/>
              <a:t>cao</a:t>
            </a:r>
            <a:r>
              <a:rPr lang="en-US" dirty="0"/>
              <a:t>, </a:t>
            </a:r>
            <a:r>
              <a:rPr lang="en-US" dirty="0" err="1"/>
              <a:t>giúp</a:t>
            </a:r>
            <a:r>
              <a:rPr lang="en-US" dirty="0"/>
              <a:t> </a:t>
            </a:r>
            <a:r>
              <a:rPr lang="en-US" dirty="0" err="1"/>
              <a:t>mô</a:t>
            </a:r>
            <a:r>
              <a:rPr lang="en-US" dirty="0"/>
              <a:t> </a:t>
            </a:r>
            <a:r>
              <a:rPr lang="en-US" dirty="0" err="1"/>
              <a:t>hình</a:t>
            </a:r>
            <a:r>
              <a:rPr lang="en-US" dirty="0"/>
              <a:t> Học </a:t>
            </a:r>
            <a:r>
              <a:rPr lang="en-US" dirty="0" err="1"/>
              <a:t>máy</a:t>
            </a:r>
            <a:r>
              <a:rPr lang="en-US" dirty="0"/>
              <a:t> </a:t>
            </a:r>
            <a:r>
              <a:rPr lang="en-US" dirty="0" err="1"/>
              <a:t>hội</a:t>
            </a:r>
            <a:r>
              <a:rPr lang="en-US" dirty="0"/>
              <a:t> </a:t>
            </a:r>
            <a:r>
              <a:rPr lang="en-US" dirty="0" err="1"/>
              <a:t>tụ</a:t>
            </a:r>
            <a:r>
              <a:rPr lang="en-US" dirty="0"/>
              <a:t> </a:t>
            </a:r>
            <a:r>
              <a:rPr lang="en-US" dirty="0" err="1"/>
              <a:t>và</a:t>
            </a:r>
            <a:r>
              <a:rPr lang="en-US" dirty="0"/>
              <a:t> </a:t>
            </a:r>
            <a:r>
              <a:rPr lang="en-US" dirty="0" err="1"/>
              <a:t>phân</a:t>
            </a:r>
            <a:r>
              <a:rPr lang="en-US" dirty="0"/>
              <a:t> </a:t>
            </a:r>
            <a:r>
              <a:rPr lang="en-US" dirty="0" err="1"/>
              <a:t>loại</a:t>
            </a:r>
            <a:r>
              <a:rPr lang="en-US" dirty="0"/>
              <a:t> </a:t>
            </a:r>
            <a:r>
              <a:rPr lang="en-US" dirty="0" err="1"/>
              <a:t>chính</a:t>
            </a:r>
            <a:r>
              <a:rPr lang="en-US" dirty="0"/>
              <a:t> </a:t>
            </a:r>
            <a:r>
              <a:rPr lang="en-US" dirty="0" err="1"/>
              <a:t>xác</a:t>
            </a:r>
            <a:r>
              <a:rPr lang="en-US" dirty="0"/>
              <a:t>.</a:t>
            </a:r>
            <a:endParaRPr lang="en-US" b="1" dirty="0"/>
          </a:p>
        </p:txBody>
      </p:sp>
    </p:spTree>
    <p:extLst>
      <p:ext uri="{BB962C8B-B14F-4D97-AF65-F5344CB8AC3E}">
        <p14:creationId xmlns:p14="http://schemas.microsoft.com/office/powerpoint/2010/main" val="5181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65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05A2-7376-B5C4-6C25-C5AC677AE29D}"/>
              </a:ext>
            </a:extLst>
          </p:cNvPr>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phổ</a:t>
            </a:r>
            <a:r>
              <a:rPr lang="en-US" dirty="0"/>
              <a:t> </a:t>
            </a:r>
            <a:r>
              <a:rPr lang="en-US" dirty="0" err="1"/>
              <a:t>đường</a:t>
            </a:r>
            <a:r>
              <a:rPr lang="en-US" dirty="0"/>
              <a:t> bao </a:t>
            </a:r>
            <a:r>
              <a:rPr lang="en-US" dirty="0" err="1"/>
              <a:t>tín</a:t>
            </a:r>
            <a:r>
              <a:rPr lang="en-US" dirty="0"/>
              <a:t> </a:t>
            </a:r>
            <a:r>
              <a:rPr lang="en-US" dirty="0" err="1"/>
              <a:t>hiệu</a:t>
            </a:r>
            <a:endParaRPr lang="en-US" dirty="0"/>
          </a:p>
        </p:txBody>
      </p:sp>
      <p:sp>
        <p:nvSpPr>
          <p:cNvPr id="4" name="Slide Number Placeholder 3">
            <a:extLst>
              <a:ext uri="{FF2B5EF4-FFF2-40B4-BE49-F238E27FC236}">
                <a16:creationId xmlns:a16="http://schemas.microsoft.com/office/drawing/2014/main" id="{5BA7CE92-FE20-38E4-F9DA-A46C42F280AE}"/>
              </a:ext>
            </a:extLst>
          </p:cNvPr>
          <p:cNvSpPr>
            <a:spLocks noGrp="1"/>
          </p:cNvSpPr>
          <p:nvPr>
            <p:ph type="sldNum" sz="quarter" idx="12"/>
          </p:nvPr>
        </p:nvSpPr>
        <p:spPr/>
        <p:txBody>
          <a:bodyPr/>
          <a:lstStyle/>
          <a:p>
            <a:fld id="{9EA0BE3B-158A-4EDF-80DC-E394A0D1600F}" type="slidenum">
              <a:rPr lang="en-US" smtClean="0"/>
              <a:pPr/>
              <a:t>18</a:t>
            </a:fld>
            <a:endParaRPr lang="en-US"/>
          </a:p>
        </p:txBody>
      </p:sp>
      <p:pic>
        <p:nvPicPr>
          <p:cNvPr id="6" name="Picture 5">
            <a:extLst>
              <a:ext uri="{FF2B5EF4-FFF2-40B4-BE49-F238E27FC236}">
                <a16:creationId xmlns:a16="http://schemas.microsoft.com/office/drawing/2014/main" id="{6E8B2BF0-A304-7ADC-DCFB-F5CD55C10CD8}"/>
              </a:ext>
            </a:extLst>
          </p:cNvPr>
          <p:cNvPicPr>
            <a:picLocks noChangeAspect="1"/>
          </p:cNvPicPr>
          <p:nvPr/>
        </p:nvPicPr>
        <p:blipFill>
          <a:blip r:embed="rId2">
            <a:extLst>
              <a:ext uri="{28A0092B-C50C-407E-A947-70E740481C1C}">
                <a14:useLocalDpi xmlns:a14="http://schemas.microsoft.com/office/drawing/2010/main" val="0"/>
              </a:ext>
            </a:extLst>
          </a:blip>
          <a:srcRect t="4114"/>
          <a:stretch>
            <a:fillRect/>
          </a:stretch>
        </p:blipFill>
        <p:spPr>
          <a:xfrm>
            <a:off x="1503306" y="982762"/>
            <a:ext cx="9185388" cy="5204029"/>
          </a:xfrm>
          <a:prstGeom prst="rect">
            <a:avLst/>
          </a:prstGeom>
        </p:spPr>
      </p:pic>
    </p:spTree>
    <p:extLst>
      <p:ext uri="{BB962C8B-B14F-4D97-AF65-F5344CB8AC3E}">
        <p14:creationId xmlns:p14="http://schemas.microsoft.com/office/powerpoint/2010/main" val="3135474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8D6A0-8293-E77B-1866-6FF907A98A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81FF93-736A-8302-560F-1154229714F0}"/>
              </a:ext>
            </a:extLst>
          </p:cNvPr>
          <p:cNvSpPr>
            <a:spLocks noGrp="1"/>
          </p:cNvSpPr>
          <p:nvPr>
            <p:ph sz="quarter" idx="13"/>
          </p:nvPr>
        </p:nvSpPr>
        <p:spPr>
          <a:xfrm>
            <a:off x="4558371" y="1248325"/>
            <a:ext cx="7542837" cy="5205412"/>
          </a:xfrm>
        </p:spPr>
        <p:txBody>
          <a:bodyPr/>
          <a:lstStyle/>
          <a:p>
            <a:endParaRPr lang="en-US" b="1" dirty="0">
              <a:solidFill>
                <a:srgbClr val="06D6A0"/>
              </a:solidFill>
              <a:latin typeface="Calibri" pitchFamily="34" charset="0"/>
              <a:ea typeface="Calibri" pitchFamily="34" charset="-122"/>
              <a:cs typeface="Calibri" pitchFamily="34" charset="-120"/>
            </a:endParaRPr>
          </a:p>
          <a:p>
            <a:pPr marL="58737" indent="0">
              <a:buNone/>
            </a:pPr>
            <a:r>
              <a:rPr lang="en-US" sz="2400" dirty="0">
                <a:latin typeface="+mn-lt"/>
                <a:ea typeface="Calibri" pitchFamily="34" charset="-122"/>
                <a:cs typeface="Calibri" pitchFamily="34" charset="-120"/>
              </a:rPr>
              <a:t>
</a:t>
            </a:r>
          </a:p>
          <a:p>
            <a:pPr marL="401637" indent="-342900">
              <a:buFont typeface="Wingdings" panose="05000000000000000000" pitchFamily="2" charset="2"/>
              <a:buChar char="q"/>
            </a:pPr>
            <a:r>
              <a:rPr lang="en-US" sz="2400" dirty="0" err="1">
                <a:latin typeface="+mn-lt"/>
              </a:rPr>
              <a:t>Bản</a:t>
            </a:r>
            <a:r>
              <a:rPr lang="en-US" sz="2400" dirty="0">
                <a:latin typeface="+mn-lt"/>
              </a:rPr>
              <a:t> </a:t>
            </a:r>
            <a:r>
              <a:rPr lang="en-US" sz="2400" dirty="0" err="1">
                <a:latin typeface="+mn-lt"/>
              </a:rPr>
              <a:t>chất</a:t>
            </a:r>
            <a:r>
              <a:rPr lang="en-US" sz="2400" dirty="0">
                <a:latin typeface="+mn-lt"/>
              </a:rPr>
              <a:t> </a:t>
            </a:r>
            <a:r>
              <a:rPr lang="en-US" sz="2400" dirty="0" err="1">
                <a:latin typeface="+mn-lt"/>
              </a:rPr>
              <a:t>thống</a:t>
            </a:r>
            <a:r>
              <a:rPr lang="en-US" sz="2400" dirty="0">
                <a:latin typeface="+mn-lt"/>
              </a:rPr>
              <a:t> </a:t>
            </a:r>
            <a:r>
              <a:rPr lang="en-US" sz="2400" dirty="0" err="1">
                <a:latin typeface="+mn-lt"/>
              </a:rPr>
              <a:t>kê</a:t>
            </a:r>
            <a:r>
              <a:rPr lang="en-US" sz="2400" dirty="0">
                <a:latin typeface="+mn-lt"/>
              </a:rPr>
              <a:t> </a:t>
            </a:r>
            <a:r>
              <a:rPr lang="en-US" sz="2400" dirty="0" err="1">
                <a:latin typeface="+mn-lt"/>
              </a:rPr>
              <a:t>của</a:t>
            </a:r>
            <a:r>
              <a:rPr lang="en-US" sz="2400" dirty="0">
                <a:latin typeface="+mn-lt"/>
              </a:rPr>
              <a:t> </a:t>
            </a:r>
            <a:r>
              <a:rPr lang="en-US" sz="2400" dirty="0" err="1">
                <a:latin typeface="+mn-lt"/>
              </a:rPr>
              <a:t>tín</a:t>
            </a:r>
            <a:r>
              <a:rPr lang="en-US" sz="2400" dirty="0">
                <a:latin typeface="+mn-lt"/>
              </a:rPr>
              <a:t> </a:t>
            </a:r>
            <a:r>
              <a:rPr lang="en-US" sz="2400" dirty="0" err="1">
                <a:latin typeface="+mn-lt"/>
              </a:rPr>
              <a:t>hiệu</a:t>
            </a:r>
            <a:r>
              <a:rPr lang="en-US" sz="2400" dirty="0">
                <a:latin typeface="+mn-lt"/>
              </a:rPr>
              <a:t> rung &amp; </a:t>
            </a:r>
            <a:r>
              <a:rPr lang="en-US" sz="2400" dirty="0" err="1">
                <a:latin typeface="+mn-lt"/>
              </a:rPr>
              <a:t>điều</a:t>
            </a:r>
            <a:r>
              <a:rPr lang="en-US" sz="2400" dirty="0">
                <a:latin typeface="+mn-lt"/>
              </a:rPr>
              <a:t> </a:t>
            </a:r>
            <a:r>
              <a:rPr lang="en-US" sz="2400" dirty="0" err="1">
                <a:latin typeface="+mn-lt"/>
              </a:rPr>
              <a:t>kiện</a:t>
            </a:r>
            <a:r>
              <a:rPr lang="en-US" sz="2400" dirty="0">
                <a:latin typeface="+mn-lt"/>
              </a:rPr>
              <a:t> </a:t>
            </a:r>
            <a:r>
              <a:rPr lang="en-US" sz="2400" dirty="0" err="1">
                <a:latin typeface="+mn-lt"/>
              </a:rPr>
              <a:t>tính</a:t>
            </a:r>
            <a:r>
              <a:rPr lang="en-US" sz="2400" dirty="0">
                <a:latin typeface="+mn-lt"/>
              </a:rPr>
              <a:t> </a:t>
            </a:r>
            <a:r>
              <a:rPr lang="en-US" sz="2400" dirty="0" err="1">
                <a:latin typeface="+mn-lt"/>
              </a:rPr>
              <a:t>dừng</a:t>
            </a:r>
            <a:r>
              <a:rPr lang="en-US" sz="2400" dirty="0">
                <a:latin typeface="+mn-lt"/>
              </a:rPr>
              <a:t> </a:t>
            </a:r>
            <a:r>
              <a:rPr lang="en-US" sz="2400" dirty="0" err="1">
                <a:latin typeface="+mn-lt"/>
              </a:rPr>
              <a:t>cục</a:t>
            </a:r>
            <a:r>
              <a:rPr lang="en-US" sz="2400" dirty="0">
                <a:latin typeface="+mn-lt"/>
              </a:rPr>
              <a:t> </a:t>
            </a:r>
            <a:r>
              <a:rPr lang="en-US" sz="2400" dirty="0" err="1">
                <a:latin typeface="+mn-lt"/>
              </a:rPr>
              <a:t>bộ</a:t>
            </a:r>
            <a:r>
              <a:rPr lang="en-US" sz="1800" dirty="0">
                <a:latin typeface="+mn-lt"/>
              </a:rPr>
              <a:t> </a:t>
            </a:r>
            <a:r>
              <a:rPr lang="en-US" sz="2400" dirty="0">
                <a:latin typeface="+mn-lt"/>
                <a:ea typeface="Calibri" pitchFamily="34" charset="-122"/>
                <a:cs typeface="Calibri" pitchFamily="34" charset="-120"/>
              </a:rPr>
              <a:t>
</a:t>
            </a:r>
            <a:r>
              <a:rPr lang="en-US" sz="2400" dirty="0" err="1">
                <a:latin typeface="+mn-lt"/>
              </a:rPr>
              <a:t>Chọn</a:t>
            </a:r>
            <a:r>
              <a:rPr lang="en-US" sz="2400" dirty="0">
                <a:latin typeface="+mn-lt"/>
              </a:rPr>
              <a:t> </a:t>
            </a:r>
            <a:r>
              <a:rPr lang="en-US" sz="2400" dirty="0" err="1">
                <a:latin typeface="+mn-lt"/>
              </a:rPr>
              <a:t>kích</a:t>
            </a:r>
            <a:r>
              <a:rPr lang="en-US" sz="2400" dirty="0">
                <a:latin typeface="+mn-lt"/>
              </a:rPr>
              <a:t> </a:t>
            </a:r>
            <a:r>
              <a:rPr lang="en-US" sz="2400" dirty="0" err="1">
                <a:latin typeface="+mn-lt"/>
              </a:rPr>
              <a:t>thước</a:t>
            </a:r>
            <a:r>
              <a:rPr lang="en-US" sz="2400" dirty="0">
                <a:latin typeface="+mn-lt"/>
              </a:rPr>
              <a:t> </a:t>
            </a:r>
            <a:r>
              <a:rPr lang="en-US" sz="2400" dirty="0" err="1">
                <a:latin typeface="+mn-lt"/>
              </a:rPr>
              <a:t>cửa</a:t>
            </a:r>
            <a:r>
              <a:rPr lang="en-US" sz="2400" dirty="0">
                <a:latin typeface="+mn-lt"/>
              </a:rPr>
              <a:t> </a:t>
            </a:r>
            <a:r>
              <a:rPr lang="en-US" sz="2400" dirty="0" err="1">
                <a:latin typeface="+mn-lt"/>
              </a:rPr>
              <a:t>sổ</a:t>
            </a:r>
            <a:r>
              <a:rPr lang="en-US" sz="2400" dirty="0">
                <a:latin typeface="+mn-lt"/>
              </a:rPr>
              <a:t> </a:t>
            </a:r>
            <a:r>
              <a:rPr lang="en-US" sz="2400" dirty="0" err="1">
                <a:latin typeface="+mn-lt"/>
              </a:rPr>
              <a:t>tối</a:t>
            </a:r>
            <a:r>
              <a:rPr lang="en-US" sz="2400" dirty="0">
                <a:latin typeface="+mn-lt"/>
              </a:rPr>
              <a:t> </a:t>
            </a:r>
            <a:r>
              <a:rPr lang="en-US" sz="2400" dirty="0" err="1">
                <a:latin typeface="+mn-lt"/>
              </a:rPr>
              <a:t>ưu</a:t>
            </a:r>
            <a:r>
              <a:rPr lang="en-US" sz="2400" dirty="0">
                <a:latin typeface="+mn-lt"/>
              </a:rPr>
              <a:t>. </a:t>
            </a:r>
            <a:r>
              <a:rPr lang="en-US" sz="2400" dirty="0">
                <a:latin typeface="+mn-lt"/>
                <a:ea typeface="Calibri" pitchFamily="34" charset="-122"/>
                <a:cs typeface="Calibri" pitchFamily="34" charset="-120"/>
              </a:rPr>
              <a:t>
C</a:t>
            </a:r>
            <a:r>
              <a:rPr lang="en-US" sz="2400" dirty="0">
                <a:latin typeface="+mn-lt"/>
              </a:rPr>
              <a:t>hia </a:t>
            </a:r>
            <a:r>
              <a:rPr lang="en-US" sz="2400" dirty="0" err="1">
                <a:latin typeface="+mn-lt"/>
              </a:rPr>
              <a:t>tập</a:t>
            </a:r>
            <a:r>
              <a:rPr lang="en-US" sz="2400" dirty="0">
                <a:latin typeface="+mn-lt"/>
              </a:rPr>
              <a:t> train/test — </a:t>
            </a:r>
            <a:r>
              <a:rPr lang="en-US" sz="2400" dirty="0" err="1">
                <a:latin typeface="+mn-lt"/>
              </a:rPr>
              <a:t>tránh</a:t>
            </a:r>
            <a:r>
              <a:rPr lang="en-US" sz="2400" dirty="0">
                <a:latin typeface="+mn-lt"/>
              </a:rPr>
              <a:t> data leakage</a:t>
            </a:r>
          </a:p>
          <a:p>
            <a:pPr marL="0" indent="0">
              <a:buNone/>
            </a:pPr>
            <a:endParaRPr lang="en-US" dirty="0"/>
          </a:p>
        </p:txBody>
      </p:sp>
      <p:sp>
        <p:nvSpPr>
          <p:cNvPr id="3" name="Title 2">
            <a:extLst>
              <a:ext uri="{FF2B5EF4-FFF2-40B4-BE49-F238E27FC236}">
                <a16:creationId xmlns:a16="http://schemas.microsoft.com/office/drawing/2014/main" id="{0C2F953F-FE31-F02F-1F63-D4AAEA24DCD7}"/>
              </a:ext>
            </a:extLst>
          </p:cNvPr>
          <p:cNvSpPr>
            <a:spLocks noGrp="1"/>
          </p:cNvSpPr>
          <p:nvPr>
            <p:ph type="title"/>
          </p:nvPr>
        </p:nvSpPr>
        <p:spPr/>
        <p:txBody>
          <a:bodyPr/>
          <a:lstStyle/>
          <a:p>
            <a:pPr algn="ctr"/>
            <a:r>
              <a:rPr lang="en-US" sz="3500" dirty="0" err="1">
                <a:latin typeface="Calibri" pitchFamily="34" charset="0"/>
                <a:ea typeface="Calibri" pitchFamily="34" charset="-122"/>
                <a:cs typeface="Calibri" pitchFamily="34" charset="-120"/>
              </a:rPr>
              <a:t>Phân</a:t>
            </a:r>
            <a:r>
              <a:rPr lang="en-US" sz="3500" dirty="0">
                <a:latin typeface="Calibri" pitchFamily="34" charset="0"/>
                <a:ea typeface="Calibri" pitchFamily="34" charset="-122"/>
                <a:cs typeface="Calibri" pitchFamily="34" charset="-120"/>
              </a:rPr>
              <a:t> </a:t>
            </a:r>
            <a:r>
              <a:rPr lang="en-US" sz="3500" dirty="0" err="1">
                <a:latin typeface="Calibri" pitchFamily="34" charset="0"/>
                <a:ea typeface="Calibri" pitchFamily="34" charset="-122"/>
                <a:cs typeface="Calibri" pitchFamily="34" charset="-120"/>
              </a:rPr>
              <a:t>đoạn</a:t>
            </a:r>
            <a:r>
              <a:rPr lang="en-US" sz="3500" dirty="0">
                <a:latin typeface="Calibri" pitchFamily="34" charset="0"/>
                <a:ea typeface="Calibri" pitchFamily="34" charset="-122"/>
                <a:cs typeface="Calibri" pitchFamily="34" charset="-120"/>
              </a:rPr>
              <a:t> </a:t>
            </a:r>
            <a:r>
              <a:rPr lang="en-US" sz="3500" dirty="0" err="1">
                <a:latin typeface="Calibri" pitchFamily="34" charset="0"/>
                <a:ea typeface="Calibri" pitchFamily="34" charset="-122"/>
                <a:cs typeface="Calibri" pitchFamily="34" charset="-120"/>
              </a:rPr>
              <a:t>dữ</a:t>
            </a:r>
            <a:r>
              <a:rPr lang="en-US" sz="3500" dirty="0">
                <a:latin typeface="Calibri" pitchFamily="34" charset="0"/>
                <a:ea typeface="Calibri" pitchFamily="34" charset="-122"/>
                <a:cs typeface="Calibri" pitchFamily="34" charset="-120"/>
              </a:rPr>
              <a:t> </a:t>
            </a:r>
            <a:r>
              <a:rPr lang="en-US" sz="3500" dirty="0" err="1">
                <a:latin typeface="Calibri" pitchFamily="34" charset="0"/>
                <a:ea typeface="Calibri" pitchFamily="34" charset="-122"/>
                <a:cs typeface="Calibri" pitchFamily="34" charset="-120"/>
              </a:rPr>
              <a:t>liệu</a:t>
            </a:r>
            <a:br>
              <a:rPr lang="en-US" sz="3500" dirty="0">
                <a:latin typeface="Calibri" pitchFamily="34" charset="0"/>
                <a:ea typeface="Calibri" pitchFamily="34" charset="-122"/>
                <a:cs typeface="Calibri" pitchFamily="34" charset="-120"/>
              </a:rPr>
            </a:br>
            <a:r>
              <a:rPr lang="en-US" sz="1800" b="0" i="1" dirty="0" err="1">
                <a:latin typeface="+mn-lt"/>
              </a:rPr>
              <a:t>Chuẩn</a:t>
            </a:r>
            <a:r>
              <a:rPr lang="en-US" sz="1800" b="0" i="1" dirty="0">
                <a:latin typeface="+mn-lt"/>
              </a:rPr>
              <a:t> </a:t>
            </a:r>
            <a:r>
              <a:rPr lang="en-US" sz="1800" b="0" i="1" dirty="0" err="1">
                <a:latin typeface="+mn-lt"/>
              </a:rPr>
              <a:t>bị</a:t>
            </a:r>
            <a:r>
              <a:rPr lang="en-US" sz="1800" b="0" i="1" dirty="0">
                <a:latin typeface="+mn-lt"/>
              </a:rPr>
              <a:t> </a:t>
            </a:r>
            <a:r>
              <a:rPr lang="en-US" sz="1800" b="0" i="1" dirty="0" err="1">
                <a:latin typeface="+mn-lt"/>
              </a:rPr>
              <a:t>đầu</a:t>
            </a:r>
            <a:r>
              <a:rPr lang="en-US" sz="1800" b="0" i="1" dirty="0">
                <a:latin typeface="+mn-lt"/>
              </a:rPr>
              <a:t> </a:t>
            </a:r>
            <a:r>
              <a:rPr lang="en-US" sz="1800" b="0" i="1" dirty="0" err="1">
                <a:latin typeface="+mn-lt"/>
              </a:rPr>
              <a:t>vào</a:t>
            </a:r>
            <a:r>
              <a:rPr lang="en-US" sz="1800" b="0" i="1" dirty="0">
                <a:latin typeface="+mn-lt"/>
              </a:rPr>
              <a:t> </a:t>
            </a:r>
            <a:r>
              <a:rPr lang="en-US" sz="1800" b="0" i="1" dirty="0" err="1">
                <a:latin typeface="+mn-lt"/>
              </a:rPr>
              <a:t>cho</a:t>
            </a:r>
            <a:r>
              <a:rPr lang="en-US" sz="1800" b="0" i="1" dirty="0">
                <a:latin typeface="+mn-lt"/>
              </a:rPr>
              <a:t> </a:t>
            </a:r>
            <a:r>
              <a:rPr lang="en-US" sz="1800" b="0" i="1" dirty="0" err="1">
                <a:latin typeface="+mn-lt"/>
              </a:rPr>
              <a:t>mô</a:t>
            </a:r>
            <a:r>
              <a:rPr lang="en-US" sz="1800" b="0" i="1" dirty="0">
                <a:latin typeface="+mn-lt"/>
              </a:rPr>
              <a:t> </a:t>
            </a:r>
            <a:r>
              <a:rPr lang="en-US" sz="1800" b="0" i="1" dirty="0" err="1">
                <a:latin typeface="+mn-lt"/>
              </a:rPr>
              <a:t>hình</a:t>
            </a:r>
            <a:r>
              <a:rPr lang="en-US" sz="1800" b="0" i="1" dirty="0">
                <a:latin typeface="+mn-lt"/>
              </a:rPr>
              <a:t> </a:t>
            </a:r>
            <a:r>
              <a:rPr lang="en-US" sz="1800" b="0" i="1" dirty="0" err="1">
                <a:latin typeface="+mn-lt"/>
              </a:rPr>
              <a:t>học</a:t>
            </a:r>
            <a:r>
              <a:rPr lang="en-US" sz="1800" b="0" i="1" dirty="0">
                <a:latin typeface="+mn-lt"/>
              </a:rPr>
              <a:t> </a:t>
            </a:r>
            <a:r>
              <a:rPr lang="en-US" sz="1800" b="0" i="1" dirty="0" err="1">
                <a:latin typeface="+mn-lt"/>
              </a:rPr>
              <a:t>máy</a:t>
            </a:r>
            <a:br>
              <a:rPr lang="en-US" dirty="0">
                <a:latin typeface="Calibri" pitchFamily="34" charset="0"/>
                <a:ea typeface="Calibri" pitchFamily="34" charset="-122"/>
                <a:cs typeface="Calibri" pitchFamily="34" charset="-120"/>
              </a:rPr>
            </a:br>
            <a:br>
              <a:rPr lang="en-US" sz="1800" b="0" i="1" dirty="0"/>
            </a:br>
            <a:endParaRPr lang="en-US" b="0" dirty="0"/>
          </a:p>
        </p:txBody>
      </p:sp>
      <p:sp>
        <p:nvSpPr>
          <p:cNvPr id="4" name="Slide Number Placeholder 3">
            <a:extLst>
              <a:ext uri="{FF2B5EF4-FFF2-40B4-BE49-F238E27FC236}">
                <a16:creationId xmlns:a16="http://schemas.microsoft.com/office/drawing/2014/main" id="{127FE69E-4BD6-587D-A7D0-EFDAC0AE595E}"/>
              </a:ext>
            </a:extLst>
          </p:cNvPr>
          <p:cNvSpPr>
            <a:spLocks noGrp="1"/>
          </p:cNvSpPr>
          <p:nvPr>
            <p:ph type="sldNum" sz="quarter" idx="12"/>
          </p:nvPr>
        </p:nvSpPr>
        <p:spPr/>
        <p:txBody>
          <a:bodyPr/>
          <a:lstStyle/>
          <a:p>
            <a:fld id="{9EA0BE3B-158A-4EDF-80DC-E394A0D1600F}" type="slidenum">
              <a:rPr lang="en-US" smtClean="0"/>
              <a:pPr/>
              <a:t>19</a:t>
            </a:fld>
            <a:endParaRPr lang="en-US"/>
          </a:p>
        </p:txBody>
      </p:sp>
    </p:spTree>
    <p:extLst>
      <p:ext uri="{BB962C8B-B14F-4D97-AF65-F5344CB8AC3E}">
        <p14:creationId xmlns:p14="http://schemas.microsoft.com/office/powerpoint/2010/main" val="1594869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8C4E2A6-D9B0-37B7-0DF0-CF0E992084C1}"/>
              </a:ext>
            </a:extLst>
          </p:cNvPr>
          <p:cNvSpPr>
            <a:spLocks noGrp="1"/>
          </p:cNvSpPr>
          <p:nvPr>
            <p:ph type="title"/>
          </p:nvPr>
        </p:nvSpPr>
        <p:spPr/>
        <p:txBody>
          <a:bodyPr/>
          <a:lstStyle/>
          <a:p>
            <a:r>
              <a:rPr lang="en-US" dirty="0" err="1"/>
              <a:t>Phân</a:t>
            </a:r>
            <a:r>
              <a:rPr lang="en-US" dirty="0"/>
              <a:t> </a:t>
            </a:r>
            <a:r>
              <a:rPr lang="en-US" dirty="0" err="1"/>
              <a:t>Đoạn</a:t>
            </a:r>
            <a:r>
              <a:rPr lang="en-US" dirty="0"/>
              <a:t> </a:t>
            </a:r>
            <a:r>
              <a:rPr lang="en-US" dirty="0" err="1"/>
              <a:t>Tín</a:t>
            </a:r>
            <a:r>
              <a:rPr lang="en-US" dirty="0"/>
              <a:t> Hiệu</a:t>
            </a:r>
          </a:p>
        </p:txBody>
      </p:sp>
      <p:sp>
        <p:nvSpPr>
          <p:cNvPr id="2" name="Slide Number Placeholder 1">
            <a:extLst>
              <a:ext uri="{FF2B5EF4-FFF2-40B4-BE49-F238E27FC236}">
                <a16:creationId xmlns:a16="http://schemas.microsoft.com/office/drawing/2014/main" id="{256678CC-0761-825E-B031-EA79B506506D}"/>
              </a:ext>
            </a:extLst>
          </p:cNvPr>
          <p:cNvSpPr>
            <a:spLocks noGrp="1"/>
          </p:cNvSpPr>
          <p:nvPr>
            <p:ph type="sldNum" sz="quarter" idx="12"/>
          </p:nvPr>
        </p:nvSpPr>
        <p:spPr/>
        <p:txBody>
          <a:bodyPr/>
          <a:lstStyle/>
          <a:p>
            <a:fld id="{9EA0BE3B-158A-4EDF-80DC-E394A0D1600F}" type="slidenum">
              <a:rPr lang="en-US" smtClean="0"/>
              <a:pPr/>
              <a:t>20</a:t>
            </a:fld>
            <a:endParaRPr lang="en-US"/>
          </a:p>
        </p:txBody>
      </p:sp>
      <p:sp>
        <p:nvSpPr>
          <p:cNvPr id="7" name="TextBox 6">
            <a:extLst>
              <a:ext uri="{FF2B5EF4-FFF2-40B4-BE49-F238E27FC236}">
                <a16:creationId xmlns:a16="http://schemas.microsoft.com/office/drawing/2014/main" id="{59309946-608B-1F2A-A323-78693133B5EF}"/>
              </a:ext>
            </a:extLst>
          </p:cNvPr>
          <p:cNvSpPr txBox="1"/>
          <p:nvPr/>
        </p:nvSpPr>
        <p:spPr>
          <a:xfrm>
            <a:off x="338737" y="905232"/>
            <a:ext cx="6246890" cy="5047536"/>
          </a:xfrm>
          <a:prstGeom prst="rect">
            <a:avLst/>
          </a:prstGeom>
          <a:noFill/>
        </p:spPr>
        <p:txBody>
          <a:bodyPr wrap="square" rtlCol="0">
            <a:spAutoFit/>
          </a:bodyPr>
          <a:lstStyle/>
          <a:p>
            <a:r>
              <a:rPr lang="en-US" b="1" dirty="0" err="1"/>
              <a:t>Vấn</a:t>
            </a:r>
            <a:r>
              <a:rPr lang="en-US" b="1" dirty="0"/>
              <a:t> </a:t>
            </a:r>
            <a:r>
              <a:rPr lang="en-US" b="1" dirty="0" err="1"/>
              <a:t>đề</a:t>
            </a:r>
            <a:r>
              <a:rPr lang="en-US" b="1" dirty="0"/>
              <a:t>:</a:t>
            </a:r>
          </a:p>
          <a:p>
            <a:endParaRPr lang="en-US" sz="800" b="1" dirty="0"/>
          </a:p>
          <a:p>
            <a:pPr marL="574675" indent="-228600">
              <a:buFont typeface="Arial" panose="020B0604020202020204" pitchFamily="34" charset="0"/>
              <a:buChar char="•"/>
            </a:pPr>
            <a:r>
              <a:rPr lang="en-US" dirty="0" err="1"/>
              <a:t>Tín</a:t>
            </a:r>
            <a:r>
              <a:rPr lang="en-US" dirty="0"/>
              <a:t> </a:t>
            </a:r>
            <a:r>
              <a:rPr lang="en-US" dirty="0" err="1"/>
              <a:t>hiệu</a:t>
            </a:r>
            <a:r>
              <a:rPr lang="en-US" dirty="0"/>
              <a:t> rung </a:t>
            </a:r>
            <a:r>
              <a:rPr lang="en-US" dirty="0" err="1"/>
              <a:t>động</a:t>
            </a:r>
            <a:r>
              <a:rPr lang="en-US" dirty="0"/>
              <a:t> </a:t>
            </a:r>
            <a:r>
              <a:rPr lang="en-US" dirty="0" err="1"/>
              <a:t>thô</a:t>
            </a:r>
            <a:r>
              <a:rPr lang="en-US" dirty="0"/>
              <a:t> </a:t>
            </a:r>
            <a:r>
              <a:rPr lang="en-US" dirty="0" err="1"/>
              <a:t>là</a:t>
            </a:r>
            <a:r>
              <a:rPr lang="en-US" dirty="0"/>
              <a:t> </a:t>
            </a:r>
            <a:r>
              <a:rPr lang="en-US" dirty="0" err="1"/>
              <a:t>chuỗi</a:t>
            </a:r>
            <a:r>
              <a:rPr lang="en-US" dirty="0"/>
              <a:t> </a:t>
            </a:r>
            <a:r>
              <a:rPr lang="en-US" dirty="0" err="1"/>
              <a:t>thời</a:t>
            </a:r>
            <a:r>
              <a:rPr lang="en-US" dirty="0"/>
              <a:t> </a:t>
            </a:r>
            <a:r>
              <a:rPr lang="en-US" dirty="0" err="1"/>
              <a:t>gian</a:t>
            </a:r>
            <a:r>
              <a:rPr lang="en-US" dirty="0"/>
              <a:t> </a:t>
            </a:r>
            <a:r>
              <a:rPr lang="en-US" b="1" dirty="0" err="1"/>
              <a:t>không</a:t>
            </a:r>
            <a:r>
              <a:rPr lang="en-US" b="1" dirty="0"/>
              <a:t> </a:t>
            </a:r>
            <a:r>
              <a:rPr lang="en-US" b="1" dirty="0" err="1"/>
              <a:t>dừng</a:t>
            </a:r>
            <a:r>
              <a:rPr lang="en-US" b="1" dirty="0"/>
              <a:t> - </a:t>
            </a:r>
            <a:r>
              <a:rPr lang="en-US" dirty="0" err="1"/>
              <a:t>phân</a:t>
            </a:r>
            <a:r>
              <a:rPr lang="en-US" dirty="0"/>
              <a:t> </a:t>
            </a:r>
            <a:r>
              <a:rPr lang="en-US" dirty="0" err="1"/>
              <a:t>phối</a:t>
            </a:r>
            <a:r>
              <a:rPr lang="en-US" dirty="0"/>
              <a:t> </a:t>
            </a:r>
            <a:r>
              <a:rPr lang="en-US" dirty="0" err="1"/>
              <a:t>thống</a:t>
            </a:r>
            <a:r>
              <a:rPr lang="en-US" dirty="0"/>
              <a:t> </a:t>
            </a:r>
            <a:r>
              <a:rPr lang="en-US" dirty="0" err="1"/>
              <a:t>kê</a:t>
            </a:r>
            <a:r>
              <a:rPr lang="en-US" dirty="0"/>
              <a:t> </a:t>
            </a:r>
            <a:r>
              <a:rPr lang="en-US" dirty="0" err="1"/>
              <a:t>thay</a:t>
            </a:r>
            <a:r>
              <a:rPr lang="en-US" dirty="0"/>
              <a:t> </a:t>
            </a:r>
            <a:r>
              <a:rPr lang="en-US" dirty="0" err="1"/>
              <a:t>đổi</a:t>
            </a:r>
            <a:r>
              <a:rPr lang="en-US" dirty="0"/>
              <a:t> </a:t>
            </a:r>
            <a:r>
              <a:rPr lang="en-US" dirty="0" err="1"/>
              <a:t>liên</a:t>
            </a:r>
            <a:r>
              <a:rPr lang="en-US" dirty="0"/>
              <a:t> </a:t>
            </a:r>
            <a:r>
              <a:rPr lang="en-US" dirty="0" err="1"/>
              <a:t>tục</a:t>
            </a:r>
            <a:r>
              <a:rPr lang="en-US" dirty="0"/>
              <a:t> do </a:t>
            </a:r>
            <a:r>
              <a:rPr lang="en-US" dirty="0" err="1"/>
              <a:t>nhiễu</a:t>
            </a:r>
            <a:r>
              <a:rPr lang="en-US" dirty="0"/>
              <a:t>, </a:t>
            </a:r>
            <a:r>
              <a:rPr lang="en-US" dirty="0" err="1"/>
              <a:t>tải</a:t>
            </a:r>
            <a:r>
              <a:rPr lang="en-US" dirty="0"/>
              <a:t> </a:t>
            </a:r>
            <a:r>
              <a:rPr lang="en-US" dirty="0" err="1"/>
              <a:t>biến</a:t>
            </a:r>
            <a:r>
              <a:rPr lang="en-US" dirty="0"/>
              <a:t> </a:t>
            </a:r>
            <a:r>
              <a:rPr lang="en-US" dirty="0" err="1"/>
              <a:t>động</a:t>
            </a:r>
            <a:r>
              <a:rPr lang="en-US" dirty="0"/>
              <a:t> </a:t>
            </a:r>
            <a:r>
              <a:rPr lang="en-US" dirty="0" err="1"/>
              <a:t>và</a:t>
            </a:r>
            <a:r>
              <a:rPr lang="en-US" dirty="0"/>
              <a:t> </a:t>
            </a:r>
            <a:r>
              <a:rPr lang="en-US" dirty="0" err="1"/>
              <a:t>xung</a:t>
            </a:r>
            <a:r>
              <a:rPr lang="en-US" dirty="0"/>
              <a:t> </a:t>
            </a:r>
            <a:r>
              <a:rPr lang="en-US" dirty="0" err="1"/>
              <a:t>lỗi</a:t>
            </a:r>
            <a:r>
              <a:rPr lang="en-US" dirty="0"/>
              <a:t> </a:t>
            </a:r>
            <a:r>
              <a:rPr lang="en-US" dirty="0" err="1"/>
              <a:t>ngẫu</a:t>
            </a:r>
            <a:r>
              <a:rPr lang="en-US" dirty="0"/>
              <a:t> </a:t>
            </a:r>
            <a:r>
              <a:rPr lang="en-US" dirty="0" err="1"/>
              <a:t>nhiên</a:t>
            </a:r>
            <a:r>
              <a:rPr lang="en-US" dirty="0"/>
              <a:t>.</a:t>
            </a:r>
          </a:p>
          <a:p>
            <a:pPr marL="574675" indent="-228600">
              <a:buFont typeface="Arial" panose="020B0604020202020204" pitchFamily="34" charset="0"/>
              <a:buChar char="•"/>
            </a:pPr>
            <a:r>
              <a:rPr lang="en-US" dirty="0" err="1"/>
              <a:t>Mô</a:t>
            </a:r>
            <a:r>
              <a:rPr lang="en-US" dirty="0"/>
              <a:t> </a:t>
            </a:r>
            <a:r>
              <a:rPr lang="en-US" dirty="0" err="1"/>
              <a:t>hình</a:t>
            </a:r>
            <a:r>
              <a:rPr lang="en-US" dirty="0"/>
              <a:t> ML </a:t>
            </a:r>
            <a:r>
              <a:rPr lang="en-US" dirty="0" err="1"/>
              <a:t>về</a:t>
            </a:r>
            <a:r>
              <a:rPr lang="en-US" dirty="0"/>
              <a:t> </a:t>
            </a:r>
            <a:r>
              <a:rPr lang="en-US" dirty="0" err="1"/>
              <a:t>bản</a:t>
            </a:r>
            <a:r>
              <a:rPr lang="en-US" dirty="0"/>
              <a:t> </a:t>
            </a:r>
            <a:r>
              <a:rPr lang="en-US" dirty="0" err="1"/>
              <a:t>chất</a:t>
            </a:r>
            <a:r>
              <a:rPr lang="en-US" dirty="0"/>
              <a:t> </a:t>
            </a:r>
            <a:r>
              <a:rPr lang="en-US" dirty="0" err="1"/>
              <a:t>là</a:t>
            </a:r>
            <a:r>
              <a:rPr lang="en-US" dirty="0"/>
              <a:t> </a:t>
            </a:r>
            <a:r>
              <a:rPr lang="en-US" dirty="0" err="1"/>
              <a:t>bài</a:t>
            </a:r>
            <a:r>
              <a:rPr lang="en-US" dirty="0"/>
              <a:t> </a:t>
            </a:r>
            <a:r>
              <a:rPr lang="en-US" dirty="0" err="1"/>
              <a:t>toán</a:t>
            </a:r>
            <a:r>
              <a:rPr lang="en-US" dirty="0"/>
              <a:t> </a:t>
            </a:r>
            <a:r>
              <a:rPr lang="en-US" b="1" dirty="0" err="1"/>
              <a:t>ước</a:t>
            </a:r>
            <a:r>
              <a:rPr lang="en-US" b="1" dirty="0"/>
              <a:t> </a:t>
            </a:r>
            <a:r>
              <a:rPr lang="en-US" b="1" dirty="0" err="1"/>
              <a:t>lượng</a:t>
            </a:r>
            <a:r>
              <a:rPr lang="en-US" b="1" dirty="0"/>
              <a:t> </a:t>
            </a:r>
            <a:r>
              <a:rPr lang="en-US" b="1" dirty="0" err="1"/>
              <a:t>xác</a:t>
            </a:r>
            <a:r>
              <a:rPr lang="en-US" b="1" dirty="0"/>
              <a:t> </a:t>
            </a:r>
            <a:r>
              <a:rPr lang="en-US" b="1" dirty="0" err="1"/>
              <a:t>suất</a:t>
            </a:r>
            <a:r>
              <a:rPr lang="en-US" b="1" dirty="0"/>
              <a:t> </a:t>
            </a:r>
            <a:r>
              <a:rPr lang="en-US" b="1" dirty="0" err="1"/>
              <a:t>có</a:t>
            </a:r>
            <a:r>
              <a:rPr lang="en-US" b="1" dirty="0"/>
              <a:t> </a:t>
            </a:r>
            <a:r>
              <a:rPr lang="en-US" b="1" dirty="0" err="1"/>
              <a:t>điều</a:t>
            </a:r>
            <a:r>
              <a:rPr lang="en-US" b="1" dirty="0"/>
              <a:t> </a:t>
            </a:r>
            <a:r>
              <a:rPr lang="en-US" b="1" dirty="0" err="1"/>
              <a:t>kiện</a:t>
            </a:r>
            <a:r>
              <a:rPr lang="en-US" b="1" dirty="0"/>
              <a:t> P(</a:t>
            </a:r>
            <a:r>
              <a:rPr lang="en-US" b="1" dirty="0" err="1"/>
              <a:t>lỗi|đặc</a:t>
            </a:r>
            <a:r>
              <a:rPr lang="en-US" b="1" dirty="0"/>
              <a:t> </a:t>
            </a:r>
            <a:r>
              <a:rPr lang="en-US" b="1" dirty="0" err="1"/>
              <a:t>trưng</a:t>
            </a:r>
            <a:r>
              <a:rPr lang="en-US" b="1" dirty="0"/>
              <a:t>)</a:t>
            </a:r>
            <a:r>
              <a:rPr lang="en-US" dirty="0"/>
              <a:t> - </a:t>
            </a:r>
            <a:r>
              <a:rPr lang="en-US" dirty="0" err="1"/>
              <a:t>nó</a:t>
            </a:r>
            <a:r>
              <a:rPr lang="en-US" dirty="0"/>
              <a:t> </a:t>
            </a:r>
            <a:r>
              <a:rPr lang="en-US" dirty="0" err="1"/>
              <a:t>chỉ</a:t>
            </a:r>
            <a:r>
              <a:rPr lang="en-US" dirty="0"/>
              <a:t> </a:t>
            </a:r>
            <a:r>
              <a:rPr lang="en-US" dirty="0" err="1"/>
              <a:t>học</a:t>
            </a:r>
            <a:r>
              <a:rPr lang="en-US" dirty="0"/>
              <a:t> </a:t>
            </a:r>
            <a:r>
              <a:rPr lang="en-US" dirty="0" err="1"/>
              <a:t>được</a:t>
            </a:r>
            <a:r>
              <a:rPr lang="en-US" dirty="0"/>
              <a:t> </a:t>
            </a:r>
            <a:r>
              <a:rPr lang="en-US" dirty="0" err="1"/>
              <a:t>ánh</a:t>
            </a:r>
            <a:r>
              <a:rPr lang="en-US" dirty="0"/>
              <a:t> </a:t>
            </a:r>
            <a:r>
              <a:rPr lang="en-US" dirty="0" err="1"/>
              <a:t>xạ</a:t>
            </a:r>
            <a:r>
              <a:rPr lang="en-US" dirty="0"/>
              <a:t> </a:t>
            </a:r>
            <a:r>
              <a:rPr lang="en-US" dirty="0" err="1"/>
              <a:t>ổn</a:t>
            </a:r>
            <a:r>
              <a:rPr lang="en-US" dirty="0"/>
              <a:t> </a:t>
            </a:r>
            <a:r>
              <a:rPr lang="en-US" dirty="0" err="1"/>
              <a:t>định</a:t>
            </a:r>
            <a:r>
              <a:rPr lang="en-US" dirty="0"/>
              <a:t> </a:t>
            </a:r>
            <a:r>
              <a:rPr lang="en-US" dirty="0" err="1"/>
              <a:t>khi</a:t>
            </a:r>
            <a:r>
              <a:rPr lang="en-US" dirty="0"/>
              <a:t> </a:t>
            </a:r>
            <a:r>
              <a:rPr lang="en-US" dirty="0" err="1"/>
              <a:t>dữ</a:t>
            </a:r>
            <a:r>
              <a:rPr lang="en-US" dirty="0"/>
              <a:t> </a:t>
            </a:r>
            <a:r>
              <a:rPr lang="en-US" dirty="0" err="1"/>
              <a:t>liệu</a:t>
            </a:r>
            <a:r>
              <a:rPr lang="en-US" dirty="0"/>
              <a:t> </a:t>
            </a:r>
            <a:r>
              <a:rPr lang="en-US" dirty="0" err="1"/>
              <a:t>đầu</a:t>
            </a:r>
            <a:r>
              <a:rPr lang="en-US" dirty="0"/>
              <a:t> </a:t>
            </a:r>
            <a:r>
              <a:rPr lang="en-US" dirty="0" err="1"/>
              <a:t>vào</a:t>
            </a:r>
            <a:r>
              <a:rPr lang="en-US" dirty="0"/>
              <a:t> </a:t>
            </a:r>
            <a:r>
              <a:rPr lang="en-US" dirty="0" err="1"/>
              <a:t>có</a:t>
            </a:r>
            <a:r>
              <a:rPr lang="en-US" dirty="0"/>
              <a:t> </a:t>
            </a:r>
            <a:r>
              <a:rPr lang="en-US" dirty="0" err="1"/>
              <a:t>phân</a:t>
            </a:r>
            <a:r>
              <a:rPr lang="en-US" dirty="0"/>
              <a:t> </a:t>
            </a:r>
            <a:r>
              <a:rPr lang="en-US" dirty="0" err="1"/>
              <a:t>phối</a:t>
            </a:r>
            <a:r>
              <a:rPr lang="en-US" dirty="0"/>
              <a:t> </a:t>
            </a:r>
            <a:r>
              <a:rPr lang="en-US" dirty="0" err="1"/>
              <a:t>nhất</a:t>
            </a:r>
            <a:r>
              <a:rPr lang="en-US" dirty="0"/>
              <a:t> </a:t>
            </a:r>
            <a:r>
              <a:rPr lang="en-US" dirty="0" err="1"/>
              <a:t>quán</a:t>
            </a:r>
            <a:r>
              <a:rPr lang="en-US" dirty="0"/>
              <a:t>.</a:t>
            </a:r>
          </a:p>
          <a:p>
            <a:endParaRPr lang="en-US" b="1" dirty="0"/>
          </a:p>
          <a:p>
            <a:r>
              <a:rPr lang="en-US" b="1" dirty="0" err="1"/>
              <a:t>Giải</a:t>
            </a:r>
            <a:r>
              <a:rPr lang="en-US" b="1" dirty="0"/>
              <a:t> </a:t>
            </a:r>
            <a:r>
              <a:rPr lang="en-US" b="1" dirty="0" err="1"/>
              <a:t>pháp</a:t>
            </a:r>
            <a:r>
              <a:rPr lang="en-US" b="1" dirty="0"/>
              <a:t>:</a:t>
            </a:r>
          </a:p>
          <a:p>
            <a:endParaRPr lang="en-US" sz="800" b="1" dirty="0"/>
          </a:p>
          <a:p>
            <a:r>
              <a:rPr lang="en-US" dirty="0" err="1"/>
              <a:t>Cắt</a:t>
            </a:r>
            <a:r>
              <a:rPr lang="en-US" dirty="0"/>
              <a:t> </a:t>
            </a:r>
            <a:r>
              <a:rPr lang="en-US" dirty="0" err="1"/>
              <a:t>tín</a:t>
            </a:r>
            <a:r>
              <a:rPr lang="en-US" dirty="0"/>
              <a:t> </a:t>
            </a:r>
            <a:r>
              <a:rPr lang="en-US" dirty="0" err="1"/>
              <a:t>hiệu</a:t>
            </a:r>
            <a:r>
              <a:rPr lang="en-US" dirty="0"/>
              <a:t> </a:t>
            </a:r>
            <a:r>
              <a:rPr lang="en-US" dirty="0" err="1"/>
              <a:t>thành</a:t>
            </a:r>
            <a:r>
              <a:rPr lang="en-US" dirty="0"/>
              <a:t> </a:t>
            </a:r>
            <a:r>
              <a:rPr lang="en-US" dirty="0" err="1"/>
              <a:t>các</a:t>
            </a:r>
            <a:r>
              <a:rPr lang="en-US" dirty="0"/>
              <a:t> </a:t>
            </a:r>
            <a:r>
              <a:rPr lang="en-US" dirty="0" err="1"/>
              <a:t>cửa</a:t>
            </a:r>
            <a:r>
              <a:rPr lang="en-US" dirty="0"/>
              <a:t> </a:t>
            </a:r>
            <a:r>
              <a:rPr lang="en-US" dirty="0" err="1"/>
              <a:t>sổ</a:t>
            </a:r>
            <a:r>
              <a:rPr lang="en-US" dirty="0"/>
              <a:t> </a:t>
            </a:r>
            <a:r>
              <a:rPr lang="en-US" dirty="0" err="1"/>
              <a:t>ngắn</a:t>
            </a:r>
            <a:r>
              <a:rPr lang="en-US" dirty="0"/>
              <a:t>, </a:t>
            </a:r>
            <a:r>
              <a:rPr lang="en-US" b="1" dirty="0" err="1"/>
              <a:t>ép</a:t>
            </a:r>
            <a:r>
              <a:rPr lang="en-US" b="1" dirty="0"/>
              <a:t> </a:t>
            </a:r>
            <a:r>
              <a:rPr lang="en-US" b="1" dirty="0" err="1"/>
              <a:t>về</a:t>
            </a:r>
            <a:r>
              <a:rPr lang="en-US" b="1" dirty="0"/>
              <a:t> </a:t>
            </a:r>
            <a:r>
              <a:rPr lang="en-US" b="1" dirty="0" err="1"/>
              <a:t>trạng</a:t>
            </a:r>
            <a:r>
              <a:rPr lang="en-US" b="1" dirty="0"/>
              <a:t> </a:t>
            </a:r>
            <a:r>
              <a:rPr lang="en-US" b="1" dirty="0" err="1"/>
              <a:t>thái</a:t>
            </a:r>
            <a:r>
              <a:rPr lang="en-US" b="1" dirty="0"/>
              <a:t> </a:t>
            </a:r>
            <a:r>
              <a:rPr lang="en-US" b="1" dirty="0" err="1"/>
              <a:t>gần</a:t>
            </a:r>
            <a:r>
              <a:rPr lang="en-US" b="1" dirty="0"/>
              <a:t> </a:t>
            </a:r>
            <a:r>
              <a:rPr lang="en-US" b="1" dirty="0" err="1"/>
              <a:t>dừng</a:t>
            </a:r>
            <a:r>
              <a:rPr lang="en-US" b="1" dirty="0"/>
              <a:t> </a:t>
            </a:r>
            <a:r>
              <a:rPr lang="en-US" b="1" dirty="0" err="1"/>
              <a:t>cục</a:t>
            </a:r>
            <a:r>
              <a:rPr lang="en-US" b="1" dirty="0"/>
              <a:t> </a:t>
            </a:r>
            <a:r>
              <a:rPr lang="en-US" b="1" dirty="0" err="1"/>
              <a:t>bộ</a:t>
            </a:r>
            <a:r>
              <a:rPr lang="en-US" b="1" dirty="0"/>
              <a:t> </a:t>
            </a:r>
            <a:r>
              <a:rPr lang="en-US" dirty="0" err="1"/>
              <a:t>trong</a:t>
            </a:r>
            <a:r>
              <a:rPr lang="en-US" dirty="0"/>
              <a:t> </a:t>
            </a:r>
            <a:r>
              <a:rPr lang="en-US" dirty="0" err="1"/>
              <a:t>từng</a:t>
            </a:r>
            <a:r>
              <a:rPr lang="en-US" dirty="0"/>
              <a:t> </a:t>
            </a:r>
            <a:r>
              <a:rPr lang="en-US" dirty="0" err="1"/>
              <a:t>đoạn</a:t>
            </a:r>
            <a:r>
              <a:rPr lang="en-US" dirty="0"/>
              <a:t> </a:t>
            </a:r>
            <a:r>
              <a:rPr lang="en-US" dirty="0" err="1"/>
              <a:t>tín</a:t>
            </a:r>
            <a:r>
              <a:rPr lang="en-US" dirty="0"/>
              <a:t> </a:t>
            </a:r>
            <a:r>
              <a:rPr lang="en-US" dirty="0" err="1"/>
              <a:t>hiệu</a:t>
            </a:r>
            <a:r>
              <a:rPr lang="en-US" dirty="0"/>
              <a:t>, </a:t>
            </a:r>
            <a:r>
              <a:rPr lang="en-US" dirty="0" err="1"/>
              <a:t>từ</a:t>
            </a:r>
            <a:r>
              <a:rPr lang="en-US" dirty="0"/>
              <a:t> </a:t>
            </a:r>
            <a:r>
              <a:rPr lang="en-US" dirty="0" err="1"/>
              <a:t>đó</a:t>
            </a:r>
            <a:r>
              <a:rPr lang="en-US" dirty="0"/>
              <a:t>:</a:t>
            </a:r>
          </a:p>
          <a:p>
            <a:pPr marL="574675" indent="-285750">
              <a:buFont typeface="Arial" panose="020B0604020202020204" pitchFamily="34" charset="0"/>
              <a:buChar char="•"/>
            </a:pPr>
            <a:r>
              <a:rPr lang="en-US" dirty="0"/>
              <a:t>Các </a:t>
            </a:r>
            <a:r>
              <a:rPr lang="en-US" dirty="0" err="1"/>
              <a:t>mô</a:t>
            </a:r>
            <a:r>
              <a:rPr lang="en-US" dirty="0"/>
              <a:t> men </a:t>
            </a:r>
            <a:r>
              <a:rPr lang="en-US" dirty="0" err="1"/>
              <a:t>thống</a:t>
            </a:r>
            <a:r>
              <a:rPr lang="en-US" dirty="0"/>
              <a:t> </a:t>
            </a:r>
            <a:r>
              <a:rPr lang="en-US" dirty="0" err="1"/>
              <a:t>kê</a:t>
            </a:r>
            <a:r>
              <a:rPr lang="en-US" dirty="0"/>
              <a:t> (RMS, Kurtosis, Skewness) </a:t>
            </a:r>
            <a:r>
              <a:rPr lang="en-US" dirty="0" err="1"/>
              <a:t>ổn</a:t>
            </a:r>
            <a:r>
              <a:rPr lang="en-US" dirty="0"/>
              <a:t> </a:t>
            </a:r>
            <a:r>
              <a:rPr lang="en-US" dirty="0" err="1"/>
              <a:t>định</a:t>
            </a:r>
            <a:r>
              <a:rPr lang="en-US" dirty="0"/>
              <a:t> </a:t>
            </a:r>
            <a:r>
              <a:rPr lang="en-US" dirty="0" err="1"/>
              <a:t>và</a:t>
            </a:r>
            <a:r>
              <a:rPr lang="en-US" dirty="0"/>
              <a:t> </a:t>
            </a:r>
            <a:r>
              <a:rPr lang="en-US" dirty="0" err="1"/>
              <a:t>khái</a:t>
            </a:r>
            <a:r>
              <a:rPr lang="en-US" dirty="0"/>
              <a:t> </a:t>
            </a:r>
            <a:r>
              <a:rPr lang="en-US" dirty="0" err="1"/>
              <a:t>quát</a:t>
            </a:r>
            <a:r>
              <a:rPr lang="en-US" dirty="0"/>
              <a:t>, </a:t>
            </a:r>
            <a:r>
              <a:rPr lang="en-US" dirty="0" err="1"/>
              <a:t>đáng</a:t>
            </a:r>
            <a:r>
              <a:rPr lang="en-US" dirty="0"/>
              <a:t> tin </a:t>
            </a:r>
            <a:r>
              <a:rPr lang="en-US" dirty="0" err="1"/>
              <a:t>cậy</a:t>
            </a:r>
            <a:r>
              <a:rPr lang="en-US" dirty="0"/>
              <a:t>.</a:t>
            </a:r>
          </a:p>
          <a:p>
            <a:pPr marL="574675" indent="-285750">
              <a:buFont typeface="Arial" panose="020B0604020202020204" pitchFamily="34" charset="0"/>
              <a:buChar char="•"/>
            </a:pPr>
            <a:r>
              <a:rPr lang="en-US" dirty="0"/>
              <a:t>Vector </a:t>
            </a:r>
            <a:r>
              <a:rPr lang="en-US" dirty="0" err="1"/>
              <a:t>đặc</a:t>
            </a:r>
            <a:r>
              <a:rPr lang="en-US" dirty="0"/>
              <a:t> </a:t>
            </a:r>
            <a:r>
              <a:rPr lang="en-US" dirty="0" err="1"/>
              <a:t>trưng</a:t>
            </a:r>
            <a:r>
              <a:rPr lang="en-US" dirty="0"/>
              <a:t> </a:t>
            </a:r>
            <a:r>
              <a:rPr lang="en-US" dirty="0" err="1"/>
              <a:t>trích</a:t>
            </a:r>
            <a:r>
              <a:rPr lang="en-US" dirty="0"/>
              <a:t> </a:t>
            </a:r>
            <a:r>
              <a:rPr lang="en-US" dirty="0" err="1"/>
              <a:t>ra</a:t>
            </a:r>
            <a:r>
              <a:rPr lang="en-US" dirty="0"/>
              <a:t> </a:t>
            </a:r>
            <a:r>
              <a:rPr lang="en-US" dirty="0" err="1"/>
              <a:t>phản</a:t>
            </a:r>
            <a:r>
              <a:rPr lang="en-US" dirty="0"/>
              <a:t> </a:t>
            </a:r>
            <a:r>
              <a:rPr lang="en-US" dirty="0" err="1"/>
              <a:t>ánh</a:t>
            </a:r>
            <a:r>
              <a:rPr lang="en-US" dirty="0"/>
              <a:t> </a:t>
            </a:r>
            <a:r>
              <a:rPr lang="en-US" b="1" dirty="0" err="1"/>
              <a:t>đặc</a:t>
            </a:r>
            <a:r>
              <a:rPr lang="en-US" b="1" dirty="0"/>
              <a:t> </a:t>
            </a:r>
            <a:r>
              <a:rPr lang="en-US" b="1" dirty="0" err="1"/>
              <a:t>tính</a:t>
            </a:r>
            <a:r>
              <a:rPr lang="en-US" b="1" dirty="0"/>
              <a:t> </a:t>
            </a:r>
            <a:r>
              <a:rPr lang="en-US" b="1" dirty="0" err="1"/>
              <a:t>lỗi</a:t>
            </a:r>
            <a:r>
              <a:rPr lang="en-US" b="1" dirty="0"/>
              <a:t> </a:t>
            </a:r>
            <a:r>
              <a:rPr lang="en-US" b="1" dirty="0" err="1"/>
              <a:t>thực</a:t>
            </a:r>
            <a:r>
              <a:rPr lang="en-US" b="1" dirty="0"/>
              <a:t> </a:t>
            </a:r>
            <a:r>
              <a:rPr lang="en-US" b="1" dirty="0" err="1"/>
              <a:t>sự</a:t>
            </a:r>
            <a:r>
              <a:rPr lang="en-US" dirty="0"/>
              <a:t> , </a:t>
            </a:r>
            <a:r>
              <a:rPr lang="en-US" dirty="0" err="1"/>
              <a:t>không</a:t>
            </a:r>
            <a:r>
              <a:rPr lang="en-US" dirty="0"/>
              <a:t> </a:t>
            </a:r>
            <a:r>
              <a:rPr lang="en-US" dirty="0" err="1"/>
              <a:t>phải</a:t>
            </a:r>
            <a:r>
              <a:rPr lang="en-US" dirty="0"/>
              <a:t> </a:t>
            </a:r>
            <a:r>
              <a:rPr lang="en-US" dirty="0" err="1"/>
              <a:t>biến</a:t>
            </a:r>
            <a:r>
              <a:rPr lang="en-US" dirty="0"/>
              <a:t> </a:t>
            </a:r>
            <a:r>
              <a:rPr lang="en-US" dirty="0" err="1"/>
              <a:t>động</a:t>
            </a:r>
            <a:r>
              <a:rPr lang="en-US" dirty="0"/>
              <a:t> </a:t>
            </a:r>
            <a:r>
              <a:rPr lang="en-US" dirty="0" err="1"/>
              <a:t>ngẫu</a:t>
            </a:r>
            <a:r>
              <a:rPr lang="en-US" dirty="0"/>
              <a:t> </a:t>
            </a:r>
            <a:r>
              <a:rPr lang="en-US" dirty="0" err="1"/>
              <a:t>nhiên</a:t>
            </a:r>
            <a:r>
              <a:rPr lang="en-US" dirty="0"/>
              <a:t> </a:t>
            </a:r>
            <a:r>
              <a:rPr lang="en-US" dirty="0" err="1"/>
              <a:t>của</a:t>
            </a:r>
            <a:r>
              <a:rPr lang="en-US" dirty="0"/>
              <a:t> </a:t>
            </a:r>
            <a:r>
              <a:rPr lang="en-US" dirty="0" err="1"/>
              <a:t>toàn</a:t>
            </a:r>
            <a:r>
              <a:rPr lang="en-US" dirty="0"/>
              <a:t> </a:t>
            </a:r>
            <a:r>
              <a:rPr lang="en-US" dirty="0" err="1"/>
              <a:t>tín</a:t>
            </a:r>
            <a:r>
              <a:rPr lang="en-US" dirty="0"/>
              <a:t> </a:t>
            </a:r>
            <a:r>
              <a:rPr lang="en-US" dirty="0" err="1"/>
              <a:t>hiệu</a:t>
            </a:r>
            <a:endParaRPr lang="en-US" dirty="0"/>
          </a:p>
          <a:p>
            <a:pPr marL="574675" indent="-285750">
              <a:buFont typeface="Arial" panose="020B0604020202020204" pitchFamily="34" charset="0"/>
              <a:buChar char="•"/>
            </a:pPr>
            <a:r>
              <a:rPr lang="en-US" dirty="0" err="1"/>
              <a:t>Mỗi</a:t>
            </a:r>
            <a:r>
              <a:rPr lang="en-US" dirty="0"/>
              <a:t> segment </a:t>
            </a:r>
            <a:r>
              <a:rPr lang="en-US" dirty="0" err="1"/>
              <a:t>trở</a:t>
            </a:r>
            <a:r>
              <a:rPr lang="en-US" dirty="0"/>
              <a:t> </a:t>
            </a:r>
            <a:r>
              <a:rPr lang="en-US" dirty="0" err="1"/>
              <a:t>thành</a:t>
            </a:r>
            <a:r>
              <a:rPr lang="en-US" dirty="0"/>
              <a:t> </a:t>
            </a:r>
            <a:r>
              <a:rPr lang="en-US" b="1" dirty="0"/>
              <a:t>1 </a:t>
            </a:r>
            <a:r>
              <a:rPr lang="en-US" b="1" dirty="0" err="1"/>
              <a:t>mẫu</a:t>
            </a:r>
            <a:r>
              <a:rPr lang="en-US" b="1" dirty="0"/>
              <a:t> </a:t>
            </a:r>
            <a:r>
              <a:rPr lang="en-US" b="1" dirty="0" err="1"/>
              <a:t>huấn</a:t>
            </a:r>
            <a:r>
              <a:rPr lang="en-US" b="1" dirty="0"/>
              <a:t> </a:t>
            </a:r>
            <a:r>
              <a:rPr lang="en-US" b="1" dirty="0" err="1"/>
              <a:t>luyện</a:t>
            </a:r>
            <a:r>
              <a:rPr lang="en-US" b="1" dirty="0"/>
              <a:t> </a:t>
            </a:r>
            <a:r>
              <a:rPr lang="en-US" b="1" dirty="0" err="1"/>
              <a:t>độc</a:t>
            </a:r>
            <a:r>
              <a:rPr lang="en-US" b="1" dirty="0"/>
              <a:t> </a:t>
            </a:r>
            <a:r>
              <a:rPr lang="en-US" b="1" dirty="0" err="1"/>
              <a:t>lập</a:t>
            </a:r>
            <a:r>
              <a:rPr lang="en-US" dirty="0"/>
              <a:t> → </a:t>
            </a:r>
            <a:r>
              <a:rPr lang="en-US" dirty="0" err="1"/>
              <a:t>tăng</a:t>
            </a:r>
            <a:r>
              <a:rPr lang="en-US" dirty="0"/>
              <a:t> </a:t>
            </a:r>
            <a:r>
              <a:rPr lang="en-US" dirty="0" err="1"/>
              <a:t>kích</a:t>
            </a:r>
            <a:r>
              <a:rPr lang="en-US" dirty="0"/>
              <a:t> </a:t>
            </a:r>
            <a:r>
              <a:rPr lang="en-US" dirty="0" err="1"/>
              <a:t>thước</a:t>
            </a:r>
            <a:r>
              <a:rPr lang="en-US" dirty="0"/>
              <a:t> </a:t>
            </a:r>
            <a:r>
              <a:rPr lang="en-US" dirty="0" err="1"/>
              <a:t>tập</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vài</a:t>
            </a:r>
            <a:r>
              <a:rPr lang="en-US" dirty="0"/>
              <a:t> file </a:t>
            </a:r>
            <a:r>
              <a:rPr lang="en-US" dirty="0" err="1"/>
              <a:t>gốc</a:t>
            </a:r>
            <a:r>
              <a:rPr lang="en-US" dirty="0"/>
              <a:t> </a:t>
            </a:r>
            <a:r>
              <a:rPr lang="en-US" dirty="0" err="1"/>
              <a:t>lên</a:t>
            </a:r>
            <a:r>
              <a:rPr lang="en-US" dirty="0"/>
              <a:t> </a:t>
            </a:r>
            <a:r>
              <a:rPr lang="en-US" dirty="0" err="1"/>
              <a:t>hàng</a:t>
            </a:r>
            <a:r>
              <a:rPr lang="en-US" dirty="0"/>
              <a:t> </a:t>
            </a:r>
            <a:r>
              <a:rPr lang="en-US" dirty="0" err="1"/>
              <a:t>nghìn</a:t>
            </a:r>
            <a:r>
              <a:rPr lang="en-US" dirty="0"/>
              <a:t> </a:t>
            </a:r>
            <a:r>
              <a:rPr lang="en-US" dirty="0" err="1"/>
              <a:t>mẫu</a:t>
            </a:r>
            <a:endParaRPr lang="en-US" b="1" dirty="0"/>
          </a:p>
        </p:txBody>
      </p:sp>
      <p:pic>
        <p:nvPicPr>
          <p:cNvPr id="9" name="Picture 8">
            <a:extLst>
              <a:ext uri="{FF2B5EF4-FFF2-40B4-BE49-F238E27FC236}">
                <a16:creationId xmlns:a16="http://schemas.microsoft.com/office/drawing/2014/main" id="{D78C4F20-151D-C108-5F17-25888C58F9C8}"/>
              </a:ext>
            </a:extLst>
          </p:cNvPr>
          <p:cNvPicPr>
            <a:picLocks noChangeAspect="1"/>
          </p:cNvPicPr>
          <p:nvPr/>
        </p:nvPicPr>
        <p:blipFill>
          <a:blip r:embed="rId2"/>
          <a:srcRect t="15591" b="7597"/>
          <a:stretch>
            <a:fillRect/>
          </a:stretch>
        </p:blipFill>
        <p:spPr>
          <a:xfrm>
            <a:off x="6804013" y="2322478"/>
            <a:ext cx="5277740" cy="2213043"/>
          </a:xfrm>
          <a:prstGeom prst="rect">
            <a:avLst/>
          </a:prstGeom>
        </p:spPr>
      </p:pic>
    </p:spTree>
    <p:extLst>
      <p:ext uri="{BB962C8B-B14F-4D97-AF65-F5344CB8AC3E}">
        <p14:creationId xmlns:p14="http://schemas.microsoft.com/office/powerpoint/2010/main" val="2798660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FEC6FA53-8BD0-4304-BA79-A14A9EFBA1F9}"/>
              </a:ext>
            </a:extLst>
          </p:cNvPr>
          <p:cNvCxnSpPr>
            <a:cxnSpLocks/>
          </p:cNvCxnSpPr>
          <p:nvPr/>
        </p:nvCxnSpPr>
        <p:spPr>
          <a:xfrm>
            <a:off x="6968170" y="1410511"/>
            <a:ext cx="4581728" cy="0"/>
          </a:xfrm>
          <a:prstGeom prst="line">
            <a:avLst/>
          </a:prstGeom>
        </p:spPr>
        <p:style>
          <a:lnRef idx="2">
            <a:schemeClr val="dk1"/>
          </a:lnRef>
          <a:fillRef idx="0">
            <a:schemeClr val="dk1"/>
          </a:fillRef>
          <a:effectRef idx="1">
            <a:schemeClr val="dk1"/>
          </a:effectRef>
          <a:fontRef idx="minor">
            <a:schemeClr val="tx1"/>
          </a:fontRef>
        </p:style>
      </p:cxnSp>
      <p:sp>
        <p:nvSpPr>
          <p:cNvPr id="2" name="Title 1">
            <a:extLst>
              <a:ext uri="{FF2B5EF4-FFF2-40B4-BE49-F238E27FC236}">
                <a16:creationId xmlns:a16="http://schemas.microsoft.com/office/drawing/2014/main" id="{CE8B91E0-102F-AD07-ED01-F006D09126B1}"/>
              </a:ext>
            </a:extLst>
          </p:cNvPr>
          <p:cNvSpPr>
            <a:spLocks noGrp="1"/>
          </p:cNvSpPr>
          <p:nvPr>
            <p:ph type="title"/>
          </p:nvPr>
        </p:nvSpPr>
        <p:spPr/>
        <p:txBody>
          <a:bodyPr/>
          <a:lstStyle/>
          <a:p>
            <a:r>
              <a:rPr lang="en-US" dirty="0" err="1"/>
              <a:t>Kích</a:t>
            </a:r>
            <a:r>
              <a:rPr lang="en-US" dirty="0"/>
              <a:t> </a:t>
            </a:r>
            <a:r>
              <a:rPr lang="en-US" dirty="0" err="1"/>
              <a:t>Thước</a:t>
            </a:r>
            <a:r>
              <a:rPr lang="en-US" dirty="0"/>
              <a:t> </a:t>
            </a:r>
            <a:r>
              <a:rPr lang="en-US" dirty="0" err="1"/>
              <a:t>Cửa</a:t>
            </a:r>
            <a:r>
              <a:rPr lang="en-US" dirty="0"/>
              <a:t> </a:t>
            </a:r>
            <a:r>
              <a:rPr lang="en-US" dirty="0" err="1"/>
              <a:t>Sổ</a:t>
            </a:r>
            <a:r>
              <a:rPr lang="en-US" dirty="0"/>
              <a:t> &amp; Overlap</a:t>
            </a:r>
          </a:p>
        </p:txBody>
      </p:sp>
      <p:sp>
        <p:nvSpPr>
          <p:cNvPr id="4" name="Slide Number Placeholder 3">
            <a:extLst>
              <a:ext uri="{FF2B5EF4-FFF2-40B4-BE49-F238E27FC236}">
                <a16:creationId xmlns:a16="http://schemas.microsoft.com/office/drawing/2014/main" id="{42F31DAE-998B-8B85-B097-67C15A8C8F08}"/>
              </a:ext>
            </a:extLst>
          </p:cNvPr>
          <p:cNvSpPr>
            <a:spLocks noGrp="1"/>
          </p:cNvSpPr>
          <p:nvPr>
            <p:ph type="sldNum" sz="quarter" idx="12"/>
          </p:nvPr>
        </p:nvSpPr>
        <p:spPr/>
        <p:txBody>
          <a:bodyPr/>
          <a:lstStyle/>
          <a:p>
            <a:fld id="{9EA0BE3B-158A-4EDF-80DC-E394A0D1600F}" type="slidenum">
              <a:rPr lang="en-US" smtClean="0"/>
              <a:pPr/>
              <a:t>21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D10DED9-7099-DE2E-DED2-3CF9F5AF3FBC}"/>
                  </a:ext>
                </a:extLst>
              </p:cNvPr>
              <p:cNvSpPr txBox="1"/>
              <p:nvPr/>
            </p:nvSpPr>
            <p:spPr>
              <a:xfrm>
                <a:off x="338736" y="1022026"/>
                <a:ext cx="5303520" cy="4808689"/>
              </a:xfrm>
              <a:prstGeom prst="rect">
                <a:avLst/>
              </a:prstGeom>
              <a:noFill/>
            </p:spPr>
            <p:txBody>
              <a:bodyPr wrap="square" rtlCol="0">
                <a:spAutoFit/>
              </a:bodyPr>
              <a:lstStyle/>
              <a:p>
                <a:pPr algn="ctr"/>
                <a:r>
                  <a:rPr lang="en-US" sz="2200" b="1" dirty="0" err="1"/>
                  <a:t>Cơ</a:t>
                </a:r>
                <a:r>
                  <a:rPr lang="en-US" sz="2200" b="1" dirty="0"/>
                  <a:t> </a:t>
                </a:r>
                <a:r>
                  <a:rPr lang="en-US" sz="2200" b="1" dirty="0" err="1"/>
                  <a:t>sở</a:t>
                </a:r>
                <a:r>
                  <a:rPr lang="en-US" sz="2200" b="1" dirty="0"/>
                  <a:t> </a:t>
                </a:r>
                <a:r>
                  <a:rPr lang="en-US" sz="2200" b="1" dirty="0" err="1"/>
                  <a:t>lựa</a:t>
                </a:r>
                <a:r>
                  <a:rPr lang="en-US" sz="2200" b="1" dirty="0"/>
                  <a:t> </a:t>
                </a:r>
                <a:r>
                  <a:rPr lang="en-US" sz="2200" b="1" dirty="0" err="1"/>
                  <a:t>chọn</a:t>
                </a:r>
                <a:r>
                  <a:rPr lang="en-US" sz="2200" b="1" dirty="0"/>
                  <a:t> </a:t>
                </a:r>
                <a:r>
                  <a:rPr lang="en-US" sz="2200" b="1" dirty="0" err="1"/>
                  <a:t>kích</a:t>
                </a:r>
                <a:r>
                  <a:rPr lang="en-US" sz="2200" b="1" dirty="0"/>
                  <a:t> </a:t>
                </a:r>
                <a:r>
                  <a:rPr lang="en-US" sz="2200" b="1" dirty="0" err="1"/>
                  <a:t>thước</a:t>
                </a:r>
                <a:r>
                  <a:rPr lang="en-US" sz="2200" b="1" dirty="0"/>
                  <a:t> </a:t>
                </a:r>
                <a:r>
                  <a:rPr lang="en-US" sz="2200" b="1" dirty="0" err="1"/>
                  <a:t>cửa</a:t>
                </a:r>
                <a:r>
                  <a:rPr lang="en-US" sz="2200" b="1" dirty="0"/>
                  <a:t> </a:t>
                </a:r>
                <a:r>
                  <a:rPr lang="en-US" sz="2200" b="1" dirty="0" err="1"/>
                  <a:t>sổ</a:t>
                </a:r>
                <a:r>
                  <a:rPr lang="en-US" sz="2200" b="1" dirty="0"/>
                  <a:t> (N=4096)</a:t>
                </a:r>
              </a:p>
              <a:p>
                <a:endParaRPr lang="en-US" b="1" dirty="0"/>
              </a:p>
              <a:p>
                <a:pPr marL="285750" indent="-285750">
                  <a:buFont typeface="Arial" panose="020B0604020202020204" pitchFamily="34" charset="0"/>
                  <a:buChar char="•"/>
                </a:pPr>
                <a:endParaRPr lang="en-US" sz="800" dirty="0"/>
              </a:p>
              <a:p>
                <a:pPr marL="285750" indent="-285750">
                  <a:buFont typeface="Wingdings" panose="05000000000000000000" pitchFamily="2" charset="2"/>
                  <a:buChar char="q"/>
                </a:pPr>
                <a:r>
                  <a:rPr lang="en-US" b="1" dirty="0" err="1"/>
                  <a:t>Tối</a:t>
                </a:r>
                <a:r>
                  <a:rPr lang="en-US" b="1" dirty="0"/>
                  <a:t> </a:t>
                </a:r>
                <a:r>
                  <a:rPr lang="en-US" b="1" dirty="0" err="1"/>
                  <a:t>ưu</a:t>
                </a:r>
                <a:r>
                  <a:rPr lang="en-US" b="1" dirty="0"/>
                  <a:t> </a:t>
                </a:r>
                <a:r>
                  <a:rPr lang="en-US" b="1" dirty="0" err="1"/>
                  <a:t>tốc</a:t>
                </a:r>
                <a:r>
                  <a:rPr lang="en-US" b="1" dirty="0"/>
                  <a:t> </a:t>
                </a:r>
                <a:r>
                  <a:rPr lang="en-US" b="1" dirty="0" err="1"/>
                  <a:t>độ</a:t>
                </a:r>
                <a:r>
                  <a:rPr lang="en-US" b="1" dirty="0"/>
                  <a:t> </a:t>
                </a:r>
                <a:r>
                  <a:rPr lang="en-US" b="1" dirty="0" err="1"/>
                  <a:t>tính</a:t>
                </a:r>
                <a:r>
                  <a:rPr lang="en-US" b="1" dirty="0"/>
                  <a:t> </a:t>
                </a:r>
                <a:r>
                  <a:rPr lang="en-US" b="1" dirty="0" err="1"/>
                  <a:t>toán</a:t>
                </a:r>
                <a:r>
                  <a:rPr lang="en-US" b="1" dirty="0"/>
                  <a:t>: </a:t>
                </a:r>
                <a:r>
                  <a:rPr lang="en-US" dirty="0" err="1"/>
                  <a:t>Chọn</a:t>
                </a:r>
                <a:r>
                  <a:rPr lang="en-US" dirty="0"/>
                  <a:t> </a:t>
                </a:r>
                <a:r>
                  <a:rPr lang="en-US" dirty="0" err="1"/>
                  <a:t>kích</a:t>
                </a:r>
                <a:r>
                  <a:rPr lang="en-US" dirty="0"/>
                  <a:t> </a:t>
                </a:r>
                <a:r>
                  <a:rPr lang="en-US" dirty="0" err="1"/>
                  <a:t>thước</a:t>
                </a:r>
                <a:r>
                  <a:rPr lang="en-US" dirty="0"/>
                  <a:t> </a:t>
                </a:r>
                <a:r>
                  <a:rPr lang="en-US" dirty="0" err="1"/>
                  <a:t>cửa</a:t>
                </a:r>
                <a:r>
                  <a:rPr lang="en-US" dirty="0"/>
                  <a:t> </a:t>
                </a:r>
                <a:r>
                  <a:rPr lang="en-US" dirty="0" err="1"/>
                  <a:t>số</a:t>
                </a:r>
                <a:r>
                  <a:rPr lang="en-US" dirty="0"/>
                  <a:t> </a:t>
                </a:r>
                <a:r>
                  <a:rPr lang="en-US" dirty="0" err="1"/>
                  <a:t>là</a:t>
                </a:r>
                <a:r>
                  <a:rPr lang="en-US" dirty="0"/>
                  <a:t> </a:t>
                </a:r>
                <a:r>
                  <a:rPr lang="en-US" dirty="0" err="1"/>
                  <a:t>luỹ</a:t>
                </a:r>
                <a:r>
                  <a:rPr lang="en-US" dirty="0"/>
                  <a:t> </a:t>
                </a:r>
                <a:r>
                  <a:rPr lang="en-US" dirty="0" err="1"/>
                  <a:t>thừa</a:t>
                </a:r>
                <a:r>
                  <a:rPr lang="en-US" dirty="0"/>
                  <a:t> </a:t>
                </a:r>
                <a:r>
                  <a:rPr lang="en-US" dirty="0" err="1"/>
                  <a:t>của</a:t>
                </a:r>
                <a:r>
                  <a:rPr lang="en-US" dirty="0"/>
                  <a:t> 2 (</a:t>
                </a:r>
                <a14:m>
                  <m:oMath xmlns:m="http://schemas.openxmlformats.org/officeDocument/2006/math">
                    <m:r>
                      <m:rPr>
                        <m:sty m:val="p"/>
                      </m:rPr>
                      <a:rPr lang="en-US" sz="1600" b="0" i="1" smtClean="0">
                        <a:latin typeface="Cambria Math" panose="02040503050406030204" pitchFamily="18" charset="0"/>
                      </a:rPr>
                      <m:t>N</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2</m:t>
                        </m:r>
                      </m:e>
                      <m:sup>
                        <m:r>
                          <m:rPr>
                            <m:sty m:val="p"/>
                          </m:rPr>
                          <a:rPr lang="en-US" sz="1600" b="0" i="1" smtClean="0">
                            <a:latin typeface="Cambria Math" panose="02040503050406030204" pitchFamily="18" charset="0"/>
                          </a:rPr>
                          <m:t>k</m:t>
                        </m:r>
                      </m:sup>
                    </m:sSup>
                  </m:oMath>
                </a14:m>
                <a:r>
                  <a:rPr lang="en-US" dirty="0"/>
                  <a:t>) </a:t>
                </a:r>
                <a:r>
                  <a:rPr lang="en-US" dirty="0" err="1"/>
                  <a:t>giúp</a:t>
                </a:r>
                <a:r>
                  <a:rPr lang="en-US" dirty="0"/>
                  <a:t> </a:t>
                </a:r>
                <a:r>
                  <a:rPr lang="en-US" dirty="0" err="1"/>
                  <a:t>thuật</a:t>
                </a:r>
                <a:r>
                  <a:rPr lang="en-US" dirty="0"/>
                  <a:t> </a:t>
                </a:r>
                <a:r>
                  <a:rPr lang="en-US" dirty="0" err="1"/>
                  <a:t>toán</a:t>
                </a:r>
                <a:r>
                  <a:rPr lang="en-US" dirty="0"/>
                  <a:t> FFT </a:t>
                </a:r>
                <a:r>
                  <a:rPr lang="en-US" dirty="0" err="1"/>
                  <a:t>đạt</a:t>
                </a:r>
                <a:r>
                  <a:rPr lang="en-US" dirty="0"/>
                  <a:t> </a:t>
                </a:r>
                <a:r>
                  <a:rPr lang="en-US" dirty="0" err="1"/>
                  <a:t>hiệu</a:t>
                </a:r>
                <a:r>
                  <a:rPr lang="en-US" dirty="0"/>
                  <a:t> </a:t>
                </a:r>
                <a:r>
                  <a:rPr lang="en-US" dirty="0" err="1"/>
                  <a:t>năng</a:t>
                </a:r>
                <a:r>
                  <a:rPr lang="en-US" dirty="0"/>
                  <a:t> </a:t>
                </a:r>
                <a:r>
                  <a:rPr lang="en-US" dirty="0" err="1"/>
                  <a:t>tính</a:t>
                </a:r>
                <a:r>
                  <a:rPr lang="en-US" dirty="0"/>
                  <a:t> </a:t>
                </a:r>
                <a:r>
                  <a:rPr lang="en-US" dirty="0" err="1"/>
                  <a:t>toán</a:t>
                </a:r>
                <a:r>
                  <a:rPr lang="en-US" dirty="0"/>
                  <a:t> </a:t>
                </a:r>
                <a:r>
                  <a:rPr lang="en-US" dirty="0" err="1"/>
                  <a:t>cao</a:t>
                </a:r>
                <a:r>
                  <a:rPr lang="en-US" dirty="0"/>
                  <a:t> </a:t>
                </a:r>
                <a:r>
                  <a:rPr lang="en-US" dirty="0" err="1"/>
                  <a:t>nhất</a:t>
                </a:r>
                <a:endParaRPr lang="en-US" dirty="0"/>
              </a:p>
              <a:p>
                <a:pPr marL="285750" indent="-285750">
                  <a:buFont typeface="Arial" panose="020B0604020202020204" pitchFamily="34" charset="0"/>
                  <a:buChar char="•"/>
                </a:pPr>
                <a:endParaRPr lang="en-US" dirty="0"/>
              </a:p>
              <a:p>
                <a:pPr marL="285750" indent="-285750">
                  <a:buFont typeface="Wingdings" panose="05000000000000000000" pitchFamily="2" charset="2"/>
                  <a:buChar char="q"/>
                </a:pPr>
                <a:r>
                  <a:rPr lang="en-US" b="1" dirty="0" err="1"/>
                  <a:t>Đảm</a:t>
                </a:r>
                <a:r>
                  <a:rPr lang="en-US" b="1" dirty="0"/>
                  <a:t> </a:t>
                </a:r>
                <a:r>
                  <a:rPr lang="en-US" b="1" dirty="0" err="1"/>
                  <a:t>bảo</a:t>
                </a:r>
                <a:r>
                  <a:rPr lang="en-US" b="1" dirty="0"/>
                  <a:t> </a:t>
                </a:r>
                <a:r>
                  <a:rPr lang="en-US" b="1" dirty="0" err="1"/>
                  <a:t>độ</a:t>
                </a:r>
                <a:r>
                  <a:rPr lang="en-US" b="1" dirty="0"/>
                  <a:t> </a:t>
                </a:r>
                <a:r>
                  <a:rPr lang="en-US" b="1" dirty="0" err="1"/>
                  <a:t>phân</a:t>
                </a:r>
                <a:r>
                  <a:rPr lang="en-US" b="1" dirty="0"/>
                  <a:t> </a:t>
                </a:r>
                <a:r>
                  <a:rPr lang="en-US" b="1" dirty="0" err="1"/>
                  <a:t>giải</a:t>
                </a:r>
                <a:r>
                  <a:rPr lang="en-US" b="1" dirty="0"/>
                  <a:t> </a:t>
                </a:r>
                <a:r>
                  <a:rPr lang="en-US" b="1" dirty="0" err="1"/>
                  <a:t>tần</a:t>
                </a:r>
                <a:r>
                  <a:rPr lang="en-US" b="1" dirty="0"/>
                  <a:t> </a:t>
                </a:r>
                <a:r>
                  <a:rPr lang="en-US" b="1" dirty="0" err="1"/>
                  <a:t>số</a:t>
                </a:r>
                <a:r>
                  <a:rPr lang="en-US" b="1" dirty="0"/>
                  <a:t>:</a:t>
                </a:r>
              </a:p>
              <a:p>
                <a:pPr marL="285750" indent="-285750">
                  <a:buFont typeface="Arial" panose="020B0604020202020204" pitchFamily="34" charset="0"/>
                  <a:buChar char="•"/>
                </a:pPr>
                <a:endParaRPr lang="en-US" sz="800" dirty="0"/>
              </a:p>
              <a:p>
                <a:pPr algn="ctr"/>
                <a14:m>
                  <m:oMath xmlns:m="http://schemas.openxmlformats.org/officeDocument/2006/math">
                    <m:r>
                      <a:rPr lang="en-US" i="1" smtClean="0">
                        <a:latin typeface="Cambria Math" panose="02040503050406030204" pitchFamily="18" charset="0"/>
                        <a:ea typeface="Cambria Math" panose="02040503050406030204" pitchFamily="18" charset="0"/>
                      </a:rPr>
                      <m:t>∆</m:t>
                    </m:r>
                    <m:r>
                      <m:rPr>
                        <m:sty m:val="p"/>
                      </m:rPr>
                      <a:rPr lang="en-US" b="0" i="1" smtClean="0">
                        <a:latin typeface="Cambria Math" panose="02040503050406030204" pitchFamily="18" charset="0"/>
                        <a:ea typeface="Cambria Math" panose="02040503050406030204" pitchFamily="18" charset="0"/>
                      </a:rPr>
                      <m:t>f</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m:rPr>
                                <m:sty m:val="p"/>
                              </m:rPr>
                              <a:rPr lang="en-US" b="0" i="1" smtClean="0">
                                <a:latin typeface="Cambria Math" panose="02040503050406030204" pitchFamily="18" charset="0"/>
                                <a:ea typeface="Cambria Math" panose="02040503050406030204" pitchFamily="18" charset="0"/>
                              </a:rPr>
                              <m:t>f</m:t>
                            </m:r>
                          </m:e>
                          <m:sub>
                            <m:r>
                              <m:rPr>
                                <m:sty m:val="p"/>
                              </m:rPr>
                              <a:rPr lang="en-US" b="0" i="1" smtClean="0">
                                <a:latin typeface="Cambria Math" panose="02040503050406030204" pitchFamily="18" charset="0"/>
                                <a:ea typeface="Cambria Math" panose="02040503050406030204" pitchFamily="18" charset="0"/>
                              </a:rPr>
                              <m:t>s</m:t>
                            </m:r>
                          </m:sub>
                        </m:sSub>
                      </m:num>
                      <m:den>
                        <m:r>
                          <m:rPr>
                            <m:sty m:val="p"/>
                          </m:rPr>
                          <a:rPr lang="en-US" b="0" i="1" smtClean="0">
                            <a:latin typeface="Cambria Math" panose="02040503050406030204" pitchFamily="18" charset="0"/>
                            <a:ea typeface="Cambria Math" panose="02040503050406030204" pitchFamily="18" charset="0"/>
                          </a:rPr>
                          <m:t>N</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48,000</m:t>
                        </m:r>
                      </m:num>
                      <m:den>
                        <m:r>
                          <a:rPr lang="en-US" b="0" i="1" smtClean="0">
                            <a:latin typeface="Cambria Math" panose="02040503050406030204" pitchFamily="18" charset="0"/>
                            <a:ea typeface="Cambria Math" panose="02040503050406030204" pitchFamily="18" charset="0"/>
                          </a:rPr>
                          <m:t>4096</m:t>
                        </m:r>
                      </m:den>
                    </m:f>
                    <m:r>
                      <a:rPr lang="en-US" b="0" i="1" smtClean="0">
                        <a:latin typeface="Cambria Math" panose="02040503050406030204" pitchFamily="18" charset="0"/>
                        <a:ea typeface="Cambria Math" panose="02040503050406030204" pitchFamily="18" charset="0"/>
                      </a:rPr>
                      <m:t>=11,71 </m:t>
                    </m:r>
                    <m:r>
                      <m:rPr>
                        <m:sty m:val="p"/>
                      </m:rPr>
                      <a:rPr lang="en-US" b="0" i="1" smtClean="0">
                        <a:latin typeface="Cambria Math" panose="02040503050406030204" pitchFamily="18" charset="0"/>
                        <a:ea typeface="Cambria Math" panose="02040503050406030204" pitchFamily="18" charset="0"/>
                      </a:rPr>
                      <m:t>Hz</m:t>
                    </m:r>
                  </m:oMath>
                </a14:m>
                <a:r>
                  <a:rPr lang="en-US" dirty="0"/>
                  <a:t> </a:t>
                </a:r>
              </a:p>
              <a:p>
                <a:pPr algn="ctr"/>
                <a:endParaRPr lang="en-US" sz="800" dirty="0"/>
              </a:p>
              <a:p>
                <a:pPr indent="282575"/>
                <a:r>
                  <a:rPr lang="en-US" dirty="0" err="1"/>
                  <a:t>Độ</a:t>
                </a:r>
                <a:r>
                  <a:rPr lang="en-US" dirty="0"/>
                  <a:t> </a:t>
                </a:r>
                <a:r>
                  <a:rPr lang="en-US" dirty="0" err="1"/>
                  <a:t>phân</a:t>
                </a:r>
                <a:r>
                  <a:rPr lang="en-US" dirty="0"/>
                  <a:t> </a:t>
                </a:r>
                <a:r>
                  <a:rPr lang="en-US" dirty="0" err="1"/>
                  <a:t>giải</a:t>
                </a:r>
                <a:r>
                  <a:rPr lang="en-US" dirty="0"/>
                  <a:t> </a:t>
                </a:r>
                <a:r>
                  <a:rPr lang="en-US" dirty="0" err="1"/>
                  <a:t>này</a:t>
                </a:r>
                <a:r>
                  <a:rPr lang="en-US" dirty="0"/>
                  <a:t> </a:t>
                </a:r>
                <a:r>
                  <a:rPr lang="en-US" dirty="0" err="1"/>
                  <a:t>đủ</a:t>
                </a:r>
                <a:r>
                  <a:rPr lang="en-US" dirty="0"/>
                  <a:t> </a:t>
                </a:r>
                <a:r>
                  <a:rPr lang="en-US" dirty="0" err="1"/>
                  <a:t>để</a:t>
                </a:r>
                <a:r>
                  <a:rPr lang="en-US" dirty="0"/>
                  <a:t> </a:t>
                </a:r>
                <a:r>
                  <a:rPr lang="en-US" dirty="0" err="1"/>
                  <a:t>phân</a:t>
                </a:r>
                <a:r>
                  <a:rPr lang="en-US" dirty="0"/>
                  <a:t> </a:t>
                </a:r>
                <a:r>
                  <a:rPr lang="en-US" dirty="0" err="1"/>
                  <a:t>tách</a:t>
                </a:r>
                <a:r>
                  <a:rPr lang="en-US" dirty="0"/>
                  <a:t> </a:t>
                </a:r>
                <a:r>
                  <a:rPr lang="en-US" dirty="0" err="1"/>
                  <a:t>các</a:t>
                </a:r>
                <a:r>
                  <a:rPr lang="en-US" dirty="0"/>
                  <a:t> </a:t>
                </a:r>
                <a:r>
                  <a:rPr lang="en-US" dirty="0" err="1"/>
                  <a:t>tần</a:t>
                </a:r>
                <a:r>
                  <a:rPr lang="en-US" dirty="0"/>
                  <a:t> </a:t>
                </a:r>
                <a:r>
                  <a:rPr lang="en-US" dirty="0" err="1"/>
                  <a:t>số</a:t>
                </a:r>
                <a:r>
                  <a:rPr lang="en-US" dirty="0"/>
                  <a:t> </a:t>
                </a:r>
                <a:r>
                  <a:rPr lang="en-US" dirty="0" err="1"/>
                  <a:t>lỗi</a:t>
                </a:r>
                <a:endParaRPr lang="en-US" dirty="0"/>
              </a:p>
              <a:p>
                <a:pPr indent="282575"/>
                <a:endParaRPr lang="en-US" dirty="0"/>
              </a:p>
              <a:p>
                <a:pPr marL="285750" indent="-285750">
                  <a:buFont typeface="Wingdings" panose="05000000000000000000" pitchFamily="2" charset="2"/>
                  <a:buChar char="q"/>
                </a:pPr>
                <a:r>
                  <a:rPr lang="en-US" b="1" dirty="0" err="1"/>
                  <a:t>Đảm</a:t>
                </a:r>
                <a:r>
                  <a:rPr lang="en-US" b="1" dirty="0"/>
                  <a:t> </a:t>
                </a:r>
                <a:r>
                  <a:rPr lang="en-US" b="1" dirty="0" err="1"/>
                  <a:t>bảo</a:t>
                </a:r>
                <a:r>
                  <a:rPr lang="en-US" b="1" dirty="0"/>
                  <a:t> </a:t>
                </a:r>
                <a:r>
                  <a:rPr lang="en-US" b="1" dirty="0" err="1"/>
                  <a:t>tính</a:t>
                </a:r>
                <a:r>
                  <a:rPr lang="en-US" b="1" dirty="0"/>
                  <a:t> </a:t>
                </a:r>
                <a:r>
                  <a:rPr lang="en-US" b="1" dirty="0" err="1"/>
                  <a:t>dừng</a:t>
                </a:r>
                <a:r>
                  <a:rPr lang="en-US" b="1" dirty="0"/>
                  <a:t>:</a:t>
                </a:r>
              </a:p>
              <a:p>
                <a:pPr marL="742950" lvl="1" indent="-285750">
                  <a:buFont typeface="Arial" panose="020B0604020202020204" pitchFamily="34" charset="0"/>
                  <a:buChar char="•"/>
                </a:pPr>
                <a:r>
                  <a:rPr lang="en-US" dirty="0" err="1"/>
                  <a:t>Nếu</a:t>
                </a:r>
                <a:r>
                  <a:rPr lang="en-US" dirty="0"/>
                  <a:t> N </a:t>
                </a:r>
                <a:r>
                  <a:rPr lang="en-US" dirty="0" err="1"/>
                  <a:t>quá</a:t>
                </a:r>
                <a:r>
                  <a:rPr lang="en-US" dirty="0"/>
                  <a:t> </a:t>
                </a:r>
                <a:r>
                  <a:rPr lang="en-US" dirty="0" err="1"/>
                  <a:t>nhỏ</a:t>
                </a:r>
                <a:r>
                  <a:rPr lang="en-US" dirty="0"/>
                  <a:t>: </a:t>
                </a:r>
                <a:r>
                  <a:rPr lang="en-US" dirty="0" err="1"/>
                  <a:t>Phổ</a:t>
                </a:r>
                <a:r>
                  <a:rPr lang="en-US" dirty="0"/>
                  <a:t> </a:t>
                </a:r>
                <a:r>
                  <a:rPr lang="en-US" dirty="0" err="1"/>
                  <a:t>bị</a:t>
                </a:r>
                <a:r>
                  <a:rPr lang="en-US" dirty="0"/>
                  <a:t> </a:t>
                </a:r>
                <a:r>
                  <a:rPr lang="en-US" dirty="0" err="1"/>
                  <a:t>nhòe</a:t>
                </a:r>
                <a:r>
                  <a:rPr lang="en-US" dirty="0"/>
                  <a:t>, </a:t>
                </a:r>
                <a:r>
                  <a:rPr lang="en-US" dirty="0" err="1"/>
                  <a:t>các</a:t>
                </a:r>
                <a:r>
                  <a:rPr lang="en-US" dirty="0"/>
                  <a:t> </a:t>
                </a:r>
                <a:r>
                  <a:rPr lang="en-US" dirty="0" err="1"/>
                  <a:t>tần</a:t>
                </a:r>
                <a:r>
                  <a:rPr lang="en-US" dirty="0"/>
                  <a:t> </a:t>
                </a:r>
                <a:r>
                  <a:rPr lang="en-US" dirty="0" err="1"/>
                  <a:t>số</a:t>
                </a:r>
                <a:r>
                  <a:rPr lang="en-US" dirty="0"/>
                  <a:t> </a:t>
                </a:r>
                <a:r>
                  <a:rPr lang="en-US" dirty="0" err="1"/>
                  <a:t>lỗi</a:t>
                </a:r>
                <a:r>
                  <a:rPr lang="en-US" dirty="0"/>
                  <a:t> </a:t>
                </a:r>
                <a:r>
                  <a:rPr lang="en-US" dirty="0" err="1"/>
                  <a:t>bị</a:t>
                </a:r>
                <a:r>
                  <a:rPr lang="en-US" dirty="0"/>
                  <a:t> </a:t>
                </a:r>
                <a:r>
                  <a:rPr lang="en-US" dirty="0" err="1"/>
                  <a:t>chồng</a:t>
                </a:r>
                <a:r>
                  <a:rPr lang="en-US" dirty="0"/>
                  <a:t> </a:t>
                </a:r>
                <a:r>
                  <a:rPr lang="en-US" dirty="0" err="1"/>
                  <a:t>lấp</a:t>
                </a:r>
                <a:r>
                  <a:rPr lang="en-US" dirty="0"/>
                  <a:t>.</a:t>
                </a:r>
              </a:p>
              <a:p>
                <a:pPr marL="742950" lvl="1" indent="-285750">
                  <a:buFont typeface="Arial" panose="020B0604020202020204" pitchFamily="34" charset="0"/>
                  <a:buChar char="•"/>
                </a:pPr>
                <a:r>
                  <a:rPr lang="en-US" dirty="0" err="1"/>
                  <a:t>Nếu</a:t>
                </a:r>
                <a:r>
                  <a:rPr lang="en-US" dirty="0"/>
                  <a:t> N </a:t>
                </a:r>
                <a:r>
                  <a:rPr lang="en-US" dirty="0" err="1"/>
                  <a:t>quá</a:t>
                </a:r>
                <a:r>
                  <a:rPr lang="en-US" dirty="0"/>
                  <a:t> </a:t>
                </a:r>
                <a:r>
                  <a:rPr lang="en-US" dirty="0" err="1"/>
                  <a:t>lớn</a:t>
                </a:r>
                <a:r>
                  <a:rPr lang="en-US" dirty="0"/>
                  <a:t>: </a:t>
                </a:r>
                <a:r>
                  <a:rPr lang="en-US" dirty="0" err="1"/>
                  <a:t>Tín</a:t>
                </a:r>
                <a:r>
                  <a:rPr lang="en-US" dirty="0"/>
                  <a:t> </a:t>
                </a:r>
                <a:r>
                  <a:rPr lang="en-US" dirty="0" err="1"/>
                  <a:t>hiệu</a:t>
                </a:r>
                <a:r>
                  <a:rPr lang="en-US" dirty="0"/>
                  <a:t> </a:t>
                </a:r>
                <a:r>
                  <a:rPr lang="en-US" dirty="0" err="1"/>
                  <a:t>mất</a:t>
                </a:r>
                <a:r>
                  <a:rPr lang="en-US" dirty="0"/>
                  <a:t> </a:t>
                </a:r>
                <a:r>
                  <a:rPr lang="en-US" dirty="0" err="1"/>
                  <a:t>tính</a:t>
                </a:r>
                <a:r>
                  <a:rPr lang="en-US" dirty="0"/>
                  <a:t> </a:t>
                </a:r>
                <a:r>
                  <a:rPr lang="en-US" dirty="0" err="1"/>
                  <a:t>dừng</a:t>
                </a:r>
                <a:r>
                  <a:rPr lang="en-US" dirty="0"/>
                  <a:t> </a:t>
                </a:r>
                <a:r>
                  <a:rPr lang="en-US" dirty="0" err="1"/>
                  <a:t>cục</a:t>
                </a:r>
                <a:r>
                  <a:rPr lang="en-US" dirty="0"/>
                  <a:t> </a:t>
                </a:r>
                <a:r>
                  <a:rPr lang="en-US" dirty="0" err="1"/>
                  <a:t>bộ</a:t>
                </a:r>
                <a:r>
                  <a:rPr lang="en-US" dirty="0"/>
                  <a:t>, </a:t>
                </a:r>
                <a:r>
                  <a:rPr lang="en-US" dirty="0" err="1"/>
                  <a:t>giảm</a:t>
                </a:r>
                <a:r>
                  <a:rPr lang="en-US" dirty="0"/>
                  <a:t> </a:t>
                </a:r>
                <a:r>
                  <a:rPr lang="en-US" dirty="0" err="1"/>
                  <a:t>số</a:t>
                </a:r>
                <a:r>
                  <a:rPr lang="en-US" dirty="0"/>
                  <a:t> </a:t>
                </a:r>
                <a:r>
                  <a:rPr lang="en-US" dirty="0" err="1"/>
                  <a:t>lượng</a:t>
                </a:r>
                <a:r>
                  <a:rPr lang="en-US" dirty="0"/>
                  <a:t> </a:t>
                </a:r>
                <a:r>
                  <a:rPr lang="en-US" dirty="0" err="1"/>
                  <a:t>mẫu</a:t>
                </a:r>
                <a:r>
                  <a:rPr lang="en-US" dirty="0"/>
                  <a:t>.</a:t>
                </a:r>
              </a:p>
            </p:txBody>
          </p:sp>
        </mc:Choice>
        <mc:Fallback xmlns="">
          <p:sp>
            <p:nvSpPr>
              <p:cNvPr id="5" name="TextBox 4">
                <a:extLst>
                  <a:ext uri="{FF2B5EF4-FFF2-40B4-BE49-F238E27FC236}">
                    <a16:creationId xmlns:a16="http://schemas.microsoft.com/office/drawing/2014/main" id="{CD10DED9-7099-DE2E-DED2-3CF9F5AF3FBC}"/>
                  </a:ext>
                </a:extLst>
              </p:cNvPr>
              <p:cNvSpPr txBox="1">
                <a:spLocks noRot="1" noChangeAspect="1" noMove="1" noResize="1" noEditPoints="1" noAdjustHandles="1" noChangeArrowheads="1" noChangeShapeType="1" noTextEdit="1"/>
              </p:cNvSpPr>
              <p:nvPr/>
            </p:nvSpPr>
            <p:spPr>
              <a:xfrm>
                <a:off x="338736" y="1022026"/>
                <a:ext cx="5303520" cy="4808689"/>
              </a:xfrm>
              <a:prstGeom prst="rect">
                <a:avLst/>
              </a:prstGeom>
              <a:blipFill>
                <a:blip r:embed="rId2"/>
                <a:stretch>
                  <a:fillRect l="-805" t="-888" r="-460" b="-1142"/>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0448057-8C31-B652-B336-DA8E9E981F01}"/>
              </a:ext>
            </a:extLst>
          </p:cNvPr>
          <p:cNvSpPr txBox="1"/>
          <p:nvPr/>
        </p:nvSpPr>
        <p:spPr>
          <a:xfrm>
            <a:off x="6549746" y="1022026"/>
            <a:ext cx="5303520" cy="4154984"/>
          </a:xfrm>
          <a:prstGeom prst="rect">
            <a:avLst/>
          </a:prstGeom>
          <a:noFill/>
        </p:spPr>
        <p:txBody>
          <a:bodyPr wrap="square" rtlCol="0">
            <a:spAutoFit/>
          </a:bodyPr>
          <a:lstStyle/>
          <a:p>
            <a:pPr algn="ctr"/>
            <a:r>
              <a:rPr lang="en-US" sz="2200" b="1" dirty="0" err="1"/>
              <a:t>Kỹ</a:t>
            </a:r>
            <a:r>
              <a:rPr lang="en-US" sz="2200" b="1" dirty="0"/>
              <a:t> </a:t>
            </a:r>
            <a:r>
              <a:rPr lang="en-US" sz="2200" b="1" dirty="0" err="1"/>
              <a:t>thuật</a:t>
            </a:r>
            <a:r>
              <a:rPr lang="en-US" sz="2200" b="1" dirty="0"/>
              <a:t> Overlap &amp; </a:t>
            </a:r>
            <a:r>
              <a:rPr lang="en-US" sz="2200" b="1" dirty="0" err="1"/>
              <a:t>Chống</a:t>
            </a:r>
            <a:r>
              <a:rPr lang="en-US" sz="2200" b="1" dirty="0"/>
              <a:t> Data Leakage</a:t>
            </a:r>
          </a:p>
          <a:p>
            <a:endParaRPr lang="en-US" b="1" dirty="0"/>
          </a:p>
          <a:p>
            <a:pPr marL="285750" indent="-285750">
              <a:buFont typeface="Arial" panose="020B0604020202020204" pitchFamily="34" charset="0"/>
              <a:buChar char="•"/>
            </a:pPr>
            <a:endParaRPr lang="en-US" sz="800" dirty="0"/>
          </a:p>
          <a:p>
            <a:pPr marL="285750" indent="-285750">
              <a:buFont typeface="Wingdings" panose="05000000000000000000" pitchFamily="2" charset="2"/>
              <a:buChar char="q"/>
            </a:pPr>
            <a:r>
              <a:rPr lang="en-US" b="1" dirty="0" err="1"/>
              <a:t>Mục</a:t>
            </a:r>
            <a:r>
              <a:rPr lang="en-US" b="1" dirty="0"/>
              <a:t> </a:t>
            </a:r>
            <a:r>
              <a:rPr lang="en-US" b="1" dirty="0" err="1"/>
              <a:t>đích</a:t>
            </a:r>
            <a:r>
              <a:rPr lang="en-US" b="1" dirty="0"/>
              <a:t> :</a:t>
            </a:r>
            <a:r>
              <a:rPr lang="en-US" dirty="0"/>
              <a:t> </a:t>
            </a:r>
            <a:r>
              <a:rPr lang="en-US" dirty="0" err="1"/>
              <a:t>Tránh</a:t>
            </a:r>
            <a:r>
              <a:rPr lang="en-US" dirty="0"/>
              <a:t> </a:t>
            </a:r>
            <a:r>
              <a:rPr lang="en-US" dirty="0" err="1"/>
              <a:t>mất</a:t>
            </a:r>
            <a:r>
              <a:rPr lang="en-US" dirty="0"/>
              <a:t> </a:t>
            </a:r>
            <a:r>
              <a:rPr lang="en-US" dirty="0" err="1"/>
              <a:t>mát</a:t>
            </a:r>
            <a:r>
              <a:rPr lang="en-US" dirty="0"/>
              <a:t> </a:t>
            </a:r>
            <a:r>
              <a:rPr lang="en-US" dirty="0" err="1"/>
              <a:t>thông</a:t>
            </a:r>
            <a:r>
              <a:rPr lang="en-US" dirty="0"/>
              <a:t> tin ở </a:t>
            </a:r>
            <a:r>
              <a:rPr lang="en-US" dirty="0" err="1"/>
              <a:t>biên</a:t>
            </a:r>
            <a:r>
              <a:rPr lang="en-US" dirty="0"/>
              <a:t>. </a:t>
            </a:r>
            <a:r>
              <a:rPr lang="en-US" dirty="0" err="1"/>
              <a:t>Bước</a:t>
            </a:r>
            <a:r>
              <a:rPr lang="en-US" dirty="0"/>
              <a:t> </a:t>
            </a:r>
            <a:r>
              <a:rPr lang="en-US" dirty="0" err="1"/>
              <a:t>trượt</a:t>
            </a:r>
            <a:r>
              <a:rPr lang="en-US" dirty="0"/>
              <a:t> </a:t>
            </a:r>
            <a:r>
              <a:rPr lang="en-US" dirty="0" err="1"/>
              <a:t>gối</a:t>
            </a:r>
            <a:r>
              <a:rPr lang="en-US" dirty="0"/>
              <a:t> </a:t>
            </a:r>
            <a:r>
              <a:rPr lang="en-US" dirty="0" err="1"/>
              <a:t>chồng</a:t>
            </a:r>
            <a:r>
              <a:rPr lang="en-US" dirty="0"/>
              <a:t> (50%) </a:t>
            </a:r>
            <a:r>
              <a:rPr lang="en-US" dirty="0" err="1"/>
              <a:t>đảm</a:t>
            </a:r>
            <a:r>
              <a:rPr lang="en-US" dirty="0"/>
              <a:t> </a:t>
            </a:r>
            <a:r>
              <a:rPr lang="en-US" dirty="0" err="1"/>
              <a:t>bảo</a:t>
            </a:r>
            <a:r>
              <a:rPr lang="en-US" dirty="0"/>
              <a:t> </a:t>
            </a:r>
            <a:r>
              <a:rPr lang="en-US" dirty="0" err="1"/>
              <a:t>các</a:t>
            </a:r>
            <a:r>
              <a:rPr lang="en-US" dirty="0"/>
              <a:t> </a:t>
            </a:r>
            <a:r>
              <a:rPr lang="en-US" dirty="0" err="1"/>
              <a:t>xung</a:t>
            </a:r>
            <a:r>
              <a:rPr lang="en-US" dirty="0"/>
              <a:t> </a:t>
            </a:r>
            <a:r>
              <a:rPr lang="en-US" dirty="0" err="1"/>
              <a:t>va</a:t>
            </a:r>
            <a:r>
              <a:rPr lang="en-US" dirty="0"/>
              <a:t> </a:t>
            </a:r>
            <a:r>
              <a:rPr lang="en-US" dirty="0" err="1"/>
              <a:t>đập</a:t>
            </a:r>
            <a:r>
              <a:rPr lang="en-US" dirty="0"/>
              <a:t> </a:t>
            </a:r>
            <a:r>
              <a:rPr lang="en-US" dirty="0" err="1"/>
              <a:t>hư</a:t>
            </a:r>
            <a:r>
              <a:rPr lang="en-US" dirty="0"/>
              <a:t> </a:t>
            </a:r>
            <a:r>
              <a:rPr lang="en-US" dirty="0" err="1"/>
              <a:t>hỏng</a:t>
            </a:r>
            <a:r>
              <a:rPr lang="en-US" dirty="0"/>
              <a:t> </a:t>
            </a:r>
            <a:r>
              <a:rPr lang="en-US" dirty="0" err="1"/>
              <a:t>vô</a:t>
            </a:r>
            <a:r>
              <a:rPr lang="en-US" dirty="0"/>
              <a:t> </a:t>
            </a:r>
            <a:r>
              <a:rPr lang="en-US" dirty="0" err="1"/>
              <a:t>tình</a:t>
            </a:r>
            <a:r>
              <a:rPr lang="en-US" dirty="0"/>
              <a:t> </a:t>
            </a:r>
            <a:r>
              <a:rPr lang="en-US" dirty="0" err="1"/>
              <a:t>rơi</a:t>
            </a:r>
            <a:r>
              <a:rPr lang="en-US" dirty="0"/>
              <a:t> </a:t>
            </a:r>
            <a:r>
              <a:rPr lang="en-US" dirty="0" err="1"/>
              <a:t>vào</a:t>
            </a:r>
            <a:r>
              <a:rPr lang="en-US" dirty="0"/>
              <a:t> </a:t>
            </a:r>
            <a:r>
              <a:rPr lang="en-US" dirty="0" err="1"/>
              <a:t>ranh</a:t>
            </a:r>
            <a:r>
              <a:rPr lang="en-US" dirty="0"/>
              <a:t> </a:t>
            </a:r>
            <a:r>
              <a:rPr lang="en-US" dirty="0" err="1"/>
              <a:t>giới</a:t>
            </a:r>
            <a:r>
              <a:rPr lang="en-US" dirty="0"/>
              <a:t> </a:t>
            </a:r>
            <a:r>
              <a:rPr lang="en-US" dirty="0" err="1"/>
              <a:t>cắt</a:t>
            </a:r>
            <a:r>
              <a:rPr lang="en-US" dirty="0"/>
              <a:t> </a:t>
            </a:r>
            <a:r>
              <a:rPr lang="en-US" dirty="0" err="1"/>
              <a:t>sẽ</a:t>
            </a:r>
            <a:r>
              <a:rPr lang="en-US" dirty="0"/>
              <a:t> </a:t>
            </a:r>
            <a:r>
              <a:rPr lang="en-US" dirty="0" err="1"/>
              <a:t>nằm</a:t>
            </a:r>
            <a:r>
              <a:rPr lang="en-US" dirty="0"/>
              <a:t> ở </a:t>
            </a:r>
            <a:r>
              <a:rPr lang="en-US" dirty="0" err="1"/>
              <a:t>trung</a:t>
            </a:r>
            <a:r>
              <a:rPr lang="en-US" dirty="0"/>
              <a:t> </a:t>
            </a:r>
            <a:r>
              <a:rPr lang="en-US" dirty="0" err="1"/>
              <a:t>tâm</a:t>
            </a:r>
            <a:r>
              <a:rPr lang="en-US" dirty="0"/>
              <a:t> </a:t>
            </a:r>
            <a:r>
              <a:rPr lang="en-US" dirty="0" err="1"/>
              <a:t>của</a:t>
            </a:r>
            <a:r>
              <a:rPr lang="en-US" dirty="0"/>
              <a:t> </a:t>
            </a:r>
            <a:r>
              <a:rPr lang="en-US" dirty="0" err="1"/>
              <a:t>cửa</a:t>
            </a:r>
            <a:r>
              <a:rPr lang="en-US" dirty="0"/>
              <a:t> </a:t>
            </a:r>
            <a:r>
              <a:rPr lang="en-US" dirty="0" err="1"/>
              <a:t>sổ</a:t>
            </a:r>
            <a:r>
              <a:rPr lang="en-US" dirty="0"/>
              <a:t> </a:t>
            </a:r>
            <a:r>
              <a:rPr lang="en-US" dirty="0" err="1"/>
              <a:t>kế</a:t>
            </a:r>
            <a:r>
              <a:rPr lang="en-US" dirty="0"/>
              <a:t> </a:t>
            </a:r>
            <a:r>
              <a:rPr lang="en-US" dirty="0" err="1"/>
              <a:t>tiếp</a:t>
            </a:r>
            <a:endParaRPr lang="en-US" dirty="0"/>
          </a:p>
          <a:p>
            <a:pPr marL="285750" indent="-285750">
              <a:buFont typeface="Arial" panose="020B0604020202020204" pitchFamily="34" charset="0"/>
              <a:buChar char="•"/>
            </a:pPr>
            <a:endParaRPr lang="en-US" dirty="0"/>
          </a:p>
          <a:p>
            <a:pPr marL="285750" indent="-285750">
              <a:buFont typeface="Wingdings" panose="05000000000000000000" pitchFamily="2" charset="2"/>
              <a:buChar char="q"/>
            </a:pPr>
            <a:r>
              <a:rPr lang="en-US" b="1" dirty="0"/>
              <a:t>⚠️ </a:t>
            </a:r>
            <a:r>
              <a:rPr lang="en-US" b="1" dirty="0" err="1"/>
              <a:t>Kiểm</a:t>
            </a:r>
            <a:r>
              <a:rPr lang="en-US" b="1" dirty="0"/>
              <a:t> </a:t>
            </a:r>
            <a:r>
              <a:rPr lang="en-US" b="1" dirty="0" err="1"/>
              <a:t>soát</a:t>
            </a:r>
            <a:r>
              <a:rPr lang="en-US" b="1" dirty="0"/>
              <a:t> </a:t>
            </a:r>
            <a:r>
              <a:rPr lang="en-US" b="1" dirty="0" err="1"/>
              <a:t>rò</a:t>
            </a:r>
            <a:r>
              <a:rPr lang="en-US" b="1" dirty="0"/>
              <a:t> </a:t>
            </a:r>
            <a:r>
              <a:rPr lang="en-US" b="1" dirty="0" err="1"/>
              <a:t>rỉ</a:t>
            </a:r>
            <a:r>
              <a:rPr lang="en-US" b="1" dirty="0"/>
              <a:t> </a:t>
            </a:r>
            <a:r>
              <a:rPr lang="en-US" b="1" dirty="0" err="1"/>
              <a:t>dữ</a:t>
            </a:r>
            <a:r>
              <a:rPr lang="en-US" b="1" dirty="0"/>
              <a:t> </a:t>
            </a:r>
            <a:r>
              <a:rPr lang="en-US" b="1" dirty="0" err="1"/>
              <a:t>liệu</a:t>
            </a:r>
            <a:r>
              <a:rPr lang="en-US" b="1" dirty="0"/>
              <a:t> :</a:t>
            </a:r>
            <a:r>
              <a:rPr lang="en-US" dirty="0"/>
              <a:t> </a:t>
            </a:r>
            <a:r>
              <a:rPr lang="en-US" dirty="0" err="1"/>
              <a:t>Bắt</a:t>
            </a:r>
            <a:r>
              <a:rPr lang="en-US" dirty="0"/>
              <a:t> </a:t>
            </a:r>
            <a:r>
              <a:rPr lang="en-US" dirty="0" err="1"/>
              <a:t>buộc</a:t>
            </a:r>
            <a:r>
              <a:rPr lang="en-US" dirty="0"/>
              <a:t> </a:t>
            </a:r>
            <a:r>
              <a:rPr lang="en-US" dirty="0" err="1"/>
              <a:t>phải</a:t>
            </a:r>
            <a:r>
              <a:rPr lang="en-US" dirty="0"/>
              <a:t> </a:t>
            </a:r>
            <a:r>
              <a:rPr lang="en-US" dirty="0" err="1"/>
              <a:t>phân</a:t>
            </a:r>
            <a:r>
              <a:rPr lang="en-US" dirty="0"/>
              <a:t> chia </a:t>
            </a:r>
            <a:r>
              <a:rPr lang="en-US" dirty="0" err="1"/>
              <a:t>tập</a:t>
            </a:r>
            <a:r>
              <a:rPr lang="en-US" dirty="0"/>
              <a:t> Train/Test </a:t>
            </a:r>
            <a:r>
              <a:rPr lang="en-US" dirty="0" err="1"/>
              <a:t>theo</a:t>
            </a:r>
            <a:r>
              <a:rPr lang="en-US" dirty="0"/>
              <a:t> </a:t>
            </a:r>
            <a:r>
              <a:rPr lang="en-US" b="1" dirty="0"/>
              <a:t>file </a:t>
            </a:r>
            <a:r>
              <a:rPr lang="en-US" b="1" dirty="0" err="1"/>
              <a:t>dữ</a:t>
            </a:r>
            <a:r>
              <a:rPr lang="en-US" b="1" dirty="0"/>
              <a:t> </a:t>
            </a:r>
            <a:r>
              <a:rPr lang="en-US" b="1" dirty="0" err="1"/>
              <a:t>liệu</a:t>
            </a:r>
            <a:r>
              <a:rPr lang="en-US" b="1" dirty="0"/>
              <a:t> </a:t>
            </a:r>
            <a:r>
              <a:rPr lang="en-US" b="1" dirty="0" err="1"/>
              <a:t>thô</a:t>
            </a:r>
            <a:r>
              <a:rPr lang="en-US" b="1" dirty="0"/>
              <a:t> </a:t>
            </a:r>
            <a:r>
              <a:rPr lang="en-US" b="1" dirty="0" err="1"/>
              <a:t>gốc</a:t>
            </a:r>
            <a:r>
              <a:rPr lang="en-US" dirty="0"/>
              <a:t> </a:t>
            </a:r>
            <a:r>
              <a:rPr lang="en-US" dirty="0" err="1"/>
              <a:t>hoặc</a:t>
            </a:r>
            <a:r>
              <a:rPr lang="en-US" dirty="0"/>
              <a:t> </a:t>
            </a:r>
            <a:r>
              <a:rPr lang="en-US" dirty="0" err="1"/>
              <a:t>theo</a:t>
            </a:r>
            <a:r>
              <a:rPr lang="en-US" dirty="0"/>
              <a:t> </a:t>
            </a:r>
            <a:r>
              <a:rPr lang="en-US" b="1" dirty="0" err="1"/>
              <a:t>mốc</a:t>
            </a:r>
            <a:r>
              <a:rPr lang="en-US" b="1" dirty="0"/>
              <a:t> </a:t>
            </a:r>
            <a:r>
              <a:rPr lang="en-US" b="1" dirty="0" err="1"/>
              <a:t>thời</a:t>
            </a:r>
            <a:r>
              <a:rPr lang="en-US" b="1" dirty="0"/>
              <a:t> </a:t>
            </a:r>
            <a:r>
              <a:rPr lang="en-US" b="1" dirty="0" err="1"/>
              <a:t>gian</a:t>
            </a:r>
            <a:r>
              <a:rPr lang="en-US" b="1" dirty="0"/>
              <a:t> </a:t>
            </a:r>
            <a:r>
              <a:rPr lang="en-US" b="1" dirty="0" err="1"/>
              <a:t>cô</a:t>
            </a:r>
            <a:r>
              <a:rPr lang="en-US" b="1" dirty="0"/>
              <a:t> </a:t>
            </a:r>
            <a:r>
              <a:rPr lang="en-US" b="1" dirty="0" err="1"/>
              <a:t>lập</a:t>
            </a:r>
            <a:r>
              <a:rPr lang="en-US" dirty="0"/>
              <a:t> </a:t>
            </a:r>
            <a:r>
              <a:rPr lang="en-US" dirty="0" err="1"/>
              <a:t>trước</a:t>
            </a:r>
            <a:r>
              <a:rPr lang="en-US" dirty="0"/>
              <a:t> </a:t>
            </a:r>
            <a:r>
              <a:rPr lang="en-US" dirty="0" err="1"/>
              <a:t>khi</a:t>
            </a:r>
            <a:r>
              <a:rPr lang="en-US" dirty="0"/>
              <a:t> </a:t>
            </a:r>
            <a:r>
              <a:rPr lang="en-US" dirty="0" err="1"/>
              <a:t>tiến</a:t>
            </a:r>
            <a:r>
              <a:rPr lang="en-US" dirty="0"/>
              <a:t> </a:t>
            </a:r>
            <a:r>
              <a:rPr lang="en-US" dirty="0" err="1"/>
              <a:t>hành</a:t>
            </a:r>
            <a:r>
              <a:rPr lang="en-US" dirty="0"/>
              <a:t> </a:t>
            </a:r>
            <a:r>
              <a:rPr lang="en-US" dirty="0" err="1"/>
              <a:t>phân</a:t>
            </a:r>
            <a:r>
              <a:rPr lang="en-US" dirty="0"/>
              <a:t> </a:t>
            </a:r>
            <a:r>
              <a:rPr lang="en-US" dirty="0" err="1"/>
              <a:t>đoạn</a:t>
            </a:r>
            <a:r>
              <a:rPr lang="en-US" dirty="0"/>
              <a:t>.</a:t>
            </a:r>
          </a:p>
          <a:p>
            <a:pPr indent="282575"/>
            <a:endParaRPr lang="en-US" dirty="0"/>
          </a:p>
          <a:p>
            <a:pPr marL="285750" indent="-285750">
              <a:buFont typeface="Wingdings" panose="05000000000000000000" pitchFamily="2" charset="2"/>
              <a:buChar char="q"/>
            </a:pPr>
            <a:r>
              <a:rPr lang="en-US" dirty="0" err="1"/>
              <a:t>Tuyệt</a:t>
            </a:r>
            <a:r>
              <a:rPr lang="en-US" dirty="0"/>
              <a:t> </a:t>
            </a:r>
            <a:r>
              <a:rPr lang="en-US" dirty="0" err="1"/>
              <a:t>đối</a:t>
            </a:r>
            <a:r>
              <a:rPr lang="en-US" dirty="0"/>
              <a:t> </a:t>
            </a:r>
            <a:r>
              <a:rPr lang="en-US" dirty="0" err="1"/>
              <a:t>không</a:t>
            </a:r>
            <a:r>
              <a:rPr lang="en-US" dirty="0"/>
              <a:t> </a:t>
            </a:r>
            <a:r>
              <a:rPr lang="en-US" dirty="0" err="1"/>
              <a:t>trộn</a:t>
            </a:r>
            <a:r>
              <a:rPr lang="en-US" dirty="0"/>
              <a:t> </a:t>
            </a:r>
            <a:r>
              <a:rPr lang="en-US" dirty="0" err="1"/>
              <a:t>lẫn</a:t>
            </a:r>
            <a:r>
              <a:rPr lang="en-US" dirty="0"/>
              <a:t> </a:t>
            </a:r>
            <a:r>
              <a:rPr lang="en-US" dirty="0" err="1"/>
              <a:t>rồi</a:t>
            </a:r>
            <a:r>
              <a:rPr lang="en-US" dirty="0"/>
              <a:t> chia </a:t>
            </a:r>
            <a:r>
              <a:rPr lang="en-US" dirty="0" err="1"/>
              <a:t>ngẫu</a:t>
            </a:r>
            <a:r>
              <a:rPr lang="en-US" dirty="0"/>
              <a:t> </a:t>
            </a:r>
            <a:r>
              <a:rPr lang="en-US" dirty="0" err="1"/>
              <a:t>nhiên</a:t>
            </a:r>
            <a:r>
              <a:rPr lang="en-US" dirty="0"/>
              <a:t>, </a:t>
            </a:r>
            <a:r>
              <a:rPr lang="en-US" dirty="0" err="1"/>
              <a:t>tránh</a:t>
            </a:r>
            <a:r>
              <a:rPr lang="en-US" dirty="0"/>
              <a:t> </a:t>
            </a:r>
            <a:r>
              <a:rPr lang="en-US" dirty="0" err="1"/>
              <a:t>việc</a:t>
            </a:r>
            <a:r>
              <a:rPr lang="en-US" dirty="0"/>
              <a:t> </a:t>
            </a:r>
            <a:r>
              <a:rPr lang="en-US" dirty="0" err="1"/>
              <a:t>mô</a:t>
            </a:r>
            <a:r>
              <a:rPr lang="en-US" dirty="0"/>
              <a:t> </a:t>
            </a:r>
            <a:r>
              <a:rPr lang="en-US" dirty="0" err="1"/>
              <a:t>hình</a:t>
            </a:r>
            <a:r>
              <a:rPr lang="en-US" dirty="0"/>
              <a:t> "</a:t>
            </a:r>
            <a:r>
              <a:rPr lang="en-US" dirty="0" err="1"/>
              <a:t>học</a:t>
            </a:r>
            <a:r>
              <a:rPr lang="en-US" dirty="0"/>
              <a:t> </a:t>
            </a:r>
            <a:r>
              <a:rPr lang="en-US" dirty="0" err="1"/>
              <a:t>thuộc</a:t>
            </a:r>
            <a:r>
              <a:rPr lang="en-US" dirty="0"/>
              <a:t> </a:t>
            </a:r>
            <a:r>
              <a:rPr lang="en-US" dirty="0" err="1"/>
              <a:t>lòng</a:t>
            </a:r>
            <a:r>
              <a:rPr lang="en-US" dirty="0"/>
              <a:t>" do </a:t>
            </a:r>
            <a:r>
              <a:rPr lang="en-US" dirty="0" err="1"/>
              <a:t>các</a:t>
            </a:r>
            <a:r>
              <a:rPr lang="en-US" dirty="0"/>
              <a:t> </a:t>
            </a:r>
            <a:r>
              <a:rPr lang="en-US" dirty="0" err="1"/>
              <a:t>đoạn</a:t>
            </a:r>
            <a:r>
              <a:rPr lang="en-US" dirty="0"/>
              <a:t> </a:t>
            </a:r>
            <a:r>
              <a:rPr lang="en-US" dirty="0" err="1"/>
              <a:t>liền</a:t>
            </a:r>
            <a:r>
              <a:rPr lang="en-US" dirty="0"/>
              <a:t> </a:t>
            </a:r>
            <a:r>
              <a:rPr lang="en-US" dirty="0" err="1"/>
              <a:t>kề</a:t>
            </a:r>
            <a:r>
              <a:rPr lang="en-US" dirty="0"/>
              <a:t> chia </a:t>
            </a:r>
            <a:r>
              <a:rPr lang="en-US" dirty="0" err="1"/>
              <a:t>sẻ</a:t>
            </a:r>
            <a:r>
              <a:rPr lang="en-US" dirty="0"/>
              <a:t> </a:t>
            </a:r>
            <a:r>
              <a:rPr lang="en-US" dirty="0" err="1"/>
              <a:t>chung</a:t>
            </a:r>
            <a:r>
              <a:rPr lang="en-US" dirty="0"/>
              <a:t> 50% </a:t>
            </a:r>
            <a:r>
              <a:rPr lang="en-US" dirty="0" err="1"/>
              <a:t>dữ</a:t>
            </a:r>
            <a:r>
              <a:rPr lang="en-US" dirty="0"/>
              <a:t> </a:t>
            </a:r>
            <a:r>
              <a:rPr lang="en-US" dirty="0" err="1"/>
              <a:t>liệu</a:t>
            </a:r>
            <a:r>
              <a:rPr lang="en-US" dirty="0"/>
              <a:t> </a:t>
            </a:r>
            <a:r>
              <a:rPr lang="en-US" dirty="0" err="1"/>
              <a:t>miền</a:t>
            </a:r>
            <a:r>
              <a:rPr lang="en-US" dirty="0"/>
              <a:t> </a:t>
            </a:r>
            <a:r>
              <a:rPr lang="en-US" dirty="0" err="1"/>
              <a:t>thời</a:t>
            </a:r>
            <a:r>
              <a:rPr lang="en-US" dirty="0"/>
              <a:t> </a:t>
            </a:r>
            <a:r>
              <a:rPr lang="en-US" dirty="0" err="1"/>
              <a:t>gian</a:t>
            </a:r>
            <a:r>
              <a:rPr lang="en-US" dirty="0"/>
              <a:t>.</a:t>
            </a:r>
          </a:p>
        </p:txBody>
      </p:sp>
      <p:cxnSp>
        <p:nvCxnSpPr>
          <p:cNvPr id="13" name="Straight Connector 12">
            <a:extLst>
              <a:ext uri="{FF2B5EF4-FFF2-40B4-BE49-F238E27FC236}">
                <a16:creationId xmlns:a16="http://schemas.microsoft.com/office/drawing/2014/main" id="{76BF7D25-5859-7D94-0A95-483C35F8502B}"/>
              </a:ext>
            </a:extLst>
          </p:cNvPr>
          <p:cNvCxnSpPr/>
          <p:nvPr/>
        </p:nvCxnSpPr>
        <p:spPr>
          <a:xfrm>
            <a:off x="554479" y="1410511"/>
            <a:ext cx="495137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04267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17B0B-C2E7-3910-AAE8-389B64F13D44}"/>
              </a:ext>
            </a:extLst>
          </p:cNvPr>
          <p:cNvSpPr>
            <a:spLocks noGrp="1"/>
          </p:cNvSpPr>
          <p:nvPr>
            <p:ph type="title"/>
          </p:nvPr>
        </p:nvSpPr>
        <p:spPr/>
        <p:txBody>
          <a:bodyPr/>
          <a:lstStyle/>
          <a:p>
            <a:r>
              <a:rPr lang="en-US" dirty="0"/>
              <a:t>Quy </a:t>
            </a:r>
            <a:r>
              <a:rPr lang="en-US" dirty="0" err="1"/>
              <a:t>trình</a:t>
            </a:r>
            <a:r>
              <a:rPr lang="en-US" dirty="0"/>
              <a:t> </a:t>
            </a:r>
            <a:r>
              <a:rPr lang="en-US" dirty="0" err="1"/>
              <a:t>chuẩn</a:t>
            </a:r>
            <a:r>
              <a:rPr lang="en-US" dirty="0"/>
              <a:t> </a:t>
            </a:r>
            <a:r>
              <a:rPr lang="en-US" dirty="0" err="1"/>
              <a:t>bị</a:t>
            </a:r>
            <a:r>
              <a:rPr lang="en-US" dirty="0"/>
              <a:t> </a:t>
            </a:r>
            <a:r>
              <a:rPr lang="en-US" dirty="0" err="1"/>
              <a:t>dữ</a:t>
            </a:r>
            <a:r>
              <a:rPr lang="en-US" dirty="0"/>
              <a:t> </a:t>
            </a:r>
            <a:r>
              <a:rPr lang="en-US" dirty="0" err="1"/>
              <a:t>liệu</a:t>
            </a:r>
            <a:endParaRPr lang="en-US" dirty="0"/>
          </a:p>
        </p:txBody>
      </p:sp>
      <p:sp>
        <p:nvSpPr>
          <p:cNvPr id="4" name="Slide Number Placeholder 3">
            <a:extLst>
              <a:ext uri="{FF2B5EF4-FFF2-40B4-BE49-F238E27FC236}">
                <a16:creationId xmlns:a16="http://schemas.microsoft.com/office/drawing/2014/main" id="{6F14C75D-B065-F7D7-3AC7-8D4ABD494033}"/>
              </a:ext>
            </a:extLst>
          </p:cNvPr>
          <p:cNvSpPr>
            <a:spLocks noGrp="1"/>
          </p:cNvSpPr>
          <p:nvPr>
            <p:ph type="sldNum" sz="quarter" idx="12"/>
          </p:nvPr>
        </p:nvSpPr>
        <p:spPr/>
        <p:txBody>
          <a:bodyPr/>
          <a:lstStyle/>
          <a:p>
            <a:fld id="{9EA0BE3B-158A-4EDF-80DC-E394A0D1600F}" type="slidenum">
              <a:rPr lang="en-US" smtClean="0"/>
              <a:pPr/>
              <a:t>22</a:t>
            </a:fld>
            <a:endParaRPr lang="en-US"/>
          </a:p>
        </p:txBody>
      </p:sp>
      <p:pic>
        <p:nvPicPr>
          <p:cNvPr id="7" name="Picture 6">
            <a:extLst>
              <a:ext uri="{FF2B5EF4-FFF2-40B4-BE49-F238E27FC236}">
                <a16:creationId xmlns:a16="http://schemas.microsoft.com/office/drawing/2014/main" id="{2C7263E4-AE0B-F117-3CDF-960F57379CDE}"/>
              </a:ext>
            </a:extLst>
          </p:cNvPr>
          <p:cNvPicPr>
            <a:picLocks noChangeAspect="1"/>
          </p:cNvPicPr>
          <p:nvPr/>
        </p:nvPicPr>
        <p:blipFill>
          <a:blip r:embed="rId2">
            <a:extLst>
              <a:ext uri="{28A0092B-C50C-407E-A947-70E740481C1C}">
                <a14:useLocalDpi xmlns:a14="http://schemas.microsoft.com/office/drawing/2010/main" val="0"/>
              </a:ext>
            </a:extLst>
          </a:blip>
          <a:srcRect t="56" b="56"/>
          <a:stretch/>
        </p:blipFill>
        <p:spPr>
          <a:xfrm>
            <a:off x="384150" y="938719"/>
            <a:ext cx="11515561" cy="4980562"/>
          </a:xfrm>
          <a:prstGeom prst="rect">
            <a:avLst/>
          </a:prstGeom>
        </p:spPr>
      </p:pic>
    </p:spTree>
    <p:extLst>
      <p:ext uri="{BB962C8B-B14F-4D97-AF65-F5344CB8AC3E}">
        <p14:creationId xmlns:p14="http://schemas.microsoft.com/office/powerpoint/2010/main" val="243588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12E1C7FA-D687-0645-1E53-0BA1977B4751}"/>
              </a:ext>
            </a:extLst>
          </p:cNvPr>
          <p:cNvSpPr/>
          <p:nvPr/>
        </p:nvSpPr>
        <p:spPr>
          <a:xfrm>
            <a:off x="992221" y="3939886"/>
            <a:ext cx="10538528" cy="1108953"/>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CDF3661-C874-384C-D855-125AB328B9F1}"/>
              </a:ext>
            </a:extLst>
          </p:cNvPr>
          <p:cNvSpPr/>
          <p:nvPr/>
        </p:nvSpPr>
        <p:spPr>
          <a:xfrm>
            <a:off x="992221" y="1992676"/>
            <a:ext cx="10538528" cy="1108953"/>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F36C60-9660-6B4A-1B9F-1D27B87ED9F1}"/>
              </a:ext>
            </a:extLst>
          </p:cNvPr>
          <p:cNvSpPr>
            <a:spLocks noGrp="1"/>
          </p:cNvSpPr>
          <p:nvPr>
            <p:ph type="title"/>
          </p:nvPr>
        </p:nvSpPr>
        <p:spPr/>
        <p:txBody>
          <a:bodyPr/>
          <a:lstStyle/>
          <a:p>
            <a:r>
              <a:rPr lang="en-US" dirty="0" err="1"/>
              <a:t>Chẩn</a:t>
            </a:r>
            <a:r>
              <a:rPr lang="en-US" dirty="0"/>
              <a:t> </a:t>
            </a:r>
            <a:r>
              <a:rPr lang="en-US" dirty="0" err="1"/>
              <a:t>đoán</a:t>
            </a:r>
            <a:r>
              <a:rPr lang="en-US" dirty="0"/>
              <a:t> </a:t>
            </a:r>
            <a:r>
              <a:rPr lang="en-US" dirty="0" err="1"/>
              <a:t>tự</a:t>
            </a:r>
            <a:r>
              <a:rPr lang="en-US" dirty="0"/>
              <a:t> </a:t>
            </a:r>
            <a:r>
              <a:rPr lang="en-US" dirty="0" err="1"/>
              <a:t>động</a:t>
            </a:r>
            <a:endParaRPr lang="en-US" dirty="0"/>
          </a:p>
        </p:txBody>
      </p:sp>
      <p:sp>
        <p:nvSpPr>
          <p:cNvPr id="3" name="Text Placeholder 2">
            <a:extLst>
              <a:ext uri="{FF2B5EF4-FFF2-40B4-BE49-F238E27FC236}">
                <a16:creationId xmlns:a16="http://schemas.microsoft.com/office/drawing/2014/main" id="{7F285B69-0606-093D-2B78-A9721C3962AC}"/>
              </a:ext>
            </a:extLst>
          </p:cNvPr>
          <p:cNvSpPr>
            <a:spLocks noGrp="1"/>
          </p:cNvSpPr>
          <p:nvPr>
            <p:ph type="body" sz="quarter" idx="13"/>
          </p:nvPr>
        </p:nvSpPr>
        <p:spPr>
          <a:xfrm>
            <a:off x="2110902" y="2139280"/>
            <a:ext cx="9231550" cy="2518086"/>
          </a:xfrm>
        </p:spPr>
        <p:txBody>
          <a:bodyPr/>
          <a:lstStyle/>
          <a:p>
            <a:pPr marL="0" indent="0">
              <a:buNone/>
            </a:pPr>
            <a:r>
              <a:rPr lang="en-US" dirty="0">
                <a:latin typeface="+mn-lt"/>
              </a:rPr>
              <a:t>Sau </a:t>
            </a:r>
            <a:r>
              <a:rPr lang="en-US" dirty="0" err="1">
                <a:latin typeface="+mn-lt"/>
              </a:rPr>
              <a:t>khi</a:t>
            </a:r>
            <a:r>
              <a:rPr lang="en-US" dirty="0">
                <a:latin typeface="+mn-lt"/>
              </a:rPr>
              <a:t> </a:t>
            </a:r>
            <a:r>
              <a:rPr lang="en-US" dirty="0" err="1">
                <a:latin typeface="+mn-lt"/>
              </a:rPr>
              <a:t>trích</a:t>
            </a:r>
            <a:r>
              <a:rPr lang="en-US" dirty="0">
                <a:latin typeface="+mn-lt"/>
              </a:rPr>
              <a:t> </a:t>
            </a:r>
            <a:r>
              <a:rPr lang="en-US" dirty="0" err="1">
                <a:latin typeface="+mn-lt"/>
              </a:rPr>
              <a:t>xuất</a:t>
            </a:r>
            <a:r>
              <a:rPr lang="en-US" dirty="0">
                <a:latin typeface="+mn-lt"/>
              </a:rPr>
              <a:t> 19 </a:t>
            </a:r>
            <a:r>
              <a:rPr lang="en-US" dirty="0" err="1">
                <a:latin typeface="+mn-lt"/>
              </a:rPr>
              <a:t>đặc</a:t>
            </a:r>
            <a:r>
              <a:rPr lang="en-US" dirty="0">
                <a:latin typeface="+mn-lt"/>
              </a:rPr>
              <a:t> </a:t>
            </a:r>
            <a:r>
              <a:rPr lang="en-US" dirty="0" err="1">
                <a:latin typeface="+mn-lt"/>
              </a:rPr>
              <a:t>trưng</a:t>
            </a:r>
            <a:r>
              <a:rPr lang="en-US" dirty="0">
                <a:latin typeface="+mn-lt"/>
              </a:rPr>
              <a:t> </a:t>
            </a:r>
            <a:r>
              <a:rPr lang="en-US" dirty="0" err="1">
                <a:latin typeface="+mn-lt"/>
              </a:rPr>
              <a:t>từ</a:t>
            </a:r>
            <a:r>
              <a:rPr lang="en-US" dirty="0">
                <a:latin typeface="+mn-lt"/>
              </a:rPr>
              <a:t> </a:t>
            </a:r>
            <a:r>
              <a:rPr lang="en-US" dirty="0" err="1">
                <a:latin typeface="+mn-lt"/>
              </a:rPr>
              <a:t>hàng</a:t>
            </a:r>
            <a:r>
              <a:rPr lang="en-US" dirty="0">
                <a:latin typeface="+mn-lt"/>
              </a:rPr>
              <a:t> </a:t>
            </a:r>
            <a:r>
              <a:rPr lang="en-US" dirty="0" err="1">
                <a:latin typeface="+mn-lt"/>
              </a:rPr>
              <a:t>nghìn</a:t>
            </a:r>
            <a:r>
              <a:rPr lang="en-US" dirty="0">
                <a:latin typeface="+mn-lt"/>
              </a:rPr>
              <a:t> </a:t>
            </a:r>
            <a:r>
              <a:rPr lang="en-US" dirty="0" err="1">
                <a:latin typeface="+mn-lt"/>
              </a:rPr>
              <a:t>đoạn</a:t>
            </a:r>
            <a:r>
              <a:rPr lang="en-US" dirty="0">
                <a:latin typeface="+mn-lt"/>
              </a:rPr>
              <a:t> </a:t>
            </a:r>
            <a:r>
              <a:rPr lang="en-US" dirty="0" err="1">
                <a:latin typeface="+mn-lt"/>
              </a:rPr>
              <a:t>tín</a:t>
            </a:r>
            <a:r>
              <a:rPr lang="en-US" dirty="0">
                <a:latin typeface="+mn-lt"/>
              </a:rPr>
              <a:t> </a:t>
            </a:r>
            <a:r>
              <a:rPr lang="en-US" dirty="0" err="1">
                <a:latin typeface="+mn-lt"/>
              </a:rPr>
              <a:t>hiệu</a:t>
            </a:r>
            <a:r>
              <a:rPr lang="en-US" dirty="0">
                <a:latin typeface="+mn-lt"/>
              </a:rPr>
              <a:t>, </a:t>
            </a:r>
            <a:r>
              <a:rPr lang="en-US" dirty="0" err="1">
                <a:latin typeface="+mn-lt"/>
              </a:rPr>
              <a:t>chúng</a:t>
            </a:r>
            <a:r>
              <a:rPr lang="en-US" dirty="0">
                <a:latin typeface="+mn-lt"/>
              </a:rPr>
              <a:t> ta </a:t>
            </a:r>
            <a:r>
              <a:rPr lang="en-US" dirty="0" err="1">
                <a:latin typeface="+mn-lt"/>
              </a:rPr>
              <a:t>đối</a:t>
            </a:r>
            <a:r>
              <a:rPr lang="en-US" dirty="0">
                <a:latin typeface="+mn-lt"/>
              </a:rPr>
              <a:t> </a:t>
            </a:r>
            <a:r>
              <a:rPr lang="en-US" dirty="0" err="1">
                <a:latin typeface="+mn-lt"/>
              </a:rPr>
              <a:t>mặt</a:t>
            </a:r>
            <a:r>
              <a:rPr lang="en-US" dirty="0">
                <a:latin typeface="+mn-lt"/>
              </a:rPr>
              <a:t> </a:t>
            </a:r>
            <a:r>
              <a:rPr lang="en-US" dirty="0" err="1">
                <a:latin typeface="+mn-lt"/>
              </a:rPr>
              <a:t>với</a:t>
            </a:r>
            <a:r>
              <a:rPr lang="en-US" dirty="0">
                <a:latin typeface="+mn-lt"/>
              </a:rPr>
              <a:t> </a:t>
            </a:r>
            <a:r>
              <a:rPr lang="en-US" dirty="0" err="1">
                <a:latin typeface="+mn-lt"/>
              </a:rPr>
              <a:t>một</a:t>
            </a:r>
            <a:r>
              <a:rPr lang="en-US" dirty="0">
                <a:latin typeface="+mn-lt"/>
              </a:rPr>
              <a:t> </a:t>
            </a:r>
            <a:r>
              <a:rPr lang="en-US" b="1" dirty="0">
                <a:latin typeface="+mn-lt"/>
              </a:rPr>
              <a:t>ma </a:t>
            </a:r>
            <a:r>
              <a:rPr lang="en-US" b="1" dirty="0" err="1">
                <a:latin typeface="+mn-lt"/>
              </a:rPr>
              <a:t>trận</a:t>
            </a:r>
            <a:r>
              <a:rPr lang="en-US" b="1" dirty="0">
                <a:latin typeface="+mn-lt"/>
              </a:rPr>
              <a:t> </a:t>
            </a:r>
            <a:r>
              <a:rPr lang="en-US" b="1" dirty="0" err="1">
                <a:latin typeface="+mn-lt"/>
              </a:rPr>
              <a:t>dữ</a:t>
            </a:r>
            <a:r>
              <a:rPr lang="en-US" b="1" dirty="0">
                <a:latin typeface="+mn-lt"/>
              </a:rPr>
              <a:t> </a:t>
            </a:r>
            <a:r>
              <a:rPr lang="en-US" b="1" dirty="0" err="1">
                <a:latin typeface="+mn-lt"/>
              </a:rPr>
              <a:t>liệu</a:t>
            </a:r>
            <a:r>
              <a:rPr lang="en-US" b="1" dirty="0">
                <a:latin typeface="+mn-lt"/>
              </a:rPr>
              <a:t> </a:t>
            </a:r>
            <a:r>
              <a:rPr lang="en-US" b="1" dirty="0" err="1">
                <a:latin typeface="+mn-lt"/>
              </a:rPr>
              <a:t>đa</a:t>
            </a:r>
            <a:r>
              <a:rPr lang="en-US" b="1" dirty="0">
                <a:latin typeface="+mn-lt"/>
              </a:rPr>
              <a:t> </a:t>
            </a:r>
            <a:r>
              <a:rPr lang="en-US" b="1" dirty="0" err="1">
                <a:latin typeface="+mn-lt"/>
              </a:rPr>
              <a:t>chiều</a:t>
            </a:r>
            <a:r>
              <a:rPr lang="en-US" dirty="0">
                <a:latin typeface="+mn-lt"/>
              </a:rPr>
              <a:t> </a:t>
            </a:r>
            <a:r>
              <a:rPr lang="en-US" dirty="0" err="1">
                <a:latin typeface="+mn-lt"/>
              </a:rPr>
              <a:t>khổng</a:t>
            </a:r>
            <a:r>
              <a:rPr lang="en-US" dirty="0">
                <a:latin typeface="+mn-lt"/>
              </a:rPr>
              <a:t> </a:t>
            </a:r>
            <a:r>
              <a:rPr lang="en-US" dirty="0" err="1">
                <a:latin typeface="+mn-lt"/>
              </a:rPr>
              <a:t>lồ</a:t>
            </a:r>
            <a:r>
              <a:rPr lang="en-US" dirty="0">
                <a:latin typeface="+mn-lt"/>
              </a:rPr>
              <a:t>. </a:t>
            </a:r>
          </a:p>
        </p:txBody>
      </p:sp>
      <p:sp>
        <p:nvSpPr>
          <p:cNvPr id="4" name="Slide Number Placeholder 3">
            <a:extLst>
              <a:ext uri="{FF2B5EF4-FFF2-40B4-BE49-F238E27FC236}">
                <a16:creationId xmlns:a16="http://schemas.microsoft.com/office/drawing/2014/main" id="{2F65DA00-95A1-D2D9-DBF4-CEFE74CF8D7E}"/>
              </a:ext>
            </a:extLst>
          </p:cNvPr>
          <p:cNvSpPr>
            <a:spLocks noGrp="1"/>
          </p:cNvSpPr>
          <p:nvPr>
            <p:ph type="sldNum" sz="quarter" idx="12"/>
          </p:nvPr>
        </p:nvSpPr>
        <p:spPr/>
        <p:txBody>
          <a:bodyPr/>
          <a:lstStyle/>
          <a:p>
            <a:fld id="{9EA0BE3B-158A-4EDF-80DC-E394A0D1600F}" type="slidenum">
              <a:rPr lang="en-US" smtClean="0"/>
              <a:pPr/>
              <a:t>23</a:t>
            </a:fld>
            <a:endParaRPr lang="en-US"/>
          </a:p>
        </p:txBody>
      </p:sp>
      <p:sp>
        <p:nvSpPr>
          <p:cNvPr id="6" name="TextBox 5">
            <a:extLst>
              <a:ext uri="{FF2B5EF4-FFF2-40B4-BE49-F238E27FC236}">
                <a16:creationId xmlns:a16="http://schemas.microsoft.com/office/drawing/2014/main" id="{F9720C4E-0EEC-8692-8C14-FCE569786B7F}"/>
              </a:ext>
            </a:extLst>
          </p:cNvPr>
          <p:cNvSpPr txBox="1"/>
          <p:nvPr/>
        </p:nvSpPr>
        <p:spPr>
          <a:xfrm>
            <a:off x="2110901" y="4017310"/>
            <a:ext cx="9419847" cy="954107"/>
          </a:xfrm>
          <a:prstGeom prst="rect">
            <a:avLst/>
          </a:prstGeom>
          <a:noFill/>
        </p:spPr>
        <p:txBody>
          <a:bodyPr wrap="square">
            <a:spAutoFit/>
          </a:bodyPr>
          <a:lstStyle/>
          <a:p>
            <a:r>
              <a:rPr lang="en-US" sz="2800" dirty="0"/>
              <a:t>Làm </a:t>
            </a:r>
            <a:r>
              <a:rPr lang="en-US" sz="2800" dirty="0" err="1"/>
              <a:t>thế</a:t>
            </a:r>
            <a:r>
              <a:rPr lang="en-US" sz="2800" dirty="0"/>
              <a:t> </a:t>
            </a:r>
            <a:r>
              <a:rPr lang="en-US" sz="2800" dirty="0" err="1"/>
              <a:t>nào</a:t>
            </a:r>
            <a:r>
              <a:rPr lang="en-US" sz="2800" dirty="0"/>
              <a:t> </a:t>
            </a:r>
            <a:r>
              <a:rPr lang="en-US" sz="2800" dirty="0" err="1"/>
              <a:t>để</a:t>
            </a:r>
            <a:r>
              <a:rPr lang="en-US" sz="2800" dirty="0"/>
              <a:t> </a:t>
            </a:r>
            <a:r>
              <a:rPr lang="en-US" sz="2800" dirty="0" err="1"/>
              <a:t>xác</a:t>
            </a:r>
            <a:r>
              <a:rPr lang="en-US" sz="2800" dirty="0"/>
              <a:t> </a:t>
            </a:r>
            <a:r>
              <a:rPr lang="en-US" sz="2800" dirty="0" err="1"/>
              <a:t>định</a:t>
            </a:r>
            <a:r>
              <a:rPr lang="en-US" sz="2800" dirty="0"/>
              <a:t> </a:t>
            </a:r>
            <a:r>
              <a:rPr lang="en-US" sz="2800" dirty="0" err="1"/>
              <a:t>chính</a:t>
            </a:r>
            <a:r>
              <a:rPr lang="en-US" sz="2800" dirty="0"/>
              <a:t> </a:t>
            </a:r>
            <a:r>
              <a:rPr lang="en-US" sz="2800" dirty="0" err="1"/>
              <a:t>xác</a:t>
            </a:r>
            <a:r>
              <a:rPr lang="en-US" sz="2800" dirty="0"/>
              <a:t> </a:t>
            </a:r>
            <a:r>
              <a:rPr lang="en-US" sz="2800" b="1" dirty="0" err="1"/>
              <a:t>ranh</a:t>
            </a:r>
            <a:r>
              <a:rPr lang="en-US" sz="2800" b="1" dirty="0"/>
              <a:t> </a:t>
            </a:r>
            <a:r>
              <a:rPr lang="en-US" sz="2800" b="1" dirty="0" err="1"/>
              <a:t>giới</a:t>
            </a:r>
            <a:r>
              <a:rPr lang="en-US" sz="2800" b="1" dirty="0"/>
              <a:t> </a:t>
            </a:r>
            <a:r>
              <a:rPr lang="en-US" sz="2800" b="1" dirty="0" err="1"/>
              <a:t>phân</a:t>
            </a:r>
            <a:r>
              <a:rPr lang="en-US" sz="2800" b="1" dirty="0"/>
              <a:t> </a:t>
            </a:r>
            <a:r>
              <a:rPr lang="en-US" sz="2800" b="1" dirty="0" err="1"/>
              <a:t>lớp</a:t>
            </a:r>
            <a:r>
              <a:rPr lang="en-US" sz="2800" dirty="0"/>
              <a:t> </a:t>
            </a:r>
            <a:r>
              <a:rPr lang="en-US" sz="2800" dirty="0" err="1"/>
              <a:t>giữa</a:t>
            </a:r>
            <a:r>
              <a:rPr lang="en-US" sz="2800" dirty="0"/>
              <a:t> </a:t>
            </a:r>
            <a:r>
              <a:rPr lang="en-US" sz="2800" dirty="0" err="1"/>
              <a:t>các</a:t>
            </a:r>
            <a:r>
              <a:rPr lang="en-US" sz="2800" dirty="0"/>
              <a:t> </a:t>
            </a:r>
            <a:r>
              <a:rPr lang="en-US" sz="2800" dirty="0" err="1"/>
              <a:t>trạng</a:t>
            </a:r>
            <a:r>
              <a:rPr lang="en-US" sz="2800" dirty="0"/>
              <a:t> </a:t>
            </a:r>
            <a:r>
              <a:rPr lang="en-US" sz="2800" dirty="0" err="1"/>
              <a:t>thái</a:t>
            </a:r>
            <a:r>
              <a:rPr lang="en-US" sz="2800" b="1" dirty="0"/>
              <a:t> </a:t>
            </a:r>
            <a:r>
              <a:rPr lang="en-US" sz="2800" dirty="0" err="1"/>
              <a:t>khi</a:t>
            </a:r>
            <a:r>
              <a:rPr lang="en-US" sz="2800" dirty="0"/>
              <a:t> </a:t>
            </a:r>
            <a:r>
              <a:rPr lang="en-US" sz="2800" dirty="0" err="1"/>
              <a:t>dữ</a:t>
            </a:r>
            <a:r>
              <a:rPr lang="en-US" sz="2800" dirty="0"/>
              <a:t> </a:t>
            </a:r>
            <a:r>
              <a:rPr lang="en-US" sz="2800" dirty="0" err="1"/>
              <a:t>liệu</a:t>
            </a:r>
            <a:r>
              <a:rPr lang="en-US" sz="2800" dirty="0"/>
              <a:t> </a:t>
            </a:r>
            <a:r>
              <a:rPr lang="en-US" sz="2800" dirty="0" err="1"/>
              <a:t>chồng</a:t>
            </a:r>
            <a:r>
              <a:rPr lang="en-US" sz="2800" dirty="0"/>
              <a:t> </a:t>
            </a:r>
            <a:r>
              <a:rPr lang="en-US" sz="2800" dirty="0" err="1"/>
              <a:t>lấn</a:t>
            </a:r>
            <a:r>
              <a:rPr lang="en-US" sz="2800" dirty="0"/>
              <a:t> </a:t>
            </a:r>
            <a:r>
              <a:rPr lang="en-US" sz="2800" dirty="0" err="1"/>
              <a:t>phức</a:t>
            </a:r>
            <a:r>
              <a:rPr lang="en-US" sz="2800" dirty="0"/>
              <a:t> </a:t>
            </a:r>
            <a:r>
              <a:rPr lang="en-US" sz="2800" dirty="0" err="1"/>
              <a:t>tạp</a:t>
            </a:r>
            <a:r>
              <a:rPr lang="en-US" sz="2800" dirty="0"/>
              <a:t>?</a:t>
            </a:r>
          </a:p>
        </p:txBody>
      </p:sp>
      <p:cxnSp>
        <p:nvCxnSpPr>
          <p:cNvPr id="10" name="Straight Connector 9">
            <a:extLst>
              <a:ext uri="{FF2B5EF4-FFF2-40B4-BE49-F238E27FC236}">
                <a16:creationId xmlns:a16="http://schemas.microsoft.com/office/drawing/2014/main" id="{5BB80BFD-6308-1368-F376-AA3C2ACAB8EB}"/>
              </a:ext>
            </a:extLst>
          </p:cNvPr>
          <p:cNvCxnSpPr>
            <a:cxnSpLocks/>
          </p:cNvCxnSpPr>
          <p:nvPr/>
        </p:nvCxnSpPr>
        <p:spPr>
          <a:xfrm>
            <a:off x="4367720" y="3510193"/>
            <a:ext cx="3657600" cy="0"/>
          </a:xfrm>
          <a:prstGeom prst="line">
            <a:avLst/>
          </a:prstGeom>
        </p:spPr>
        <p:style>
          <a:lnRef idx="3">
            <a:schemeClr val="dk1"/>
          </a:lnRef>
          <a:fillRef idx="0">
            <a:schemeClr val="dk1"/>
          </a:fillRef>
          <a:effectRef idx="2">
            <a:schemeClr val="dk1"/>
          </a:effectRef>
          <a:fontRef idx="minor">
            <a:schemeClr val="tx1"/>
          </a:fontRef>
        </p:style>
      </p:cxnSp>
      <p:pic>
        <p:nvPicPr>
          <p:cNvPr id="13" name="Graphic 12" descr="Bar chart with solid fill">
            <a:extLst>
              <a:ext uri="{FF2B5EF4-FFF2-40B4-BE49-F238E27FC236}">
                <a16:creationId xmlns:a16="http://schemas.microsoft.com/office/drawing/2014/main" id="{85091B85-7337-23C9-17B0-D1132441CA8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8328" y="2157460"/>
            <a:ext cx="779383" cy="779383"/>
          </a:xfrm>
          <a:prstGeom prst="rect">
            <a:avLst/>
          </a:prstGeom>
        </p:spPr>
      </p:pic>
      <p:pic>
        <p:nvPicPr>
          <p:cNvPr id="15" name="Graphic 14" descr="Head with gears with solid fill">
            <a:extLst>
              <a:ext uri="{FF2B5EF4-FFF2-40B4-BE49-F238E27FC236}">
                <a16:creationId xmlns:a16="http://schemas.microsoft.com/office/drawing/2014/main" id="{BAA24349-30F0-FCCE-49C8-23C46CA3F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8328" y="4105742"/>
            <a:ext cx="777240" cy="777240"/>
          </a:xfrm>
          <a:prstGeom prst="rect">
            <a:avLst/>
          </a:prstGeom>
        </p:spPr>
      </p:pic>
    </p:spTree>
    <p:extLst>
      <p:ext uri="{BB962C8B-B14F-4D97-AF65-F5344CB8AC3E}">
        <p14:creationId xmlns:p14="http://schemas.microsoft.com/office/powerpoint/2010/main" val="254054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D7EF5-36D0-D271-C95F-CFA84AA6FC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D31B35-3461-F730-EA1B-1E65CB1871C1}"/>
              </a:ext>
            </a:extLst>
          </p:cNvPr>
          <p:cNvSpPr>
            <a:spLocks noGrp="1"/>
          </p:cNvSpPr>
          <p:nvPr>
            <p:ph sz="quarter" idx="13"/>
          </p:nvPr>
        </p:nvSpPr>
        <p:spPr/>
        <p:txBody>
          <a:bodyPr/>
          <a:lstStyle/>
          <a:p>
            <a:endParaRPr lang="en-US" b="1" dirty="0">
              <a:solidFill>
                <a:srgbClr val="06D6A0"/>
              </a:solidFill>
              <a:latin typeface="Calibri" pitchFamily="34" charset="0"/>
              <a:ea typeface="Calibri" pitchFamily="34" charset="-122"/>
              <a:cs typeface="Calibri" pitchFamily="34" charset="-120"/>
            </a:endParaRPr>
          </a:p>
          <a:p>
            <a:endParaRPr lang="en-US" b="1" dirty="0">
              <a:solidFill>
                <a:srgbClr val="06D6A0"/>
              </a:solidFill>
              <a:latin typeface="Calibri" pitchFamily="34" charset="0"/>
              <a:ea typeface="Calibri" pitchFamily="34" charset="-122"/>
              <a:cs typeface="Calibri" pitchFamily="34" charset="-120"/>
            </a:endParaRPr>
          </a:p>
          <a:p>
            <a:pPr marL="574675" indent="-515938"/>
            <a:endParaRPr lang="en-US" dirty="0">
              <a:latin typeface="Calibri" pitchFamily="34" charset="0"/>
              <a:ea typeface="Calibri" pitchFamily="34" charset="-122"/>
              <a:cs typeface="Calibri" pitchFamily="34" charset="-120"/>
            </a:endParaRPr>
          </a:p>
          <a:p>
            <a:pPr marL="574675" indent="-515938">
              <a:buFont typeface="Wingdings" panose="05000000000000000000" pitchFamily="2" charset="2"/>
              <a:buChar char="q"/>
            </a:pPr>
            <a:r>
              <a:rPr lang="en-US" sz="2400" dirty="0" err="1">
                <a:latin typeface="+mn-lt"/>
              </a:rPr>
              <a:t>Giới</a:t>
            </a:r>
            <a:r>
              <a:rPr lang="en-US" sz="2400" dirty="0">
                <a:latin typeface="+mn-lt"/>
              </a:rPr>
              <a:t> </a:t>
            </a:r>
            <a:r>
              <a:rPr lang="en-US" sz="2400" dirty="0" err="1">
                <a:latin typeface="+mn-lt"/>
              </a:rPr>
              <a:t>thiệu</a:t>
            </a:r>
            <a:r>
              <a:rPr lang="en-US" sz="2400" dirty="0">
                <a:latin typeface="+mn-lt"/>
              </a:rPr>
              <a:t> </a:t>
            </a:r>
            <a:r>
              <a:rPr lang="en-US" sz="2400" dirty="0" err="1">
                <a:latin typeface="+mn-lt"/>
              </a:rPr>
              <a:t>trực</a:t>
            </a:r>
            <a:r>
              <a:rPr lang="en-US" sz="2400" dirty="0">
                <a:latin typeface="+mn-lt"/>
              </a:rPr>
              <a:t> </a:t>
            </a:r>
            <a:r>
              <a:rPr lang="en-US" sz="2400" dirty="0" err="1">
                <a:latin typeface="+mn-lt"/>
              </a:rPr>
              <a:t>quan</a:t>
            </a:r>
            <a:r>
              <a:rPr lang="en-US" sz="2400" dirty="0">
                <a:latin typeface="+mn-lt"/>
              </a:rPr>
              <a:t> </a:t>
            </a:r>
            <a:r>
              <a:rPr lang="en-US" sz="2400" dirty="0" err="1">
                <a:latin typeface="+mn-lt"/>
              </a:rPr>
              <a:t>thuật</a:t>
            </a:r>
            <a:r>
              <a:rPr lang="en-US" sz="2400" dirty="0">
                <a:latin typeface="+mn-lt"/>
              </a:rPr>
              <a:t> </a:t>
            </a:r>
            <a:r>
              <a:rPr lang="en-US" sz="2400" dirty="0" err="1">
                <a:latin typeface="+mn-lt"/>
              </a:rPr>
              <a:t>toán</a:t>
            </a:r>
            <a:r>
              <a:rPr lang="en-US" sz="2400" dirty="0">
                <a:latin typeface="+mn-lt"/>
              </a:rPr>
              <a:t> SVM </a:t>
            </a:r>
            <a:r>
              <a:rPr lang="en-US" sz="2400" dirty="0">
                <a:latin typeface="+mn-lt"/>
                <a:ea typeface="Calibri" pitchFamily="34" charset="-122"/>
                <a:cs typeface="Calibri" pitchFamily="34" charset="-120"/>
              </a:rPr>
              <a:t>
</a:t>
            </a:r>
            <a:r>
              <a:rPr lang="en-US" sz="2400" b="1" dirty="0" err="1">
                <a:latin typeface="+mn-lt"/>
              </a:rPr>
              <a:t>Hàm</a:t>
            </a:r>
            <a:r>
              <a:rPr lang="en-US" sz="2400" b="1" dirty="0">
                <a:latin typeface="+mn-lt"/>
              </a:rPr>
              <a:t> </a:t>
            </a:r>
            <a:r>
              <a:rPr lang="en-US" sz="2400" b="1" dirty="0" err="1">
                <a:latin typeface="+mn-lt"/>
              </a:rPr>
              <a:t>nhân</a:t>
            </a:r>
            <a:r>
              <a:rPr lang="en-US" sz="2400" b="1" dirty="0">
                <a:latin typeface="+mn-lt"/>
              </a:rPr>
              <a:t> - </a:t>
            </a:r>
            <a:r>
              <a:rPr lang="en-US" sz="2400" dirty="0" err="1">
                <a:latin typeface="+mn-lt"/>
              </a:rPr>
              <a:t>nâng</a:t>
            </a:r>
            <a:r>
              <a:rPr lang="en-US" sz="2400" dirty="0">
                <a:latin typeface="+mn-lt"/>
              </a:rPr>
              <a:t> </a:t>
            </a:r>
            <a:r>
              <a:rPr lang="en-US" sz="2400" dirty="0" err="1">
                <a:latin typeface="+mn-lt"/>
              </a:rPr>
              <a:t>chiều</a:t>
            </a:r>
            <a:r>
              <a:rPr lang="en-US" sz="2400" dirty="0">
                <a:latin typeface="+mn-lt"/>
              </a:rPr>
              <a:t> </a:t>
            </a:r>
            <a:r>
              <a:rPr lang="en-US" sz="2400" dirty="0" err="1">
                <a:latin typeface="+mn-lt"/>
              </a:rPr>
              <a:t>không</a:t>
            </a:r>
            <a:r>
              <a:rPr lang="en-US" sz="2400" dirty="0">
                <a:latin typeface="+mn-lt"/>
              </a:rPr>
              <a:t> </a:t>
            </a:r>
            <a:r>
              <a:rPr lang="en-US" sz="2400" dirty="0" err="1">
                <a:latin typeface="+mn-lt"/>
              </a:rPr>
              <a:t>gian</a:t>
            </a:r>
            <a:r>
              <a:rPr lang="en-US" sz="2400" dirty="0">
                <a:latin typeface="+mn-lt"/>
              </a:rPr>
              <a:t> </a:t>
            </a:r>
            <a:r>
              <a:rPr lang="en-US" sz="2400" dirty="0" err="1">
                <a:latin typeface="+mn-lt"/>
              </a:rPr>
              <a:t>để</a:t>
            </a:r>
            <a:r>
              <a:rPr lang="en-US" sz="2400" dirty="0">
                <a:latin typeface="+mn-lt"/>
              </a:rPr>
              <a:t> </a:t>
            </a:r>
            <a:r>
              <a:rPr lang="en-US" sz="2400" dirty="0" err="1">
                <a:latin typeface="+mn-lt"/>
              </a:rPr>
              <a:t>phân</a:t>
            </a:r>
            <a:r>
              <a:rPr lang="en-US" sz="2400" dirty="0">
                <a:latin typeface="+mn-lt"/>
              </a:rPr>
              <a:t> </a:t>
            </a:r>
            <a:r>
              <a:rPr lang="en-US" sz="2400" dirty="0" err="1">
                <a:latin typeface="+mn-lt"/>
              </a:rPr>
              <a:t>tách</a:t>
            </a:r>
            <a:r>
              <a:rPr lang="en-US" sz="2400" dirty="0">
                <a:latin typeface="+mn-lt"/>
              </a:rPr>
              <a:t> phi </a:t>
            </a:r>
            <a:r>
              <a:rPr lang="en-US" sz="2400" dirty="0" err="1">
                <a:latin typeface="+mn-lt"/>
              </a:rPr>
              <a:t>tuyến</a:t>
            </a:r>
            <a:r>
              <a:rPr lang="en-US" sz="2400" dirty="0"/>
              <a:t>.</a:t>
            </a:r>
            <a:r>
              <a:rPr lang="en-US" sz="1800" dirty="0">
                <a:latin typeface="+mn-lt"/>
              </a:rPr>
              <a:t> </a:t>
            </a:r>
            <a:r>
              <a:rPr lang="en-US" sz="2400" dirty="0">
                <a:latin typeface="+mn-lt"/>
                <a:ea typeface="Calibri" pitchFamily="34" charset="-122"/>
                <a:cs typeface="Calibri" pitchFamily="34" charset="-120"/>
              </a:rPr>
              <a:t>
</a:t>
            </a:r>
            <a:r>
              <a:rPr lang="en-US" sz="2400" b="1" dirty="0">
                <a:latin typeface="+mn-lt"/>
              </a:rPr>
              <a:t>Nguyên </a:t>
            </a:r>
            <a:r>
              <a:rPr lang="en-US" sz="2400" b="1" dirty="0" err="1">
                <a:latin typeface="+mn-lt"/>
              </a:rPr>
              <a:t>lý</a:t>
            </a:r>
            <a:r>
              <a:rPr lang="en-US" sz="2400" b="1" dirty="0">
                <a:latin typeface="+mn-lt"/>
              </a:rPr>
              <a:t> </a:t>
            </a:r>
            <a:r>
              <a:rPr lang="en-US" sz="2400" b="1" dirty="0" err="1">
                <a:latin typeface="+mn-lt"/>
              </a:rPr>
              <a:t>đồng</a:t>
            </a:r>
            <a:r>
              <a:rPr lang="en-US" sz="2400" b="1" dirty="0">
                <a:latin typeface="+mn-lt"/>
              </a:rPr>
              <a:t> </a:t>
            </a:r>
            <a:r>
              <a:rPr lang="en-US" sz="2400" b="1" dirty="0" err="1">
                <a:latin typeface="+mn-lt"/>
              </a:rPr>
              <a:t>thuận</a:t>
            </a:r>
            <a:r>
              <a:rPr lang="en-US" sz="2400" b="1" dirty="0">
                <a:latin typeface="+mn-lt"/>
              </a:rPr>
              <a:t> (Ensemble)</a:t>
            </a:r>
            <a:r>
              <a:rPr lang="en-US" sz="2400" dirty="0">
                <a:latin typeface="+mn-lt"/>
              </a:rPr>
              <a:t> </a:t>
            </a:r>
            <a:r>
              <a:rPr lang="en-US" sz="2400" dirty="0" err="1">
                <a:latin typeface="+mn-lt"/>
              </a:rPr>
              <a:t>và</a:t>
            </a:r>
            <a:r>
              <a:rPr lang="en-US" sz="2400" dirty="0">
                <a:latin typeface="+mn-lt"/>
              </a:rPr>
              <a:t> </a:t>
            </a:r>
            <a:r>
              <a:rPr lang="en-US" sz="2400" dirty="0" err="1">
                <a:latin typeface="+mn-lt"/>
              </a:rPr>
              <a:t>cấu</a:t>
            </a:r>
            <a:r>
              <a:rPr lang="en-US" sz="2400" dirty="0">
                <a:latin typeface="+mn-lt"/>
              </a:rPr>
              <a:t> </a:t>
            </a:r>
            <a:r>
              <a:rPr lang="en-US" sz="2400" dirty="0" err="1">
                <a:latin typeface="+mn-lt"/>
              </a:rPr>
              <a:t>trúc</a:t>
            </a:r>
            <a:r>
              <a:rPr lang="en-US" sz="2400" dirty="0">
                <a:latin typeface="+mn-lt"/>
              </a:rPr>
              <a:t> </a:t>
            </a:r>
            <a:r>
              <a:rPr lang="en-US" sz="2400" dirty="0" err="1">
                <a:latin typeface="+mn-lt"/>
              </a:rPr>
              <a:t>phân</a:t>
            </a:r>
            <a:r>
              <a:rPr lang="en-US" sz="2400" dirty="0">
                <a:latin typeface="+mn-lt"/>
              </a:rPr>
              <a:t> </a:t>
            </a:r>
            <a:r>
              <a:rPr lang="en-US" sz="2400" dirty="0" err="1">
                <a:latin typeface="+mn-lt"/>
              </a:rPr>
              <a:t>nhánh</a:t>
            </a:r>
            <a:r>
              <a:rPr lang="en-US" sz="2400" dirty="0">
                <a:latin typeface="+mn-lt"/>
              </a:rPr>
              <a:t> </a:t>
            </a:r>
            <a:r>
              <a:rPr lang="en-US" sz="2400" dirty="0" err="1">
                <a:latin typeface="+mn-lt"/>
              </a:rPr>
              <a:t>của</a:t>
            </a:r>
            <a:r>
              <a:rPr lang="en-US" sz="2400" dirty="0">
                <a:latin typeface="+mn-lt"/>
              </a:rPr>
              <a:t> </a:t>
            </a:r>
            <a:r>
              <a:rPr lang="en-US" sz="2400" dirty="0" err="1">
                <a:latin typeface="+mn-lt"/>
              </a:rPr>
              <a:t>Rừng</a:t>
            </a:r>
            <a:r>
              <a:rPr lang="en-US" sz="2400" dirty="0">
                <a:latin typeface="+mn-lt"/>
              </a:rPr>
              <a:t> </a:t>
            </a:r>
            <a:r>
              <a:rPr lang="en-US" sz="2400" dirty="0" err="1">
                <a:latin typeface="+mn-lt"/>
              </a:rPr>
              <a:t>ngẫu</a:t>
            </a:r>
            <a:r>
              <a:rPr lang="en-US" sz="2400" dirty="0">
                <a:latin typeface="+mn-lt"/>
              </a:rPr>
              <a:t> </a:t>
            </a:r>
            <a:r>
              <a:rPr lang="en-US" sz="2400" dirty="0" err="1">
                <a:latin typeface="+mn-lt"/>
              </a:rPr>
              <a:t>nhiên</a:t>
            </a:r>
            <a:r>
              <a:rPr lang="en-US" sz="2400" dirty="0">
                <a:latin typeface="+mj-lt"/>
              </a:rPr>
              <a:t>.</a:t>
            </a:r>
            <a:r>
              <a:rPr lang="en-US" sz="2400" dirty="0">
                <a:latin typeface="+mn-lt"/>
              </a:rPr>
              <a:t> </a:t>
            </a:r>
            <a:r>
              <a:rPr lang="en-US" sz="2400" dirty="0">
                <a:latin typeface="+mn-lt"/>
                <a:ea typeface="Calibri" pitchFamily="34" charset="-122"/>
                <a:cs typeface="Calibri" pitchFamily="34" charset="-120"/>
              </a:rPr>
              <a:t>
</a:t>
            </a:r>
            <a:r>
              <a:rPr lang="en-US" sz="2400" dirty="0" err="1">
                <a:latin typeface="+mn-lt"/>
              </a:rPr>
              <a:t>Phân</a:t>
            </a:r>
            <a:r>
              <a:rPr lang="en-US" sz="2400" dirty="0">
                <a:latin typeface="+mn-lt"/>
              </a:rPr>
              <a:t> </a:t>
            </a:r>
            <a:r>
              <a:rPr lang="en-US" sz="2400" dirty="0" err="1">
                <a:latin typeface="+mn-lt"/>
              </a:rPr>
              <a:t>tích</a:t>
            </a:r>
            <a:r>
              <a:rPr lang="en-US" sz="2400" dirty="0">
                <a:latin typeface="+mn-lt"/>
              </a:rPr>
              <a:t> </a:t>
            </a:r>
            <a:r>
              <a:rPr lang="en-US" sz="2400" dirty="0" err="1">
                <a:latin typeface="+mn-lt"/>
              </a:rPr>
              <a:t>mức</a:t>
            </a:r>
            <a:r>
              <a:rPr lang="en-US" sz="2400" dirty="0">
                <a:latin typeface="+mn-lt"/>
              </a:rPr>
              <a:t> </a:t>
            </a:r>
            <a:r>
              <a:rPr lang="en-US" sz="2400" dirty="0" err="1">
                <a:latin typeface="+mn-lt"/>
              </a:rPr>
              <a:t>độ</a:t>
            </a:r>
            <a:r>
              <a:rPr lang="en-US" sz="2400" dirty="0">
                <a:latin typeface="+mn-lt"/>
              </a:rPr>
              <a:t> </a:t>
            </a:r>
            <a:r>
              <a:rPr lang="en-US" sz="2400" dirty="0" err="1">
                <a:latin typeface="+mn-lt"/>
              </a:rPr>
              <a:t>quan</a:t>
            </a:r>
            <a:r>
              <a:rPr lang="en-US" sz="2400" dirty="0">
                <a:latin typeface="+mn-lt"/>
              </a:rPr>
              <a:t> </a:t>
            </a:r>
            <a:r>
              <a:rPr lang="en-US" sz="2400" dirty="0" err="1">
                <a:latin typeface="+mn-lt"/>
              </a:rPr>
              <a:t>trọng</a:t>
            </a:r>
            <a:r>
              <a:rPr lang="en-US" sz="2400" dirty="0">
                <a:latin typeface="+mn-lt"/>
              </a:rPr>
              <a:t> </a:t>
            </a:r>
            <a:r>
              <a:rPr lang="en-US" sz="2400" dirty="0" err="1">
                <a:latin typeface="+mn-lt"/>
              </a:rPr>
              <a:t>của</a:t>
            </a:r>
            <a:r>
              <a:rPr lang="en-US" sz="2400" dirty="0">
                <a:latin typeface="+mn-lt"/>
              </a:rPr>
              <a:t> </a:t>
            </a:r>
            <a:r>
              <a:rPr lang="en-US" sz="2400" dirty="0" err="1">
                <a:latin typeface="+mn-lt"/>
              </a:rPr>
              <a:t>đặc</a:t>
            </a:r>
            <a:r>
              <a:rPr lang="en-US" sz="2400" dirty="0">
                <a:latin typeface="+mn-lt"/>
              </a:rPr>
              <a:t> </a:t>
            </a:r>
            <a:r>
              <a:rPr lang="en-US" sz="2400" dirty="0" err="1">
                <a:latin typeface="+mn-lt"/>
              </a:rPr>
              <a:t>trưng</a:t>
            </a:r>
            <a:endParaRPr lang="en-US" sz="2400" dirty="0">
              <a:latin typeface="+mn-lt"/>
            </a:endParaRPr>
          </a:p>
          <a:p>
            <a:pPr marL="0" indent="0">
              <a:buNone/>
            </a:pPr>
            <a:endParaRPr lang="en-US" dirty="0"/>
          </a:p>
        </p:txBody>
      </p:sp>
      <p:sp>
        <p:nvSpPr>
          <p:cNvPr id="3" name="Title 2">
            <a:extLst>
              <a:ext uri="{FF2B5EF4-FFF2-40B4-BE49-F238E27FC236}">
                <a16:creationId xmlns:a16="http://schemas.microsoft.com/office/drawing/2014/main" id="{439A20E5-DE13-4E04-2A8B-335D1C4BBE4C}"/>
              </a:ext>
            </a:extLst>
          </p:cNvPr>
          <p:cNvSpPr>
            <a:spLocks noGrp="1"/>
          </p:cNvSpPr>
          <p:nvPr>
            <p:ph type="title"/>
          </p:nvPr>
        </p:nvSpPr>
        <p:spPr/>
        <p:txBody>
          <a:bodyPr/>
          <a:lstStyle/>
          <a:p>
            <a:pPr algn="ctr"/>
            <a:r>
              <a:rPr lang="en-US" sz="3500" dirty="0">
                <a:latin typeface="Calibri" pitchFamily="34" charset="0"/>
                <a:ea typeface="Calibri" pitchFamily="34" charset="-122"/>
                <a:cs typeface="Calibri" pitchFamily="34" charset="-120"/>
              </a:rPr>
              <a:t>SVM &amp; Random Forest</a:t>
            </a:r>
            <a:br>
              <a:rPr lang="en-US" sz="3500" dirty="0">
                <a:latin typeface="Calibri" pitchFamily="34" charset="0"/>
                <a:ea typeface="Calibri" pitchFamily="34" charset="-122"/>
                <a:cs typeface="Calibri" pitchFamily="34" charset="-120"/>
              </a:rPr>
            </a:br>
            <a:r>
              <a:rPr lang="en-US" sz="1800" b="0" i="1" dirty="0">
                <a:latin typeface="Calibri" pitchFamily="34" charset="0"/>
                <a:ea typeface="Calibri" pitchFamily="34" charset="-122"/>
                <a:cs typeface="Calibri" pitchFamily="34" charset="-120"/>
              </a:rPr>
              <a:t>Nguyên </a:t>
            </a:r>
            <a:r>
              <a:rPr lang="en-US" sz="1800" b="0" i="1" dirty="0" err="1">
                <a:latin typeface="Calibri" pitchFamily="34" charset="0"/>
                <a:ea typeface="Calibri" pitchFamily="34" charset="-122"/>
                <a:cs typeface="Calibri" pitchFamily="34" charset="-120"/>
              </a:rPr>
              <a:t>lý</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cơ</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bản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cách</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hoạt</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động</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và</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đánh</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giá</a:t>
            </a:r>
            <a:br>
              <a:rPr lang="en-US" dirty="0">
                <a:latin typeface="Calibri" pitchFamily="34" charset="0"/>
                <a:ea typeface="Calibri" pitchFamily="34" charset="-122"/>
                <a:cs typeface="Calibri" pitchFamily="34" charset="-120"/>
              </a:rPr>
            </a:br>
            <a:br>
              <a:rPr lang="en-US" sz="1800" b="0" i="1" dirty="0"/>
            </a:br>
            <a:endParaRPr lang="en-US" b="0" dirty="0"/>
          </a:p>
        </p:txBody>
      </p:sp>
      <p:sp>
        <p:nvSpPr>
          <p:cNvPr id="4" name="Slide Number Placeholder 3">
            <a:extLst>
              <a:ext uri="{FF2B5EF4-FFF2-40B4-BE49-F238E27FC236}">
                <a16:creationId xmlns:a16="http://schemas.microsoft.com/office/drawing/2014/main" id="{89DEF2D5-698A-DFEE-5B19-63077CBCA112}"/>
              </a:ext>
            </a:extLst>
          </p:cNvPr>
          <p:cNvSpPr>
            <a:spLocks noGrp="1"/>
          </p:cNvSpPr>
          <p:nvPr>
            <p:ph type="sldNum" sz="quarter" idx="12"/>
          </p:nvPr>
        </p:nvSpPr>
        <p:spPr/>
        <p:txBody>
          <a:bodyPr/>
          <a:lstStyle/>
          <a:p>
            <a:fld id="{9EA0BE3B-158A-4EDF-80DC-E394A0D1600F}" type="slidenum">
              <a:rPr lang="en-US" smtClean="0"/>
              <a:pPr/>
              <a:t>24</a:t>
            </a:fld>
            <a:endParaRPr lang="en-US"/>
          </a:p>
        </p:txBody>
      </p:sp>
    </p:spTree>
    <p:extLst>
      <p:ext uri="{BB962C8B-B14F-4D97-AF65-F5344CB8AC3E}">
        <p14:creationId xmlns:p14="http://schemas.microsoft.com/office/powerpoint/2010/main" val="2749773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F3ECF6-3E94-84F0-6E2B-84B630BC6E7C}"/>
              </a:ext>
            </a:extLst>
          </p:cNvPr>
          <p:cNvSpPr>
            <a:spLocks noGrp="1"/>
          </p:cNvSpPr>
          <p:nvPr>
            <p:ph type="title"/>
          </p:nvPr>
        </p:nvSpPr>
        <p:spPr/>
        <p:txBody>
          <a:bodyPr/>
          <a:lstStyle/>
          <a:p>
            <a:r>
              <a:rPr lang="en-US" dirty="0"/>
              <a:t>Support Vector Machine (SVM)</a:t>
            </a:r>
          </a:p>
        </p:txBody>
      </p:sp>
      <p:sp>
        <p:nvSpPr>
          <p:cNvPr id="2" name="Slide Number Placeholder 1">
            <a:extLst>
              <a:ext uri="{FF2B5EF4-FFF2-40B4-BE49-F238E27FC236}">
                <a16:creationId xmlns:a16="http://schemas.microsoft.com/office/drawing/2014/main" id="{1194826F-768B-8674-5CD7-172619FA78D2}"/>
              </a:ext>
            </a:extLst>
          </p:cNvPr>
          <p:cNvSpPr>
            <a:spLocks noGrp="1"/>
          </p:cNvSpPr>
          <p:nvPr>
            <p:ph type="sldNum" sz="quarter" idx="12"/>
          </p:nvPr>
        </p:nvSpPr>
        <p:spPr/>
        <p:txBody>
          <a:bodyPr/>
          <a:lstStyle/>
          <a:p>
            <a:fld id="{9EA0BE3B-158A-4EDF-80DC-E394A0D1600F}" type="slidenum">
              <a:rPr lang="en-US" smtClean="0"/>
              <a:pPr/>
              <a:t>25</a:t>
            </a:fld>
            <a:endParaRPr lang="en-US"/>
          </a:p>
        </p:txBody>
      </p:sp>
      <p:pic>
        <p:nvPicPr>
          <p:cNvPr id="8" name="Picture 7">
            <a:extLst>
              <a:ext uri="{FF2B5EF4-FFF2-40B4-BE49-F238E27FC236}">
                <a16:creationId xmlns:a16="http://schemas.microsoft.com/office/drawing/2014/main" id="{1C4CA7FD-F6C8-CFAC-C0BA-45A7B8045FD9}"/>
              </a:ext>
            </a:extLst>
          </p:cNvPr>
          <p:cNvPicPr>
            <a:picLocks noChangeAspect="1"/>
          </p:cNvPicPr>
          <p:nvPr/>
        </p:nvPicPr>
        <p:blipFill>
          <a:blip r:embed="rId2">
            <a:extLst>
              <a:ext uri="{28A0092B-C50C-407E-A947-70E740481C1C}">
                <a14:useLocalDpi xmlns:a14="http://schemas.microsoft.com/office/drawing/2010/main" val="0"/>
              </a:ext>
            </a:extLst>
          </a:blip>
          <a:srcRect l="5578" r="7270"/>
          <a:stretch>
            <a:fillRect/>
          </a:stretch>
        </p:blipFill>
        <p:spPr>
          <a:xfrm>
            <a:off x="466927" y="2075817"/>
            <a:ext cx="5194570" cy="3973598"/>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88C274-4D1B-5236-70F3-C5DEA99468B4}"/>
                  </a:ext>
                </a:extLst>
              </p:cNvPr>
              <p:cNvSpPr txBox="1"/>
              <p:nvPr/>
            </p:nvSpPr>
            <p:spPr>
              <a:xfrm>
                <a:off x="6357842" y="1011677"/>
                <a:ext cx="5597337" cy="4811189"/>
              </a:xfrm>
              <a:prstGeom prst="rect">
                <a:avLst/>
              </a:prstGeom>
              <a:noFill/>
            </p:spPr>
            <p:txBody>
              <a:bodyPr wrap="square" rtlCol="0">
                <a:spAutoFit/>
              </a:bodyPr>
              <a:lstStyle/>
              <a:p>
                <a:r>
                  <a:rPr lang="en-US" b="1" dirty="0"/>
                  <a:t>Ý </a:t>
                </a:r>
                <a:r>
                  <a:rPr lang="en-US" b="1" dirty="0" err="1"/>
                  <a:t>tưởng</a:t>
                </a:r>
                <a:r>
                  <a:rPr lang="en-US" b="1" dirty="0"/>
                  <a:t>: </a:t>
                </a:r>
                <a:r>
                  <a:rPr lang="en-US" dirty="0" err="1"/>
                  <a:t>Xác</a:t>
                </a:r>
                <a:r>
                  <a:rPr lang="en-US" dirty="0"/>
                  <a:t> </a:t>
                </a:r>
                <a:r>
                  <a:rPr lang="en-US" dirty="0" err="1"/>
                  <a:t>định</a:t>
                </a:r>
                <a:r>
                  <a:rPr lang="en-US" dirty="0"/>
                  <a:t> </a:t>
                </a:r>
                <a:r>
                  <a:rPr lang="en-US" dirty="0" err="1"/>
                  <a:t>một</a:t>
                </a:r>
                <a:r>
                  <a:rPr lang="en-US" dirty="0"/>
                  <a:t> </a:t>
                </a:r>
                <a:r>
                  <a:rPr lang="en-US" b="1" dirty="0" err="1"/>
                  <a:t>siêu</a:t>
                </a:r>
                <a:r>
                  <a:rPr lang="en-US" b="1" dirty="0"/>
                  <a:t> </a:t>
                </a:r>
                <a:r>
                  <a:rPr lang="en-US" b="1" dirty="0" err="1"/>
                  <a:t>phẳng</a:t>
                </a:r>
                <a:r>
                  <a:rPr lang="en-US" b="1" dirty="0"/>
                  <a:t> </a:t>
                </a:r>
                <a:r>
                  <a:rPr lang="en-US" b="1" dirty="0" err="1"/>
                  <a:t>quyết</a:t>
                </a:r>
                <a:r>
                  <a:rPr lang="en-US" b="1" dirty="0"/>
                  <a:t> </a:t>
                </a:r>
                <a:r>
                  <a:rPr lang="en-US" b="1" dirty="0" err="1"/>
                  <a:t>định</a:t>
                </a:r>
                <a:r>
                  <a:rPr lang="en-US" dirty="0"/>
                  <a:t> </a:t>
                </a:r>
                <a:r>
                  <a:rPr lang="en-US" dirty="0" err="1"/>
                  <a:t>phân</a:t>
                </a:r>
                <a:r>
                  <a:rPr lang="en-US" dirty="0"/>
                  <a:t> </a:t>
                </a:r>
                <a:r>
                  <a:rPr lang="en-US" dirty="0" err="1"/>
                  <a:t>tách</a:t>
                </a:r>
                <a:r>
                  <a:rPr lang="en-US" dirty="0"/>
                  <a:t> </a:t>
                </a:r>
                <a:r>
                  <a:rPr lang="en-US" dirty="0" err="1"/>
                  <a:t>tuyệt</a:t>
                </a:r>
                <a:r>
                  <a:rPr lang="en-US" dirty="0"/>
                  <a:t> </a:t>
                </a:r>
                <a:r>
                  <a:rPr lang="en-US" dirty="0" err="1"/>
                  <a:t>đối</a:t>
                </a:r>
                <a:r>
                  <a:rPr lang="en-US" dirty="0"/>
                  <a:t> </a:t>
                </a:r>
                <a:r>
                  <a:rPr lang="en-US" dirty="0" err="1"/>
                  <a:t>hai</a:t>
                </a:r>
                <a:r>
                  <a:rPr lang="en-US" dirty="0"/>
                  <a:t> </a:t>
                </a:r>
                <a:r>
                  <a:rPr lang="en-US" dirty="0" err="1"/>
                  <a:t>lớp</a:t>
                </a:r>
                <a:r>
                  <a:rPr lang="en-US" dirty="0"/>
                  <a:t> </a:t>
                </a:r>
                <a:r>
                  <a:rPr lang="en-US" dirty="0" err="1"/>
                  <a:t>dữ</a:t>
                </a:r>
                <a:r>
                  <a:rPr lang="en-US" dirty="0"/>
                  <a:t> </a:t>
                </a:r>
                <a:r>
                  <a:rPr lang="en-US" dirty="0" err="1"/>
                  <a:t>liệu</a:t>
                </a:r>
                <a:r>
                  <a:rPr lang="en-US" dirty="0"/>
                  <a:t>, </a:t>
                </a:r>
                <a:r>
                  <a:rPr lang="en-US" dirty="0" err="1"/>
                  <a:t>đồng</a:t>
                </a:r>
                <a:r>
                  <a:rPr lang="en-US" dirty="0"/>
                  <a:t> </a:t>
                </a:r>
                <a:r>
                  <a:rPr lang="en-US" dirty="0" err="1"/>
                  <a:t>thời</a:t>
                </a:r>
                <a:r>
                  <a:rPr lang="en-US" dirty="0"/>
                  <a:t> </a:t>
                </a:r>
                <a:r>
                  <a:rPr lang="en-US" dirty="0" err="1"/>
                  <a:t>tối</a:t>
                </a:r>
                <a:r>
                  <a:rPr lang="en-US" dirty="0"/>
                  <a:t> </a:t>
                </a:r>
                <a:r>
                  <a:rPr lang="en-US" dirty="0" err="1"/>
                  <a:t>đa</a:t>
                </a:r>
                <a:r>
                  <a:rPr lang="en-US" dirty="0"/>
                  <a:t> </a:t>
                </a:r>
                <a:r>
                  <a:rPr lang="en-US" dirty="0" err="1"/>
                  <a:t>hóa</a:t>
                </a:r>
                <a:r>
                  <a:rPr lang="en-US" dirty="0"/>
                  <a:t> </a:t>
                </a:r>
                <a:r>
                  <a:rPr lang="en-US" b="1" dirty="0" err="1"/>
                  <a:t>biên</a:t>
                </a:r>
                <a:r>
                  <a:rPr lang="en-US" b="1" dirty="0"/>
                  <a:t> an </a:t>
                </a:r>
                <a:r>
                  <a:rPr lang="en-US" b="1" dirty="0" err="1"/>
                  <a:t>toàn</a:t>
                </a:r>
                <a:r>
                  <a:rPr lang="en-US" b="1" dirty="0"/>
                  <a:t> </a:t>
                </a:r>
                <a:r>
                  <a:rPr lang="en-US" dirty="0" err="1"/>
                  <a:t>để</a:t>
                </a:r>
                <a:r>
                  <a:rPr lang="en-US" dirty="0"/>
                  <a:t> </a:t>
                </a:r>
                <a:r>
                  <a:rPr lang="en-US" dirty="0" err="1"/>
                  <a:t>đạt</a:t>
                </a:r>
                <a:r>
                  <a:rPr lang="en-US" dirty="0"/>
                  <a:t> </a:t>
                </a:r>
                <a:r>
                  <a:rPr lang="en-US" dirty="0" err="1"/>
                  <a:t>khả</a:t>
                </a:r>
                <a:r>
                  <a:rPr lang="en-US" dirty="0"/>
                  <a:t> </a:t>
                </a:r>
                <a:r>
                  <a:rPr lang="en-US" dirty="0" err="1"/>
                  <a:t>năng</a:t>
                </a:r>
                <a:r>
                  <a:rPr lang="en-US" dirty="0"/>
                  <a:t> </a:t>
                </a:r>
                <a:r>
                  <a:rPr lang="en-US" dirty="0" err="1"/>
                  <a:t>khái</a:t>
                </a:r>
                <a:r>
                  <a:rPr lang="en-US" dirty="0"/>
                  <a:t> </a:t>
                </a:r>
                <a:r>
                  <a:rPr lang="en-US" dirty="0" err="1"/>
                  <a:t>quát</a:t>
                </a:r>
                <a:r>
                  <a:rPr lang="en-US" dirty="0"/>
                  <a:t> </a:t>
                </a:r>
                <a:r>
                  <a:rPr lang="en-US" dirty="0" err="1"/>
                  <a:t>hóa</a:t>
                </a:r>
                <a:r>
                  <a:rPr lang="en-US" dirty="0"/>
                  <a:t> </a:t>
                </a:r>
                <a:r>
                  <a:rPr lang="en-US" dirty="0" err="1"/>
                  <a:t>tối</a:t>
                </a:r>
                <a:r>
                  <a:rPr lang="en-US" dirty="0"/>
                  <a:t> </a:t>
                </a:r>
                <a:r>
                  <a:rPr lang="en-US" dirty="0" err="1"/>
                  <a:t>ưu</a:t>
                </a:r>
                <a:r>
                  <a:rPr lang="en-US" dirty="0"/>
                  <a:t>.</a:t>
                </a:r>
              </a:p>
              <a:p>
                <a:endParaRPr lang="en-US" dirty="0"/>
              </a:p>
              <a:p>
                <a:pPr marL="285750" indent="-285750">
                  <a:buFont typeface="Arial" panose="020B0604020202020204" pitchFamily="34" charset="0"/>
                  <a:buChar char="•"/>
                </a:pPr>
                <a:r>
                  <a:rPr lang="en-US" dirty="0"/>
                  <a:t>Phương </a:t>
                </a:r>
                <a:r>
                  <a:rPr lang="en-US" dirty="0" err="1"/>
                  <a:t>trình</a:t>
                </a:r>
                <a:r>
                  <a:rPr lang="en-US" dirty="0"/>
                  <a:t> </a:t>
                </a:r>
                <a:r>
                  <a:rPr lang="en-US" dirty="0" err="1"/>
                  <a:t>siêu</a:t>
                </a:r>
                <a:r>
                  <a:rPr lang="en-US" dirty="0"/>
                  <a:t> </a:t>
                </a:r>
                <a:r>
                  <a:rPr lang="en-US" dirty="0" err="1"/>
                  <a:t>phẳng</a:t>
                </a:r>
                <a:r>
                  <a:rPr lang="en-US" dirty="0"/>
                  <a:t> </a:t>
                </a:r>
                <a:r>
                  <a:rPr lang="en-US" dirty="0" err="1"/>
                  <a:t>phân</a:t>
                </a:r>
                <a:r>
                  <a:rPr lang="en-US" dirty="0"/>
                  <a:t> </a:t>
                </a:r>
                <a:r>
                  <a:rPr lang="en-US" dirty="0" err="1"/>
                  <a:t>lớp</a:t>
                </a:r>
                <a:r>
                  <a:rPr lang="en-US" dirty="0"/>
                  <a:t>:</a:t>
                </a:r>
              </a:p>
              <a:p>
                <a:endParaRPr lang="en-US" dirty="0"/>
              </a:p>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m:rPr>
                              <m:sty m:val="p"/>
                            </m:rPr>
                            <a:rPr lang="en-US" b="0" i="1" smtClean="0">
                              <a:latin typeface="Cambria Math" panose="02040503050406030204" pitchFamily="18" charset="0"/>
                            </a:rPr>
                            <m:t>w</m:t>
                          </m:r>
                        </m:e>
                        <m:sup>
                          <m:r>
                            <m:rPr>
                              <m:sty m:val="p"/>
                            </m:rPr>
                            <a:rPr lang="en-US" b="0" i="1" smtClean="0">
                              <a:latin typeface="Cambria Math" panose="02040503050406030204" pitchFamily="18" charset="0"/>
                            </a:rPr>
                            <m:t>T</m:t>
                          </m:r>
                        </m:sup>
                      </m:sSup>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b</m:t>
                      </m:r>
                      <m:r>
                        <a:rPr lang="en-US" b="0" i="1" smtClean="0">
                          <a:latin typeface="Cambria Math" panose="02040503050406030204" pitchFamily="18" charset="0"/>
                        </a:rPr>
                        <m:t>=0</m:t>
                      </m:r>
                    </m:oMath>
                  </m:oMathPara>
                </a14:m>
                <a:endParaRPr lang="en-US" dirty="0"/>
              </a:p>
              <a:p>
                <a:endParaRPr lang="en-US" dirty="0"/>
              </a:p>
              <a:p>
                <a:pPr marL="285750" indent="-285750">
                  <a:buFont typeface="Arial" panose="020B0604020202020204" pitchFamily="34" charset="0"/>
                  <a:buChar char="•"/>
                </a:pPr>
                <a:r>
                  <a:rPr lang="en-US" dirty="0" err="1"/>
                  <a:t>Hàm</a:t>
                </a:r>
                <a:r>
                  <a:rPr lang="en-US" dirty="0"/>
                  <a:t> </a:t>
                </a:r>
                <a:r>
                  <a:rPr lang="en-US" dirty="0" err="1"/>
                  <a:t>quyết</a:t>
                </a:r>
                <a:r>
                  <a:rPr lang="en-US" dirty="0"/>
                  <a:t> </a:t>
                </a:r>
                <a:r>
                  <a:rPr lang="en-US" dirty="0" err="1"/>
                  <a:t>định</a:t>
                </a:r>
                <a:r>
                  <a:rPr lang="en-US" dirty="0"/>
                  <a:t>:</a:t>
                </a:r>
              </a:p>
              <a:p>
                <a:pPr marL="285750" indent="-285750">
                  <a:buFont typeface="Arial" panose="020B0604020202020204" pitchFamily="34" charset="0"/>
                  <a:buChar char="•"/>
                </a:pPr>
                <a:endParaRPr lang="en-US"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f</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sgn</m:t>
                      </m:r>
                      <m:r>
                        <a:rPr lang="en-US" b="0" i="1" smtClean="0">
                          <a:latin typeface="Cambria Math" panose="02040503050406030204" pitchFamily="18" charset="0"/>
                        </a:rPr>
                        <m:t>(</m:t>
                      </m:r>
                      <m:sSup>
                        <m:sSupPr>
                          <m:ctrlPr>
                            <a:rPr lang="en-US" i="1">
                              <a:latin typeface="Cambria Math" panose="02040503050406030204" pitchFamily="18" charset="0"/>
                            </a:rPr>
                          </m:ctrlPr>
                        </m:sSupPr>
                        <m:e>
                          <m:r>
                            <m:rPr>
                              <m:sty m:val="p"/>
                            </m:rPr>
                            <a:rPr lang="en-US" i="1">
                              <a:latin typeface="Cambria Math" panose="02040503050406030204" pitchFamily="18" charset="0"/>
                            </a:rPr>
                            <m:t>w</m:t>
                          </m:r>
                        </m:e>
                        <m:sup>
                          <m:r>
                            <m:rPr>
                              <m:sty m:val="p"/>
                            </m:rPr>
                            <a:rPr lang="en-US" i="1">
                              <a:latin typeface="Cambria Math" panose="02040503050406030204" pitchFamily="18" charset="0"/>
                            </a:rPr>
                            <m:t>T</m:t>
                          </m:r>
                        </m:sup>
                      </m:sSup>
                      <m:r>
                        <m:rPr>
                          <m:sty m:val="p"/>
                        </m:rPr>
                        <a:rPr lang="en-US" i="1">
                          <a:latin typeface="Cambria Math" panose="02040503050406030204" pitchFamily="18" charset="0"/>
                        </a:rPr>
                        <m:t>x</m:t>
                      </m:r>
                      <m:r>
                        <a:rPr lang="en-US" i="1">
                          <a:latin typeface="Cambria Math" panose="02040503050406030204" pitchFamily="18" charset="0"/>
                        </a:rPr>
                        <m:t>+</m:t>
                      </m:r>
                      <m:r>
                        <m:rPr>
                          <m:sty m:val="p"/>
                        </m:rPr>
                        <a:rPr lang="en-US" b="0" i="1" smtClean="0">
                          <a:latin typeface="Cambria Math" panose="02040503050406030204" pitchFamily="18" charset="0"/>
                        </a:rPr>
                        <m:t>b</m:t>
                      </m:r>
                      <m:r>
                        <a:rPr lang="en-US" b="0" i="1" smtClean="0">
                          <a:latin typeface="Cambria Math" panose="02040503050406030204" pitchFamily="18" charset="0"/>
                        </a:rPr>
                        <m:t>)</m:t>
                      </m:r>
                    </m:oMath>
                  </m:oMathPara>
                </a14:m>
                <a:endParaRPr lang="en-US" dirty="0"/>
              </a:p>
              <a:p>
                <a:endParaRPr lang="en-US" dirty="0"/>
              </a:p>
              <a:p>
                <a:endParaRPr lang="en-US" dirty="0"/>
              </a:p>
              <a:p>
                <a:r>
                  <a:rPr lang="en-US" b="1" dirty="0"/>
                  <a:t>Ánh </a:t>
                </a:r>
                <a:r>
                  <a:rPr lang="en-US" b="1" dirty="0" err="1"/>
                  <a:t>xạ</a:t>
                </a:r>
                <a:r>
                  <a:rPr lang="en-US" b="1" dirty="0"/>
                  <a:t> sang </a:t>
                </a:r>
                <a:r>
                  <a:rPr lang="en-US" b="1" dirty="0" err="1"/>
                  <a:t>bài</a:t>
                </a:r>
                <a:r>
                  <a:rPr lang="en-US" b="1" dirty="0"/>
                  <a:t> </a:t>
                </a:r>
                <a:r>
                  <a:rPr lang="en-US" b="1" dirty="0" err="1"/>
                  <a:t>toán</a:t>
                </a:r>
                <a:r>
                  <a:rPr lang="en-US" b="1" dirty="0"/>
                  <a:t> </a:t>
                </a:r>
                <a:r>
                  <a:rPr lang="en-US" b="1" dirty="0" err="1"/>
                  <a:t>thực</a:t>
                </a:r>
                <a:r>
                  <a:rPr lang="en-US" b="1" dirty="0"/>
                  <a:t> </a:t>
                </a:r>
                <a:r>
                  <a:rPr lang="en-US" b="1" dirty="0" err="1"/>
                  <a:t>tế</a:t>
                </a:r>
                <a:r>
                  <a:rPr lang="en-US" b="1" dirty="0"/>
                  <a:t>:</a:t>
                </a:r>
                <a:endParaRPr lang="en-US" dirty="0"/>
              </a:p>
              <a:p>
                <a:pPr marL="285750" indent="-285750">
                  <a:buFont typeface="Arial" panose="020B0604020202020204" pitchFamily="34" charset="0"/>
                  <a:buChar char="•"/>
                </a:pPr>
                <a:r>
                  <a:rPr lang="en-US" dirty="0" err="1"/>
                  <a:t>Đặc</a:t>
                </a:r>
                <a:r>
                  <a:rPr lang="en-US" dirty="0"/>
                  <a:t> </a:t>
                </a:r>
                <a:r>
                  <a:rPr lang="en-US" dirty="0" err="1"/>
                  <a:t>trưng</a:t>
                </a:r>
                <a:r>
                  <a:rPr lang="en-US" dirty="0"/>
                  <a:t> </a:t>
                </a:r>
                <a:r>
                  <a:rPr lang="en-US" dirty="0" err="1"/>
                  <a:t>đầu</a:t>
                </a:r>
                <a:r>
                  <a:rPr lang="en-US" dirty="0"/>
                  <a:t> </a:t>
                </a:r>
                <a:r>
                  <a:rPr lang="en-US" dirty="0" err="1"/>
                  <a:t>vào</a:t>
                </a:r>
                <a:r>
                  <a:rPr lang="en-US" dirty="0"/>
                  <a:t> (</a:t>
                </a:r>
                <a14:m>
                  <m:oMath xmlns:m="http://schemas.openxmlformats.org/officeDocument/2006/math">
                    <m:sSub>
                      <m:sSubPr>
                        <m:ctrlPr>
                          <a:rPr lang="en-US" i="1" dirty="0" smtClean="0">
                            <a:latin typeface="Cambria Math" panose="02040503050406030204" pitchFamily="18" charset="0"/>
                          </a:rPr>
                        </m:ctrlPr>
                      </m:sSubPr>
                      <m:e>
                        <m:r>
                          <m:rPr>
                            <m:sty m:val="p"/>
                          </m:rPr>
                          <a:rPr lang="en-US" b="0" i="1" dirty="0" smtClean="0">
                            <a:latin typeface="Cambria Math" panose="02040503050406030204" pitchFamily="18" charset="0"/>
                          </a:rPr>
                          <m:t>x</m:t>
                        </m:r>
                      </m:e>
                      <m:sub>
                        <m:r>
                          <m:rPr>
                            <m:sty m:val="p"/>
                          </m:rPr>
                          <a:rPr lang="en-US" b="0" i="1" dirty="0" smtClean="0">
                            <a:latin typeface="Cambria Math" panose="02040503050406030204" pitchFamily="18" charset="0"/>
                          </a:rPr>
                          <m:t>i</m:t>
                        </m:r>
                      </m:sub>
                    </m:sSub>
                  </m:oMath>
                </a14:m>
                <a:r>
                  <a:rPr lang="en-US" dirty="0"/>
                  <a:t>): </a:t>
                </a:r>
                <a:r>
                  <a:rPr lang="en-US" dirty="0" err="1"/>
                  <a:t>Đặc</a:t>
                </a:r>
                <a:r>
                  <a:rPr lang="en-US" dirty="0"/>
                  <a:t> </a:t>
                </a:r>
                <a:r>
                  <a:rPr lang="en-US" dirty="0" err="1"/>
                  <a:t>trưng</a:t>
                </a:r>
                <a:r>
                  <a:rPr lang="en-US" dirty="0"/>
                  <a:t> </a:t>
                </a:r>
                <a:r>
                  <a:rPr lang="en-US" dirty="0" err="1"/>
                  <a:t>trích</a:t>
                </a:r>
                <a:r>
                  <a:rPr lang="en-US" dirty="0"/>
                  <a:t> </a:t>
                </a:r>
                <a:r>
                  <a:rPr lang="en-US" dirty="0" err="1"/>
                  <a:t>xuất</a:t>
                </a:r>
                <a:r>
                  <a:rPr lang="en-US" dirty="0"/>
                  <a:t> </a:t>
                </a:r>
                <a:r>
                  <a:rPr lang="en-US" dirty="0" err="1"/>
                  <a:t>từ</a:t>
                </a:r>
                <a:r>
                  <a:rPr lang="en-US" dirty="0"/>
                  <a:t> </a:t>
                </a:r>
                <a:r>
                  <a:rPr lang="en-US" dirty="0" err="1"/>
                  <a:t>tín</a:t>
                </a:r>
                <a:r>
                  <a:rPr lang="en-US" dirty="0"/>
                  <a:t> </a:t>
                </a:r>
                <a:r>
                  <a:rPr lang="en-US" dirty="0" err="1"/>
                  <a:t>hiệu</a:t>
                </a:r>
                <a:endParaRPr lang="en-US" dirty="0"/>
              </a:p>
              <a:p>
                <a:pPr marL="285750" indent="-285750">
                  <a:buFont typeface="Arial" panose="020B0604020202020204" pitchFamily="34" charset="0"/>
                  <a:buChar char="•"/>
                </a:pPr>
                <a:r>
                  <a:rPr lang="en-US" dirty="0" err="1"/>
                  <a:t>Nhãn</a:t>
                </a:r>
                <a:r>
                  <a:rPr lang="en-US" dirty="0"/>
                  <a:t> </a:t>
                </a:r>
                <a:r>
                  <a:rPr lang="en-US" dirty="0" err="1"/>
                  <a:t>phân</a:t>
                </a:r>
                <a:r>
                  <a:rPr lang="en-US" dirty="0"/>
                  <a:t> </a:t>
                </a:r>
                <a:r>
                  <a:rPr lang="en-US" dirty="0" err="1"/>
                  <a:t>loại</a:t>
                </a:r>
                <a:r>
                  <a:rPr lang="en-US" dirty="0"/>
                  <a:t> (</a:t>
                </a:r>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y</m:t>
                        </m:r>
                      </m:e>
                      <m:sub>
                        <m:r>
                          <m:rPr>
                            <m:sty m:val="p"/>
                          </m:rPr>
                          <a:rPr lang="en-US" b="0" i="1" smtClean="0">
                            <a:latin typeface="Cambria Math" panose="02040503050406030204" pitchFamily="18" charset="0"/>
                          </a:rPr>
                          <m:t>i</m:t>
                        </m:r>
                      </m:sub>
                    </m:sSub>
                  </m:oMath>
                </a14:m>
                <a:r>
                  <a:rPr lang="en-US" dirty="0"/>
                  <a:t>): </a:t>
                </a:r>
                <a:r>
                  <a:rPr lang="en-US" dirty="0" err="1"/>
                  <a:t>Trạng</a:t>
                </a:r>
                <a:r>
                  <a:rPr lang="en-US" dirty="0"/>
                  <a:t> </a:t>
                </a:r>
                <a:r>
                  <a:rPr lang="en-US" dirty="0" err="1"/>
                  <a:t>thái</a:t>
                </a:r>
                <a:r>
                  <a:rPr lang="en-US" dirty="0"/>
                  <a:t> ổ </a:t>
                </a:r>
                <a:r>
                  <a:rPr lang="en-US" dirty="0" err="1"/>
                  <a:t>lăn</a:t>
                </a:r>
                <a:endParaRPr lang="en-US" dirty="0"/>
              </a:p>
              <a:p>
                <a:pPr marL="285750" indent="-285750">
                  <a:buFont typeface="Arial" panose="020B0604020202020204" pitchFamily="34" charset="0"/>
                  <a:buChar char="•"/>
                </a:pPr>
                <a:r>
                  <a:rPr lang="en-US" dirty="0" err="1"/>
                  <a:t>Vectơ</a:t>
                </a:r>
                <a:r>
                  <a:rPr lang="en-US" dirty="0"/>
                  <a:t> </a:t>
                </a:r>
                <a:r>
                  <a:rPr lang="en-US" dirty="0" err="1"/>
                  <a:t>hỗ</a:t>
                </a:r>
                <a:r>
                  <a:rPr lang="en-US" dirty="0"/>
                  <a:t> </a:t>
                </a:r>
                <a:r>
                  <a:rPr lang="en-US" dirty="0" err="1"/>
                  <a:t>trợ</a:t>
                </a:r>
                <a:r>
                  <a:rPr lang="en-US" dirty="0"/>
                  <a:t>: Các </a:t>
                </a:r>
                <a:r>
                  <a:rPr lang="en-US" dirty="0" err="1"/>
                  <a:t>điểm</a:t>
                </a:r>
                <a:r>
                  <a:rPr lang="en-US" dirty="0"/>
                  <a:t> </a:t>
                </a:r>
                <a:r>
                  <a:rPr lang="en-US" dirty="0" err="1"/>
                  <a:t>giữ</a:t>
                </a:r>
                <a:r>
                  <a:rPr lang="en-US" dirty="0"/>
                  <a:t> </a:t>
                </a:r>
                <a:r>
                  <a:rPr lang="en-US" dirty="0" err="1"/>
                  <a:t>liệu</a:t>
                </a:r>
                <a:r>
                  <a:rPr lang="en-US" dirty="0"/>
                  <a:t> </a:t>
                </a:r>
                <a:r>
                  <a:rPr lang="en-US" dirty="0" err="1"/>
                  <a:t>gần</a:t>
                </a:r>
                <a:r>
                  <a:rPr lang="en-US" dirty="0"/>
                  <a:t> </a:t>
                </a:r>
                <a:r>
                  <a:rPr lang="en-US" dirty="0" err="1"/>
                  <a:t>ranh</a:t>
                </a:r>
                <a:r>
                  <a:rPr lang="en-US" dirty="0"/>
                  <a:t> </a:t>
                </a:r>
                <a:r>
                  <a:rPr lang="en-US" dirty="0" err="1"/>
                  <a:t>giới</a:t>
                </a:r>
                <a:r>
                  <a:rPr lang="en-US" dirty="0"/>
                  <a:t> </a:t>
                </a:r>
                <a:r>
                  <a:rPr lang="en-US" dirty="0" err="1"/>
                  <a:t>phân</a:t>
                </a:r>
                <a:r>
                  <a:rPr lang="en-US" dirty="0"/>
                  <a:t> </a:t>
                </a:r>
                <a:r>
                  <a:rPr lang="en-US" dirty="0" err="1"/>
                  <a:t>loại</a:t>
                </a:r>
                <a:endParaRPr lang="en-US" dirty="0"/>
              </a:p>
            </p:txBody>
          </p:sp>
        </mc:Choice>
        <mc:Fallback xmlns="">
          <p:sp>
            <p:nvSpPr>
              <p:cNvPr id="11" name="TextBox 10">
                <a:extLst>
                  <a:ext uri="{FF2B5EF4-FFF2-40B4-BE49-F238E27FC236}">
                    <a16:creationId xmlns:a16="http://schemas.microsoft.com/office/drawing/2014/main" id="{E888C274-4D1B-5236-70F3-C5DEA99468B4}"/>
                  </a:ext>
                </a:extLst>
              </p:cNvPr>
              <p:cNvSpPr txBox="1">
                <a:spLocks noRot="1" noChangeAspect="1" noMove="1" noResize="1" noEditPoints="1" noAdjustHandles="1" noChangeArrowheads="1" noChangeShapeType="1" noTextEdit="1"/>
              </p:cNvSpPr>
              <p:nvPr/>
            </p:nvSpPr>
            <p:spPr>
              <a:xfrm>
                <a:off x="6357842" y="1011677"/>
                <a:ext cx="5597337" cy="4811189"/>
              </a:xfrm>
              <a:prstGeom prst="rect">
                <a:avLst/>
              </a:prstGeom>
              <a:blipFill>
                <a:blip r:embed="rId3"/>
                <a:stretch>
                  <a:fillRect l="-980" t="-760" r="-218" b="-11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BA7289E-EF11-3BDD-0321-4E316198145D}"/>
                  </a:ext>
                </a:extLst>
              </p:cNvPr>
              <p:cNvSpPr txBox="1"/>
              <p:nvPr/>
            </p:nvSpPr>
            <p:spPr>
              <a:xfrm>
                <a:off x="719847" y="1011677"/>
                <a:ext cx="4805464" cy="923330"/>
              </a:xfrm>
              <a:prstGeom prst="rect">
                <a:avLst/>
              </a:prstGeom>
              <a:noFill/>
            </p:spPr>
            <p:txBody>
              <a:bodyPr wrap="square" rtlCol="0">
                <a:spAutoFit/>
              </a:bodyPr>
              <a:lstStyle/>
              <a:p>
                <a:r>
                  <a:rPr lang="en-US" b="1" dirty="0">
                    <a:solidFill>
                      <a:srgbClr val="FF0000"/>
                    </a:solidFill>
                  </a:rPr>
                  <a:t>Bài </a:t>
                </a:r>
                <a:r>
                  <a:rPr lang="en-US" b="1" dirty="0" err="1">
                    <a:solidFill>
                      <a:srgbClr val="FF0000"/>
                    </a:solidFill>
                  </a:rPr>
                  <a:t>toán</a:t>
                </a:r>
                <a:r>
                  <a:rPr lang="en-US" b="1" dirty="0">
                    <a:solidFill>
                      <a:srgbClr val="FF0000"/>
                    </a:solidFill>
                  </a:rPr>
                  <a:t>:</a:t>
                </a:r>
                <a:r>
                  <a:rPr lang="en-US" dirty="0">
                    <a:solidFill>
                      <a:srgbClr val="FF0000"/>
                    </a:solidFill>
                  </a:rPr>
                  <a:t> </a:t>
                </a:r>
                <a:r>
                  <a:rPr lang="en-US" dirty="0" err="1">
                    <a:solidFill>
                      <a:srgbClr val="FF0000"/>
                    </a:solidFill>
                  </a:rPr>
                  <a:t>Phân</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nhị</a:t>
                </a:r>
                <a:r>
                  <a:rPr lang="en-US" dirty="0">
                    <a:solidFill>
                      <a:srgbClr val="FF0000"/>
                    </a:solidFill>
                  </a:rPr>
                  <a:t> </a:t>
                </a:r>
                <a:r>
                  <a:rPr lang="en-US" dirty="0" err="1">
                    <a:solidFill>
                      <a:srgbClr val="FF0000"/>
                    </a:solidFill>
                  </a:rPr>
                  <a:t>phân</a:t>
                </a:r>
                <a:r>
                  <a:rPr lang="en-US" dirty="0">
                    <a:solidFill>
                      <a:srgbClr val="FF0000"/>
                    </a:solidFill>
                  </a:rPr>
                  <a:t> </a:t>
                </a:r>
                <a:r>
                  <a:rPr lang="en-US" dirty="0" err="1">
                    <a:solidFill>
                      <a:srgbClr val="FF0000"/>
                    </a:solidFill>
                  </a:rPr>
                  <a:t>hai</a:t>
                </a:r>
                <a:r>
                  <a:rPr lang="en-US" dirty="0">
                    <a:solidFill>
                      <a:srgbClr val="FF0000"/>
                    </a:solidFill>
                  </a:rPr>
                  <a:t> </a:t>
                </a:r>
                <a:r>
                  <a:rPr lang="en-US" dirty="0" err="1">
                    <a:solidFill>
                      <a:srgbClr val="FF0000"/>
                    </a:solidFill>
                  </a:rPr>
                  <a:t>tập</a:t>
                </a:r>
                <a:r>
                  <a:rPr lang="en-US" dirty="0">
                    <a:solidFill>
                      <a:srgbClr val="FF0000"/>
                    </a:solidFill>
                  </a:rPr>
                  <a:t> </a:t>
                </a:r>
                <a:r>
                  <a:rPr lang="en-US" dirty="0" err="1">
                    <a:solidFill>
                      <a:srgbClr val="FF0000"/>
                    </a:solidFill>
                  </a:rPr>
                  <a:t>hợp</a:t>
                </a:r>
                <a:r>
                  <a:rPr lang="en-US" dirty="0">
                    <a:solidFill>
                      <a:srgbClr val="FF0000"/>
                    </a:solidFill>
                  </a:rPr>
                  <a:t> </a:t>
                </a:r>
                <a:r>
                  <a:rPr lang="en-US" dirty="0" err="1">
                    <a:solidFill>
                      <a:srgbClr val="FF0000"/>
                    </a:solidFill>
                  </a:rPr>
                  <a:t>dữ</a:t>
                </a:r>
                <a:r>
                  <a:rPr lang="en-US" dirty="0">
                    <a:solidFill>
                      <a:srgbClr val="FF0000"/>
                    </a:solidFill>
                  </a:rPr>
                  <a:t> </a:t>
                </a:r>
                <a:r>
                  <a:rPr lang="en-US" dirty="0" err="1">
                    <a:solidFill>
                      <a:srgbClr val="FF0000"/>
                    </a:solidFill>
                  </a:rPr>
                  <a:t>liệu</a:t>
                </a:r>
                <a:r>
                  <a:rPr lang="en-US" dirty="0">
                    <a:solidFill>
                      <a:srgbClr val="FF0000"/>
                    </a:solidFill>
                  </a:rPr>
                  <a:t> </a:t>
                </a:r>
                <a:r>
                  <a:rPr lang="en-US" dirty="0" err="1">
                    <a:solidFill>
                      <a:srgbClr val="FF0000"/>
                    </a:solidFill>
                  </a:rPr>
                  <a:t>độc</a:t>
                </a:r>
                <a:r>
                  <a:rPr lang="en-US" dirty="0">
                    <a:solidFill>
                      <a:srgbClr val="FF0000"/>
                    </a:solidFill>
                  </a:rPr>
                  <a:t> </a:t>
                </a:r>
                <a:r>
                  <a:rPr lang="en-US" dirty="0" err="1">
                    <a:solidFill>
                      <a:srgbClr val="FF0000"/>
                    </a:solidFill>
                  </a:rPr>
                  <a:t>lập</a:t>
                </a:r>
                <a:r>
                  <a:rPr lang="en-US" dirty="0">
                    <a:solidFill>
                      <a:srgbClr val="FF0000"/>
                    </a:solidFill>
                  </a:rPr>
                  <a:t> (</a:t>
                </a:r>
                <a:r>
                  <a:rPr lang="en-US" dirty="0" err="1">
                    <a:solidFill>
                      <a:srgbClr val="FF0000"/>
                    </a:solidFill>
                  </a:rPr>
                  <a:t>Lớp</a:t>
                </a:r>
                <a:r>
                  <a:rPr lang="en-US" dirty="0">
                    <a:solidFill>
                      <a:srgbClr val="FF0000"/>
                    </a:solidFill>
                  </a:rPr>
                  <a:t> </a:t>
                </a:r>
                <a:r>
                  <a:rPr lang="en-US" dirty="0" err="1">
                    <a:solidFill>
                      <a:srgbClr val="FF0000"/>
                    </a:solidFill>
                  </a:rPr>
                  <a:t>chấm</a:t>
                </a:r>
                <a:r>
                  <a:rPr lang="en-US" dirty="0">
                    <a:solidFill>
                      <a:srgbClr val="FF0000"/>
                    </a:solidFill>
                  </a:rPr>
                  <a:t> </a:t>
                </a:r>
                <a:r>
                  <a:rPr lang="en-US" dirty="0" err="1">
                    <a:solidFill>
                      <a:srgbClr val="FF0000"/>
                    </a:solidFill>
                  </a:rPr>
                  <a:t>đỏ</a:t>
                </a:r>
                <a:r>
                  <a:rPr lang="en-US" dirty="0">
                    <a:solidFill>
                      <a:srgbClr val="FF0000"/>
                    </a:solidFill>
                  </a:rPr>
                  <a:t> </a:t>
                </a:r>
                <a14:m>
                  <m:oMath xmlns:m="http://schemas.openxmlformats.org/officeDocument/2006/math">
                    <m:sSub>
                      <m:sSubPr>
                        <m:ctrlPr>
                          <a:rPr lang="en-US" i="1" dirty="0" smtClean="0">
                            <a:solidFill>
                              <a:srgbClr val="FF0000"/>
                            </a:solidFill>
                            <a:latin typeface="Cambria Math" panose="02040503050406030204" pitchFamily="18" charset="0"/>
                          </a:rPr>
                        </m:ctrlPr>
                      </m:sSubPr>
                      <m:e>
                        <m:r>
                          <m:rPr>
                            <m:sty m:val="p"/>
                          </m:rPr>
                          <a:rPr lang="en-US" b="0" i="1" dirty="0" smtClean="0">
                            <a:solidFill>
                              <a:srgbClr val="FF0000"/>
                            </a:solidFill>
                            <a:latin typeface="Cambria Math" panose="02040503050406030204" pitchFamily="18" charset="0"/>
                          </a:rPr>
                          <m:t>y</m:t>
                        </m:r>
                      </m:e>
                      <m:sub>
                        <m:r>
                          <m:rPr>
                            <m:sty m:val="p"/>
                          </m:rPr>
                          <a:rPr lang="en-US" b="0" i="1" dirty="0" smtClean="0">
                            <a:solidFill>
                              <a:srgbClr val="FF0000"/>
                            </a:solidFill>
                            <a:latin typeface="Cambria Math" panose="02040503050406030204" pitchFamily="18" charset="0"/>
                          </a:rPr>
                          <m:t>i</m:t>
                        </m:r>
                      </m:sub>
                    </m:sSub>
                    <m:r>
                      <a:rPr lang="en-US" b="0" i="1" dirty="0" smtClean="0">
                        <a:solidFill>
                          <a:srgbClr val="FF0000"/>
                        </a:solidFill>
                        <a:latin typeface="Cambria Math" panose="02040503050406030204" pitchFamily="18" charset="0"/>
                      </a:rPr>
                      <m:t>=</m:t>
                    </m:r>
                    <m:r>
                      <a:rPr lang="en-US" i="1" dirty="0">
                        <a:solidFill>
                          <a:srgbClr val="FF0000"/>
                        </a:solidFill>
                        <a:latin typeface="Cambria Math" panose="02040503050406030204" pitchFamily="18" charset="0"/>
                      </a:rPr>
                      <m:t>+</m:t>
                    </m:r>
                    <m:r>
                      <a:rPr lang="en-US" i="1" dirty="0" smtClean="0">
                        <a:solidFill>
                          <a:srgbClr val="FF0000"/>
                        </a:solidFill>
                        <a:latin typeface="Cambria Math" panose="02040503050406030204" pitchFamily="18" charset="0"/>
                      </a:rPr>
                      <m:t>1</m:t>
                    </m:r>
                  </m:oMath>
                </a14:m>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Lớp</a:t>
                </a:r>
                <a:r>
                  <a:rPr lang="en-US" dirty="0">
                    <a:solidFill>
                      <a:srgbClr val="FF0000"/>
                    </a:solidFill>
                  </a:rPr>
                  <a:t> </a:t>
                </a:r>
                <a:r>
                  <a:rPr lang="en-US" dirty="0" err="1">
                    <a:solidFill>
                      <a:srgbClr val="FF0000"/>
                    </a:solidFill>
                  </a:rPr>
                  <a:t>chấm</a:t>
                </a:r>
                <a:r>
                  <a:rPr lang="en-US" dirty="0">
                    <a:solidFill>
                      <a:srgbClr val="FF0000"/>
                    </a:solidFill>
                  </a:rPr>
                  <a:t> </a:t>
                </a:r>
                <a:r>
                  <a:rPr lang="en-US" dirty="0" err="1">
                    <a:solidFill>
                      <a:srgbClr val="FF0000"/>
                    </a:solidFill>
                  </a:rPr>
                  <a:t>xanh</a:t>
                </a:r>
                <a:r>
                  <a:rPr lang="en-US" dirty="0">
                    <a:solidFill>
                      <a:srgbClr val="FF0000"/>
                    </a:solidFill>
                  </a:rPr>
                  <a:t> </a:t>
                </a:r>
                <a14:m>
                  <m:oMath xmlns:m="http://schemas.openxmlformats.org/officeDocument/2006/math">
                    <m:sSub>
                      <m:sSubPr>
                        <m:ctrlPr>
                          <a:rPr lang="en-US" i="1" dirty="0" smtClean="0">
                            <a:solidFill>
                              <a:srgbClr val="FF0000"/>
                            </a:solidFill>
                            <a:latin typeface="Cambria Math" panose="02040503050406030204" pitchFamily="18" charset="0"/>
                          </a:rPr>
                        </m:ctrlPr>
                      </m:sSubPr>
                      <m:e>
                        <m:r>
                          <a:rPr lang="en-US" i="1" dirty="0" err="1">
                            <a:solidFill>
                              <a:srgbClr val="FF0000"/>
                            </a:solidFill>
                            <a:latin typeface="Cambria Math" panose="02040503050406030204" pitchFamily="18" charset="0"/>
                          </a:rPr>
                          <m:t>𝑦</m:t>
                        </m:r>
                      </m:e>
                      <m:sub>
                        <m:r>
                          <a:rPr lang="en-US" i="1" dirty="0" err="1">
                            <a:solidFill>
                              <a:srgbClr val="FF0000"/>
                            </a:solidFill>
                            <a:latin typeface="Cambria Math" panose="02040503050406030204" pitchFamily="18" charset="0"/>
                          </a:rPr>
                          <m:t>𝑖</m:t>
                        </m:r>
                      </m:sub>
                    </m:sSub>
                    <m:r>
                      <a:rPr lang="en-US" i="1" dirty="0">
                        <a:solidFill>
                          <a:srgbClr val="FF0000"/>
                        </a:solidFill>
                        <a:latin typeface="Cambria Math" panose="02040503050406030204" pitchFamily="18" charset="0"/>
                      </a:rPr>
                      <m:t>=−1</m:t>
                    </m:r>
                  </m:oMath>
                </a14:m>
                <a:r>
                  <a:rPr lang="en-US" dirty="0">
                    <a:solidFill>
                      <a:srgbClr val="FF0000"/>
                    </a:solidFill>
                  </a:rPr>
                  <a:t>) </a:t>
                </a:r>
                <a:r>
                  <a:rPr lang="en-US" dirty="0" err="1">
                    <a:solidFill>
                      <a:srgbClr val="FF0000"/>
                    </a:solidFill>
                  </a:rPr>
                  <a:t>trên</a:t>
                </a:r>
                <a:r>
                  <a:rPr lang="en-US" dirty="0">
                    <a:solidFill>
                      <a:srgbClr val="FF0000"/>
                    </a:solidFill>
                  </a:rPr>
                  <a:t> </a:t>
                </a:r>
                <a:r>
                  <a:rPr lang="en-US" dirty="0" err="1">
                    <a:solidFill>
                      <a:srgbClr val="FF0000"/>
                    </a:solidFill>
                  </a:rPr>
                  <a:t>mặt</a:t>
                </a:r>
                <a:r>
                  <a:rPr lang="en-US" dirty="0">
                    <a:solidFill>
                      <a:srgbClr val="FF0000"/>
                    </a:solidFill>
                  </a:rPr>
                  <a:t> </a:t>
                </a:r>
                <a:r>
                  <a:rPr lang="en-US" dirty="0" err="1">
                    <a:solidFill>
                      <a:srgbClr val="FF0000"/>
                    </a:solidFill>
                  </a:rPr>
                  <a:t>phẳng</a:t>
                </a:r>
                <a:r>
                  <a:rPr lang="en-US" dirty="0">
                    <a:solidFill>
                      <a:srgbClr val="FF0000"/>
                    </a:solidFill>
                  </a:rPr>
                  <a:t> </a:t>
                </a:r>
                <a:r>
                  <a:rPr lang="en-US" dirty="0" err="1">
                    <a:solidFill>
                      <a:srgbClr val="FF0000"/>
                    </a:solidFill>
                  </a:rPr>
                  <a:t>tọa</a:t>
                </a:r>
                <a:r>
                  <a:rPr lang="en-US" dirty="0">
                    <a:solidFill>
                      <a:srgbClr val="FF0000"/>
                    </a:solidFill>
                  </a:rPr>
                  <a:t> </a:t>
                </a:r>
                <a:r>
                  <a:rPr lang="en-US" dirty="0" err="1">
                    <a:solidFill>
                      <a:srgbClr val="FF0000"/>
                    </a:solidFill>
                  </a:rPr>
                  <a:t>độ</a:t>
                </a:r>
                <a:r>
                  <a:rPr lang="en-US" dirty="0">
                    <a:solidFill>
                      <a:srgbClr val="FF0000"/>
                    </a:solidFill>
                  </a:rPr>
                  <a:t> 2D.</a:t>
                </a:r>
              </a:p>
            </p:txBody>
          </p:sp>
        </mc:Choice>
        <mc:Fallback xmlns="">
          <p:sp>
            <p:nvSpPr>
              <p:cNvPr id="12" name="TextBox 11">
                <a:extLst>
                  <a:ext uri="{FF2B5EF4-FFF2-40B4-BE49-F238E27FC236}">
                    <a16:creationId xmlns:a16="http://schemas.microsoft.com/office/drawing/2014/main" id="{ABA7289E-EF11-3BDD-0321-4E316198145D}"/>
                  </a:ext>
                </a:extLst>
              </p:cNvPr>
              <p:cNvSpPr txBox="1">
                <a:spLocks noRot="1" noChangeAspect="1" noMove="1" noResize="1" noEditPoints="1" noAdjustHandles="1" noChangeArrowheads="1" noChangeShapeType="1" noTextEdit="1"/>
              </p:cNvSpPr>
              <p:nvPr/>
            </p:nvSpPr>
            <p:spPr>
              <a:xfrm>
                <a:off x="719847" y="1011677"/>
                <a:ext cx="4805464" cy="923330"/>
              </a:xfrm>
              <a:prstGeom prst="rect">
                <a:avLst/>
              </a:prstGeom>
              <a:blipFill>
                <a:blip r:embed="rId4"/>
                <a:stretch>
                  <a:fillRect l="-1015" t="-3974" b="-9934"/>
                </a:stretch>
              </a:blipFill>
            </p:spPr>
            <p:txBody>
              <a:bodyPr/>
              <a:lstStyle/>
              <a:p>
                <a:r>
                  <a:rPr lang="en-US">
                    <a:noFill/>
                  </a:rPr>
                  <a:t> </a:t>
                </a:r>
              </a:p>
            </p:txBody>
          </p:sp>
        </mc:Fallback>
      </mc:AlternateContent>
    </p:spTree>
    <p:extLst>
      <p:ext uri="{BB962C8B-B14F-4D97-AF65-F5344CB8AC3E}">
        <p14:creationId xmlns:p14="http://schemas.microsoft.com/office/powerpoint/2010/main" val="1442651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CBF1F9-18AE-E8D3-D356-E167BF3B8D94}"/>
              </a:ext>
            </a:extLst>
          </p:cNvPr>
          <p:cNvSpPr>
            <a:spLocks noGrp="1"/>
          </p:cNvSpPr>
          <p:nvPr>
            <p:ph type="sldNum" sz="quarter" idx="12"/>
          </p:nvPr>
        </p:nvSpPr>
        <p:spPr/>
        <p:txBody>
          <a:bodyPr/>
          <a:lstStyle/>
          <a:p>
            <a:fld id="{9EA0BE3B-158A-4EDF-80DC-E394A0D1600F}" type="slidenum">
              <a:rPr lang="en-US" smtClean="0"/>
              <a:pPr/>
              <a:t>26</a:t>
            </a:fld>
            <a:endParaRPr lang="en-US" dirty="0"/>
          </a:p>
        </p:txBody>
      </p:sp>
      <mc:AlternateContent xmlns:mc="http://schemas.openxmlformats.org/markup-compatibility/2006">
        <mc:Choice xmlns:a14="http://schemas.microsoft.com/office/drawing/2010/main" Requires="a14">
          <p:sp>
            <p:nvSpPr>
              <p:cNvPr id="5" name="TextBox Left">
                <a:extLst>
                  <a:ext uri="{FF2B5EF4-FFF2-40B4-BE49-F238E27FC236}">
                    <a16:creationId xmlns:a16="http://schemas.microsoft.com/office/drawing/2014/main" id="{F541F11A-9CD8-E845-444C-CB9C17A24341}"/>
                  </a:ext>
                </a:extLst>
              </p:cNvPr>
              <p:cNvSpPr txBox="1"/>
              <p:nvPr/>
            </p:nvSpPr>
            <p:spPr>
              <a:xfrm>
                <a:off x="457200" y="1000000"/>
                <a:ext cx="5864087" cy="5300000"/>
              </a:xfrm>
              <a:prstGeom prst="rect">
                <a:avLst/>
              </a:prstGeom>
              <a:noFill/>
            </p:spPr>
            <p:txBody>
              <a:bodyPr wrap="square" rtlCol="0"/>
              <a:lstStyle/>
              <a:p>
                <a:r>
                  <a:rPr lang="en-US" sz="1800" b="1" dirty="0" err="1">
                    <a:solidFill>
                      <a:srgbClr val="C00000"/>
                    </a:solidFill>
                  </a:rPr>
                  <a:t>Vấn</a:t>
                </a:r>
                <a:r>
                  <a:rPr lang="en-US" sz="1800" b="1" dirty="0">
                    <a:solidFill>
                      <a:srgbClr val="C00000"/>
                    </a:solidFill>
                  </a:rPr>
                  <a:t> </a:t>
                </a:r>
                <a:r>
                  <a:rPr lang="en-US" sz="1800" b="1" dirty="0" err="1">
                    <a:solidFill>
                      <a:srgbClr val="C00000"/>
                    </a:solidFill>
                  </a:rPr>
                  <a:t>đề</a:t>
                </a:r>
                <a:r>
                  <a:rPr lang="en-US" sz="1800" b="1" dirty="0">
                    <a:solidFill>
                      <a:srgbClr val="C00000"/>
                    </a:solidFill>
                  </a:rPr>
                  <a:t> :</a:t>
                </a:r>
              </a:p>
              <a:p>
                <a:endParaRPr lang="en-US" sz="800" b="1" dirty="0">
                  <a:solidFill>
                    <a:srgbClr val="C00000"/>
                  </a:solidFill>
                </a:endParaRPr>
              </a:p>
              <a:p>
                <a:r>
                  <a:rPr lang="en-US" dirty="0"/>
                  <a:t>Trong </a:t>
                </a:r>
                <a:r>
                  <a:rPr lang="en-US" dirty="0" err="1"/>
                  <a:t>thực</a:t>
                </a:r>
                <a:r>
                  <a:rPr lang="en-US" dirty="0"/>
                  <a:t> </a:t>
                </a:r>
                <a:r>
                  <a:rPr lang="en-US" dirty="0" err="1"/>
                  <a:t>tế</a:t>
                </a:r>
                <a:r>
                  <a:rPr lang="en-US" dirty="0"/>
                  <a:t> </a:t>
                </a:r>
                <a:r>
                  <a:rPr lang="en-US" dirty="0" err="1"/>
                  <a:t>vận</a:t>
                </a:r>
                <a:r>
                  <a:rPr lang="en-US" dirty="0"/>
                  <a:t> </a:t>
                </a:r>
                <a:r>
                  <a:rPr lang="en-US" dirty="0" err="1"/>
                  <a:t>hành</a:t>
                </a:r>
                <a:r>
                  <a:rPr lang="en-US" dirty="0"/>
                  <a:t>, </a:t>
                </a:r>
                <a:r>
                  <a:rPr lang="en-US" dirty="0" err="1"/>
                  <a:t>các</a:t>
                </a:r>
                <a:r>
                  <a:rPr lang="en-US" dirty="0"/>
                  <a:t> </a:t>
                </a:r>
                <a:r>
                  <a:rPr lang="en-US" dirty="0" err="1"/>
                  <a:t>đặc</a:t>
                </a:r>
                <a:r>
                  <a:rPr lang="en-US" dirty="0"/>
                  <a:t> </a:t>
                </a:r>
                <a:r>
                  <a:rPr lang="en-US" dirty="0" err="1"/>
                  <a:t>trưng</a:t>
                </a:r>
                <a:r>
                  <a:rPr lang="en-US" dirty="0"/>
                  <a:t> rung </a:t>
                </a:r>
                <a:r>
                  <a:rPr lang="en-US" dirty="0" err="1"/>
                  <a:t>động</a:t>
                </a:r>
                <a:r>
                  <a:rPr lang="en-US" dirty="0"/>
                  <a:t> </a:t>
                </a:r>
                <a:r>
                  <a:rPr lang="en-US" dirty="0" err="1"/>
                  <a:t>của</a:t>
                </a:r>
                <a:r>
                  <a:rPr lang="en-US" dirty="0"/>
                  <a:t> ổ </a:t>
                </a:r>
                <a:r>
                  <a:rPr lang="en-US" dirty="0" err="1"/>
                  <a:t>lăn</a:t>
                </a:r>
                <a:r>
                  <a:rPr lang="en-US" dirty="0"/>
                  <a:t> </a:t>
                </a:r>
                <a:r>
                  <a:rPr lang="en-US" dirty="0" err="1"/>
                  <a:t>đan</a:t>
                </a:r>
                <a:r>
                  <a:rPr lang="en-US" dirty="0"/>
                  <a:t> xen </a:t>
                </a:r>
                <a:r>
                  <a:rPr lang="en-US" dirty="0" err="1"/>
                  <a:t>rất</a:t>
                </a:r>
                <a:r>
                  <a:rPr lang="en-US" dirty="0"/>
                  <a:t> </a:t>
                </a:r>
                <a:r>
                  <a:rPr lang="en-US" dirty="0" err="1"/>
                  <a:t>phức</a:t>
                </a:r>
                <a:r>
                  <a:rPr lang="en-US" dirty="0"/>
                  <a:t> </a:t>
                </a:r>
                <a:r>
                  <a:rPr lang="en-US" dirty="0" err="1"/>
                  <a:t>tạp</a:t>
                </a:r>
                <a:r>
                  <a:rPr lang="en-US" dirty="0"/>
                  <a:t> </a:t>
                </a:r>
                <a:r>
                  <a:rPr lang="en-US" dirty="0" err="1"/>
                  <a:t>và</a:t>
                </a:r>
                <a:r>
                  <a:rPr lang="en-US" dirty="0"/>
                  <a:t> </a:t>
                </a:r>
                <a:r>
                  <a:rPr lang="en-US" b="1" dirty="0" err="1"/>
                  <a:t>không</a:t>
                </a:r>
                <a:r>
                  <a:rPr lang="en-US" b="1" dirty="0"/>
                  <a:t> </a:t>
                </a:r>
                <a:r>
                  <a:rPr lang="en-US" b="1" dirty="0" err="1"/>
                  <a:t>thể</a:t>
                </a:r>
                <a:r>
                  <a:rPr lang="en-US" b="1" dirty="0"/>
                  <a:t> </a:t>
                </a:r>
                <a:r>
                  <a:rPr lang="en-US" b="1" dirty="0" err="1"/>
                  <a:t>phân</a:t>
                </a:r>
                <a:r>
                  <a:rPr lang="en-US" b="1" dirty="0"/>
                  <a:t> </a:t>
                </a:r>
                <a:r>
                  <a:rPr lang="en-US" b="1" dirty="0" err="1"/>
                  <a:t>tách</a:t>
                </a:r>
                <a:r>
                  <a:rPr lang="en-US" b="1" dirty="0"/>
                  <a:t> </a:t>
                </a:r>
                <a:r>
                  <a:rPr lang="en-US" b="1" dirty="0" err="1"/>
                  <a:t>tuyến</a:t>
                </a:r>
                <a:r>
                  <a:rPr lang="en-US" b="1" dirty="0"/>
                  <a:t> </a:t>
                </a:r>
                <a:r>
                  <a:rPr lang="en-US" b="1" dirty="0" err="1"/>
                  <a:t>tính</a:t>
                </a:r>
                <a:r>
                  <a:rPr lang="en-US" dirty="0"/>
                  <a:t> ở </a:t>
                </a:r>
                <a:r>
                  <a:rPr lang="en-US" dirty="0" err="1"/>
                  <a:t>không</a:t>
                </a:r>
                <a:r>
                  <a:rPr lang="en-US" dirty="0"/>
                  <a:t> </a:t>
                </a:r>
                <a:r>
                  <a:rPr lang="en-US" dirty="0" err="1"/>
                  <a:t>gian</a:t>
                </a:r>
                <a:r>
                  <a:rPr lang="en-US" dirty="0"/>
                  <a:t> </a:t>
                </a:r>
                <a:r>
                  <a:rPr lang="en-US" dirty="0" err="1"/>
                  <a:t>quan</a:t>
                </a:r>
                <a:r>
                  <a:rPr lang="en-US" dirty="0"/>
                  <a:t> </a:t>
                </a:r>
                <a:r>
                  <a:rPr lang="en-US" dirty="0" err="1"/>
                  <a:t>sát</a:t>
                </a:r>
                <a:r>
                  <a:rPr lang="en-US" dirty="0"/>
                  <a:t> </a:t>
                </a:r>
                <a:r>
                  <a:rPr lang="en-US" dirty="0" err="1"/>
                  <a:t>gốc</a:t>
                </a:r>
                <a:r>
                  <a:rPr lang="en-US" dirty="0"/>
                  <a:t>.</a:t>
                </a:r>
                <a:br>
                  <a:rPr lang="en-US" sz="1800" b="1" dirty="0">
                    <a:solidFill>
                      <a:srgbClr val="C00000"/>
                    </a:solidFill>
                  </a:rPr>
                </a:br>
                <a:br>
                  <a:rPr lang="en-US" sz="1800" b="1" dirty="0">
                    <a:solidFill>
                      <a:srgbClr val="C00000"/>
                    </a:solidFill>
                  </a:rPr>
                </a:br>
                <a:r>
                  <a:rPr lang="en-US" sz="1800" b="1" dirty="0" err="1">
                    <a:solidFill>
                      <a:srgbClr val="C00000"/>
                    </a:solidFill>
                  </a:rPr>
                  <a:t>Giải</a:t>
                </a:r>
                <a:r>
                  <a:rPr lang="en-US" sz="1800" b="1" dirty="0">
                    <a:solidFill>
                      <a:srgbClr val="C00000"/>
                    </a:solidFill>
                  </a:rPr>
                  <a:t> </a:t>
                </a:r>
                <a:r>
                  <a:rPr lang="en-US" sz="1800" b="1" dirty="0" err="1">
                    <a:solidFill>
                      <a:srgbClr val="C00000"/>
                    </a:solidFill>
                  </a:rPr>
                  <a:t>pháp</a:t>
                </a:r>
                <a:r>
                  <a:rPr lang="en-US" b="1" dirty="0">
                    <a:solidFill>
                      <a:srgbClr val="C00000"/>
                    </a:solidFill>
                  </a:rPr>
                  <a:t>:</a:t>
                </a:r>
              </a:p>
              <a:p>
                <a:pPr indent="339725"/>
                <a:endParaRPr lang="vi-VN" sz="800" b="1" dirty="0">
                  <a:solidFill>
                    <a:srgbClr val="C00000"/>
                  </a:solidFill>
                </a:endParaRPr>
              </a:p>
              <a:p>
                <a:pPr>
                  <a:lnSpc>
                    <a:spcPts val="200"/>
                  </a:lnSpc>
                </a:pPr>
                <a:endParaRPr lang="vi-VN" sz="1400" dirty="0"/>
              </a:p>
              <a:p>
                <a:pPr marL="285750" indent="-285750">
                  <a:buFont typeface="Arial" panose="020B0604020202020204" pitchFamily="34" charset="0"/>
                  <a:buChar char="•"/>
                </a:pPr>
                <a:r>
                  <a:rPr lang="en-US" dirty="0" err="1"/>
                  <a:t>Sử</a:t>
                </a:r>
                <a:r>
                  <a:rPr lang="en-US" dirty="0"/>
                  <a:t> </a:t>
                </a:r>
                <a:r>
                  <a:rPr lang="en-US" dirty="0" err="1"/>
                  <a:t>dụng</a:t>
                </a:r>
                <a:r>
                  <a:rPr lang="en-US" dirty="0"/>
                  <a:t> </a:t>
                </a:r>
                <a:r>
                  <a:rPr lang="en-US" dirty="0" err="1"/>
                  <a:t>hàm</a:t>
                </a:r>
                <a:r>
                  <a:rPr lang="en-US" dirty="0"/>
                  <a:t> </a:t>
                </a:r>
                <a14:m>
                  <m:oMath xmlns:m="http://schemas.openxmlformats.org/officeDocument/2006/math">
                    <m:r>
                      <m:rPr>
                        <m:sty m:val="p"/>
                      </m:rPr>
                      <a:rPr lang="en-US" i="0" dirty="0" smtClean="0"/>
                      <m:t>Φ</m:t>
                    </m:r>
                    <m:d>
                      <m:dPr>
                        <m:ctrlPr>
                          <a:rPr lang="en-US" i="1" dirty="0" smtClean="0"/>
                        </m:ctrlPr>
                      </m:dPr>
                      <m:e>
                        <m:r>
                          <a:rPr lang="en-US" i="1" dirty="0" smtClean="0"/>
                          <m:t>𝑥</m:t>
                        </m:r>
                      </m:e>
                    </m:d>
                  </m:oMath>
                </a14:m>
                <a:r>
                  <a:rPr lang="en-US" dirty="0"/>
                  <a:t> </a:t>
                </a:r>
                <a:r>
                  <a:rPr lang="en-US" dirty="0" err="1"/>
                  <a:t>chuyển</a:t>
                </a:r>
                <a:r>
                  <a:rPr lang="en-US" dirty="0"/>
                  <a:t> </a:t>
                </a:r>
                <a:r>
                  <a:rPr lang="en-US" dirty="0" err="1"/>
                  <a:t>dữ</a:t>
                </a:r>
                <a:r>
                  <a:rPr lang="en-US" dirty="0"/>
                  <a:t> </a:t>
                </a:r>
                <a:r>
                  <a:rPr lang="en-US" dirty="0" err="1"/>
                  <a:t>liệu</a:t>
                </a:r>
                <a:r>
                  <a:rPr lang="en-US" dirty="0"/>
                  <a:t> </a:t>
                </a:r>
                <a:r>
                  <a:rPr lang="en-US" dirty="0" err="1"/>
                  <a:t>lên</a:t>
                </a:r>
                <a:r>
                  <a:rPr lang="en-US" dirty="0"/>
                  <a:t> </a:t>
                </a:r>
                <a:r>
                  <a:rPr lang="en-US" dirty="0" err="1"/>
                  <a:t>không</a:t>
                </a:r>
                <a:r>
                  <a:rPr lang="en-US" dirty="0"/>
                  <a:t> </a:t>
                </a:r>
                <a:r>
                  <a:rPr lang="en-US" dirty="0" err="1"/>
                  <a:t>gian</a:t>
                </a:r>
                <a:r>
                  <a:rPr lang="en-US" dirty="0"/>
                  <a:t> </a:t>
                </a:r>
                <a:r>
                  <a:rPr lang="en-US" dirty="0" err="1"/>
                  <a:t>đặc</a:t>
                </a:r>
                <a:r>
                  <a:rPr lang="en-US" dirty="0"/>
                  <a:t> </a:t>
                </a:r>
                <a:r>
                  <a:rPr lang="en-US" dirty="0" err="1"/>
                  <a:t>trưng</a:t>
                </a:r>
                <a:r>
                  <a:rPr lang="en-US" dirty="0"/>
                  <a:t> </a:t>
                </a:r>
                <a:r>
                  <a:rPr lang="en-US" dirty="0" err="1"/>
                  <a:t>cao</a:t>
                </a:r>
                <a:r>
                  <a:rPr lang="en-US" dirty="0"/>
                  <a:t> </a:t>
                </a:r>
                <a:r>
                  <a:rPr lang="en-US" dirty="0" err="1"/>
                  <a:t>chiều</a:t>
                </a:r>
                <a:r>
                  <a:rPr lang="en-US" dirty="0"/>
                  <a:t>, </a:t>
                </a:r>
                <a:r>
                  <a:rPr lang="en-US" dirty="0" err="1"/>
                  <a:t>nơi</a:t>
                </a:r>
                <a:r>
                  <a:rPr lang="en-US" dirty="0"/>
                  <a:t> </a:t>
                </a:r>
                <a:r>
                  <a:rPr lang="en-US" dirty="0" err="1"/>
                  <a:t>các</a:t>
                </a:r>
                <a:r>
                  <a:rPr lang="en-US" dirty="0"/>
                  <a:t> </a:t>
                </a:r>
                <a:r>
                  <a:rPr lang="en-US" dirty="0" err="1"/>
                  <a:t>tập</a:t>
                </a:r>
                <a:r>
                  <a:rPr lang="en-US" dirty="0"/>
                  <a:t> </a:t>
                </a:r>
                <a:r>
                  <a:rPr lang="en-US" dirty="0" err="1"/>
                  <a:t>dữ</a:t>
                </a:r>
                <a:r>
                  <a:rPr lang="en-US" dirty="0"/>
                  <a:t> </a:t>
                </a:r>
                <a:r>
                  <a:rPr lang="en-US" dirty="0" err="1"/>
                  <a:t>liệu</a:t>
                </a:r>
                <a:r>
                  <a:rPr lang="en-US" dirty="0"/>
                  <a:t> </a:t>
                </a:r>
                <a:r>
                  <a:rPr lang="en-US" b="1" dirty="0" err="1"/>
                  <a:t>trở</a:t>
                </a:r>
                <a:r>
                  <a:rPr lang="en-US" b="1" dirty="0"/>
                  <a:t> </a:t>
                </a:r>
                <a:r>
                  <a:rPr lang="en-US" b="1" dirty="0" err="1"/>
                  <a:t>nên</a:t>
                </a:r>
                <a:r>
                  <a:rPr lang="en-US" b="1" dirty="0"/>
                  <a:t> </a:t>
                </a:r>
                <a:r>
                  <a:rPr lang="en-US" b="1" dirty="0" err="1"/>
                  <a:t>phân</a:t>
                </a:r>
                <a:r>
                  <a:rPr lang="en-US" b="1" dirty="0"/>
                  <a:t> </a:t>
                </a:r>
                <a:r>
                  <a:rPr lang="en-US" b="1" dirty="0" err="1"/>
                  <a:t>tách</a:t>
                </a:r>
                <a:r>
                  <a:rPr lang="en-US" b="1" dirty="0"/>
                  <a:t> </a:t>
                </a:r>
                <a:r>
                  <a:rPr lang="en-US" b="1" dirty="0" err="1"/>
                  <a:t>tuyến</a:t>
                </a:r>
                <a:r>
                  <a:rPr lang="en-US" b="1" dirty="0"/>
                  <a:t> </a:t>
                </a:r>
                <a:r>
                  <a:rPr lang="en-US" b="1" dirty="0" err="1"/>
                  <a:t>tính</a:t>
                </a:r>
                <a:r>
                  <a:rPr lang="en-US" dirty="0"/>
                  <a:t>.</a:t>
                </a:r>
              </a:p>
              <a:p>
                <a:pPr marL="285750" indent="-285750">
                  <a:buFont typeface="Arial" panose="020B0604020202020204" pitchFamily="34" charset="0"/>
                  <a:buChar char="•"/>
                </a:pPr>
                <a:endParaRPr lang="en-US" sz="800" dirty="0"/>
              </a:p>
              <a:p>
                <a:pPr marL="285750" indent="-285750">
                  <a:buFont typeface="Arial" panose="020B0604020202020204" pitchFamily="34" charset="0"/>
                  <a:buChar char="•"/>
                </a:pPr>
                <a:r>
                  <a:rPr lang="en-US" dirty="0" err="1"/>
                  <a:t>Tại</a:t>
                </a:r>
                <a:r>
                  <a:rPr lang="en-US" dirty="0"/>
                  <a:t> </a:t>
                </a:r>
                <a:r>
                  <a:rPr lang="en-US" dirty="0" err="1"/>
                  <a:t>đây</a:t>
                </a:r>
                <a:r>
                  <a:rPr lang="en-US" dirty="0"/>
                  <a:t>, SVM </a:t>
                </a:r>
                <a:r>
                  <a:rPr lang="en-US" dirty="0" err="1"/>
                  <a:t>thiết</a:t>
                </a:r>
                <a:r>
                  <a:rPr lang="en-US" dirty="0"/>
                  <a:t> </a:t>
                </a:r>
                <a:r>
                  <a:rPr lang="en-US" dirty="0" err="1"/>
                  <a:t>lập</a:t>
                </a:r>
                <a:r>
                  <a:rPr lang="en-US" dirty="0"/>
                  <a:t> </a:t>
                </a:r>
                <a:r>
                  <a:rPr lang="en-US" dirty="0" err="1"/>
                  <a:t>một</a:t>
                </a:r>
                <a:r>
                  <a:rPr lang="en-US" dirty="0"/>
                  <a:t> </a:t>
                </a:r>
                <a:r>
                  <a:rPr lang="en-US" dirty="0" err="1"/>
                  <a:t>siêu</a:t>
                </a:r>
                <a:r>
                  <a:rPr lang="en-US" dirty="0"/>
                  <a:t> </a:t>
                </a:r>
                <a:r>
                  <a:rPr lang="en-US" dirty="0" err="1"/>
                  <a:t>phẳng</a:t>
                </a:r>
                <a:r>
                  <a:rPr lang="en-US" dirty="0"/>
                  <a:t> </a:t>
                </a:r>
                <a:r>
                  <a:rPr lang="en-US" dirty="0" err="1"/>
                  <a:t>quyết</a:t>
                </a:r>
                <a:r>
                  <a:rPr lang="en-US" dirty="0"/>
                  <a:t> </a:t>
                </a:r>
                <a:r>
                  <a:rPr lang="en-US" dirty="0" err="1"/>
                  <a:t>định</a:t>
                </a:r>
                <a:r>
                  <a:rPr lang="en-US" dirty="0"/>
                  <a:t> </a:t>
                </a:r>
                <a:r>
                  <a:rPr lang="en-US" dirty="0" err="1"/>
                  <a:t>dạng</a:t>
                </a:r>
                <a:r>
                  <a:rPr lang="en-US" dirty="0"/>
                  <a:t> </a:t>
                </a:r>
                <a:r>
                  <a:rPr lang="en-US" dirty="0" err="1"/>
                  <a:t>tuyến</a:t>
                </a:r>
                <a:r>
                  <a:rPr lang="en-US" dirty="0"/>
                  <a:t> </a:t>
                </a:r>
                <a:r>
                  <a:rPr lang="en-US" dirty="0" err="1"/>
                  <a:t>tính</a:t>
                </a:r>
                <a:r>
                  <a:rPr lang="en-US" dirty="0"/>
                  <a:t> </a:t>
                </a:r>
                <a:r>
                  <a:rPr lang="en-US" dirty="0" err="1"/>
                  <a:t>để</a:t>
                </a:r>
                <a:r>
                  <a:rPr lang="en-US" dirty="0"/>
                  <a:t> </a:t>
                </a:r>
                <a:r>
                  <a:rPr lang="en-US" dirty="0" err="1"/>
                  <a:t>phân</a:t>
                </a:r>
                <a:r>
                  <a:rPr lang="en-US" dirty="0"/>
                  <a:t> chia </a:t>
                </a:r>
                <a:r>
                  <a:rPr lang="en-US" dirty="0" err="1"/>
                  <a:t>các</a:t>
                </a:r>
                <a:r>
                  <a:rPr lang="en-US" dirty="0"/>
                  <a:t> </a:t>
                </a:r>
                <a:r>
                  <a:rPr lang="en-US" dirty="0" err="1"/>
                  <a:t>lớp</a:t>
                </a:r>
                <a:r>
                  <a:rPr lang="en-US" dirty="0"/>
                  <a:t> </a:t>
                </a:r>
                <a:r>
                  <a:rPr lang="en-US" dirty="0" err="1"/>
                  <a:t>lỗi</a:t>
                </a:r>
                <a:r>
                  <a:rPr lang="en-US" dirty="0"/>
                  <a:t>:</a:t>
                </a:r>
              </a:p>
              <a:p>
                <a:pPr marL="285750" indent="-285750">
                  <a:buFont typeface="Arial" panose="020B0604020202020204" pitchFamily="34" charset="0"/>
                  <a:buChar char="•"/>
                </a:pPr>
                <a:endParaRPr lang="vi-VN" sz="800" dirty="0"/>
              </a:p>
              <a:p>
                <a:pPr algn="ctr"/>
                <a:r>
                  <a:rPr lang="en-US" sz="1800" b="1" dirty="0">
                    <a:latin typeface="Cambria Math"/>
                  </a:rPr>
                  <a:t>wᵀΦ(x) + b = 0</a:t>
                </a:r>
              </a:p>
              <a:p>
                <a:endParaRPr lang="vi-VN" sz="1200" dirty="0"/>
              </a:p>
              <a:p>
                <a:endParaRPr lang="vi-VN" sz="1200" dirty="0"/>
              </a:p>
            </p:txBody>
          </p:sp>
        </mc:Choice>
        <mc:Fallback>
          <p:sp>
            <p:nvSpPr>
              <p:cNvPr id="5" name="TextBox Left">
                <a:extLst>
                  <a:ext uri="{FF2B5EF4-FFF2-40B4-BE49-F238E27FC236}">
                    <a16:creationId xmlns:a16="http://schemas.microsoft.com/office/drawing/2014/main" id="{F541F11A-9CD8-E845-444C-CB9C17A24341}"/>
                  </a:ext>
                </a:extLst>
              </p:cNvPr>
              <p:cNvSpPr txBox="1">
                <a:spLocks noRot="1" noChangeAspect="1" noMove="1" noResize="1" noEditPoints="1" noAdjustHandles="1" noChangeArrowheads="1" noChangeShapeType="1" noTextEdit="1"/>
              </p:cNvSpPr>
              <p:nvPr/>
            </p:nvSpPr>
            <p:spPr>
              <a:xfrm>
                <a:off x="457200" y="1000000"/>
                <a:ext cx="5864087" cy="5300000"/>
              </a:xfrm>
              <a:prstGeom prst="rect">
                <a:avLst/>
              </a:prstGeom>
              <a:blipFill>
                <a:blip r:embed="rId2"/>
                <a:stretch>
                  <a:fillRect l="-832" t="-575"/>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177754AA-7A12-887C-0930-048CDD488AF7}"/>
              </a:ext>
            </a:extLst>
          </p:cNvPr>
          <p:cNvSpPr>
            <a:spLocks noGrp="1"/>
          </p:cNvSpPr>
          <p:nvPr>
            <p:ph type="title"/>
          </p:nvPr>
        </p:nvSpPr>
        <p:spPr>
          <a:xfrm>
            <a:off x="338138" y="112713"/>
            <a:ext cx="11515725" cy="436562"/>
          </a:xfrm>
        </p:spPr>
        <p:txBody>
          <a:bodyPr/>
          <a:lstStyle/>
          <a:p>
            <a:r>
              <a:rPr lang="vi-VN" dirty="0"/>
              <a:t>Phân lớp Phi tuyến</a:t>
            </a:r>
          </a:p>
        </p:txBody>
      </p:sp>
      <p:pic>
        <p:nvPicPr>
          <p:cNvPr id="10" name="Picture 9">
            <a:extLst>
              <a:ext uri="{FF2B5EF4-FFF2-40B4-BE49-F238E27FC236}">
                <a16:creationId xmlns:a16="http://schemas.microsoft.com/office/drawing/2014/main" id="{5A7412E6-E7B5-DDD4-0513-9B4AA2721DE9}"/>
              </a:ext>
            </a:extLst>
          </p:cNvPr>
          <p:cNvPicPr>
            <a:picLocks noChangeAspect="1"/>
          </p:cNvPicPr>
          <p:nvPr/>
        </p:nvPicPr>
        <p:blipFill>
          <a:blip r:embed="rId3">
            <a:extLst>
              <a:ext uri="{28A0092B-C50C-407E-A947-70E740481C1C}">
                <a14:useLocalDpi xmlns:a14="http://schemas.microsoft.com/office/drawing/2010/main" val="0"/>
              </a:ext>
            </a:extLst>
          </a:blip>
          <a:srcRect t="3342" r="47230" b="4941"/>
          <a:stretch>
            <a:fillRect/>
          </a:stretch>
        </p:blipFill>
        <p:spPr>
          <a:xfrm>
            <a:off x="7229980" y="971298"/>
            <a:ext cx="3853061" cy="2678702"/>
          </a:xfrm>
          <a:prstGeom prst="rect">
            <a:avLst/>
          </a:prstGeom>
        </p:spPr>
      </p:pic>
      <p:pic>
        <p:nvPicPr>
          <p:cNvPr id="12" name="Picture 11">
            <a:extLst>
              <a:ext uri="{FF2B5EF4-FFF2-40B4-BE49-F238E27FC236}">
                <a16:creationId xmlns:a16="http://schemas.microsoft.com/office/drawing/2014/main" id="{EC56D93B-FB7D-EFF7-8DA9-B43C9CE2900B}"/>
              </a:ext>
            </a:extLst>
          </p:cNvPr>
          <p:cNvPicPr>
            <a:picLocks noChangeAspect="1"/>
          </p:cNvPicPr>
          <p:nvPr/>
        </p:nvPicPr>
        <p:blipFill>
          <a:blip r:embed="rId3">
            <a:extLst>
              <a:ext uri="{28A0092B-C50C-407E-A947-70E740481C1C}">
                <a14:useLocalDpi xmlns:a14="http://schemas.microsoft.com/office/drawing/2010/main" val="0"/>
              </a:ext>
            </a:extLst>
          </a:blip>
          <a:srcRect l="50780" t="2865" b="16012"/>
          <a:stretch>
            <a:fillRect/>
          </a:stretch>
        </p:blipFill>
        <p:spPr>
          <a:xfrm>
            <a:off x="7229980" y="3759765"/>
            <a:ext cx="3853061" cy="2540235"/>
          </a:xfrm>
          <a:prstGeom prst="rect">
            <a:avLst/>
          </a:prstGeom>
        </p:spPr>
      </p:pic>
    </p:spTree>
    <p:extLst>
      <p:ext uri="{BB962C8B-B14F-4D97-AF65-F5344CB8AC3E}">
        <p14:creationId xmlns:p14="http://schemas.microsoft.com/office/powerpoint/2010/main" val="119146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848EC-14B0-61EF-AB89-FA2E719872D5}"/>
              </a:ext>
            </a:extLst>
          </p:cNvPr>
          <p:cNvSpPr>
            <a:spLocks noGrp="1"/>
          </p:cNvSpPr>
          <p:nvPr>
            <p:ph type="title"/>
          </p:nvPr>
        </p:nvSpPr>
        <p:spPr/>
        <p:txBody>
          <a:bodyPr/>
          <a:lstStyle/>
          <a:p>
            <a:r>
              <a:rPr lang="en-US" dirty="0" err="1"/>
              <a:t>Hàm</a:t>
            </a:r>
            <a:r>
              <a:rPr lang="en-US" dirty="0"/>
              <a:t> </a:t>
            </a:r>
            <a:r>
              <a:rPr lang="en-US" dirty="0" err="1"/>
              <a:t>nhân</a:t>
            </a:r>
            <a:endParaRPr lang="en-US" dirty="0"/>
          </a:p>
        </p:txBody>
      </p:sp>
      <p:sp>
        <p:nvSpPr>
          <p:cNvPr id="4" name="Slide Number Placeholder 3">
            <a:extLst>
              <a:ext uri="{FF2B5EF4-FFF2-40B4-BE49-F238E27FC236}">
                <a16:creationId xmlns:a16="http://schemas.microsoft.com/office/drawing/2014/main" id="{4FBB5A27-D1EB-6C03-0FAA-865B4EA6616E}"/>
              </a:ext>
            </a:extLst>
          </p:cNvPr>
          <p:cNvSpPr>
            <a:spLocks noGrp="1"/>
          </p:cNvSpPr>
          <p:nvPr>
            <p:ph type="sldNum" sz="quarter" idx="12"/>
          </p:nvPr>
        </p:nvSpPr>
        <p:spPr/>
        <p:txBody>
          <a:bodyPr/>
          <a:lstStyle/>
          <a:p>
            <a:fld id="{9EA0BE3B-158A-4EDF-80DC-E394A0D1600F}" type="slidenum">
              <a:rPr lang="en-US" smtClean="0"/>
              <a:pPr/>
              <a:t>27</a:t>
            </a:fld>
            <a:endParaRPr lang="en-US"/>
          </a:p>
        </p:txBody>
      </p:sp>
      <p:graphicFrame>
        <p:nvGraphicFramePr>
          <p:cNvPr id="5" name="Table 4">
            <a:extLst>
              <a:ext uri="{FF2B5EF4-FFF2-40B4-BE49-F238E27FC236}">
                <a16:creationId xmlns:a16="http://schemas.microsoft.com/office/drawing/2014/main" id="{DA941111-4609-84E5-E4DF-4FB7506C3725}"/>
              </a:ext>
            </a:extLst>
          </p:cNvPr>
          <p:cNvGraphicFramePr>
            <a:graphicFrameLocks noGrp="1"/>
          </p:cNvGraphicFramePr>
          <p:nvPr>
            <p:extLst>
              <p:ext uri="{D42A27DB-BD31-4B8C-83A1-F6EECF244321}">
                <p14:modId xmlns:p14="http://schemas.microsoft.com/office/powerpoint/2010/main" val="1452453003"/>
              </p:ext>
            </p:extLst>
          </p:nvPr>
        </p:nvGraphicFramePr>
        <p:xfrm>
          <a:off x="2032000" y="2363641"/>
          <a:ext cx="8127999" cy="148336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178525019"/>
                    </a:ext>
                  </a:extLst>
                </a:gridCol>
                <a:gridCol w="2709333">
                  <a:extLst>
                    <a:ext uri="{9D8B030D-6E8A-4147-A177-3AD203B41FA5}">
                      <a16:colId xmlns:a16="http://schemas.microsoft.com/office/drawing/2014/main" val="3998746059"/>
                    </a:ext>
                  </a:extLst>
                </a:gridCol>
                <a:gridCol w="2709333">
                  <a:extLst>
                    <a:ext uri="{9D8B030D-6E8A-4147-A177-3AD203B41FA5}">
                      <a16:colId xmlns:a16="http://schemas.microsoft.com/office/drawing/2014/main" val="3743753730"/>
                    </a:ext>
                  </a:extLst>
                </a:gridCol>
              </a:tblGrid>
              <a:tr h="370840">
                <a:tc>
                  <a:txBody>
                    <a:bodyPr/>
                    <a:lstStyle/>
                    <a:p>
                      <a:r>
                        <a:rPr lang="en-US" dirty="0" err="1"/>
                        <a:t>Loại</a:t>
                      </a:r>
                      <a:r>
                        <a:rPr lang="en-US" dirty="0"/>
                        <a:t> kernel</a:t>
                      </a:r>
                    </a:p>
                  </a:txBody>
                  <a:tcPr/>
                </a:tc>
                <a:tc>
                  <a:txBody>
                    <a:bodyPr/>
                    <a:lstStyle/>
                    <a:p>
                      <a:r>
                        <a:rPr lang="en-US" dirty="0"/>
                        <a:t>Công </a:t>
                      </a:r>
                      <a:r>
                        <a:rPr lang="en-US" dirty="0" err="1"/>
                        <a:t>thức</a:t>
                      </a:r>
                      <a:endParaRPr lang="en-US" dirty="0"/>
                    </a:p>
                  </a:txBody>
                  <a:tcPr/>
                </a:tc>
                <a:tc>
                  <a:txBody>
                    <a:bodyPr/>
                    <a:lstStyle/>
                    <a:p>
                      <a:r>
                        <a:rPr lang="en-US" dirty="0" err="1"/>
                        <a:t>Số</a:t>
                      </a:r>
                      <a:r>
                        <a:rPr lang="en-US" dirty="0"/>
                        <a:t> </a:t>
                      </a:r>
                      <a:r>
                        <a:rPr lang="en-US" dirty="0" err="1"/>
                        <a:t>chiều</a:t>
                      </a:r>
                      <a:endParaRPr lang="en-US" dirty="0"/>
                    </a:p>
                  </a:txBody>
                  <a:tcPr/>
                </a:tc>
                <a:extLst>
                  <a:ext uri="{0D108BD9-81ED-4DB2-BD59-A6C34878D82A}">
                    <a16:rowId xmlns:a16="http://schemas.microsoft.com/office/drawing/2014/main" val="4285082433"/>
                  </a:ext>
                </a:extLst>
              </a:tr>
              <a:tr h="370840">
                <a:tc>
                  <a:txBody>
                    <a:bodyPr/>
                    <a:lstStyle/>
                    <a:p>
                      <a:r>
                        <a:rPr lang="en-US" dirty="0"/>
                        <a:t>Tuyến </a:t>
                      </a:r>
                      <a:r>
                        <a:rPr lang="en-US" dirty="0" err="1"/>
                        <a:t>tính</a:t>
                      </a:r>
                      <a:r>
                        <a:rPr lang="en-US" dirty="0"/>
                        <a:t> (Linear)</a:t>
                      </a:r>
                    </a:p>
                  </a:txBody>
                  <a:tcPr/>
                </a:tc>
                <a:tc>
                  <a:txBody>
                    <a:bodyPr/>
                    <a:lstStyle/>
                    <a:p>
                      <a:endParaRPr lang="en-US" dirty="0"/>
                    </a:p>
                  </a:txBody>
                  <a:tcPr/>
                </a:tc>
                <a:tc>
                  <a:txBody>
                    <a:bodyPr/>
                    <a:lstStyle/>
                    <a:p>
                      <a:r>
                        <a:rPr lang="en-US" dirty="0" err="1"/>
                        <a:t>Không</a:t>
                      </a:r>
                      <a:r>
                        <a:rPr lang="en-US" dirty="0"/>
                        <a:t> </a:t>
                      </a:r>
                      <a:r>
                        <a:rPr lang="en-US" dirty="0" err="1"/>
                        <a:t>đổi</a:t>
                      </a:r>
                      <a:endParaRPr lang="en-US" dirty="0"/>
                    </a:p>
                  </a:txBody>
                  <a:tcPr/>
                </a:tc>
                <a:extLst>
                  <a:ext uri="{0D108BD9-81ED-4DB2-BD59-A6C34878D82A}">
                    <a16:rowId xmlns:a16="http://schemas.microsoft.com/office/drawing/2014/main" val="1903627529"/>
                  </a:ext>
                </a:extLst>
              </a:tr>
              <a:tr h="370840">
                <a:tc>
                  <a:txBody>
                    <a:bodyPr/>
                    <a:lstStyle/>
                    <a:p>
                      <a:r>
                        <a:rPr lang="en-US" dirty="0" err="1"/>
                        <a:t>Đa</a:t>
                      </a:r>
                      <a:r>
                        <a:rPr lang="en-US" dirty="0"/>
                        <a:t> </a:t>
                      </a:r>
                      <a:r>
                        <a:rPr lang="en-US" dirty="0" err="1"/>
                        <a:t>thức</a:t>
                      </a:r>
                      <a:r>
                        <a:rPr lang="en-US" dirty="0"/>
                        <a:t> (Polynomial)</a:t>
                      </a:r>
                    </a:p>
                  </a:txBody>
                  <a:tcPr/>
                </a:tc>
                <a:tc>
                  <a:txBody>
                    <a:bodyPr/>
                    <a:lstStyle/>
                    <a:p>
                      <a:endParaRPr lang="en-US"/>
                    </a:p>
                  </a:txBody>
                  <a:tcPr/>
                </a:tc>
                <a:tc>
                  <a:txBody>
                    <a:bodyPr/>
                    <a:lstStyle/>
                    <a:p>
                      <a:r>
                        <a:rPr lang="en-US" dirty="0" err="1"/>
                        <a:t>Tăng</a:t>
                      </a:r>
                      <a:r>
                        <a:rPr lang="en-US" dirty="0"/>
                        <a:t> </a:t>
                      </a:r>
                      <a:r>
                        <a:rPr lang="en-US" dirty="0" err="1"/>
                        <a:t>theo</a:t>
                      </a:r>
                      <a:r>
                        <a:rPr lang="en-US" dirty="0"/>
                        <a:t> </a:t>
                      </a:r>
                      <a:r>
                        <a:rPr lang="en-US" dirty="0" err="1"/>
                        <a:t>bậc</a:t>
                      </a:r>
                      <a:r>
                        <a:rPr lang="en-US" dirty="0"/>
                        <a:t> </a:t>
                      </a:r>
                      <a:r>
                        <a:rPr lang="en-US" dirty="0" err="1"/>
                        <a:t>của</a:t>
                      </a:r>
                      <a:r>
                        <a:rPr lang="en-US" dirty="0"/>
                        <a:t> p</a:t>
                      </a:r>
                    </a:p>
                  </a:txBody>
                  <a:tcPr/>
                </a:tc>
                <a:extLst>
                  <a:ext uri="{0D108BD9-81ED-4DB2-BD59-A6C34878D82A}">
                    <a16:rowId xmlns:a16="http://schemas.microsoft.com/office/drawing/2014/main" val="2081850745"/>
                  </a:ext>
                </a:extLst>
              </a:tr>
              <a:tr h="370840">
                <a:tc>
                  <a:txBody>
                    <a:bodyPr/>
                    <a:lstStyle/>
                    <a:p>
                      <a:r>
                        <a:rPr lang="en-US" dirty="0"/>
                        <a:t>RBF/Gaussian</a:t>
                      </a:r>
                    </a:p>
                  </a:txBody>
                  <a:tcPr/>
                </a:tc>
                <a:tc>
                  <a:txBody>
                    <a:bodyPr/>
                    <a:lstStyle/>
                    <a:p>
                      <a:endParaRPr lang="en-US" dirty="0"/>
                    </a:p>
                  </a:txBody>
                  <a:tcPr/>
                </a:tc>
                <a:tc>
                  <a:txBody>
                    <a:bodyPr/>
                    <a:lstStyle/>
                    <a:p>
                      <a:r>
                        <a:rPr lang="en-US" dirty="0" err="1"/>
                        <a:t>Vô</a:t>
                      </a:r>
                      <a:r>
                        <a:rPr lang="en-US" dirty="0"/>
                        <a:t> </a:t>
                      </a:r>
                      <a:r>
                        <a:rPr lang="en-US" dirty="0" err="1"/>
                        <a:t>hạn</a:t>
                      </a:r>
                      <a:r>
                        <a:rPr lang="en-US" dirty="0"/>
                        <a:t> </a:t>
                      </a:r>
                      <a:r>
                        <a:rPr lang="en-US" dirty="0" err="1"/>
                        <a:t>chiều</a:t>
                      </a:r>
                      <a:endParaRPr lang="en-US" dirty="0"/>
                    </a:p>
                  </a:txBody>
                  <a:tcPr/>
                </a:tc>
                <a:extLst>
                  <a:ext uri="{0D108BD9-81ED-4DB2-BD59-A6C34878D82A}">
                    <a16:rowId xmlns:a16="http://schemas.microsoft.com/office/drawing/2014/main" val="4053704493"/>
                  </a:ext>
                </a:extLst>
              </a:tr>
            </a:tbl>
          </a:graphicData>
        </a:graphic>
      </p:graphicFrame>
    </p:spTree>
    <p:extLst>
      <p:ext uri="{BB962C8B-B14F-4D97-AF65-F5344CB8AC3E}">
        <p14:creationId xmlns:p14="http://schemas.microsoft.com/office/powerpoint/2010/main" val="2872758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84708-1A80-462A-1995-12DB93E0BA10}"/>
              </a:ext>
            </a:extLst>
          </p:cNvPr>
          <p:cNvSpPr>
            <a:spLocks noGrp="1"/>
          </p:cNvSpPr>
          <p:nvPr>
            <p:ph type="title"/>
          </p:nvPr>
        </p:nvSpPr>
        <p:spPr/>
        <p:txBody>
          <a:bodyPr/>
          <a:lstStyle/>
          <a:p>
            <a:r>
              <a:rPr lang="en-US" dirty="0"/>
              <a:t>Random Forest</a:t>
            </a:r>
          </a:p>
        </p:txBody>
      </p:sp>
      <p:sp>
        <p:nvSpPr>
          <p:cNvPr id="4" name="Slide Number Placeholder 3">
            <a:extLst>
              <a:ext uri="{FF2B5EF4-FFF2-40B4-BE49-F238E27FC236}">
                <a16:creationId xmlns:a16="http://schemas.microsoft.com/office/drawing/2014/main" id="{26C18822-AE08-5641-CF12-03C085F8ADC3}"/>
              </a:ext>
            </a:extLst>
          </p:cNvPr>
          <p:cNvSpPr>
            <a:spLocks noGrp="1"/>
          </p:cNvSpPr>
          <p:nvPr>
            <p:ph type="sldNum" sz="quarter" idx="12"/>
          </p:nvPr>
        </p:nvSpPr>
        <p:spPr/>
        <p:txBody>
          <a:bodyPr/>
          <a:lstStyle/>
          <a:p>
            <a:fld id="{9EA0BE3B-158A-4EDF-80DC-E394A0D1600F}" type="slidenum">
              <a:rPr lang="en-US" smtClean="0"/>
              <a:pPr/>
              <a:t>28</a:t>
            </a:fld>
            <a:endParaRPr lang="en-US"/>
          </a:p>
        </p:txBody>
      </p:sp>
      <p:pic>
        <p:nvPicPr>
          <p:cNvPr id="6" name="Picture 5">
            <a:extLst>
              <a:ext uri="{FF2B5EF4-FFF2-40B4-BE49-F238E27FC236}">
                <a16:creationId xmlns:a16="http://schemas.microsoft.com/office/drawing/2014/main" id="{ADBFB5A5-09D1-BBC8-2072-5EE3811AB8E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78776" y="1393361"/>
            <a:ext cx="4755469" cy="4071278"/>
          </a:xfrm>
          <a:prstGeom prst="rect">
            <a:avLst/>
          </a:prstGeom>
        </p:spPr>
      </p:pic>
      <p:sp>
        <p:nvSpPr>
          <p:cNvPr id="7" name="TextBox 6">
            <a:extLst>
              <a:ext uri="{FF2B5EF4-FFF2-40B4-BE49-F238E27FC236}">
                <a16:creationId xmlns:a16="http://schemas.microsoft.com/office/drawing/2014/main" id="{C45C8214-4555-182E-B34C-1BB4F687EC8D}"/>
              </a:ext>
            </a:extLst>
          </p:cNvPr>
          <p:cNvSpPr txBox="1"/>
          <p:nvPr/>
        </p:nvSpPr>
        <p:spPr>
          <a:xfrm>
            <a:off x="447472" y="924121"/>
            <a:ext cx="5885234" cy="5355312"/>
          </a:xfrm>
          <a:prstGeom prst="rect">
            <a:avLst/>
          </a:prstGeom>
          <a:noFill/>
        </p:spPr>
        <p:txBody>
          <a:bodyPr wrap="square" rtlCol="0">
            <a:spAutoFit/>
          </a:bodyPr>
          <a:lstStyle/>
          <a:p>
            <a:r>
              <a:rPr lang="en-US" b="1" dirty="0"/>
              <a:t>Ý </a:t>
            </a:r>
            <a:r>
              <a:rPr lang="en-US" b="1" dirty="0" err="1"/>
              <a:t>tưởng</a:t>
            </a:r>
            <a:r>
              <a:rPr lang="en-US" b="1" dirty="0"/>
              <a:t> </a:t>
            </a:r>
            <a:r>
              <a:rPr lang="en-US" b="1" dirty="0" err="1"/>
              <a:t>chính</a:t>
            </a:r>
            <a:r>
              <a:rPr lang="en-US" b="1" dirty="0"/>
              <a:t>:</a:t>
            </a:r>
          </a:p>
          <a:p>
            <a:pPr marL="285750" indent="-285750">
              <a:buFont typeface="Arial" panose="020B0604020202020204" pitchFamily="34" charset="0"/>
              <a:buChar char="•"/>
            </a:pPr>
            <a:r>
              <a:rPr lang="en-US" dirty="0" err="1"/>
              <a:t>Kết</a:t>
            </a:r>
            <a:r>
              <a:rPr lang="en-US" dirty="0"/>
              <a:t> </a:t>
            </a:r>
            <a:r>
              <a:rPr lang="en-US" dirty="0" err="1"/>
              <a:t>hợp</a:t>
            </a:r>
            <a:r>
              <a:rPr lang="en-US" dirty="0"/>
              <a:t> </a:t>
            </a:r>
            <a:r>
              <a:rPr lang="en-US" dirty="0" err="1"/>
              <a:t>một</a:t>
            </a:r>
            <a:r>
              <a:rPr lang="en-US" dirty="0"/>
              <a:t> </a:t>
            </a:r>
            <a:r>
              <a:rPr lang="en-US" dirty="0" err="1"/>
              <a:t>tập</a:t>
            </a:r>
            <a:r>
              <a:rPr lang="en-US" dirty="0"/>
              <a:t> </a:t>
            </a:r>
            <a:r>
              <a:rPr lang="en-US" dirty="0" err="1"/>
              <a:t>hợp</a:t>
            </a:r>
            <a:r>
              <a:rPr lang="en-US" dirty="0"/>
              <a:t> </a:t>
            </a:r>
            <a:r>
              <a:rPr lang="en-US" dirty="0" err="1"/>
              <a:t>gồm</a:t>
            </a:r>
            <a:r>
              <a:rPr lang="en-US" dirty="0"/>
              <a:t> </a:t>
            </a:r>
            <a:r>
              <a:rPr lang="en-US" dirty="0" err="1"/>
              <a:t>nhiều</a:t>
            </a:r>
            <a:r>
              <a:rPr lang="en-US" dirty="0"/>
              <a:t> </a:t>
            </a:r>
            <a:r>
              <a:rPr lang="en-US" dirty="0" err="1"/>
              <a:t>cây</a:t>
            </a:r>
            <a:r>
              <a:rPr lang="en-US" dirty="0"/>
              <a:t> </a:t>
            </a:r>
            <a:r>
              <a:rPr lang="en-US" dirty="0" err="1"/>
              <a:t>quyết</a:t>
            </a:r>
            <a:r>
              <a:rPr lang="en-US" dirty="0"/>
              <a:t> </a:t>
            </a:r>
            <a:r>
              <a:rPr lang="en-US" dirty="0" err="1"/>
              <a:t>định</a:t>
            </a:r>
            <a:r>
              <a:rPr lang="en-US" dirty="0"/>
              <a:t> </a:t>
            </a:r>
            <a:r>
              <a:rPr lang="en-US" dirty="0" err="1"/>
              <a:t>độc</a:t>
            </a:r>
            <a:r>
              <a:rPr lang="en-US" dirty="0"/>
              <a:t> </a:t>
            </a:r>
            <a:r>
              <a:rPr lang="en-US" dirty="0" err="1"/>
              <a:t>lập</a:t>
            </a:r>
            <a:r>
              <a:rPr lang="en-US" dirty="0"/>
              <a:t> </a:t>
            </a:r>
            <a:r>
              <a:rPr lang="en-US" dirty="0" err="1"/>
              <a:t>được</a:t>
            </a:r>
            <a:r>
              <a:rPr lang="en-US" dirty="0"/>
              <a:t> </a:t>
            </a:r>
            <a:r>
              <a:rPr lang="en-US" dirty="0" err="1"/>
              <a:t>huấn</a:t>
            </a:r>
            <a:r>
              <a:rPr lang="en-US" dirty="0"/>
              <a:t> </a:t>
            </a:r>
            <a:r>
              <a:rPr lang="en-US" dirty="0" err="1"/>
              <a:t>luyện</a:t>
            </a:r>
            <a:r>
              <a:rPr lang="en-US" dirty="0"/>
              <a:t> </a:t>
            </a:r>
            <a:r>
              <a:rPr lang="en-US" dirty="0" err="1"/>
              <a:t>bằng</a:t>
            </a:r>
            <a:r>
              <a:rPr lang="en-US" dirty="0"/>
              <a:t> </a:t>
            </a:r>
            <a:r>
              <a:rPr lang="en-US" dirty="0" err="1"/>
              <a:t>phương</a:t>
            </a:r>
            <a:r>
              <a:rPr lang="en-US" dirty="0"/>
              <a:t> </a:t>
            </a:r>
            <a:r>
              <a:rPr lang="en-US" dirty="0" err="1"/>
              <a:t>pháp</a:t>
            </a:r>
            <a:r>
              <a:rPr lang="en-US" dirty="0"/>
              <a:t> </a:t>
            </a:r>
            <a:r>
              <a:rPr lang="en-US" b="1" dirty="0"/>
              <a:t>Bagging</a:t>
            </a:r>
            <a:r>
              <a:rPr lang="en-US" dirty="0"/>
              <a:t> (</a:t>
            </a:r>
            <a:r>
              <a:rPr lang="en-US" dirty="0" err="1"/>
              <a:t>lấy</a:t>
            </a:r>
            <a:r>
              <a:rPr lang="en-US" dirty="0"/>
              <a:t> </a:t>
            </a:r>
            <a:r>
              <a:rPr lang="en-US" dirty="0" err="1"/>
              <a:t>mẫu</a:t>
            </a:r>
            <a:r>
              <a:rPr lang="en-US" dirty="0"/>
              <a:t> </a:t>
            </a:r>
            <a:r>
              <a:rPr lang="en-US" dirty="0" err="1"/>
              <a:t>ngẫu</a:t>
            </a:r>
            <a:r>
              <a:rPr lang="en-US" dirty="0"/>
              <a:t> </a:t>
            </a:r>
            <a:r>
              <a:rPr lang="en-US" dirty="0" err="1"/>
              <a:t>nhiên</a:t>
            </a:r>
            <a:r>
              <a:rPr lang="en-US" dirty="0"/>
              <a:t> </a:t>
            </a:r>
            <a:r>
              <a:rPr lang="en-US" dirty="0" err="1"/>
              <a:t>có</a:t>
            </a:r>
            <a:r>
              <a:rPr lang="en-US" dirty="0"/>
              <a:t> </a:t>
            </a:r>
            <a:r>
              <a:rPr lang="en-US" dirty="0" err="1"/>
              <a:t>lặp</a:t>
            </a:r>
            <a:r>
              <a:rPr lang="en-US" dirty="0"/>
              <a:t> </a:t>
            </a:r>
            <a:r>
              <a:rPr lang="en-US" dirty="0" err="1"/>
              <a:t>lại</a:t>
            </a:r>
            <a:r>
              <a:rPr lang="en-US" dirty="0"/>
              <a:t> </a:t>
            </a:r>
            <a:r>
              <a:rPr lang="en-US" dirty="0" err="1"/>
              <a:t>cả</a:t>
            </a:r>
            <a:r>
              <a:rPr lang="en-US" dirty="0"/>
              <a:t> </a:t>
            </a:r>
            <a:r>
              <a:rPr lang="en-US" dirty="0" err="1"/>
              <a:t>về</a:t>
            </a:r>
            <a:r>
              <a:rPr lang="en-US" dirty="0"/>
              <a:t> </a:t>
            </a:r>
            <a:r>
              <a:rPr lang="en-US" dirty="0" err="1"/>
              <a:t>mẫu</a:t>
            </a:r>
            <a:r>
              <a:rPr lang="en-US" dirty="0"/>
              <a:t> </a:t>
            </a:r>
            <a:r>
              <a:rPr lang="en-US" dirty="0" err="1"/>
              <a:t>dữ</a:t>
            </a:r>
            <a:r>
              <a:rPr lang="en-US" dirty="0"/>
              <a:t> </a:t>
            </a:r>
            <a:r>
              <a:rPr lang="en-US" dirty="0" err="1"/>
              <a:t>liệu</a:t>
            </a:r>
            <a:r>
              <a:rPr lang="en-US" dirty="0"/>
              <a:t> </a:t>
            </a:r>
            <a:r>
              <a:rPr lang="en-US" dirty="0" err="1"/>
              <a:t>và</a:t>
            </a:r>
            <a:r>
              <a:rPr lang="en-US" dirty="0"/>
              <a:t> </a:t>
            </a:r>
            <a:r>
              <a:rPr lang="en-US" dirty="0" err="1"/>
              <a:t>chỉ</a:t>
            </a:r>
            <a:r>
              <a:rPr lang="en-US" dirty="0"/>
              <a:t> </a:t>
            </a:r>
            <a:r>
              <a:rPr lang="en-US" dirty="0" err="1"/>
              <a:t>số</a:t>
            </a:r>
            <a:r>
              <a:rPr lang="en-US" dirty="0"/>
              <a:t> </a:t>
            </a:r>
            <a:r>
              <a:rPr lang="en-US" dirty="0" err="1"/>
              <a:t>đặc</a:t>
            </a:r>
            <a:r>
              <a:rPr lang="en-US" dirty="0"/>
              <a:t> </a:t>
            </a:r>
            <a:r>
              <a:rPr lang="en-US" dirty="0" err="1"/>
              <a:t>trưng</a:t>
            </a:r>
            <a:r>
              <a:rPr lang="en-US" dirty="0"/>
              <a:t>)</a:t>
            </a:r>
          </a:p>
          <a:p>
            <a:pPr marL="285750" indent="-285750">
              <a:buFont typeface="Arial" panose="020B0604020202020204" pitchFamily="34" charset="0"/>
              <a:buChar char="•"/>
            </a:pPr>
            <a:r>
              <a:rPr lang="en-US" dirty="0" err="1"/>
              <a:t>Dự</a:t>
            </a:r>
            <a:r>
              <a:rPr lang="en-US" dirty="0"/>
              <a:t> </a:t>
            </a:r>
            <a:r>
              <a:rPr lang="en-US" dirty="0" err="1"/>
              <a:t>đoán</a:t>
            </a:r>
            <a:r>
              <a:rPr lang="en-US" dirty="0"/>
              <a:t> </a:t>
            </a:r>
            <a:r>
              <a:rPr lang="en-US" dirty="0" err="1"/>
              <a:t>cuối</a:t>
            </a:r>
            <a:r>
              <a:rPr lang="en-US" dirty="0"/>
              <a:t> </a:t>
            </a:r>
            <a:r>
              <a:rPr lang="en-US" dirty="0" err="1"/>
              <a:t>cùng</a:t>
            </a:r>
            <a:r>
              <a:rPr lang="en-US" dirty="0"/>
              <a:t> </a:t>
            </a:r>
            <a:r>
              <a:rPr lang="en-US" dirty="0" err="1"/>
              <a:t>được</a:t>
            </a:r>
            <a:r>
              <a:rPr lang="en-US" dirty="0"/>
              <a:t> </a:t>
            </a:r>
            <a:r>
              <a:rPr lang="en-US" dirty="0" err="1"/>
              <a:t>thiết</a:t>
            </a:r>
            <a:r>
              <a:rPr lang="en-US" dirty="0"/>
              <a:t> </a:t>
            </a:r>
            <a:r>
              <a:rPr lang="en-US" dirty="0" err="1"/>
              <a:t>lập</a:t>
            </a:r>
            <a:r>
              <a:rPr lang="en-US" dirty="0"/>
              <a:t> </a:t>
            </a:r>
            <a:r>
              <a:rPr lang="en-US" dirty="0" err="1"/>
              <a:t>dựa</a:t>
            </a:r>
            <a:r>
              <a:rPr lang="en-US" dirty="0"/>
              <a:t> </a:t>
            </a:r>
            <a:r>
              <a:rPr lang="en-US" dirty="0" err="1"/>
              <a:t>trên</a:t>
            </a:r>
            <a:r>
              <a:rPr lang="en-US" dirty="0"/>
              <a:t> </a:t>
            </a:r>
            <a:r>
              <a:rPr lang="en-US" b="1" dirty="0" err="1"/>
              <a:t>cơ</a:t>
            </a:r>
            <a:r>
              <a:rPr lang="en-US" b="1" dirty="0"/>
              <a:t> </a:t>
            </a:r>
            <a:r>
              <a:rPr lang="en-US" b="1" dirty="0" err="1"/>
              <a:t>chế</a:t>
            </a:r>
            <a:r>
              <a:rPr lang="en-US" b="1" dirty="0"/>
              <a:t> </a:t>
            </a:r>
            <a:r>
              <a:rPr lang="en-US" b="1" dirty="0" err="1"/>
              <a:t>đồng</a:t>
            </a:r>
            <a:r>
              <a:rPr lang="en-US" b="1" dirty="0"/>
              <a:t> </a:t>
            </a:r>
            <a:r>
              <a:rPr lang="en-US" b="1" dirty="0" err="1"/>
              <a:t>thuận</a:t>
            </a:r>
            <a:r>
              <a:rPr lang="en-US" b="1" dirty="0"/>
              <a:t> (</a:t>
            </a:r>
            <a:r>
              <a:rPr lang="en-US" b="1" dirty="0" err="1"/>
              <a:t>bỏ</a:t>
            </a:r>
            <a:r>
              <a:rPr lang="en-US" b="1" dirty="0"/>
              <a:t> </a:t>
            </a:r>
            <a:r>
              <a:rPr lang="en-US" b="1" dirty="0" err="1"/>
              <a:t>phiếu</a:t>
            </a:r>
            <a:r>
              <a:rPr lang="en-US" b="1" dirty="0"/>
              <a:t> </a:t>
            </a:r>
            <a:r>
              <a:rPr lang="en-US" b="1" dirty="0" err="1"/>
              <a:t>đa</a:t>
            </a:r>
            <a:r>
              <a:rPr lang="en-US" b="1" dirty="0"/>
              <a:t> </a:t>
            </a:r>
            <a:r>
              <a:rPr lang="en-US" b="1" dirty="0" err="1"/>
              <a:t>số</a:t>
            </a:r>
            <a:r>
              <a:rPr lang="en-US" b="1" dirty="0"/>
              <a:t>)</a:t>
            </a:r>
            <a:r>
              <a:rPr lang="en-US" dirty="0"/>
              <a:t> </a:t>
            </a:r>
            <a:r>
              <a:rPr lang="en-US" dirty="0" err="1"/>
              <a:t>nhằm</a:t>
            </a:r>
            <a:r>
              <a:rPr lang="en-US" dirty="0"/>
              <a:t> </a:t>
            </a:r>
            <a:r>
              <a:rPr lang="en-US" dirty="0" err="1"/>
              <a:t>triệt</a:t>
            </a:r>
            <a:r>
              <a:rPr lang="en-US" dirty="0"/>
              <a:t> </a:t>
            </a:r>
            <a:r>
              <a:rPr lang="en-US" dirty="0" err="1"/>
              <a:t>tiêu</a:t>
            </a:r>
            <a:r>
              <a:rPr lang="en-US" dirty="0"/>
              <a:t> </a:t>
            </a:r>
            <a:r>
              <a:rPr lang="en-US" dirty="0" err="1"/>
              <a:t>sai</a:t>
            </a:r>
            <a:r>
              <a:rPr lang="en-US" dirty="0"/>
              <a:t> </a:t>
            </a:r>
            <a:r>
              <a:rPr lang="en-US" dirty="0" err="1"/>
              <a:t>số</a:t>
            </a:r>
            <a:r>
              <a:rPr lang="en-US" dirty="0"/>
              <a:t> </a:t>
            </a:r>
            <a:r>
              <a:rPr lang="en-US" dirty="0" err="1"/>
              <a:t>của</a:t>
            </a:r>
            <a:r>
              <a:rPr lang="en-US" dirty="0"/>
              <a:t> </a:t>
            </a:r>
            <a:r>
              <a:rPr lang="en-US" dirty="0" err="1"/>
              <a:t>các</a:t>
            </a:r>
            <a:r>
              <a:rPr lang="en-US" dirty="0"/>
              <a:t> </a:t>
            </a:r>
            <a:r>
              <a:rPr lang="en-US" dirty="0" err="1"/>
              <a:t>cây</a:t>
            </a:r>
            <a:r>
              <a:rPr lang="en-US" dirty="0"/>
              <a:t> </a:t>
            </a:r>
            <a:r>
              <a:rPr lang="en-US" dirty="0" err="1"/>
              <a:t>đơn</a:t>
            </a:r>
            <a:r>
              <a:rPr lang="en-US" dirty="0"/>
              <a:t> </a:t>
            </a:r>
            <a:r>
              <a:rPr lang="en-US" dirty="0" err="1"/>
              <a:t>lẻ</a:t>
            </a:r>
            <a:r>
              <a:rPr lang="en-US" dirty="0"/>
              <a:t>.</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r>
              <a:rPr lang="en-US" b="1" dirty="0" err="1"/>
              <a:t>Giá</a:t>
            </a:r>
            <a:r>
              <a:rPr lang="en-US" b="1" dirty="0"/>
              <a:t> </a:t>
            </a:r>
            <a:r>
              <a:rPr lang="en-US" b="1" dirty="0" err="1"/>
              <a:t>trị</a:t>
            </a:r>
            <a:r>
              <a:rPr lang="en-US" b="1" dirty="0"/>
              <a:t> </a:t>
            </a:r>
            <a:r>
              <a:rPr lang="en-US" b="1" dirty="0" err="1"/>
              <a:t>chẩn</a:t>
            </a:r>
            <a:r>
              <a:rPr lang="en-US" b="1" dirty="0"/>
              <a:t> </a:t>
            </a:r>
            <a:r>
              <a:rPr lang="en-US" b="1" dirty="0" err="1"/>
              <a:t>đoán</a:t>
            </a:r>
            <a:r>
              <a:rPr lang="en-US" b="1" dirty="0"/>
              <a:t>:</a:t>
            </a:r>
          </a:p>
          <a:p>
            <a:pPr marL="285750" indent="-285750">
              <a:buFont typeface="Arial" panose="020B0604020202020204" pitchFamily="34" charset="0"/>
              <a:buChar char="•"/>
            </a:pPr>
            <a:r>
              <a:rPr lang="en-US" b="1" dirty="0" err="1"/>
              <a:t>Chống</a:t>
            </a:r>
            <a:r>
              <a:rPr lang="en-US" b="1" dirty="0"/>
              <a:t> </a:t>
            </a:r>
            <a:r>
              <a:rPr lang="en-US" b="1" dirty="0" err="1"/>
              <a:t>bẫy</a:t>
            </a:r>
            <a:r>
              <a:rPr lang="en-US" b="1" dirty="0"/>
              <a:t> </a:t>
            </a:r>
            <a:r>
              <a:rPr lang="en-US" b="1" dirty="0" err="1"/>
              <a:t>quá</a:t>
            </a:r>
            <a:r>
              <a:rPr lang="en-US" b="1" dirty="0"/>
              <a:t> </a:t>
            </a:r>
            <a:r>
              <a:rPr lang="en-US" b="1" dirty="0" err="1"/>
              <a:t>khớp</a:t>
            </a:r>
            <a:r>
              <a:rPr lang="en-US" b="1" dirty="0"/>
              <a:t> (Overfitting):</a:t>
            </a:r>
            <a:r>
              <a:rPr lang="en-US" dirty="0"/>
              <a:t> </a:t>
            </a:r>
            <a:r>
              <a:rPr lang="en-US" dirty="0" err="1"/>
              <a:t>Tính</a:t>
            </a:r>
            <a:r>
              <a:rPr lang="en-US" dirty="0"/>
              <a:t> </a:t>
            </a:r>
            <a:r>
              <a:rPr lang="en-US" dirty="0" err="1"/>
              <a:t>ngẫu</a:t>
            </a:r>
            <a:r>
              <a:rPr lang="en-US" dirty="0"/>
              <a:t> </a:t>
            </a:r>
            <a:r>
              <a:rPr lang="en-US" dirty="0" err="1"/>
              <a:t>nhiên</a:t>
            </a:r>
            <a:r>
              <a:rPr lang="en-US" dirty="0"/>
              <a:t> </a:t>
            </a:r>
            <a:r>
              <a:rPr lang="en-US" dirty="0" err="1"/>
              <a:t>kép</a:t>
            </a:r>
            <a:r>
              <a:rPr lang="en-US" dirty="0"/>
              <a:t> </a:t>
            </a:r>
            <a:r>
              <a:rPr lang="en-US" dirty="0" err="1"/>
              <a:t>giúp</a:t>
            </a:r>
            <a:r>
              <a:rPr lang="en-US" dirty="0"/>
              <a:t> </a:t>
            </a:r>
            <a:r>
              <a:rPr lang="en-US" dirty="0" err="1"/>
              <a:t>mô</a:t>
            </a:r>
            <a:r>
              <a:rPr lang="en-US" dirty="0"/>
              <a:t> </a:t>
            </a:r>
            <a:r>
              <a:rPr lang="en-US" dirty="0" err="1"/>
              <a:t>hình</a:t>
            </a:r>
            <a:r>
              <a:rPr lang="en-US" dirty="0"/>
              <a:t> </a:t>
            </a:r>
            <a:r>
              <a:rPr lang="en-US" dirty="0" err="1"/>
              <a:t>cực</a:t>
            </a:r>
            <a:r>
              <a:rPr lang="en-US" dirty="0"/>
              <a:t> </a:t>
            </a:r>
            <a:r>
              <a:rPr lang="en-US" dirty="0" err="1"/>
              <a:t>kỳ</a:t>
            </a:r>
            <a:r>
              <a:rPr lang="en-US" dirty="0"/>
              <a:t> </a:t>
            </a:r>
            <a:r>
              <a:rPr lang="en-US" dirty="0" err="1"/>
              <a:t>bền</a:t>
            </a:r>
            <a:r>
              <a:rPr lang="en-US" dirty="0"/>
              <a:t> </a:t>
            </a:r>
            <a:r>
              <a:rPr lang="en-US" dirty="0" err="1"/>
              <a:t>vững</a:t>
            </a:r>
            <a:r>
              <a:rPr lang="en-US" dirty="0"/>
              <a:t>, </a:t>
            </a:r>
            <a:r>
              <a:rPr lang="en-US" dirty="0" err="1"/>
              <a:t>không</a:t>
            </a:r>
            <a:r>
              <a:rPr lang="en-US" dirty="0"/>
              <a:t> </a:t>
            </a:r>
            <a:r>
              <a:rPr lang="en-US" dirty="0" err="1"/>
              <a:t>bị</a:t>
            </a:r>
            <a:r>
              <a:rPr lang="en-US" dirty="0"/>
              <a:t> </a:t>
            </a:r>
            <a:r>
              <a:rPr lang="en-US" dirty="0" err="1"/>
              <a:t>phụ</a:t>
            </a:r>
            <a:r>
              <a:rPr lang="en-US" dirty="0"/>
              <a:t> </a:t>
            </a:r>
            <a:r>
              <a:rPr lang="en-US" dirty="0" err="1"/>
              <a:t>thuộc</a:t>
            </a:r>
            <a:r>
              <a:rPr lang="en-US" dirty="0"/>
              <a:t> </a:t>
            </a:r>
            <a:r>
              <a:rPr lang="en-US" dirty="0" err="1"/>
              <a:t>quá</a:t>
            </a:r>
            <a:r>
              <a:rPr lang="en-US" dirty="0"/>
              <a:t> </a:t>
            </a:r>
            <a:r>
              <a:rPr lang="en-US" dirty="0" err="1"/>
              <a:t>mức</a:t>
            </a:r>
            <a:r>
              <a:rPr lang="en-US" dirty="0"/>
              <a:t> </a:t>
            </a:r>
            <a:r>
              <a:rPr lang="en-US" dirty="0" err="1"/>
              <a:t>vào</a:t>
            </a:r>
            <a:r>
              <a:rPr lang="en-US" dirty="0"/>
              <a:t> </a:t>
            </a:r>
            <a:r>
              <a:rPr lang="en-US" dirty="0" err="1"/>
              <a:t>một</a:t>
            </a:r>
            <a:r>
              <a:rPr lang="en-US" dirty="0"/>
              <a:t> </a:t>
            </a:r>
            <a:r>
              <a:rPr lang="en-US" dirty="0" err="1"/>
              <a:t>dải</a:t>
            </a:r>
            <a:r>
              <a:rPr lang="en-US" dirty="0"/>
              <a:t> </a:t>
            </a:r>
            <a:r>
              <a:rPr lang="en-US" dirty="0" err="1"/>
              <a:t>tốc</a:t>
            </a:r>
            <a:r>
              <a:rPr lang="en-US" dirty="0"/>
              <a:t> </a:t>
            </a:r>
            <a:r>
              <a:rPr lang="en-US" dirty="0" err="1"/>
              <a:t>độ</a:t>
            </a:r>
            <a:r>
              <a:rPr lang="en-US" dirty="0"/>
              <a:t> hay </a:t>
            </a:r>
            <a:r>
              <a:rPr lang="en-US" dirty="0" err="1"/>
              <a:t>tải</a:t>
            </a:r>
            <a:r>
              <a:rPr lang="en-US" dirty="0"/>
              <a:t> </a:t>
            </a:r>
            <a:r>
              <a:rPr lang="en-US" dirty="0" err="1"/>
              <a:t>trọng</a:t>
            </a:r>
            <a:r>
              <a:rPr lang="en-US" dirty="0"/>
              <a:t> </a:t>
            </a:r>
            <a:r>
              <a:rPr lang="en-US" dirty="0" err="1"/>
              <a:t>bệ</a:t>
            </a:r>
            <a:r>
              <a:rPr lang="en-US" dirty="0"/>
              <a:t> </a:t>
            </a:r>
            <a:r>
              <a:rPr lang="en-US" dirty="0" err="1"/>
              <a:t>thử</a:t>
            </a:r>
            <a:r>
              <a:rPr lang="en-US" dirty="0"/>
              <a:t> </a:t>
            </a:r>
            <a:r>
              <a:rPr lang="en-US" dirty="0" err="1"/>
              <a:t>cố</a:t>
            </a:r>
            <a:r>
              <a:rPr lang="en-US" dirty="0"/>
              <a:t> </a:t>
            </a:r>
            <a:r>
              <a:rPr lang="en-US" dirty="0" err="1"/>
              <a:t>định</a:t>
            </a:r>
            <a:r>
              <a:rPr lang="en-US" dirty="0"/>
              <a:t>.</a:t>
            </a:r>
          </a:p>
          <a:p>
            <a:pPr marL="285750" indent="-285750">
              <a:buFont typeface="Arial" panose="020B0604020202020204" pitchFamily="34" charset="0"/>
              <a:buChar char="•"/>
            </a:pPr>
            <a:r>
              <a:rPr lang="en-US" b="1" dirty="0" err="1"/>
              <a:t>Tường</a:t>
            </a:r>
            <a:r>
              <a:rPr lang="en-US" b="1" dirty="0"/>
              <a:t> </a:t>
            </a:r>
            <a:r>
              <a:rPr lang="en-US" b="1" dirty="0" err="1"/>
              <a:t>minh</a:t>
            </a:r>
            <a:r>
              <a:rPr lang="en-US" b="1" dirty="0"/>
              <a:t> </a:t>
            </a:r>
            <a:r>
              <a:rPr lang="en-US" b="1" dirty="0" err="1"/>
              <a:t>hóa</a:t>
            </a:r>
            <a:r>
              <a:rPr lang="en-US" b="1" dirty="0"/>
              <a:t> </a:t>
            </a:r>
            <a:r>
              <a:rPr lang="en-US" b="1" dirty="0" err="1"/>
              <a:t>đặc</a:t>
            </a:r>
            <a:r>
              <a:rPr lang="en-US" b="1" dirty="0"/>
              <a:t> </a:t>
            </a:r>
            <a:r>
              <a:rPr lang="en-US" b="1" dirty="0" err="1"/>
              <a:t>trưng</a:t>
            </a:r>
            <a:r>
              <a:rPr lang="en-US" b="1" dirty="0"/>
              <a:t> (Feature Importance):</a:t>
            </a:r>
            <a:r>
              <a:rPr lang="en-US" dirty="0"/>
              <a:t> </a:t>
            </a:r>
            <a:r>
              <a:rPr lang="en-US" dirty="0" err="1"/>
              <a:t>Từ</a:t>
            </a:r>
            <a:r>
              <a:rPr lang="en-US" dirty="0"/>
              <a:t> </a:t>
            </a:r>
            <a:r>
              <a:rPr lang="en-US" dirty="0" err="1"/>
              <a:t>công</a:t>
            </a:r>
            <a:r>
              <a:rPr lang="en-US" dirty="0"/>
              <a:t> </a:t>
            </a:r>
            <a:r>
              <a:rPr lang="en-US" dirty="0" err="1"/>
              <a:t>thức</a:t>
            </a:r>
            <a:r>
              <a:rPr lang="en-US" dirty="0"/>
              <a:t> Gini, </a:t>
            </a:r>
            <a:r>
              <a:rPr lang="en-US" dirty="0" err="1"/>
              <a:t>mô</a:t>
            </a:r>
            <a:r>
              <a:rPr lang="en-US" dirty="0"/>
              <a:t> </a:t>
            </a:r>
            <a:r>
              <a:rPr lang="en-US" dirty="0" err="1"/>
              <a:t>hình</a:t>
            </a:r>
            <a:r>
              <a:rPr lang="en-US" dirty="0"/>
              <a:t> </a:t>
            </a:r>
            <a:r>
              <a:rPr lang="en-US" dirty="0" err="1"/>
              <a:t>tự</a:t>
            </a:r>
            <a:r>
              <a:rPr lang="en-US" dirty="0"/>
              <a:t> </a:t>
            </a:r>
            <a:r>
              <a:rPr lang="en-US" dirty="0" err="1"/>
              <a:t>động</a:t>
            </a:r>
            <a:r>
              <a:rPr lang="en-US" dirty="0"/>
              <a:t> </a:t>
            </a:r>
            <a:r>
              <a:rPr lang="en-US" dirty="0" err="1"/>
              <a:t>xếp</a:t>
            </a:r>
            <a:r>
              <a:rPr lang="en-US" dirty="0"/>
              <a:t> </a:t>
            </a:r>
            <a:r>
              <a:rPr lang="en-US" dirty="0" err="1"/>
              <a:t>hạng</a:t>
            </a:r>
            <a:r>
              <a:rPr lang="en-US" dirty="0"/>
              <a:t> </a:t>
            </a:r>
            <a:r>
              <a:rPr lang="en-US" dirty="0" err="1"/>
              <a:t>xem</a:t>
            </a:r>
            <a:r>
              <a:rPr lang="en-US" dirty="0"/>
              <a:t> </a:t>
            </a:r>
            <a:r>
              <a:rPr lang="en-US" dirty="0" err="1"/>
              <a:t>chỉ</a:t>
            </a:r>
            <a:r>
              <a:rPr lang="en-US" dirty="0"/>
              <a:t> </a:t>
            </a:r>
            <a:r>
              <a:rPr lang="en-US" dirty="0" err="1"/>
              <a:t>số</a:t>
            </a:r>
            <a:r>
              <a:rPr lang="en-US" dirty="0"/>
              <a:t> rung </a:t>
            </a:r>
            <a:r>
              <a:rPr lang="en-US" dirty="0" err="1"/>
              <a:t>nào</a:t>
            </a:r>
            <a:r>
              <a:rPr lang="en-US" dirty="0"/>
              <a:t> (RMS, Kurtosis hay Crest Factor) </a:t>
            </a:r>
            <a:r>
              <a:rPr lang="en-US" dirty="0" err="1"/>
              <a:t>nhạy</a:t>
            </a:r>
            <a:r>
              <a:rPr lang="en-US" dirty="0"/>
              <a:t> </a:t>
            </a:r>
            <a:r>
              <a:rPr lang="en-US" dirty="0" err="1"/>
              <a:t>bén</a:t>
            </a:r>
            <a:r>
              <a:rPr lang="en-US" dirty="0"/>
              <a:t> </a:t>
            </a:r>
            <a:r>
              <a:rPr lang="en-US" dirty="0" err="1"/>
              <a:t>nhất</a:t>
            </a:r>
            <a:r>
              <a:rPr lang="en-US" dirty="0"/>
              <a:t> </a:t>
            </a:r>
            <a:r>
              <a:rPr lang="en-US" dirty="0" err="1"/>
              <a:t>với</a:t>
            </a:r>
            <a:r>
              <a:rPr lang="en-US" dirty="0"/>
              <a:t> </a:t>
            </a:r>
            <a:r>
              <a:rPr lang="en-US" dirty="0" err="1"/>
              <a:t>lỗi</a:t>
            </a:r>
            <a:r>
              <a:rPr lang="en-US" dirty="0"/>
              <a:t>, </a:t>
            </a:r>
            <a:r>
              <a:rPr lang="en-US" dirty="0" err="1"/>
              <a:t>giúp</a:t>
            </a:r>
            <a:r>
              <a:rPr lang="en-US" dirty="0"/>
              <a:t> </a:t>
            </a:r>
            <a:r>
              <a:rPr lang="en-US" dirty="0" err="1"/>
              <a:t>kỹ</a:t>
            </a:r>
            <a:r>
              <a:rPr lang="en-US" dirty="0"/>
              <a:t> </a:t>
            </a:r>
            <a:r>
              <a:rPr lang="en-US" dirty="0" err="1"/>
              <a:t>sư</a:t>
            </a:r>
            <a:r>
              <a:rPr lang="en-US" dirty="0"/>
              <a:t> </a:t>
            </a:r>
            <a:r>
              <a:rPr lang="en-US" dirty="0" err="1"/>
              <a:t>tối</a:t>
            </a:r>
            <a:r>
              <a:rPr lang="en-US" dirty="0"/>
              <a:t> </a:t>
            </a:r>
            <a:r>
              <a:rPr lang="en-US" dirty="0" err="1"/>
              <a:t>ưu</a:t>
            </a:r>
            <a:r>
              <a:rPr lang="en-US" dirty="0"/>
              <a:t> </a:t>
            </a:r>
            <a:r>
              <a:rPr lang="en-US" dirty="0" err="1"/>
              <a:t>hóa</a:t>
            </a:r>
            <a:r>
              <a:rPr lang="en-US" dirty="0"/>
              <a:t> </a:t>
            </a:r>
            <a:r>
              <a:rPr lang="en-US" dirty="0" err="1"/>
              <a:t>số</a:t>
            </a:r>
            <a:r>
              <a:rPr lang="en-US" dirty="0"/>
              <a:t> </a:t>
            </a:r>
            <a:r>
              <a:rPr lang="en-US" dirty="0" err="1"/>
              <a:t>lượng</a:t>
            </a:r>
            <a:r>
              <a:rPr lang="en-US" dirty="0"/>
              <a:t> </a:t>
            </a:r>
            <a:r>
              <a:rPr lang="en-US" dirty="0" err="1"/>
              <a:t>cảm</a:t>
            </a:r>
            <a:r>
              <a:rPr lang="en-US" dirty="0"/>
              <a:t> </a:t>
            </a:r>
            <a:r>
              <a:rPr lang="en-US" dirty="0" err="1"/>
              <a:t>biến</a:t>
            </a:r>
            <a:r>
              <a:rPr lang="en-US" dirty="0"/>
              <a:t> </a:t>
            </a:r>
            <a:r>
              <a:rPr lang="en-US" dirty="0" err="1"/>
              <a:t>cần</a:t>
            </a:r>
            <a:r>
              <a:rPr lang="en-US" dirty="0"/>
              <a:t> </a:t>
            </a:r>
            <a:r>
              <a:rPr lang="en-US" dirty="0" err="1"/>
              <a:t>lắp</a:t>
            </a:r>
            <a:r>
              <a:rPr lang="en-US" dirty="0"/>
              <a:t> </a:t>
            </a:r>
            <a:r>
              <a:rPr lang="en-US" dirty="0" err="1"/>
              <a:t>đặt</a:t>
            </a:r>
            <a:r>
              <a:rPr lang="en-US" dirty="0"/>
              <a:t>.</a:t>
            </a:r>
            <a:endParaRPr lang="en-US" b="1" dirty="0"/>
          </a:p>
        </p:txBody>
      </p:sp>
    </p:spTree>
    <p:extLst>
      <p:ext uri="{BB962C8B-B14F-4D97-AF65-F5344CB8AC3E}">
        <p14:creationId xmlns:p14="http://schemas.microsoft.com/office/powerpoint/2010/main" val="743646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600" b="1">
                <a:solidFill>
                  <a:srgbClr val="FFFFFF"/>
                </a:solidFill>
                <a:latin typeface="Calibri"/>
              </a:rPr>
              <a:t>Cảm ơn &amp; Hỏi đáp</a:t>
            </a:r>
          </a:p>
        </p:txBody>
      </p:sp>
      <p:sp>
        <p:nvSpPr>
          <p:cNvPr id="3" name="Content Placeholder 2"/>
          <p:cNvSpPr>
            <a:spLocks noGrp="1"/>
          </p:cNvSpPr>
          <p:nvPr>
            <p:ph sz="quarter" idx="13"/>
          </p:nvPr>
        </p:nvSpPr>
        <p:spPr/>
        <p:txBody>
          <a:bodyPr/>
          <a:lstStyle/>
          <a:p>
            <a:pPr algn="ctr"/>
            <a:r>
              <a:rPr sz="1400">
                <a:solidFill>
                  <a:srgbClr val="FFFFFF"/>
                </a:solidFill>
                <a:latin typeface="Calibri"/>
              </a:rPr>
              <a:t>Kết thúc</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40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71A0A0-A2AD-4C3F-B4E4-0F6027CD71FB}">
  <we:reference id="wa200010001" version="1.0.0.1" store="en-US" storeType="OMEX"/>
  <we:alternateReferences>
    <we:reference id="wa200010001" version="1.0.0.1" store="wa200010001" storeType="OMEX"/>
  </we:alternateReferences>
  <we:properties>
    <we:property name="claude.fileId" value="&quot;8840d90e-12b1-40f9-850d-3db41e120927&quot;"/>
  </we:properties>
  <we:bindings/>
  <we:snapshot xmlns:r="http://schemas.openxmlformats.org/officeDocument/2006/relationships"/>
</we:webextension>
</file>

<file path=ppt/webextensions/webextension2.xml><?xml version="1.0" encoding="utf-8"?>
<we:webextension xmlns:we="http://schemas.microsoft.com/office/webextensions/webextension/2010/11" id="{1D370BC2-1149-4E5A-83BF-D4C0E5542D08}">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2533</TotalTime>
  <Words>2830</Words>
  <Application>Microsoft Office PowerPoint</Application>
  <PresentationFormat>Widescreen</PresentationFormat>
  <Paragraphs>273</Paragraphs>
  <Slides>29</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Cambria Math</vt:lpstr>
      <vt:lpstr>Lato</vt:lpstr>
      <vt:lpstr>Wingdings</vt:lpstr>
      <vt:lpstr>Office Theme</vt:lpstr>
      <vt:lpstr>PowerPoint Presentation</vt:lpstr>
      <vt:lpstr>Ứng Dụng Machine Learning Trong Chẩn Đoán Hư Hỏng Ổ Lăn </vt:lpstr>
      <vt:lpstr>Mục tiêu khoá học </vt:lpstr>
      <vt:lpstr>Vì sao cần bảo trì dự đoán</vt:lpstr>
      <vt:lpstr>Quy Trình 7 Bước</vt:lpstr>
      <vt:lpstr>Dữ Liệu CWRU Hệ thí nghiệm, cảm biến, phân loại lỗi và tần số đặc trưng ổ lăn SKF 6205 </vt:lpstr>
      <vt:lpstr>CWRU Test Rig &amp; Cảm Biến</vt:lpstr>
      <vt:lpstr>Trạng Thái Ổ Lăn — Đáp Ứng Rung Động</vt:lpstr>
      <vt:lpstr>Tần số hư hỏng đặc trưng</vt:lpstr>
      <vt:lpstr>Phân tích dạng sóng</vt:lpstr>
      <vt:lpstr>Định lượng mức độ rung</vt:lpstr>
      <vt:lpstr>So sánh mức độ rung động</vt:lpstr>
      <vt:lpstr>Phân tích tần số FFT · Envelope Analysis </vt:lpstr>
      <vt:lpstr>Biến đổi Fourier</vt:lpstr>
      <vt:lpstr>Ví dụ biến đổi Fourier</vt:lpstr>
      <vt:lpstr>Ưu điểm &amp; Hạn chế của biến đổi Fourier</vt:lpstr>
      <vt:lpstr>Phân tích phổ đường bao</vt:lpstr>
      <vt:lpstr>Phân tích phổ đường bao tín hiệu</vt:lpstr>
      <vt:lpstr>Phân đoạn dữ liệu Chuẩn bị đầu vào cho mô hình học máy  </vt:lpstr>
      <vt:lpstr>Phân Đoạn Tín Hiệu</vt:lpstr>
      <vt:lpstr>Kích Thước Cửa Sổ &amp; Overlap</vt:lpstr>
      <vt:lpstr>Quy trình chuẩn bị dữ liệu</vt:lpstr>
      <vt:lpstr>Chẩn đoán tự động</vt:lpstr>
      <vt:lpstr>SVM &amp; Random Forest Nguyên lý cơ bản, cách hoạt động và đánh giá  </vt:lpstr>
      <vt:lpstr>Support Vector Machine (SVM)</vt:lpstr>
      <vt:lpstr>Phân lớp Phi tuyến</vt:lpstr>
      <vt:lpstr>Hàm nhân</vt:lpstr>
      <vt:lpstr>Random Forest</vt:lpstr>
      <vt:lpstr>Cảm ơn &amp; Hỏi đáp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DO DANH THANH BINH 20184353</cp:lastModifiedBy>
  <cp:revision>31</cp:revision>
  <dcterms:created xsi:type="dcterms:W3CDTF">2021-05-28T04:32:29Z</dcterms:created>
  <dcterms:modified xsi:type="dcterms:W3CDTF">2026-06-05T10:15:17Z</dcterms:modified>
</cp:coreProperties>
</file>