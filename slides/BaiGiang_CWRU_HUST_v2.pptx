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2"/>
  </p:notesMasterIdLst>
  <p:handoutMasterIdLst>
    <p:handoutMasterId r:id="rId43"/>
  </p:handoutMasterIdLst>
  <p:sldIdLst>
    <p:sldId id="259" r:id="rId2"/>
    <p:sldId id="256" r:id="rId3"/>
    <p:sldId id="261" r:id="rId4"/>
    <p:sldId id="258" r:id="rId5"/>
    <p:sldId id="264" r:id="rId6"/>
    <p:sldId id="263" r:id="rId7"/>
    <p:sldId id="265" r:id="rId8"/>
    <p:sldId id="266" r:id="rId9"/>
    <p:sldId id="267" r:id="rId10"/>
    <p:sldId id="268" r:id="rId11"/>
    <p:sldId id="269" r:id="rId12"/>
    <p:sldId id="270" r:id="rId13"/>
    <p:sldId id="271" r:id="rId14"/>
    <p:sldId id="272" r:id="rId15"/>
    <p:sldId id="273" r:id="rId16"/>
    <p:sldId id="274" r:id="rId17"/>
    <p:sldId id="275" r:id="rId18"/>
    <p:sldId id="276" r:id="rId19"/>
    <p:sldId id="277" r:id="rId20"/>
    <p:sldId id="278" r:id="rId21"/>
    <p:sldId id="279" r:id="rId22"/>
    <p:sldId id="280" r:id="rId23"/>
    <p:sldId id="281" r:id="rId24"/>
    <p:sldId id="282" r:id="rId25"/>
    <p:sldId id="283" r:id="rId26"/>
    <p:sldId id="284" r:id="rId27"/>
    <p:sldId id="285" r:id="rId28"/>
    <p:sldId id="286" r:id="rId29"/>
    <p:sldId id="287" r:id="rId30"/>
    <p:sldId id="288" r:id="rId31"/>
    <p:sldId id="289" r:id="rId32"/>
    <p:sldId id="290" r:id="rId33"/>
    <p:sldId id="291" r:id="rId34"/>
    <p:sldId id="292" r:id="rId35"/>
    <p:sldId id="293" r:id="rId36"/>
    <p:sldId id="294" r:id="rId37"/>
    <p:sldId id="295" r:id="rId38"/>
    <p:sldId id="296" r:id="rId39"/>
    <p:sldId id="297" r:id="rId40"/>
    <p:sldId id="298"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8C496"/>
    <a:srgbClr val="63A6D5"/>
    <a:srgbClr val="E9BF73"/>
    <a:srgbClr val="D55043"/>
    <a:srgbClr val="0A2A50"/>
    <a:srgbClr val="063D2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4" autoAdjust="0"/>
    <p:restoredTop sz="94660"/>
  </p:normalViewPr>
  <p:slideViewPr>
    <p:cSldViewPr snapToGrid="0">
      <p:cViewPr varScale="1">
        <p:scale>
          <a:sx n="79" d="100"/>
          <a:sy n="79" d="100"/>
        </p:scale>
        <p:origin x="725"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5EAC724-B034-4F10-A9E8-56851A79B80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20872BB-3892-4F66-9266-36ADB83FAD5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8B45424-6BAC-416C-8F6C-5F9DE854A36B}" type="datetimeFigureOut">
              <a:rPr lang="en-US" smtClean="0"/>
              <a:t>6/4/2026</a:t>
            </a:fld>
            <a:endParaRPr lang="en-US"/>
          </a:p>
        </p:txBody>
      </p:sp>
      <p:sp>
        <p:nvSpPr>
          <p:cNvPr id="4" name="Footer Placeholder 3">
            <a:extLst>
              <a:ext uri="{FF2B5EF4-FFF2-40B4-BE49-F238E27FC236}">
                <a16:creationId xmlns:a16="http://schemas.microsoft.com/office/drawing/2014/main" id="{0ACA138F-B9BA-4997-B3C2-DA8B17B6D5B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EE86FBF-0AC4-4904-8ED7-0BD6E9AC71D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E34D737-83BD-4FDE-8CF3-8BC01E7FCF39}" type="slidenum">
              <a:rPr lang="en-US" smtClean="0"/>
              <a:t>‹#›</a:t>
            </a:fld>
            <a:endParaRPr lang="en-US"/>
          </a:p>
        </p:txBody>
      </p:sp>
    </p:spTree>
    <p:extLst>
      <p:ext uri="{BB962C8B-B14F-4D97-AF65-F5344CB8AC3E}">
        <p14:creationId xmlns:p14="http://schemas.microsoft.com/office/powerpoint/2010/main" val="408907374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733702-C25A-40B9-9167-54BAA79B29B0}" type="datetimeFigureOut">
              <a:rPr lang="en-US" smtClean="0"/>
              <a:t>6/4/2026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2FC7A4-3D1B-482D-8C9D-7642A2CE3076}" type="slidenum">
              <a:rPr lang="en-US" smtClean="0"/>
              <a:t>‹#›</a:t>
            </a:fld>
            <a:endParaRPr lang="en-US"/>
          </a:p>
        </p:txBody>
      </p:sp>
    </p:spTree>
    <p:extLst>
      <p:ext uri="{BB962C8B-B14F-4D97-AF65-F5344CB8AC3E}">
        <p14:creationId xmlns:p14="http://schemas.microsoft.com/office/powerpoint/2010/main" val="398192653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Tới đây ta đổi kính nhìn: từ miền thời gian sang miền tần số. Câu hỏi chuyển từ "có rung không" sang "rung ở tần số nào" — và chính tần số mới chỉ ra hỏng ở đâu.</a:t>
            </a:r>
          </a:p>
          <a:p>
            <a:r>
              <a:t>Đây là khúc lý thuyết đẹp nhất khóa. Tôi sẽ đi từ trực giác trước, công thức sau — đúng tinh thần: hiểu ý rồi mới cần ký hiệu.</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Tới đây ta đổi kính nhìn: từ miền thời gian sang miền tần số. Câu hỏi chuyển từ "có rung không" sang "rung ở tần số nào" — và chính tần số mới chỉ ra hỏng ở đâu. Trên bệ thử CWRU, tần số lấy mẫu mặc định là 12,000 Hz. Với chiều dài phân đoạn N = 2048 mẫu, ta tính được độ phân giải tần số là 5.86 Hz. Điều này nghĩa là khoảng cách tối thiểu giữa 2 đỉnh phổ để phân biệt được là 5.86 Hz. Nếu muốn độ mịn tốt hơn, ta phải tăng N lên 4096 hoặc 8192.</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Đây là điểm cốt lõi nhất cần lưu ý. Trên lý thuyết, lỗi vòng bi có tần số chữ ký rõ ràng (BPFO ≈ 107.4 Hz, BPFI ≈ 162.2 Hz tại tốc độ 1797 RPM của CWRU). Tuy nhiên, trên thực tế, cú va chạm của lỗi là xung nhọn cực ngắn, năng lượng thấp ở tần số thấp nhưng lại kích thích tần số cộng hưởng bệ máy rất cao. Do đó, trên phổ FFT thô, các đỉnh lỗi 107 Hz hay 162 Hz bị chôn vùi dưới nền nhiễu tần số thấp. Đó là lý do vì sao ta phải dùng Envelope Analysis để lọc dải cộng hưởng cao, rồi bóc tách lấy đường bao tần số thấp.</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Đây là cầu nối lý thuyết, tôi xin một phút "toán đẹp". Hình dung gõ vào một cái chuông: bạn gõ một phát ngắn, nhưng chuông ngân dài ở đúng cao độ riêng của nó. Kết cấu máy cũng có "cao độ riêng" — tần số cộng hưởng ωn = √km.</a:t>
            </a:r>
          </a:p>
          <a:p>
            <a:r>
              <a:t>Hệ số cản ζ càng nhỏ thì tiếng ngân càng cao và nhọn — đó là hệ số Q. Mấu chốt: cú va ổ lăn ngắn, dải rộng, nó đánh thức mode cộng hưởng này. Tiếng "chuông ngân" đó chính là sóng mang fc — lát nữa Envelope sẽ lọc đúng quanh nó. Đừng học công thức để nhớ; hãy nhớ hình ảnh cái chuông.</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Giờ ghép hai mảnh lại. Mỗi cú va đánh thức tiếng chuông fc. Nhưng cú va lặp theo nhịp lỗi — nên tiếng chuông tăng giảm biên độ tuần hoàn đúng theo nhịp BPFO/BPFI. Viết gọn: y(t) = a(t)·cos(2πfct).</a:t>
            </a:r>
          </a:p>
          <a:p>
            <a:r>
              <a:t>fc là cao độ — FFT nghe thấy. a(t) là cái bao ngoài — nó chứa nhịp lỗi, nhưng không phải một "cao độ" nên FFT thô không thấy. Đó là lý do sâu xa FFT thô "mù": nó tìm cao độ, mà bệnh nằm ở nhịp. Cách gỡ: Hilbert bóc lấy đường bao a(t), rồi FFT chính đường bao đó — nhịp lỗi hiện ra rõ mồn một.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Đây là phần "thấy mới tin". Bên trái: FFT thô của một ca OR thật — gần như vô vọng, chỉ thấy nền dâng. Bên phải: cũng tín hiệu đó qua bốn bước Envelope — vạch 107 Hz và bội 2×, 3×, 4× hiện lên sắc như dao.</a:t>
            </a:r>
          </a:p>
          <a:p>
            <a:r>
              <a:t>Bốn bước, đọc như công thức nấu ăn: lọc băng quanh vùng cộng hưởng để giữ tiếng chuông; Hilbert bóc đường bao; FFT đường bao; đọc đỉnh. Khóa này dùng đặc trưng năng lượng dải tần như cách thay thế gọn cho Envelope đầy đủ — ý tưởng vật lý y hệt.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FFT cho một bức ảnh tĩnh — toàn bộ tín hiệu gộp lại. Nhưng máy thật thay đổi theo thời gian, nên ta cần cuốn phim: trục ngang thời gian, trục dọc tần số, màu là năng lượng.</a:t>
            </a:r>
          </a:p>
          <a:p>
            <a:r>
              <a:t>Cái mắt cần bắt: nếu lỗi tạo xung tuần hoàn, ta thấy những vệt sáng dọc lặp đều — chính là nhịp va đập hiện hình. Sọc càng đều càng rõ thì lỗi càng điển hình. Đúng như dự đoán: OR sọc rõ nhất, Ball mờ nhất — câu chuyện "Ball khó nhất" lại quay về.</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Tôi luôn muốn đối chiếu lý thuyết với dữ liệu thật, vì kỹ sư chỉ tin cái nhìn thấy. Đây là spectrogram bốn trạng thái từ chính dữ liệu CWRU.</a:t>
            </a:r>
          </a:p>
          <a:p>
            <a:r>
              <a:t>Hãy để mắt tự kết luận: Normal gần như trơn, OR sọc dọc đậm và đều, IR có sọc nhưng nhạt nhịp hơn, Ball lờ mờ — báo trước mô hình sẽ dễ nhầm Ball nhất. Tới ma trận nhầm lẫn ở Tutorial 04, các bạn sẽ thấy đúng y vậy. Lý thuyết và dữ liệu bắt tay nhau — đó là lúc ta thật sự hiểu.</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 vừa biết cách nhìn và biến đổi tín hiệu. Giờ là bước nối với máy học: làm sao biến một đoạn sóng dài thành các đặc trưng có nghĩa mà thuật toán có thể xử lý hiệu quả?</a:t>
            </a:r>
          </a:p>
          <a:p>
            <a:r>
              <a:t>Đây là nghệ thuật "trích đặc trưng" — và đi kèm là một cái bẫy rò rỉ dữ liệu mà phần lớn người mới đều mắc. Tôi sẽ chỉ thẳng cái bẫy đó.</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Kỹ thuật nén dữ liệu từ 2048 mẫu thô về 19 đặc trưng toán học giúp giảm chi phí tính toán và đưa các tri thức vật lý cơ khí vào huấn luyện mô hình.</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Hệ số nhọn Kurtosis (Pearson) đo lường độ dày phần đuôi của phân bố xác suất tín hiệu, giúp nhận biết các va đập cơ học từ rất sớm trước khi RMS năng lượng tăng lên.</a:t>
            </a:r>
          </a:p>
          <a:p>
            <a:r>
              <a:t>Cần đặc biệt lưu ý sự khác biệt giữa định nghĩa Pearson (Normal = 3) và định nghĩa Fisher (Normal = 0) để tránh cấu hình sai lệch ngưỡng cảnh báo.</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Hiện tượng rò rỉ dữ liệu khi cắt phân đoạn có chồng lấp là nguyên nhân phổ biến tạo ra độ chính xác ảo cực cao.</a:t>
            </a:r>
          </a:p>
          <a:p>
            <a:r>
              <a:t>Giải pháp khắc phục triệt để là chia tập Train/Test tách biệt hoàn toàn theo File nguồn cơ sở (file_id) thay vì chia ngẫu nhiên từng phân đoạn.</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Chúng ta phân tích hai thuật toán Machine Learning phân loại chủ đạo là SVM và Random Forest dựa trên trực giác hình học và cơ chế biểu quyết đồng thuận.</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Trực quan hình học của thuật toán SVM: tìm kiếm lề biên an toàn rộng nhất và ứng dụng hàm nhân RBF để phân tách dữ liệu phi tuyến trên không gian cao chiều.</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Random Forest tận dụng sức mạnh "trí tuệ đám đông" từ hàng trăm cây quyết định độc lập được xây dựng trên các không gian đặc trưng ngẫu nhiên để tối ưu hóa độ chính xác và tính tổng quát.</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Chỉ số Feature Importance của Random Forest cung cấp bức tranh toàn diện về vai trò đóng góp trung bình của từng đặc trưng vật lý.</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Phần này tập trung nghiên cứu phương pháp đánh giá mô hình một cách khoa học và khách quan, tránh các lỗi phổ biến dẫn đến báo cáo hiệu năng sai lệch trong môi trường công nghiệp.</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Để đánh giá chính xác năng lực chẩn đoán trên thiết bị mới, chúng ta bắt buộc phải cô lập dữ liệu theo từng File nguồn cơ sở.</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Độ chính xác thực tế ~78% phản ánh chính xác hiệu năng hoạt động của mô hình trên các thiết bị mới chưa từng quan sát trong tập huấn luyện.</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 trận nhầm lẫn thực tế của Random Forest cho thấy phân bố các sai lỗi chẩn đoán.</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Mô hình hóa rủi ro của từng kịch bản chẩn đoán sai lệch giúp kỹ sư thiết kế ngưỡng cảnh báo an toàn và thực dụng nhất.</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Ứng dụng XAI (Explainable AI) thông qua mô hình SHAP giúp xây dựng lòng tin kỹ thuật vững chắc khi vận hành mô hình Machine Learning trong thực tiễn.</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Tôi giải thích SHAP không bằng công thức mà bằng một câu chuyện chia thưởng. Ba kỹ sư cùng làm một dự án sinh lời. Mỗi người đáng thưởng bao nhiêu? Cách công bằng: thử mọi thứ tự gia nhập nhóm, xem mỗi người làm lợi nhuận tăng thêm bao nhiêu khi bước vào, rồi lấy trung bình. Đó đúng là Shapley value, từ lý thuyết trò chơi 1953.</a:t>
            </a:r>
          </a:p>
          <a:p>
            <a:r>
              <a:t>Ánh xạ sang ML: "kỹ sư" là đặc trưng, "lợi nhuận" là xác suất dự đoán, "đóng góp" là SHAP value. Công thức dài kia chỉ nói đúng câu đó. Nhớ: SHAP âm cũng quan trọng — nó là đặc trưng phản bác chẩn đoán, không chỉ cái ủng hộ.</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Summary Plot cung cấp cái nhìn tổng quát toàn cục, trong khi Waterfall Plot phân rã nguyên nhân sự cố cho từng trường hợp thực tế bằng các trị số vật lý trực quan.</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Bảng ma trận chuyển đổi từ tri thức giải thích SHAP sang các hành động thực tế tại nhà máy.</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Sự trung thực khoa học: Nhận diện hiện tượng Domain Shift giữa phòng thí nghiệm và nhà máy để thiết kế lộ trình hiệu chỉnh mô hình phù hợp.</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Tiêu chuẩn ISO 10816/20816 phân cấp vùng chất lượng dựa trên mức dao động hiệu dụng tĩnh, kết hợp phân tích đường xu hướng phát triển để xác định chính xác thời điểm can thiệp.</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Tổng kết khóa học: Hiểu rõ nguyên lý xung va đập đặc trưng, phân chia tập dữ liệu trung thực theo File đo nguồn, và tích hợp các công cụ giải giải thích trực quan để nâng cao hiệu quả vận hành thực địa.</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Date Placeholder 3">
            <a:extLst>
              <a:ext uri="{FF2B5EF4-FFF2-40B4-BE49-F238E27FC236}">
                <a16:creationId xmlns:a16="http://schemas.microsoft.com/office/drawing/2014/main" id="{26152509-8D0C-4712-AA81-AF54972C78DB}"/>
              </a:ext>
            </a:extLst>
          </p:cNvPr>
          <p:cNvSpPr>
            <a:spLocks noGrp="1"/>
          </p:cNvSpPr>
          <p:nvPr>
            <p:ph type="dt" sz="half" idx="10"/>
          </p:nvPr>
        </p:nvSpPr>
        <p:spPr>
          <a:xfrm>
            <a:off x="838200" y="6486006"/>
            <a:ext cx="27432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58E92B09-5AF4-4E86-A8BE-E866F0E2C017}" type="datetime1">
              <a:rPr lang="en-US" smtClean="0"/>
              <a:t>6/4/2026</a:t>
            </a:fld>
            <a:endParaRPr lang="en-US"/>
          </a:p>
        </p:txBody>
      </p:sp>
      <p:sp>
        <p:nvSpPr>
          <p:cNvPr id="10" name="Footer Placeholder 4">
            <a:extLst>
              <a:ext uri="{FF2B5EF4-FFF2-40B4-BE49-F238E27FC236}">
                <a16:creationId xmlns:a16="http://schemas.microsoft.com/office/drawing/2014/main" id="{A9A90DE7-FAAB-4B91-AC83-B18850F1EC89}"/>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1" name="Slide Number Placeholder 5">
            <a:extLst>
              <a:ext uri="{FF2B5EF4-FFF2-40B4-BE49-F238E27FC236}">
                <a16:creationId xmlns:a16="http://schemas.microsoft.com/office/drawing/2014/main" id="{0FD5971E-BD21-416C-BC2E-97EE0E09A50C}"/>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40795750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B30FC03-A82E-4B34-AE4B-8AC40A0CD5B2}"/>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6/4/2026</a:t>
            </a:fld>
            <a:endParaRPr lang="en-US"/>
          </a:p>
        </p:txBody>
      </p:sp>
      <p:sp>
        <p:nvSpPr>
          <p:cNvPr id="5" name="Footer Placeholder 4">
            <a:extLst>
              <a:ext uri="{FF2B5EF4-FFF2-40B4-BE49-F238E27FC236}">
                <a16:creationId xmlns:a16="http://schemas.microsoft.com/office/drawing/2014/main" id="{D149FB7E-C73B-452D-861A-6C73FF59EC96}"/>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6" name="Slide Number Placeholder 5">
            <a:extLst>
              <a:ext uri="{FF2B5EF4-FFF2-40B4-BE49-F238E27FC236}">
                <a16:creationId xmlns:a16="http://schemas.microsoft.com/office/drawing/2014/main" id="{8A5733BD-32DD-483E-A597-B70529CBDA53}"/>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7" name="Title 8">
            <a:extLst>
              <a:ext uri="{FF2B5EF4-FFF2-40B4-BE49-F238E27FC236}">
                <a16:creationId xmlns:a16="http://schemas.microsoft.com/office/drawing/2014/main" id="{DEAFB3E9-4F5E-435C-B51A-CC5766A852DA}"/>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1:……………………………………..</a:t>
            </a:r>
          </a:p>
        </p:txBody>
      </p:sp>
      <p:sp>
        <p:nvSpPr>
          <p:cNvPr id="8" name="Content Placeholder 7">
            <a:extLst>
              <a:ext uri="{FF2B5EF4-FFF2-40B4-BE49-F238E27FC236}">
                <a16:creationId xmlns:a16="http://schemas.microsoft.com/office/drawing/2014/main" id="{69C57778-6639-411E-9B4C-12D035AECE27}"/>
              </a:ext>
            </a:extLst>
          </p:cNvPr>
          <p:cNvSpPr>
            <a:spLocks noGrp="1"/>
          </p:cNvSpPr>
          <p:nvPr>
            <p:ph sz="quarter" idx="13"/>
          </p:nvPr>
        </p:nvSpPr>
        <p:spPr>
          <a:xfrm>
            <a:off x="338736" y="1058844"/>
            <a:ext cx="11514528" cy="4909124"/>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7613295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84B5929F-A28F-4256-A6B2-5D095331D016}"/>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B3ACFEBC-8634-4116-B617-2BE5C2034C2C}" type="datetime1">
              <a:rPr lang="en-US" smtClean="0"/>
              <a:pPr/>
              <a:t>6/4/2026</a:t>
            </a:fld>
            <a:endParaRPr lang="en-US"/>
          </a:p>
        </p:txBody>
      </p:sp>
      <p:sp>
        <p:nvSpPr>
          <p:cNvPr id="9" name="Footer Placeholder 4">
            <a:extLst>
              <a:ext uri="{FF2B5EF4-FFF2-40B4-BE49-F238E27FC236}">
                <a16:creationId xmlns:a16="http://schemas.microsoft.com/office/drawing/2014/main" id="{7C2F339A-915E-4496-B889-28FBBAAD3123}"/>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0" name="Slide Number Placeholder 5">
            <a:extLst>
              <a:ext uri="{FF2B5EF4-FFF2-40B4-BE49-F238E27FC236}">
                <a16:creationId xmlns:a16="http://schemas.microsoft.com/office/drawing/2014/main" id="{028A2E5F-7F4D-4F39-A494-67088E8046DE}"/>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1" name="Title 8">
            <a:extLst>
              <a:ext uri="{FF2B5EF4-FFF2-40B4-BE49-F238E27FC236}">
                <a16:creationId xmlns:a16="http://schemas.microsoft.com/office/drawing/2014/main" id="{FC0C4515-8106-49DA-9C06-E98AF815242A}"/>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2:……………………………………..</a:t>
            </a:r>
          </a:p>
        </p:txBody>
      </p:sp>
      <p:sp>
        <p:nvSpPr>
          <p:cNvPr id="12" name="Chart Placeholder 9">
            <a:extLst>
              <a:ext uri="{FF2B5EF4-FFF2-40B4-BE49-F238E27FC236}">
                <a16:creationId xmlns:a16="http://schemas.microsoft.com/office/drawing/2014/main" id="{F49327FB-190B-40C4-9FC9-66F9F7D12317}"/>
              </a:ext>
            </a:extLst>
          </p:cNvPr>
          <p:cNvSpPr>
            <a:spLocks noGrp="1"/>
          </p:cNvSpPr>
          <p:nvPr>
            <p:ph type="chart" sz="quarter" idx="13" hasCustomPrompt="1"/>
          </p:nvPr>
        </p:nvSpPr>
        <p:spPr>
          <a:xfrm>
            <a:off x="330201" y="1406769"/>
            <a:ext cx="5765800" cy="4655894"/>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Chart</a:t>
            </a:r>
          </a:p>
        </p:txBody>
      </p:sp>
      <p:sp>
        <p:nvSpPr>
          <p:cNvPr id="13" name="Picture Placeholder 11">
            <a:extLst>
              <a:ext uri="{FF2B5EF4-FFF2-40B4-BE49-F238E27FC236}">
                <a16:creationId xmlns:a16="http://schemas.microsoft.com/office/drawing/2014/main" id="{733EBCBB-E1FE-415C-8ED9-6D1F36748478}"/>
              </a:ext>
            </a:extLst>
          </p:cNvPr>
          <p:cNvSpPr>
            <a:spLocks noGrp="1"/>
          </p:cNvSpPr>
          <p:nvPr>
            <p:ph type="pic" sz="quarter" idx="14" hasCustomPrompt="1"/>
          </p:nvPr>
        </p:nvSpPr>
        <p:spPr>
          <a:xfrm>
            <a:off x="6238875" y="1414463"/>
            <a:ext cx="5445125" cy="4656137"/>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Picture</a:t>
            </a:r>
          </a:p>
        </p:txBody>
      </p:sp>
    </p:spTree>
    <p:extLst>
      <p:ext uri="{BB962C8B-B14F-4D97-AF65-F5344CB8AC3E}">
        <p14:creationId xmlns:p14="http://schemas.microsoft.com/office/powerpoint/2010/main" val="38876699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itle 8">
            <a:extLst>
              <a:ext uri="{FF2B5EF4-FFF2-40B4-BE49-F238E27FC236}">
                <a16:creationId xmlns:a16="http://schemas.microsoft.com/office/drawing/2014/main" id="{3E6AE9CF-41FF-46D0-BF7A-815E4777895E}"/>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3:……………………………………..</a:t>
            </a:r>
          </a:p>
        </p:txBody>
      </p:sp>
      <p:sp>
        <p:nvSpPr>
          <p:cNvPr id="12" name="Text Placeholder 9">
            <a:extLst>
              <a:ext uri="{FF2B5EF4-FFF2-40B4-BE49-F238E27FC236}">
                <a16:creationId xmlns:a16="http://schemas.microsoft.com/office/drawing/2014/main" id="{A85E41C6-3987-4F5C-A750-35F5C730A567}"/>
              </a:ext>
            </a:extLst>
          </p:cNvPr>
          <p:cNvSpPr>
            <a:spLocks noGrp="1"/>
          </p:cNvSpPr>
          <p:nvPr>
            <p:ph type="body" sz="quarter" idx="13"/>
          </p:nvPr>
        </p:nvSpPr>
        <p:spPr>
          <a:xfrm>
            <a:off x="337539" y="1032510"/>
            <a:ext cx="11515725" cy="493871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Date Placeholder 3">
            <a:extLst>
              <a:ext uri="{FF2B5EF4-FFF2-40B4-BE49-F238E27FC236}">
                <a16:creationId xmlns:a16="http://schemas.microsoft.com/office/drawing/2014/main" id="{C99BA7CA-DC84-4A35-BD8A-C14D582181A5}"/>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8CDB0C24-DFE0-41C5-B02D-FC32F5C22F7C}" type="datetime1">
              <a:rPr lang="en-US" smtClean="0"/>
              <a:t>6/4/2026</a:t>
            </a:fld>
            <a:endParaRPr lang="en-US"/>
          </a:p>
        </p:txBody>
      </p:sp>
      <p:sp>
        <p:nvSpPr>
          <p:cNvPr id="14" name="Footer Placeholder 4">
            <a:extLst>
              <a:ext uri="{FF2B5EF4-FFF2-40B4-BE49-F238E27FC236}">
                <a16:creationId xmlns:a16="http://schemas.microsoft.com/office/drawing/2014/main" id="{E1DCC345-F4E6-42D6-9173-88011D0E2741}"/>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5" name="Slide Number Placeholder 5">
            <a:extLst>
              <a:ext uri="{FF2B5EF4-FFF2-40B4-BE49-F238E27FC236}">
                <a16:creationId xmlns:a16="http://schemas.microsoft.com/office/drawing/2014/main" id="{BD82AFB1-CD7C-4710-A82A-F9FEE6DA5C86}"/>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9581265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98A78F82-82C6-4F07-B7D8-4A1219A1BB45}"/>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19A9EFEF-A194-4819-82D7-1112425D0E86}" type="datetime1">
              <a:rPr lang="en-US" smtClean="0"/>
              <a:pPr/>
              <a:t>6/4/2026</a:t>
            </a:fld>
            <a:endParaRPr lang="en-US"/>
          </a:p>
        </p:txBody>
      </p:sp>
      <p:sp>
        <p:nvSpPr>
          <p:cNvPr id="8" name="Footer Placeholder 4">
            <a:extLst>
              <a:ext uri="{FF2B5EF4-FFF2-40B4-BE49-F238E27FC236}">
                <a16:creationId xmlns:a16="http://schemas.microsoft.com/office/drawing/2014/main" id="{12041C72-5CA2-4523-9F1E-50662A3276CE}"/>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9" name="Slide Number Placeholder 5">
            <a:extLst>
              <a:ext uri="{FF2B5EF4-FFF2-40B4-BE49-F238E27FC236}">
                <a16:creationId xmlns:a16="http://schemas.microsoft.com/office/drawing/2014/main" id="{3AD6B24F-6759-4931-A1C4-77BA8AF7E085}"/>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0" name="Title 8">
            <a:extLst>
              <a:ext uri="{FF2B5EF4-FFF2-40B4-BE49-F238E27FC236}">
                <a16:creationId xmlns:a16="http://schemas.microsoft.com/office/drawing/2014/main" id="{1CD850F7-B0EC-49AD-960D-051EAF5F36DD}"/>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4:……………………………………..</a:t>
            </a:r>
          </a:p>
        </p:txBody>
      </p:sp>
      <p:sp>
        <p:nvSpPr>
          <p:cNvPr id="11" name="Chart Placeholder 14">
            <a:extLst>
              <a:ext uri="{FF2B5EF4-FFF2-40B4-BE49-F238E27FC236}">
                <a16:creationId xmlns:a16="http://schemas.microsoft.com/office/drawing/2014/main" id="{4A80550F-98CB-400B-9D36-210A7AED20E8}"/>
              </a:ext>
            </a:extLst>
          </p:cNvPr>
          <p:cNvSpPr>
            <a:spLocks noGrp="1"/>
          </p:cNvSpPr>
          <p:nvPr>
            <p:ph type="chart" sz="quarter" idx="13" hasCustomPrompt="1"/>
          </p:nvPr>
        </p:nvSpPr>
        <p:spPr>
          <a:xfrm>
            <a:off x="338736" y="1406525"/>
            <a:ext cx="5757264" cy="4670425"/>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Chart</a:t>
            </a:r>
          </a:p>
        </p:txBody>
      </p:sp>
      <p:sp>
        <p:nvSpPr>
          <p:cNvPr id="12" name="Table Placeholder 16">
            <a:extLst>
              <a:ext uri="{FF2B5EF4-FFF2-40B4-BE49-F238E27FC236}">
                <a16:creationId xmlns:a16="http://schemas.microsoft.com/office/drawing/2014/main" id="{15345DA2-1E92-473D-9483-A24F87614F3D}"/>
              </a:ext>
            </a:extLst>
          </p:cNvPr>
          <p:cNvSpPr>
            <a:spLocks noGrp="1"/>
          </p:cNvSpPr>
          <p:nvPr>
            <p:ph type="tbl" sz="quarter" idx="14" hasCustomPrompt="1"/>
          </p:nvPr>
        </p:nvSpPr>
        <p:spPr>
          <a:xfrm>
            <a:off x="6210300" y="1392239"/>
            <a:ext cx="5592763" cy="468471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Table</a:t>
            </a:r>
          </a:p>
        </p:txBody>
      </p:sp>
    </p:spTree>
    <p:extLst>
      <p:ext uri="{BB962C8B-B14F-4D97-AF65-F5344CB8AC3E}">
        <p14:creationId xmlns:p14="http://schemas.microsoft.com/office/powerpoint/2010/main" val="324268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4F1F29B1-F2F8-4527-A0B9-5A566F0DB568}"/>
              </a:ext>
            </a:extLst>
          </p:cNvPr>
          <p:cNvSpPr>
            <a:spLocks noGrp="1"/>
          </p:cNvSpPr>
          <p:nvPr>
            <p:ph type="dt" sz="half" idx="10"/>
          </p:nvPr>
        </p:nvSpPr>
        <p:spPr>
          <a:xfrm>
            <a:off x="838200" y="6486006"/>
            <a:ext cx="2743200" cy="365125"/>
          </a:xfrm>
          <a:prstGeom prst="rect">
            <a:avLst/>
          </a:prstGeom>
        </p:spPr>
        <p:txBody>
          <a:bodyPr/>
          <a:lstStyle>
            <a:lvl1pPr>
              <a:defRPr sz="12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fld id="{EEBFCEF3-2DDE-476B-8A96-303EC557333C}" type="datetime1">
              <a:rPr lang="en-US" smtClean="0"/>
              <a:pPr/>
              <a:t>6/4/2026</a:t>
            </a:fld>
            <a:endParaRPr lang="en-US"/>
          </a:p>
        </p:txBody>
      </p:sp>
      <p:sp>
        <p:nvSpPr>
          <p:cNvPr id="7" name="Footer Placeholder 4">
            <a:extLst>
              <a:ext uri="{FF2B5EF4-FFF2-40B4-BE49-F238E27FC236}">
                <a16:creationId xmlns:a16="http://schemas.microsoft.com/office/drawing/2014/main" id="{B1F89192-9608-4DA0-9D58-CE5D74F0161B}"/>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8" name="Slide Number Placeholder 5">
            <a:extLst>
              <a:ext uri="{FF2B5EF4-FFF2-40B4-BE49-F238E27FC236}">
                <a16:creationId xmlns:a16="http://schemas.microsoft.com/office/drawing/2014/main" id="{41300396-45C9-472A-AA37-70408F1C2FAF}"/>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9" name="Content Placeholder 4">
            <a:extLst>
              <a:ext uri="{FF2B5EF4-FFF2-40B4-BE49-F238E27FC236}">
                <a16:creationId xmlns:a16="http://schemas.microsoft.com/office/drawing/2014/main" id="{45B855E6-8413-49D5-929E-33A3B3627516}"/>
              </a:ext>
            </a:extLst>
          </p:cNvPr>
          <p:cNvSpPr>
            <a:spLocks noGrp="1"/>
          </p:cNvSpPr>
          <p:nvPr>
            <p:ph sz="quarter" idx="13"/>
          </p:nvPr>
        </p:nvSpPr>
        <p:spPr>
          <a:xfrm>
            <a:off x="4558372" y="1248325"/>
            <a:ext cx="7391400" cy="520541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itle 8">
            <a:extLst>
              <a:ext uri="{FF2B5EF4-FFF2-40B4-BE49-F238E27FC236}">
                <a16:creationId xmlns:a16="http://schemas.microsoft.com/office/drawing/2014/main" id="{AB6BBE52-BFE6-4B4F-95C1-25C2EB84A64F}"/>
              </a:ext>
            </a:extLst>
          </p:cNvPr>
          <p:cNvSpPr>
            <a:spLocks noGrp="1"/>
          </p:cNvSpPr>
          <p:nvPr>
            <p:ph type="title" hasCustomPrompt="1"/>
          </p:nvPr>
        </p:nvSpPr>
        <p:spPr>
          <a:xfrm>
            <a:off x="4558372" y="404265"/>
            <a:ext cx="7391400" cy="436098"/>
          </a:xfrm>
          <a:prstGeom prst="rect">
            <a:avLst/>
          </a:prstGeom>
        </p:spPr>
        <p:txBody>
          <a:bodyPr/>
          <a:lstStyle>
            <a:lvl1pPr>
              <a:defRPr sz="2800" b="1">
                <a:solidFill>
                  <a:schemeClr val="tx1"/>
                </a:solidFill>
                <a:latin typeface="Lato" panose="020F0502020204030203" pitchFamily="34" charset="0"/>
                <a:ea typeface="Lato" panose="020F0502020204030203" pitchFamily="34" charset="0"/>
                <a:cs typeface="Lato" panose="020F0502020204030203" pitchFamily="34" charset="0"/>
              </a:defRPr>
            </a:lvl1pPr>
          </a:lstStyle>
          <a:p>
            <a:r>
              <a:rPr lang="en-US" dirty="0"/>
              <a:t>Title 5:……………………………………..</a:t>
            </a:r>
          </a:p>
        </p:txBody>
      </p:sp>
    </p:spTree>
    <p:extLst>
      <p:ext uri="{BB962C8B-B14F-4D97-AF65-F5344CB8AC3E}">
        <p14:creationId xmlns:p14="http://schemas.microsoft.com/office/powerpoint/2010/main" val="41134391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itle 8">
            <a:extLst>
              <a:ext uri="{FF2B5EF4-FFF2-40B4-BE49-F238E27FC236}">
                <a16:creationId xmlns:a16="http://schemas.microsoft.com/office/drawing/2014/main" id="{3E6AE9CF-41FF-46D0-BF7A-815E4777895E}"/>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6:……………………………………..</a:t>
            </a:r>
          </a:p>
        </p:txBody>
      </p:sp>
      <p:sp>
        <p:nvSpPr>
          <p:cNvPr id="12" name="Text Placeholder 9">
            <a:extLst>
              <a:ext uri="{FF2B5EF4-FFF2-40B4-BE49-F238E27FC236}">
                <a16:creationId xmlns:a16="http://schemas.microsoft.com/office/drawing/2014/main" id="{A85E41C6-3987-4F5C-A750-35F5C730A567}"/>
              </a:ext>
            </a:extLst>
          </p:cNvPr>
          <p:cNvSpPr>
            <a:spLocks noGrp="1"/>
          </p:cNvSpPr>
          <p:nvPr>
            <p:ph type="body" sz="quarter" idx="13"/>
          </p:nvPr>
        </p:nvSpPr>
        <p:spPr>
          <a:xfrm>
            <a:off x="337539" y="1032510"/>
            <a:ext cx="11515725" cy="493871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Date Placeholder 3">
            <a:extLst>
              <a:ext uri="{FF2B5EF4-FFF2-40B4-BE49-F238E27FC236}">
                <a16:creationId xmlns:a16="http://schemas.microsoft.com/office/drawing/2014/main" id="{C99BA7CA-DC84-4A35-BD8A-C14D582181A5}"/>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8CDB0C24-DFE0-41C5-B02D-FC32F5C22F7C}" type="datetime1">
              <a:rPr lang="en-US" smtClean="0"/>
              <a:t>6/4/2026</a:t>
            </a:fld>
            <a:endParaRPr lang="en-US"/>
          </a:p>
        </p:txBody>
      </p:sp>
      <p:sp>
        <p:nvSpPr>
          <p:cNvPr id="14" name="Footer Placeholder 4">
            <a:extLst>
              <a:ext uri="{FF2B5EF4-FFF2-40B4-BE49-F238E27FC236}">
                <a16:creationId xmlns:a16="http://schemas.microsoft.com/office/drawing/2014/main" id="{E1DCC345-F4E6-42D6-9173-88011D0E2741}"/>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5" name="Slide Number Placeholder 5">
            <a:extLst>
              <a:ext uri="{FF2B5EF4-FFF2-40B4-BE49-F238E27FC236}">
                <a16:creationId xmlns:a16="http://schemas.microsoft.com/office/drawing/2014/main" id="{BD82AFB1-CD7C-4710-A82A-F9FEE6DA5C86}"/>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17913358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84B5929F-A28F-4256-A6B2-5D095331D016}"/>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B3ACFEBC-8634-4116-B617-2BE5C2034C2C}" type="datetime1">
              <a:rPr lang="en-US" smtClean="0"/>
              <a:pPr/>
              <a:t>6/4/2026</a:t>
            </a:fld>
            <a:endParaRPr lang="en-US"/>
          </a:p>
        </p:txBody>
      </p:sp>
      <p:sp>
        <p:nvSpPr>
          <p:cNvPr id="9" name="Footer Placeholder 4">
            <a:extLst>
              <a:ext uri="{FF2B5EF4-FFF2-40B4-BE49-F238E27FC236}">
                <a16:creationId xmlns:a16="http://schemas.microsoft.com/office/drawing/2014/main" id="{7C2F339A-915E-4496-B889-28FBBAAD3123}"/>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0" name="Slide Number Placeholder 5">
            <a:extLst>
              <a:ext uri="{FF2B5EF4-FFF2-40B4-BE49-F238E27FC236}">
                <a16:creationId xmlns:a16="http://schemas.microsoft.com/office/drawing/2014/main" id="{028A2E5F-7F4D-4F39-A494-67088E8046DE}"/>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1" name="Title 8">
            <a:extLst>
              <a:ext uri="{FF2B5EF4-FFF2-40B4-BE49-F238E27FC236}">
                <a16:creationId xmlns:a16="http://schemas.microsoft.com/office/drawing/2014/main" id="{FC0C4515-8106-49DA-9C06-E98AF815242A}"/>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7:……………………………………..</a:t>
            </a:r>
          </a:p>
        </p:txBody>
      </p:sp>
      <p:sp>
        <p:nvSpPr>
          <p:cNvPr id="12" name="Chart Placeholder 9">
            <a:extLst>
              <a:ext uri="{FF2B5EF4-FFF2-40B4-BE49-F238E27FC236}">
                <a16:creationId xmlns:a16="http://schemas.microsoft.com/office/drawing/2014/main" id="{F49327FB-190B-40C4-9FC9-66F9F7D12317}"/>
              </a:ext>
            </a:extLst>
          </p:cNvPr>
          <p:cNvSpPr>
            <a:spLocks noGrp="1"/>
          </p:cNvSpPr>
          <p:nvPr>
            <p:ph type="chart" sz="quarter" idx="13" hasCustomPrompt="1"/>
          </p:nvPr>
        </p:nvSpPr>
        <p:spPr>
          <a:xfrm>
            <a:off x="330201" y="1406769"/>
            <a:ext cx="5765800" cy="4655894"/>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Chart</a:t>
            </a:r>
          </a:p>
        </p:txBody>
      </p:sp>
      <p:sp>
        <p:nvSpPr>
          <p:cNvPr id="13" name="Picture Placeholder 11">
            <a:extLst>
              <a:ext uri="{FF2B5EF4-FFF2-40B4-BE49-F238E27FC236}">
                <a16:creationId xmlns:a16="http://schemas.microsoft.com/office/drawing/2014/main" id="{733EBCBB-E1FE-415C-8ED9-6D1F36748478}"/>
              </a:ext>
            </a:extLst>
          </p:cNvPr>
          <p:cNvSpPr>
            <a:spLocks noGrp="1"/>
          </p:cNvSpPr>
          <p:nvPr>
            <p:ph type="pic" sz="quarter" idx="14" hasCustomPrompt="1"/>
          </p:nvPr>
        </p:nvSpPr>
        <p:spPr>
          <a:xfrm>
            <a:off x="6238875" y="1414463"/>
            <a:ext cx="5445125" cy="4656137"/>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Picture</a:t>
            </a:r>
          </a:p>
        </p:txBody>
      </p:sp>
    </p:spTree>
    <p:extLst>
      <p:ext uri="{BB962C8B-B14F-4D97-AF65-F5344CB8AC3E}">
        <p14:creationId xmlns:p14="http://schemas.microsoft.com/office/powerpoint/2010/main" val="9605850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itle 8">
            <a:extLst>
              <a:ext uri="{FF2B5EF4-FFF2-40B4-BE49-F238E27FC236}">
                <a16:creationId xmlns:a16="http://schemas.microsoft.com/office/drawing/2014/main" id="{3E6AE9CF-41FF-46D0-BF7A-815E4777895E}"/>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8:……………………………………..</a:t>
            </a:r>
          </a:p>
        </p:txBody>
      </p:sp>
      <p:sp>
        <p:nvSpPr>
          <p:cNvPr id="12" name="Text Placeholder 9">
            <a:extLst>
              <a:ext uri="{FF2B5EF4-FFF2-40B4-BE49-F238E27FC236}">
                <a16:creationId xmlns:a16="http://schemas.microsoft.com/office/drawing/2014/main" id="{A85E41C6-3987-4F5C-A750-35F5C730A567}"/>
              </a:ext>
            </a:extLst>
          </p:cNvPr>
          <p:cNvSpPr>
            <a:spLocks noGrp="1"/>
          </p:cNvSpPr>
          <p:nvPr>
            <p:ph type="body" sz="quarter" idx="13"/>
          </p:nvPr>
        </p:nvSpPr>
        <p:spPr>
          <a:xfrm>
            <a:off x="337539" y="1032510"/>
            <a:ext cx="11515725" cy="493871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Date Placeholder 3">
            <a:extLst>
              <a:ext uri="{FF2B5EF4-FFF2-40B4-BE49-F238E27FC236}">
                <a16:creationId xmlns:a16="http://schemas.microsoft.com/office/drawing/2014/main" id="{C99BA7CA-DC84-4A35-BD8A-C14D582181A5}"/>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8CDB0C24-DFE0-41C5-B02D-FC32F5C22F7C}" type="datetime1">
              <a:rPr lang="en-US" smtClean="0"/>
              <a:t>6/4/2026</a:t>
            </a:fld>
            <a:endParaRPr lang="en-US"/>
          </a:p>
        </p:txBody>
      </p:sp>
      <p:sp>
        <p:nvSpPr>
          <p:cNvPr id="14" name="Footer Placeholder 4">
            <a:extLst>
              <a:ext uri="{FF2B5EF4-FFF2-40B4-BE49-F238E27FC236}">
                <a16:creationId xmlns:a16="http://schemas.microsoft.com/office/drawing/2014/main" id="{E1DCC345-F4E6-42D6-9173-88011D0E2741}"/>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5" name="Slide Number Placeholder 5">
            <a:extLst>
              <a:ext uri="{FF2B5EF4-FFF2-40B4-BE49-F238E27FC236}">
                <a16:creationId xmlns:a16="http://schemas.microsoft.com/office/drawing/2014/main" id="{BD82AFB1-CD7C-4710-A82A-F9FEE6DA5C86}"/>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27500320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84B5929F-A28F-4256-A6B2-5D095331D016}"/>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B3ACFEBC-8634-4116-B617-2BE5C2034C2C}" type="datetime1">
              <a:rPr lang="en-US" smtClean="0"/>
              <a:pPr/>
              <a:t>6/4/2026</a:t>
            </a:fld>
            <a:endParaRPr lang="en-US"/>
          </a:p>
        </p:txBody>
      </p:sp>
      <p:sp>
        <p:nvSpPr>
          <p:cNvPr id="9" name="Footer Placeholder 4">
            <a:extLst>
              <a:ext uri="{FF2B5EF4-FFF2-40B4-BE49-F238E27FC236}">
                <a16:creationId xmlns:a16="http://schemas.microsoft.com/office/drawing/2014/main" id="{7C2F339A-915E-4496-B889-28FBBAAD3123}"/>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0" name="Slide Number Placeholder 5">
            <a:extLst>
              <a:ext uri="{FF2B5EF4-FFF2-40B4-BE49-F238E27FC236}">
                <a16:creationId xmlns:a16="http://schemas.microsoft.com/office/drawing/2014/main" id="{028A2E5F-7F4D-4F39-A494-67088E8046DE}"/>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1" name="Title 8">
            <a:extLst>
              <a:ext uri="{FF2B5EF4-FFF2-40B4-BE49-F238E27FC236}">
                <a16:creationId xmlns:a16="http://schemas.microsoft.com/office/drawing/2014/main" id="{FC0C4515-8106-49DA-9C06-E98AF815242A}"/>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9:……………………………………..</a:t>
            </a:r>
          </a:p>
        </p:txBody>
      </p:sp>
      <p:sp>
        <p:nvSpPr>
          <p:cNvPr id="12" name="Chart Placeholder 9">
            <a:extLst>
              <a:ext uri="{FF2B5EF4-FFF2-40B4-BE49-F238E27FC236}">
                <a16:creationId xmlns:a16="http://schemas.microsoft.com/office/drawing/2014/main" id="{F49327FB-190B-40C4-9FC9-66F9F7D12317}"/>
              </a:ext>
            </a:extLst>
          </p:cNvPr>
          <p:cNvSpPr>
            <a:spLocks noGrp="1"/>
          </p:cNvSpPr>
          <p:nvPr>
            <p:ph type="chart" sz="quarter" idx="13" hasCustomPrompt="1"/>
          </p:nvPr>
        </p:nvSpPr>
        <p:spPr>
          <a:xfrm>
            <a:off x="330201" y="1406769"/>
            <a:ext cx="5765800" cy="4655894"/>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Chart</a:t>
            </a:r>
          </a:p>
        </p:txBody>
      </p:sp>
      <p:sp>
        <p:nvSpPr>
          <p:cNvPr id="13" name="Picture Placeholder 11">
            <a:extLst>
              <a:ext uri="{FF2B5EF4-FFF2-40B4-BE49-F238E27FC236}">
                <a16:creationId xmlns:a16="http://schemas.microsoft.com/office/drawing/2014/main" id="{733EBCBB-E1FE-415C-8ED9-6D1F36748478}"/>
              </a:ext>
            </a:extLst>
          </p:cNvPr>
          <p:cNvSpPr>
            <a:spLocks noGrp="1"/>
          </p:cNvSpPr>
          <p:nvPr>
            <p:ph type="pic" sz="quarter" idx="14" hasCustomPrompt="1"/>
          </p:nvPr>
        </p:nvSpPr>
        <p:spPr>
          <a:xfrm>
            <a:off x="6238875" y="1414463"/>
            <a:ext cx="5445125" cy="4656137"/>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Picture</a:t>
            </a:r>
          </a:p>
        </p:txBody>
      </p:sp>
    </p:spTree>
    <p:extLst>
      <p:ext uri="{BB962C8B-B14F-4D97-AF65-F5344CB8AC3E}">
        <p14:creationId xmlns:p14="http://schemas.microsoft.com/office/powerpoint/2010/main" val="12262005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A21A061D-9F38-49ED-BAF8-8055D9FB97A5}"/>
              </a:ext>
            </a:extLst>
          </p:cNvPr>
          <p:cNvSpPr>
            <a:spLocks noGrp="1"/>
          </p:cNvSpPr>
          <p:nvPr>
            <p:ph type="dt" sz="half" idx="10"/>
          </p:nvPr>
        </p:nvSpPr>
        <p:spPr>
          <a:xfrm>
            <a:off x="838200" y="6492875"/>
            <a:ext cx="2743200" cy="365125"/>
          </a:xfrm>
          <a:prstGeom prst="rect">
            <a:avLst/>
          </a:prstGeom>
        </p:spPr>
        <p:txBody>
          <a:bodyPr/>
          <a:lstStyle>
            <a:lvl1pPr>
              <a:defRPr sz="12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fld id="{82F65D4C-DEE4-4C7B-91C4-D6D57A523E98}" type="datetime1">
              <a:rPr lang="en-US" smtClean="0"/>
              <a:pPr/>
              <a:t>6/4/2026</a:t>
            </a:fld>
            <a:endParaRPr lang="en-US"/>
          </a:p>
        </p:txBody>
      </p:sp>
      <p:sp>
        <p:nvSpPr>
          <p:cNvPr id="9" name="Footer Placeholder 4">
            <a:extLst>
              <a:ext uri="{FF2B5EF4-FFF2-40B4-BE49-F238E27FC236}">
                <a16:creationId xmlns:a16="http://schemas.microsoft.com/office/drawing/2014/main" id="{490FAA6E-46AD-4366-8E80-2F5BEB7D5B24}"/>
              </a:ext>
            </a:extLst>
          </p:cNvPr>
          <p:cNvSpPr>
            <a:spLocks noGrp="1"/>
          </p:cNvSpPr>
          <p:nvPr>
            <p:ph type="ftr" sz="quarter" idx="11"/>
          </p:nvPr>
        </p:nvSpPr>
        <p:spPr>
          <a:xfrm>
            <a:off x="4038600" y="6492875"/>
            <a:ext cx="41148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0" name="Slide Number Placeholder 5">
            <a:extLst>
              <a:ext uri="{FF2B5EF4-FFF2-40B4-BE49-F238E27FC236}">
                <a16:creationId xmlns:a16="http://schemas.microsoft.com/office/drawing/2014/main" id="{9A5604C7-0828-446E-97CC-8D6162E69E60}"/>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20148816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6560333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4">
            <a:extLst>
              <a:ext uri="{FF2B5EF4-FFF2-40B4-BE49-F238E27FC236}">
                <a16:creationId xmlns:a16="http://schemas.microsoft.com/office/drawing/2014/main" id="{4C167836-5AFF-4757-AB55-39FD3BBF9D47}"/>
              </a:ext>
            </a:extLst>
          </p:cNvPr>
          <p:cNvSpPr>
            <a:spLocks noGrp="1"/>
          </p:cNvSpPr>
          <p:nvPr>
            <p:ph type="title" hasCustomPrompt="1"/>
          </p:nvPr>
        </p:nvSpPr>
        <p:spPr>
          <a:xfrm>
            <a:off x="3788898" y="2461846"/>
            <a:ext cx="4614203" cy="1934307"/>
          </a:xfrm>
          <a:prstGeom prst="rect">
            <a:avLst/>
          </a:prstGeom>
        </p:spPr>
        <p:txBody>
          <a:bodyPr/>
          <a:lstStyle>
            <a:lvl1pPr algn="ctr">
              <a:defRPr sz="4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CLICK TO EDIT MASTER TITLE STYLE</a:t>
            </a:r>
          </a:p>
        </p:txBody>
      </p:sp>
    </p:spTree>
    <p:extLst>
      <p:ext uri="{BB962C8B-B14F-4D97-AF65-F5344CB8AC3E}">
        <p14:creationId xmlns:p14="http://schemas.microsoft.com/office/powerpoint/2010/main" val="29815202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09543385"/>
      </p:ext>
    </p:extLst>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5" r:id="rId5"/>
    <p:sldLayoutId id="2147483654" r:id="rId6"/>
    <p:sldLayoutId id="2147483660" r:id="rId7"/>
    <p:sldLayoutId id="2147483659" r:id="rId8"/>
    <p:sldLayoutId id="2147483658" r:id="rId9"/>
    <p:sldLayoutId id="2147483661" r:id="rId10"/>
    <p:sldLayoutId id="2147483656" r:id="rId11"/>
    <p:sldLayoutId id="2147483657" r:id="rId12"/>
    <p:sldLayoutId id="2147483649"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4.xml"/><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0663553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642BA63-383F-45B9-939A-7A3B792A60C4}"/>
              </a:ext>
            </a:extLst>
          </p:cNvPr>
          <p:cNvSpPr>
            <a:spLocks noGrp="1"/>
          </p:cNvSpPr>
          <p:nvPr>
            <p:ph type="title"/>
          </p:nvPr>
        </p:nvSpPr>
        <p:spPr>
          <a:xfrm>
            <a:off x="2273828" y="2461846"/>
            <a:ext cx="7644344" cy="1934307"/>
          </a:xfrm>
        </p:spPr>
        <p:txBody>
          <a:bodyPr/>
          <a:lstStyle/>
          <a:p>
            <a:r>
              <a:rPr lang="en-US" dirty="0" err="1"/>
              <a:t>Ứng</a:t>
            </a:r>
            <a:r>
              <a:rPr lang="en-US" dirty="0"/>
              <a:t> </a:t>
            </a:r>
            <a:r>
              <a:rPr lang="en-US" dirty="0" err="1"/>
              <a:t>Dụng</a:t>
            </a:r>
            <a:r>
              <a:rPr lang="en-US" dirty="0"/>
              <a:t> Machine Learning Trong </a:t>
            </a:r>
            <a:r>
              <a:rPr lang="en-US" dirty="0" err="1"/>
              <a:t>Chẩn</a:t>
            </a:r>
            <a:r>
              <a:rPr lang="en-US" dirty="0"/>
              <a:t> </a:t>
            </a:r>
            <a:r>
              <a:rPr lang="en-US" dirty="0" err="1"/>
              <a:t>Đoán</a:t>
            </a:r>
            <a:r>
              <a:rPr lang="en-US" dirty="0"/>
              <a:t> </a:t>
            </a:r>
            <a:r>
              <a:rPr lang="en-US" dirty="0" err="1"/>
              <a:t>Hư</a:t>
            </a:r>
            <a:r>
              <a:rPr lang="en-US" dirty="0"/>
              <a:t> </a:t>
            </a:r>
            <a:r>
              <a:rPr lang="en-US" dirty="0" err="1"/>
              <a:t>Hỏng</a:t>
            </a:r>
            <a:r>
              <a:rPr lang="en-US" dirty="0"/>
              <a:t> Ổ </a:t>
            </a:r>
            <a:r>
              <a:rPr lang="en-US" dirty="0" err="1"/>
              <a:t>Lăn</a:t>
            </a:r>
            <a:r>
              <a:rPr lang="en-US" dirty="0"/>
              <a:t> </a:t>
            </a:r>
          </a:p>
        </p:txBody>
      </p:sp>
    </p:spTree>
    <p:extLst>
      <p:ext uri="{BB962C8B-B14F-4D97-AF65-F5344CB8AC3E}">
        <p14:creationId xmlns:p14="http://schemas.microsoft.com/office/powerpoint/2010/main" val="12340041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108F6D9-EEEA-402C-98D9-7DF024C759AE}"/>
              </a:ext>
            </a:extLst>
          </p:cNvPr>
          <p:cNvSpPr>
            <a:spLocks noGrp="1"/>
          </p:cNvSpPr>
          <p:nvPr>
            <p:ph type="title"/>
          </p:nvPr>
        </p:nvSpPr>
        <p:spPr/>
        <p:txBody>
          <a:bodyPr/>
          <a:lstStyle/>
          <a:p>
            <a:r>
              <a:rPr lang="en-US" dirty="0" err="1"/>
              <a:t>Mục</a:t>
            </a:r>
            <a:r>
              <a:rPr lang="en-US" dirty="0"/>
              <a:t> </a:t>
            </a:r>
            <a:r>
              <a:rPr lang="en-US" dirty="0" err="1"/>
              <a:t>tiêu</a:t>
            </a:r>
            <a:r>
              <a:rPr lang="en-US" dirty="0"/>
              <a:t> </a:t>
            </a:r>
            <a:r>
              <a:rPr lang="en-US" dirty="0" err="1"/>
              <a:t>khoá</a:t>
            </a:r>
            <a:r>
              <a:rPr lang="en-US" dirty="0"/>
              <a:t> </a:t>
            </a:r>
            <a:r>
              <a:rPr lang="en-US" dirty="0" err="1"/>
              <a:t>học</a:t>
            </a:r>
            <a:br>
              <a:rPr lang="en-US" dirty="0"/>
            </a:br>
            <a:endParaRPr lang="en-US" dirty="0"/>
          </a:p>
        </p:txBody>
      </p:sp>
      <p:sp>
        <p:nvSpPr>
          <p:cNvPr id="5" name="Slide Number Placeholder 4">
            <a:extLst>
              <a:ext uri="{FF2B5EF4-FFF2-40B4-BE49-F238E27FC236}">
                <a16:creationId xmlns:a16="http://schemas.microsoft.com/office/drawing/2014/main" id="{3776946D-AB92-4D05-97ED-4EDF0AB0FF55}"/>
              </a:ext>
            </a:extLst>
          </p:cNvPr>
          <p:cNvSpPr>
            <a:spLocks noGrp="1"/>
          </p:cNvSpPr>
          <p:nvPr>
            <p:ph type="sldNum" sz="quarter" idx="12"/>
          </p:nvPr>
        </p:nvSpPr>
        <p:spPr/>
        <p:txBody>
          <a:bodyPr/>
          <a:lstStyle/>
          <a:p>
            <a:fld id="{9EA0BE3B-158A-4EDF-80DC-E394A0D1600F}" type="slidenum">
              <a:rPr lang="en-US" smtClean="0"/>
              <a:pPr/>
              <a:t>3</a:t>
            </a:fld>
            <a:endParaRPr lang="en-US"/>
          </a:p>
        </p:txBody>
      </p:sp>
      <p:sp>
        <p:nvSpPr>
          <p:cNvPr id="8" name="Shape 3">
            <a:extLst>
              <a:ext uri="{FF2B5EF4-FFF2-40B4-BE49-F238E27FC236}">
                <a16:creationId xmlns:a16="http://schemas.microsoft.com/office/drawing/2014/main" id="{3A61218D-5D85-770D-4E16-73EF1B0991FF}"/>
              </a:ext>
            </a:extLst>
          </p:cNvPr>
          <p:cNvSpPr/>
          <p:nvPr/>
        </p:nvSpPr>
        <p:spPr>
          <a:xfrm>
            <a:off x="430176" y="1323762"/>
            <a:ext cx="54864" cy="640080"/>
          </a:xfrm>
          <a:prstGeom prst="rect">
            <a:avLst/>
          </a:prstGeom>
          <a:solidFill>
            <a:srgbClr val="06D6A0"/>
          </a:solidFill>
          <a:ln w="12700">
            <a:solidFill>
              <a:srgbClr val="06D6A0"/>
            </a:solidFill>
            <a:prstDash val="solid"/>
          </a:ln>
        </p:spPr>
      </p:sp>
      <p:sp>
        <p:nvSpPr>
          <p:cNvPr id="9" name="Text 4">
            <a:extLst>
              <a:ext uri="{FF2B5EF4-FFF2-40B4-BE49-F238E27FC236}">
                <a16:creationId xmlns:a16="http://schemas.microsoft.com/office/drawing/2014/main" id="{5B0E6B39-7FA6-F640-1BA9-A8318132D364}"/>
              </a:ext>
            </a:extLst>
          </p:cNvPr>
          <p:cNvSpPr/>
          <p:nvPr/>
        </p:nvSpPr>
        <p:spPr>
          <a:xfrm>
            <a:off x="613056" y="1369482"/>
            <a:ext cx="11148768" cy="548640"/>
          </a:xfrm>
          <a:prstGeom prst="rect">
            <a:avLst/>
          </a:prstGeom>
          <a:noFill/>
          <a:ln/>
        </p:spPr>
        <p:txBody>
          <a:bodyPr wrap="square" rtlCol="0" anchor="ctr"/>
          <a:lstStyle/>
          <a:p>
            <a:pPr marL="0" indent="0">
              <a:buNone/>
            </a:pPr>
            <a:r>
              <a:rPr lang="en-US" dirty="0">
                <a:latin typeface="Calibri" pitchFamily="34" charset="0"/>
                <a:ea typeface="Calibri" pitchFamily="34" charset="-122"/>
                <a:cs typeface="Calibri" pitchFamily="34" charset="-120"/>
              </a:rPr>
              <a:t>Nắm vững quy trình xử lý hoàn chỉnh (Pipeline): từ tín hiệu rung thô đến chẩn đoán lỗi</a:t>
            </a:r>
            <a:endParaRPr lang="en-US" dirty="0"/>
          </a:p>
        </p:txBody>
      </p:sp>
      <p:sp>
        <p:nvSpPr>
          <p:cNvPr id="10" name="Shape 5">
            <a:extLst>
              <a:ext uri="{FF2B5EF4-FFF2-40B4-BE49-F238E27FC236}">
                <a16:creationId xmlns:a16="http://schemas.microsoft.com/office/drawing/2014/main" id="{CE05F8EE-318E-B154-0D82-C4834097CEC0}"/>
              </a:ext>
            </a:extLst>
          </p:cNvPr>
          <p:cNvSpPr/>
          <p:nvPr/>
        </p:nvSpPr>
        <p:spPr>
          <a:xfrm>
            <a:off x="430176" y="2238162"/>
            <a:ext cx="54864" cy="640080"/>
          </a:xfrm>
          <a:prstGeom prst="rect">
            <a:avLst/>
          </a:prstGeom>
          <a:solidFill>
            <a:srgbClr val="00B4D8"/>
          </a:solidFill>
          <a:ln w="12700">
            <a:solidFill>
              <a:srgbClr val="00B4D8"/>
            </a:solidFill>
            <a:prstDash val="solid"/>
          </a:ln>
        </p:spPr>
      </p:sp>
      <p:sp>
        <p:nvSpPr>
          <p:cNvPr id="11" name="Text 6">
            <a:extLst>
              <a:ext uri="{FF2B5EF4-FFF2-40B4-BE49-F238E27FC236}">
                <a16:creationId xmlns:a16="http://schemas.microsoft.com/office/drawing/2014/main" id="{E2E52D1F-8982-3D89-E899-F4719A0CAC0F}"/>
              </a:ext>
            </a:extLst>
          </p:cNvPr>
          <p:cNvSpPr/>
          <p:nvPr/>
        </p:nvSpPr>
        <p:spPr>
          <a:xfrm>
            <a:off x="613056" y="2283882"/>
            <a:ext cx="11148768" cy="548640"/>
          </a:xfrm>
          <a:prstGeom prst="rect">
            <a:avLst/>
          </a:prstGeom>
          <a:noFill/>
          <a:ln/>
        </p:spPr>
        <p:txBody>
          <a:bodyPr wrap="square" rtlCol="0" anchor="ctr"/>
          <a:lstStyle/>
          <a:p>
            <a:pPr marL="0" indent="0">
              <a:buNone/>
            </a:pPr>
            <a:r>
              <a:rPr lang="en-US" dirty="0">
                <a:latin typeface="Calibri" pitchFamily="34" charset="0"/>
                <a:ea typeface="Calibri" pitchFamily="34" charset="-122"/>
                <a:cs typeface="Calibri" pitchFamily="34" charset="-120"/>
              </a:rPr>
              <a:t>Tự xây dựng và tối ưu hóa các mô hình SVM và Random Forest</a:t>
            </a:r>
            <a:endParaRPr lang="en-US" dirty="0"/>
          </a:p>
        </p:txBody>
      </p:sp>
      <p:sp>
        <p:nvSpPr>
          <p:cNvPr id="12" name="Shape 7">
            <a:extLst>
              <a:ext uri="{FF2B5EF4-FFF2-40B4-BE49-F238E27FC236}">
                <a16:creationId xmlns:a16="http://schemas.microsoft.com/office/drawing/2014/main" id="{5C41A717-6F3F-F412-CC02-AFAD61ED22E0}"/>
              </a:ext>
            </a:extLst>
          </p:cNvPr>
          <p:cNvSpPr/>
          <p:nvPr/>
        </p:nvSpPr>
        <p:spPr>
          <a:xfrm>
            <a:off x="430176" y="3152562"/>
            <a:ext cx="54864" cy="640080"/>
          </a:xfrm>
          <a:prstGeom prst="rect">
            <a:avLst/>
          </a:prstGeom>
          <a:solidFill>
            <a:srgbClr val="FFD166"/>
          </a:solidFill>
          <a:ln w="12700">
            <a:solidFill>
              <a:srgbClr val="FFD166"/>
            </a:solidFill>
            <a:prstDash val="solid"/>
          </a:ln>
        </p:spPr>
      </p:sp>
      <p:sp>
        <p:nvSpPr>
          <p:cNvPr id="13" name="Text 8">
            <a:extLst>
              <a:ext uri="{FF2B5EF4-FFF2-40B4-BE49-F238E27FC236}">
                <a16:creationId xmlns:a16="http://schemas.microsoft.com/office/drawing/2014/main" id="{A75C2290-9A13-7D5C-5FD2-766C20A6D052}"/>
              </a:ext>
            </a:extLst>
          </p:cNvPr>
          <p:cNvSpPr/>
          <p:nvPr/>
        </p:nvSpPr>
        <p:spPr>
          <a:xfrm>
            <a:off x="613056" y="3198282"/>
            <a:ext cx="11148768" cy="548640"/>
          </a:xfrm>
          <a:prstGeom prst="rect">
            <a:avLst/>
          </a:prstGeom>
          <a:noFill/>
          <a:ln/>
        </p:spPr>
        <p:txBody>
          <a:bodyPr wrap="square" rtlCol="0" anchor="ctr"/>
          <a:lstStyle/>
          <a:p>
            <a:pPr marL="0" indent="0">
              <a:buNone/>
            </a:pPr>
            <a:r>
              <a:rPr lang="en-US" dirty="0">
                <a:latin typeface="Calibri" pitchFamily="34" charset="0"/>
                <a:ea typeface="Calibri" pitchFamily="34" charset="-122"/>
                <a:cs typeface="Calibri" pitchFamily="34" charset="-120"/>
              </a:rPr>
              <a:t>Đánh giá hiệu năng mô hình khách quan, tránh bẫy rò rỉ dữ liệu (data leakage)</a:t>
            </a:r>
            <a:endParaRPr lang="en-US" dirty="0"/>
          </a:p>
        </p:txBody>
      </p:sp>
      <p:sp>
        <p:nvSpPr>
          <p:cNvPr id="14" name="Shape 9">
            <a:extLst>
              <a:ext uri="{FF2B5EF4-FFF2-40B4-BE49-F238E27FC236}">
                <a16:creationId xmlns:a16="http://schemas.microsoft.com/office/drawing/2014/main" id="{FEC9DB86-D91D-8D08-AC85-4086BB77F9F5}"/>
              </a:ext>
            </a:extLst>
          </p:cNvPr>
          <p:cNvSpPr/>
          <p:nvPr/>
        </p:nvSpPr>
        <p:spPr>
          <a:xfrm>
            <a:off x="430176" y="4066962"/>
            <a:ext cx="54864" cy="640080"/>
          </a:xfrm>
          <a:prstGeom prst="rect">
            <a:avLst/>
          </a:prstGeom>
          <a:solidFill>
            <a:srgbClr val="00F5D4"/>
          </a:solidFill>
          <a:ln w="12700">
            <a:solidFill>
              <a:srgbClr val="00F5D4"/>
            </a:solidFill>
            <a:prstDash val="solid"/>
          </a:ln>
        </p:spPr>
      </p:sp>
      <p:sp>
        <p:nvSpPr>
          <p:cNvPr id="15" name="Text 10">
            <a:extLst>
              <a:ext uri="{FF2B5EF4-FFF2-40B4-BE49-F238E27FC236}">
                <a16:creationId xmlns:a16="http://schemas.microsoft.com/office/drawing/2014/main" id="{A737B159-F761-FC45-0B81-F146E1EF2651}"/>
              </a:ext>
            </a:extLst>
          </p:cNvPr>
          <p:cNvSpPr/>
          <p:nvPr/>
        </p:nvSpPr>
        <p:spPr>
          <a:xfrm>
            <a:off x="613056" y="4112682"/>
            <a:ext cx="11148768" cy="548640"/>
          </a:xfrm>
          <a:prstGeom prst="rect">
            <a:avLst/>
          </a:prstGeom>
          <a:noFill/>
          <a:ln/>
        </p:spPr>
        <p:txBody>
          <a:bodyPr wrap="square" rtlCol="0" anchor="ctr"/>
          <a:lstStyle/>
          <a:p>
            <a:pPr marL="0" indent="0">
              <a:buNone/>
            </a:pPr>
            <a:r>
              <a:rPr lang="en-US" dirty="0">
                <a:latin typeface="Calibri" pitchFamily="34" charset="0"/>
                <a:ea typeface="Calibri" pitchFamily="34" charset="-122"/>
                <a:cs typeface="Calibri" pitchFamily="34" charset="-120"/>
              </a:rPr>
              <a:t>Ứng dụng SHAP để giải thích cơ chế đưa ra quyết định của mô hình</a:t>
            </a:r>
            <a:endParaRPr lang="en-US" dirty="0"/>
          </a:p>
        </p:txBody>
      </p:sp>
      <p:sp>
        <p:nvSpPr>
          <p:cNvPr id="16" name="Text 12">
            <a:extLst>
              <a:ext uri="{FF2B5EF4-FFF2-40B4-BE49-F238E27FC236}">
                <a16:creationId xmlns:a16="http://schemas.microsoft.com/office/drawing/2014/main" id="{6C9608A5-2904-6DED-F66E-7CA74DDD480F}"/>
              </a:ext>
            </a:extLst>
          </p:cNvPr>
          <p:cNvSpPr/>
          <p:nvPr/>
        </p:nvSpPr>
        <p:spPr>
          <a:xfrm>
            <a:off x="338736" y="5202186"/>
            <a:ext cx="11423088" cy="457200"/>
          </a:xfrm>
          <a:prstGeom prst="rect">
            <a:avLst/>
          </a:prstGeom>
          <a:noFill/>
          <a:ln/>
        </p:spPr>
        <p:txBody>
          <a:bodyPr wrap="square" rtlCol="0" anchor="ctr"/>
          <a:lstStyle/>
          <a:p>
            <a:pPr marL="0" indent="0">
              <a:buNone/>
            </a:pPr>
            <a:r>
              <a:rPr lang="en-US" i="1" dirty="0">
                <a:solidFill>
                  <a:srgbClr val="00B4D8"/>
                </a:solidFill>
                <a:latin typeface="Calibri" pitchFamily="34" charset="0"/>
                <a:ea typeface="Calibri" pitchFamily="34" charset="-122"/>
                <a:cs typeface="Calibri" pitchFamily="34" charset="-120"/>
              </a:rPr>
              <a:t>💡 Tư duy cốt lõi: Khi ổ lăn xuất hiện khuyết tật, mỗi vòng quay kích thích một xung va đập đặc trưng lặp lại tuần hoàn. Mọi công cụ FFT, Envelope, ML, SHAP chỉ là cách phát hiện cái nhịp đó.</a:t>
            </a:r>
            <a:endParaRPr lang="en-US" dirty="0"/>
          </a:p>
        </p:txBody>
      </p:sp>
    </p:spTree>
    <p:extLst>
      <p:ext uri="{BB962C8B-B14F-4D97-AF65-F5344CB8AC3E}">
        <p14:creationId xmlns:p14="http://schemas.microsoft.com/office/powerpoint/2010/main" val="640846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hape 3">
            <a:extLst>
              <a:ext uri="{FF2B5EF4-FFF2-40B4-BE49-F238E27FC236}">
                <a16:creationId xmlns:a16="http://schemas.microsoft.com/office/drawing/2014/main" id="{986A64DC-D995-8DD4-CCAD-74E61CB2CB2A}"/>
              </a:ext>
            </a:extLst>
          </p:cNvPr>
          <p:cNvSpPr/>
          <p:nvPr/>
        </p:nvSpPr>
        <p:spPr>
          <a:xfrm>
            <a:off x="187421" y="1070044"/>
            <a:ext cx="3840480" cy="4114800"/>
          </a:xfrm>
          <a:prstGeom prst="roundRect">
            <a:avLst>
              <a:gd name="adj" fmla="val 5454"/>
            </a:avLst>
          </a:prstGeom>
          <a:solidFill>
            <a:srgbClr val="6B1A2B"/>
          </a:solidFill>
          <a:ln w="12700">
            <a:solidFill>
              <a:srgbClr val="0077B6"/>
            </a:solidFill>
            <a:prstDash val="solid"/>
          </a:ln>
        </p:spPr>
      </p:sp>
      <p:sp>
        <p:nvSpPr>
          <p:cNvPr id="20" name="Text 4">
            <a:extLst>
              <a:ext uri="{FF2B5EF4-FFF2-40B4-BE49-F238E27FC236}">
                <a16:creationId xmlns:a16="http://schemas.microsoft.com/office/drawing/2014/main" id="{0615E134-DE26-E9AB-2C7C-09807F51D8FC}"/>
              </a:ext>
            </a:extLst>
          </p:cNvPr>
          <p:cNvSpPr/>
          <p:nvPr/>
        </p:nvSpPr>
        <p:spPr>
          <a:xfrm>
            <a:off x="278861" y="1134052"/>
            <a:ext cx="2560320" cy="411480"/>
          </a:xfrm>
          <a:prstGeom prst="rect">
            <a:avLst/>
          </a:prstGeom>
          <a:noFill/>
          <a:ln/>
        </p:spPr>
        <p:txBody>
          <a:bodyPr wrap="square" rtlCol="0" anchor="ctr"/>
          <a:lstStyle/>
          <a:p>
            <a:pPr marL="0" indent="0">
              <a:buNone/>
            </a:pPr>
            <a:r>
              <a:rPr lang="en-US" b="1" dirty="0">
                <a:solidFill>
                  <a:srgbClr val="FFFFFF"/>
                </a:solidFill>
                <a:latin typeface="Calibri" pitchFamily="34" charset="0"/>
                <a:ea typeface="Calibri" pitchFamily="34" charset="-122"/>
                <a:cs typeface="Calibri" pitchFamily="34" charset="-120"/>
              </a:rPr>
              <a:t>Bảo trì phản ứng</a:t>
            </a:r>
            <a:endParaRPr lang="en-US" dirty="0"/>
          </a:p>
        </p:txBody>
      </p:sp>
      <p:sp>
        <p:nvSpPr>
          <p:cNvPr id="21" name="Text 5">
            <a:extLst>
              <a:ext uri="{FF2B5EF4-FFF2-40B4-BE49-F238E27FC236}">
                <a16:creationId xmlns:a16="http://schemas.microsoft.com/office/drawing/2014/main" id="{2B173157-C0EC-B456-2430-6074A6E6BF2C}"/>
              </a:ext>
            </a:extLst>
          </p:cNvPr>
          <p:cNvSpPr/>
          <p:nvPr/>
        </p:nvSpPr>
        <p:spPr>
          <a:xfrm>
            <a:off x="278861" y="1554676"/>
            <a:ext cx="2560320" cy="274320"/>
          </a:xfrm>
          <a:prstGeom prst="rect">
            <a:avLst/>
          </a:prstGeom>
          <a:noFill/>
          <a:ln/>
        </p:spPr>
        <p:txBody>
          <a:bodyPr wrap="square" rtlCol="0" anchor="ctr"/>
          <a:lstStyle/>
          <a:p>
            <a:pPr marL="0" indent="0">
              <a:buNone/>
            </a:pPr>
            <a:r>
              <a:rPr lang="en-US" sz="1500" i="1" dirty="0">
                <a:solidFill>
                  <a:srgbClr val="8BAFC7"/>
                </a:solidFill>
                <a:latin typeface="Calibri" pitchFamily="34" charset="0"/>
                <a:ea typeface="Calibri" pitchFamily="34" charset="-122"/>
                <a:cs typeface="Calibri" pitchFamily="34" charset="-120"/>
              </a:rPr>
              <a:t>Hỏng mới sửa</a:t>
            </a:r>
            <a:endParaRPr lang="en-US" sz="1500" dirty="0"/>
          </a:p>
        </p:txBody>
      </p:sp>
      <p:sp>
        <p:nvSpPr>
          <p:cNvPr id="22" name="Text 6">
            <a:extLst>
              <a:ext uri="{FF2B5EF4-FFF2-40B4-BE49-F238E27FC236}">
                <a16:creationId xmlns:a16="http://schemas.microsoft.com/office/drawing/2014/main" id="{C0F0625A-12B5-2BBD-B604-F2DAA4CE41EF}"/>
              </a:ext>
            </a:extLst>
          </p:cNvPr>
          <p:cNvSpPr/>
          <p:nvPr/>
        </p:nvSpPr>
        <p:spPr>
          <a:xfrm>
            <a:off x="278859" y="1893004"/>
            <a:ext cx="3614689" cy="3108960"/>
          </a:xfrm>
          <a:prstGeom prst="rect">
            <a:avLst/>
          </a:prstGeom>
          <a:noFill/>
          <a:ln/>
        </p:spPr>
        <p:txBody>
          <a:bodyPr wrap="square" rtlCol="0" anchor="t"/>
          <a:lstStyle/>
          <a:p>
            <a:pPr>
              <a:buSzPct val="100000"/>
            </a:pPr>
            <a:r>
              <a:rPr lang="en-US" dirty="0" err="1">
                <a:solidFill>
                  <a:srgbClr val="E8F4FD"/>
                </a:solidFill>
                <a:latin typeface="Calibri" pitchFamily="34" charset="0"/>
                <a:ea typeface="Calibri" pitchFamily="34" charset="-122"/>
                <a:cs typeface="Calibri" pitchFamily="34" charset="-120"/>
              </a:rPr>
              <a:t>Chiến</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lược</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thu</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động</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Chỉ</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tiến</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hành</a:t>
            </a:r>
            <a:r>
              <a:rPr lang="en-US" dirty="0">
                <a:solidFill>
                  <a:srgbClr val="E8F4FD"/>
                </a:solidFill>
                <a:latin typeface="Calibri" pitchFamily="34" charset="0"/>
                <a:ea typeface="Calibri" pitchFamily="34" charset="-122"/>
                <a:cs typeface="Calibri" pitchFamily="34" charset="-120"/>
              </a:rPr>
              <a:t> can </a:t>
            </a:r>
            <a:r>
              <a:rPr lang="en-US" dirty="0" err="1">
                <a:solidFill>
                  <a:srgbClr val="E8F4FD"/>
                </a:solidFill>
                <a:latin typeface="Calibri" pitchFamily="34" charset="0"/>
                <a:ea typeface="Calibri" pitchFamily="34" charset="-122"/>
                <a:cs typeface="Calibri" pitchFamily="34" charset="-120"/>
              </a:rPr>
              <a:t>thiệp</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kỹ</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thuật</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sau</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khi</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thiết</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bị</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đã</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xảy</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ra</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sự</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cố</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và</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ngừng</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hoạt</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động</a:t>
            </a:r>
            <a:r>
              <a:rPr lang="en-US" dirty="0">
                <a:solidFill>
                  <a:srgbClr val="E8F4FD"/>
                </a:solidFill>
                <a:latin typeface="Calibri" pitchFamily="34" charset="0"/>
                <a:ea typeface="Calibri" pitchFamily="34" charset="-122"/>
                <a:cs typeface="Calibri" pitchFamily="34" charset="-120"/>
              </a:rPr>
              <a:t>.</a:t>
            </a:r>
          </a:p>
          <a:p>
            <a:pPr marL="342900" indent="-342900">
              <a:buSzPct val="100000"/>
              <a:buChar char="•"/>
            </a:pPr>
            <a:r>
              <a:rPr lang="en-US" b="1" dirty="0">
                <a:solidFill>
                  <a:srgbClr val="E8F4FD"/>
                </a:solidFill>
                <a:latin typeface="Calibri" pitchFamily="34" charset="0"/>
                <a:ea typeface="Calibri" pitchFamily="34" charset="-122"/>
                <a:cs typeface="Calibri" pitchFamily="34" charset="-120"/>
              </a:rPr>
              <a:t>Hậu </a:t>
            </a:r>
            <a:r>
              <a:rPr lang="en-US" b="1" dirty="0" err="1">
                <a:solidFill>
                  <a:srgbClr val="E8F4FD"/>
                </a:solidFill>
                <a:latin typeface="Calibri" pitchFamily="34" charset="0"/>
                <a:ea typeface="Calibri" pitchFamily="34" charset="-122"/>
                <a:cs typeface="Calibri" pitchFamily="34" charset="-120"/>
              </a:rPr>
              <a:t>quả</a:t>
            </a:r>
            <a:r>
              <a:rPr lang="en-US" b="1"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Gây</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dừng</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máy</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đột</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ngột</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làm</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tê</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liệt</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dây</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chuyền</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sản</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xuất</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quy</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mô</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lớn</a:t>
            </a:r>
            <a:endParaRPr lang="en-US" dirty="0">
              <a:solidFill>
                <a:srgbClr val="E8F4FD"/>
              </a:solidFill>
              <a:latin typeface="Calibri" pitchFamily="34" charset="0"/>
              <a:ea typeface="Calibri" pitchFamily="34" charset="-122"/>
              <a:cs typeface="Calibri" pitchFamily="34" charset="-120"/>
            </a:endParaRPr>
          </a:p>
          <a:p>
            <a:pPr marL="342900" indent="-342900">
              <a:buSzPct val="100000"/>
              <a:buChar char="•"/>
            </a:pPr>
            <a:r>
              <a:rPr lang="en-US" b="1" dirty="0" err="1">
                <a:solidFill>
                  <a:srgbClr val="E8F4FD"/>
                </a:solidFill>
                <a:latin typeface="Calibri" pitchFamily="34" charset="0"/>
                <a:ea typeface="Calibri" pitchFamily="34" charset="-122"/>
                <a:cs typeface="Calibri" pitchFamily="34" charset="-120"/>
              </a:rPr>
              <a:t>Thiệt</a:t>
            </a:r>
            <a:r>
              <a:rPr lang="en-US" b="1" dirty="0">
                <a:solidFill>
                  <a:srgbClr val="E8F4FD"/>
                </a:solidFill>
                <a:latin typeface="Calibri" pitchFamily="34" charset="0"/>
                <a:ea typeface="Calibri" pitchFamily="34" charset="-122"/>
                <a:cs typeface="Calibri" pitchFamily="34" charset="-120"/>
              </a:rPr>
              <a:t> </a:t>
            </a:r>
            <a:r>
              <a:rPr lang="en-US" b="1" dirty="0" err="1">
                <a:solidFill>
                  <a:srgbClr val="E8F4FD"/>
                </a:solidFill>
                <a:latin typeface="Calibri" pitchFamily="34" charset="0"/>
                <a:ea typeface="Calibri" pitchFamily="34" charset="-122"/>
                <a:cs typeface="Calibri" pitchFamily="34" charset="-120"/>
              </a:rPr>
              <a:t>hại</a:t>
            </a:r>
            <a:r>
              <a:rPr lang="en-US" b="1" dirty="0">
                <a:solidFill>
                  <a:srgbClr val="E8F4FD"/>
                </a:solidFill>
                <a:latin typeface="Calibri" pitchFamily="34" charset="0"/>
                <a:ea typeface="Calibri" pitchFamily="34" charset="-122"/>
                <a:cs typeface="Calibri" pitchFamily="34" charset="-120"/>
              </a:rPr>
              <a:t>: </a:t>
            </a:r>
            <a:r>
              <a:rPr lang="en-US" dirty="0">
                <a:solidFill>
                  <a:srgbClr val="E8F4FD"/>
                </a:solidFill>
                <a:latin typeface="Calibri" pitchFamily="34" charset="0"/>
                <a:ea typeface="Calibri" pitchFamily="34" charset="-122"/>
                <a:cs typeface="Calibri" pitchFamily="34" charset="-120"/>
              </a:rPr>
              <a:t>Chi </a:t>
            </a:r>
            <a:r>
              <a:rPr lang="en-US" dirty="0" err="1">
                <a:solidFill>
                  <a:srgbClr val="E8F4FD"/>
                </a:solidFill>
                <a:latin typeface="Calibri" pitchFamily="34" charset="0"/>
                <a:ea typeface="Calibri" pitchFamily="34" charset="-122"/>
                <a:cs typeface="Calibri" pitchFamily="34" charset="-120"/>
              </a:rPr>
              <a:t>phí</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khắc</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phục</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khẩn</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cấp</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cực</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kỳ</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lớn</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dễ</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gây</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ra</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hư</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hỏng</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cơ</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khí</a:t>
            </a:r>
            <a:r>
              <a:rPr lang="en-US" dirty="0">
                <a:solidFill>
                  <a:srgbClr val="E8F4FD"/>
                </a:solidFill>
                <a:latin typeface="Calibri" pitchFamily="34" charset="0"/>
                <a:ea typeface="Calibri" pitchFamily="34" charset="-122"/>
                <a:cs typeface="Calibri" pitchFamily="34" charset="-120"/>
              </a:rPr>
              <a:t> lan </a:t>
            </a:r>
            <a:r>
              <a:rPr lang="en-US" dirty="0" err="1">
                <a:solidFill>
                  <a:srgbClr val="E8F4FD"/>
                </a:solidFill>
                <a:latin typeface="Calibri" pitchFamily="34" charset="0"/>
                <a:ea typeface="Calibri" pitchFamily="34" charset="-122"/>
                <a:cs typeface="Calibri" pitchFamily="34" charset="-120"/>
              </a:rPr>
              <a:t>rộng</a:t>
            </a:r>
            <a:r>
              <a:rPr lang="en-US" dirty="0">
                <a:solidFill>
                  <a:srgbClr val="E8F4FD"/>
                </a:solidFill>
                <a:latin typeface="Calibri" pitchFamily="34" charset="0"/>
                <a:ea typeface="Calibri" pitchFamily="34" charset="-122"/>
                <a:cs typeface="Calibri" pitchFamily="34" charset="-120"/>
              </a:rPr>
              <a:t> sang </a:t>
            </a:r>
            <a:r>
              <a:rPr lang="en-US" dirty="0" err="1">
                <a:solidFill>
                  <a:srgbClr val="E8F4FD"/>
                </a:solidFill>
                <a:latin typeface="Calibri" pitchFamily="34" charset="0"/>
                <a:ea typeface="Calibri" pitchFamily="34" charset="-122"/>
                <a:cs typeface="Calibri" pitchFamily="34" charset="-120"/>
              </a:rPr>
              <a:t>các</a:t>
            </a:r>
            <a:r>
              <a:rPr lang="en-US" dirty="0">
                <a:solidFill>
                  <a:srgbClr val="E8F4FD"/>
                </a:solidFill>
                <a:latin typeface="Calibri" pitchFamily="34" charset="0"/>
                <a:ea typeface="Calibri" pitchFamily="34" charset="-122"/>
                <a:cs typeface="Calibri" pitchFamily="34" charset="-120"/>
              </a:rPr>
              <a:t> chi </a:t>
            </a:r>
            <a:r>
              <a:rPr lang="en-US" dirty="0" err="1">
                <a:solidFill>
                  <a:srgbClr val="E8F4FD"/>
                </a:solidFill>
                <a:latin typeface="Calibri" pitchFamily="34" charset="0"/>
                <a:ea typeface="Calibri" pitchFamily="34" charset="-122"/>
                <a:cs typeface="Calibri" pitchFamily="34" charset="-120"/>
              </a:rPr>
              <a:t>tiết</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liên</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đới</a:t>
            </a:r>
            <a:r>
              <a:rPr lang="en-US" dirty="0">
                <a:solidFill>
                  <a:srgbClr val="E8F4FD"/>
                </a:solidFill>
                <a:latin typeface="Calibri" pitchFamily="34" charset="0"/>
                <a:ea typeface="Calibri" pitchFamily="34" charset="-122"/>
                <a:cs typeface="Calibri" pitchFamily="34" charset="-120"/>
              </a:rPr>
              <a:t>.</a:t>
            </a:r>
            <a:endParaRPr lang="en-US" dirty="0"/>
          </a:p>
        </p:txBody>
      </p:sp>
      <p:sp>
        <p:nvSpPr>
          <p:cNvPr id="23" name="Shape 7">
            <a:extLst>
              <a:ext uri="{FF2B5EF4-FFF2-40B4-BE49-F238E27FC236}">
                <a16:creationId xmlns:a16="http://schemas.microsoft.com/office/drawing/2014/main" id="{3415CDD6-E5BB-BABC-EBEF-9397E8B939FF}"/>
              </a:ext>
            </a:extLst>
          </p:cNvPr>
          <p:cNvSpPr/>
          <p:nvPr/>
        </p:nvSpPr>
        <p:spPr>
          <a:xfrm>
            <a:off x="4175760" y="1070044"/>
            <a:ext cx="3840480" cy="4114800"/>
          </a:xfrm>
          <a:prstGeom prst="roundRect">
            <a:avLst>
              <a:gd name="adj" fmla="val 5741"/>
            </a:avLst>
          </a:prstGeom>
          <a:solidFill>
            <a:srgbClr val="5A4A00"/>
          </a:solidFill>
          <a:ln w="12700">
            <a:solidFill>
              <a:srgbClr val="0077B6"/>
            </a:solidFill>
            <a:prstDash val="solid"/>
          </a:ln>
        </p:spPr>
      </p:sp>
      <p:sp>
        <p:nvSpPr>
          <p:cNvPr id="24" name="Text 8">
            <a:extLst>
              <a:ext uri="{FF2B5EF4-FFF2-40B4-BE49-F238E27FC236}">
                <a16:creationId xmlns:a16="http://schemas.microsoft.com/office/drawing/2014/main" id="{CFBFBC1E-7149-5721-FE33-A221B040B466}"/>
              </a:ext>
            </a:extLst>
          </p:cNvPr>
          <p:cNvSpPr/>
          <p:nvPr/>
        </p:nvSpPr>
        <p:spPr>
          <a:xfrm>
            <a:off x="4259310" y="1134052"/>
            <a:ext cx="2560320" cy="411480"/>
          </a:xfrm>
          <a:prstGeom prst="rect">
            <a:avLst/>
          </a:prstGeom>
          <a:noFill/>
          <a:ln/>
        </p:spPr>
        <p:txBody>
          <a:bodyPr wrap="square" rtlCol="0" anchor="ctr"/>
          <a:lstStyle/>
          <a:p>
            <a:pPr marL="0" indent="0">
              <a:buNone/>
            </a:pPr>
            <a:r>
              <a:rPr lang="en-US" b="1" dirty="0">
                <a:solidFill>
                  <a:srgbClr val="FFFFFF"/>
                </a:solidFill>
                <a:latin typeface="Calibri" pitchFamily="34" charset="0"/>
                <a:ea typeface="Calibri" pitchFamily="34" charset="-122"/>
                <a:cs typeface="Calibri" pitchFamily="34" charset="-120"/>
              </a:rPr>
              <a:t>Bảo trì phòng ngừa</a:t>
            </a:r>
            <a:endParaRPr lang="en-US" dirty="0"/>
          </a:p>
        </p:txBody>
      </p:sp>
      <p:sp>
        <p:nvSpPr>
          <p:cNvPr id="25" name="Text 9">
            <a:extLst>
              <a:ext uri="{FF2B5EF4-FFF2-40B4-BE49-F238E27FC236}">
                <a16:creationId xmlns:a16="http://schemas.microsoft.com/office/drawing/2014/main" id="{829F2FFC-728A-686F-50E6-A3FE3FA96ED3}"/>
              </a:ext>
            </a:extLst>
          </p:cNvPr>
          <p:cNvSpPr/>
          <p:nvPr/>
        </p:nvSpPr>
        <p:spPr>
          <a:xfrm>
            <a:off x="4259310" y="1554676"/>
            <a:ext cx="2560320" cy="274320"/>
          </a:xfrm>
          <a:prstGeom prst="rect">
            <a:avLst/>
          </a:prstGeom>
          <a:noFill/>
          <a:ln/>
        </p:spPr>
        <p:txBody>
          <a:bodyPr wrap="square" rtlCol="0" anchor="ctr"/>
          <a:lstStyle/>
          <a:p>
            <a:pPr marL="0" indent="0">
              <a:buNone/>
            </a:pPr>
            <a:r>
              <a:rPr lang="en-US" sz="1500" i="1" dirty="0">
                <a:solidFill>
                  <a:srgbClr val="8BAFC7"/>
                </a:solidFill>
                <a:latin typeface="Calibri" pitchFamily="34" charset="0"/>
                <a:ea typeface="Calibri" pitchFamily="34" charset="-122"/>
                <a:cs typeface="Calibri" pitchFamily="34" charset="-120"/>
              </a:rPr>
              <a:t>Theo lịch định kỳ</a:t>
            </a:r>
            <a:endParaRPr lang="en-US" sz="1500" dirty="0"/>
          </a:p>
        </p:txBody>
      </p:sp>
      <p:sp>
        <p:nvSpPr>
          <p:cNvPr id="26" name="Text 10">
            <a:extLst>
              <a:ext uri="{FF2B5EF4-FFF2-40B4-BE49-F238E27FC236}">
                <a16:creationId xmlns:a16="http://schemas.microsoft.com/office/drawing/2014/main" id="{DCE38714-B623-74B5-E941-83C8392C46EE}"/>
              </a:ext>
            </a:extLst>
          </p:cNvPr>
          <p:cNvSpPr/>
          <p:nvPr/>
        </p:nvSpPr>
        <p:spPr>
          <a:xfrm>
            <a:off x="4259309" y="1893004"/>
            <a:ext cx="3630469" cy="3108960"/>
          </a:xfrm>
          <a:prstGeom prst="rect">
            <a:avLst/>
          </a:prstGeom>
          <a:noFill/>
          <a:ln/>
        </p:spPr>
        <p:txBody>
          <a:bodyPr wrap="square" rtlCol="0" anchor="t"/>
          <a:lstStyle/>
          <a:p>
            <a:pPr>
              <a:buSzPct val="100000"/>
            </a:pPr>
            <a:r>
              <a:rPr lang="en-US" dirty="0" err="1">
                <a:solidFill>
                  <a:schemeClr val="bg1"/>
                </a:solidFill>
              </a:rPr>
              <a:t>Chiến</a:t>
            </a:r>
            <a:r>
              <a:rPr lang="en-US" dirty="0">
                <a:solidFill>
                  <a:schemeClr val="bg1"/>
                </a:solidFill>
              </a:rPr>
              <a:t> </a:t>
            </a:r>
            <a:r>
              <a:rPr lang="en-US" dirty="0" err="1">
                <a:solidFill>
                  <a:schemeClr val="bg1"/>
                </a:solidFill>
              </a:rPr>
              <a:t>lược</a:t>
            </a:r>
            <a:r>
              <a:rPr lang="en-US" dirty="0">
                <a:solidFill>
                  <a:schemeClr val="bg1"/>
                </a:solidFill>
              </a:rPr>
              <a:t> </a:t>
            </a:r>
            <a:r>
              <a:rPr lang="en-US" dirty="0" err="1">
                <a:solidFill>
                  <a:schemeClr val="bg1"/>
                </a:solidFill>
              </a:rPr>
              <a:t>chủ</a:t>
            </a:r>
            <a:r>
              <a:rPr lang="en-US" dirty="0">
                <a:solidFill>
                  <a:schemeClr val="bg1"/>
                </a:solidFill>
              </a:rPr>
              <a:t> </a:t>
            </a:r>
            <a:r>
              <a:rPr lang="en-US" dirty="0" err="1">
                <a:solidFill>
                  <a:schemeClr val="bg1"/>
                </a:solidFill>
              </a:rPr>
              <a:t>động</a:t>
            </a:r>
            <a:r>
              <a:rPr lang="en-US" dirty="0">
                <a:solidFill>
                  <a:schemeClr val="bg1"/>
                </a:solidFill>
              </a:rPr>
              <a:t> </a:t>
            </a:r>
            <a:r>
              <a:rPr lang="en-US" dirty="0" err="1">
                <a:solidFill>
                  <a:schemeClr val="bg1"/>
                </a:solidFill>
              </a:rPr>
              <a:t>dựa</a:t>
            </a:r>
            <a:r>
              <a:rPr lang="en-US" dirty="0">
                <a:solidFill>
                  <a:schemeClr val="bg1"/>
                </a:solidFill>
              </a:rPr>
              <a:t> </a:t>
            </a:r>
            <a:r>
              <a:rPr lang="en-US" dirty="0" err="1">
                <a:solidFill>
                  <a:schemeClr val="bg1"/>
                </a:solidFill>
              </a:rPr>
              <a:t>trên</a:t>
            </a:r>
            <a:r>
              <a:rPr lang="en-US" dirty="0">
                <a:solidFill>
                  <a:schemeClr val="bg1"/>
                </a:solidFill>
              </a:rPr>
              <a:t> </a:t>
            </a:r>
            <a:r>
              <a:rPr lang="en-US" dirty="0" err="1">
                <a:solidFill>
                  <a:schemeClr val="bg1"/>
                </a:solidFill>
              </a:rPr>
              <a:t>thời</a:t>
            </a:r>
            <a:r>
              <a:rPr lang="en-US" dirty="0">
                <a:solidFill>
                  <a:schemeClr val="bg1"/>
                </a:solidFill>
              </a:rPr>
              <a:t> </a:t>
            </a:r>
            <a:r>
              <a:rPr lang="en-US" dirty="0" err="1">
                <a:solidFill>
                  <a:schemeClr val="bg1"/>
                </a:solidFill>
              </a:rPr>
              <a:t>gian</a:t>
            </a:r>
            <a:r>
              <a:rPr lang="en-US" dirty="0">
                <a:solidFill>
                  <a:schemeClr val="bg1"/>
                </a:solidFill>
              </a:rPr>
              <a:t> </a:t>
            </a:r>
            <a:r>
              <a:rPr lang="en-US" dirty="0" err="1">
                <a:solidFill>
                  <a:schemeClr val="bg1"/>
                </a:solidFill>
              </a:rPr>
              <a:t>vận</a:t>
            </a:r>
            <a:r>
              <a:rPr lang="en-US" dirty="0">
                <a:solidFill>
                  <a:schemeClr val="bg1"/>
                </a:solidFill>
              </a:rPr>
              <a:t> </a:t>
            </a:r>
            <a:r>
              <a:rPr lang="en-US" dirty="0" err="1">
                <a:solidFill>
                  <a:schemeClr val="bg1"/>
                </a:solidFill>
              </a:rPr>
              <a:t>hành</a:t>
            </a:r>
            <a:r>
              <a:rPr lang="en-US" dirty="0">
                <a:solidFill>
                  <a:schemeClr val="bg1"/>
                </a:solidFill>
              </a:rPr>
              <a:t> </a:t>
            </a:r>
            <a:r>
              <a:rPr lang="en-US" dirty="0" err="1">
                <a:solidFill>
                  <a:schemeClr val="bg1"/>
                </a:solidFill>
              </a:rPr>
              <a:t>tích</a:t>
            </a:r>
            <a:r>
              <a:rPr lang="en-US" dirty="0">
                <a:solidFill>
                  <a:schemeClr val="bg1"/>
                </a:solidFill>
              </a:rPr>
              <a:t> </a:t>
            </a:r>
            <a:r>
              <a:rPr lang="en-US" dirty="0" err="1">
                <a:solidFill>
                  <a:schemeClr val="bg1"/>
                </a:solidFill>
              </a:rPr>
              <a:t>lũy</a:t>
            </a:r>
            <a:r>
              <a:rPr lang="en-US" dirty="0">
                <a:solidFill>
                  <a:schemeClr val="bg1"/>
                </a:solidFill>
              </a:rPr>
              <a:t> </a:t>
            </a:r>
            <a:r>
              <a:rPr lang="en-US" dirty="0" err="1">
                <a:solidFill>
                  <a:schemeClr val="bg1"/>
                </a:solidFill>
              </a:rPr>
              <a:t>hoặc</a:t>
            </a:r>
            <a:r>
              <a:rPr lang="en-US" dirty="0">
                <a:solidFill>
                  <a:schemeClr val="bg1"/>
                </a:solidFill>
              </a:rPr>
              <a:t> </a:t>
            </a:r>
            <a:r>
              <a:rPr lang="en-US" dirty="0" err="1">
                <a:solidFill>
                  <a:schemeClr val="bg1"/>
                </a:solidFill>
              </a:rPr>
              <a:t>sản</a:t>
            </a:r>
            <a:r>
              <a:rPr lang="en-US" dirty="0">
                <a:solidFill>
                  <a:schemeClr val="bg1"/>
                </a:solidFill>
              </a:rPr>
              <a:t> </a:t>
            </a:r>
            <a:r>
              <a:rPr lang="en-US" dirty="0" err="1">
                <a:solidFill>
                  <a:schemeClr val="bg1"/>
                </a:solidFill>
              </a:rPr>
              <a:t>lượng</a:t>
            </a:r>
            <a:r>
              <a:rPr lang="en-US" dirty="0">
                <a:solidFill>
                  <a:schemeClr val="bg1"/>
                </a:solidFill>
              </a:rPr>
              <a:t> </a:t>
            </a:r>
            <a:r>
              <a:rPr lang="en-US" dirty="0" err="1">
                <a:solidFill>
                  <a:schemeClr val="bg1"/>
                </a:solidFill>
              </a:rPr>
              <a:t>sản</a:t>
            </a:r>
            <a:r>
              <a:rPr lang="en-US" dirty="0">
                <a:solidFill>
                  <a:schemeClr val="bg1"/>
                </a:solidFill>
              </a:rPr>
              <a:t> </a:t>
            </a:r>
            <a:r>
              <a:rPr lang="en-US" dirty="0" err="1">
                <a:solidFill>
                  <a:schemeClr val="bg1"/>
                </a:solidFill>
              </a:rPr>
              <a:t>phẩm</a:t>
            </a:r>
            <a:endParaRPr lang="en-US" dirty="0">
              <a:solidFill>
                <a:schemeClr val="bg1"/>
              </a:solidFill>
              <a:latin typeface="Calibri" pitchFamily="34" charset="0"/>
              <a:ea typeface="Calibri" pitchFamily="34" charset="-122"/>
              <a:cs typeface="Calibri" pitchFamily="34" charset="-120"/>
            </a:endParaRPr>
          </a:p>
          <a:p>
            <a:pPr marL="342900" indent="-342900">
              <a:buSzPct val="100000"/>
              <a:buChar char="•"/>
            </a:pPr>
            <a:r>
              <a:rPr lang="en-US" b="1" dirty="0" err="1">
                <a:solidFill>
                  <a:schemeClr val="bg1"/>
                </a:solidFill>
              </a:rPr>
              <a:t>Lãng</a:t>
            </a:r>
            <a:r>
              <a:rPr lang="en-US" b="1" dirty="0">
                <a:solidFill>
                  <a:schemeClr val="bg1"/>
                </a:solidFill>
              </a:rPr>
              <a:t> </a:t>
            </a:r>
            <a:r>
              <a:rPr lang="en-US" b="1" dirty="0" err="1">
                <a:solidFill>
                  <a:schemeClr val="bg1"/>
                </a:solidFill>
              </a:rPr>
              <a:t>phí</a:t>
            </a:r>
            <a:r>
              <a:rPr lang="en-US" b="1" dirty="0">
                <a:solidFill>
                  <a:schemeClr val="bg1"/>
                </a:solidFill>
              </a:rPr>
              <a:t>:</a:t>
            </a:r>
            <a:r>
              <a:rPr lang="en-US" dirty="0">
                <a:solidFill>
                  <a:schemeClr val="bg1"/>
                </a:solidFill>
              </a:rPr>
              <a:t> </a:t>
            </a:r>
            <a:r>
              <a:rPr lang="en-US" dirty="0" err="1">
                <a:solidFill>
                  <a:schemeClr val="bg1"/>
                </a:solidFill>
              </a:rPr>
              <a:t>Buộc</a:t>
            </a:r>
            <a:r>
              <a:rPr lang="en-US" dirty="0">
                <a:solidFill>
                  <a:schemeClr val="bg1"/>
                </a:solidFill>
              </a:rPr>
              <a:t> </a:t>
            </a:r>
            <a:r>
              <a:rPr lang="en-US" dirty="0" err="1">
                <a:solidFill>
                  <a:schemeClr val="bg1"/>
                </a:solidFill>
              </a:rPr>
              <a:t>phải</a:t>
            </a:r>
            <a:r>
              <a:rPr lang="en-US" dirty="0">
                <a:solidFill>
                  <a:schemeClr val="bg1"/>
                </a:solidFill>
              </a:rPr>
              <a:t> </a:t>
            </a:r>
            <a:r>
              <a:rPr lang="en-US" dirty="0" err="1">
                <a:solidFill>
                  <a:schemeClr val="bg1"/>
                </a:solidFill>
              </a:rPr>
              <a:t>thay</a:t>
            </a:r>
            <a:r>
              <a:rPr lang="en-US" dirty="0">
                <a:solidFill>
                  <a:schemeClr val="bg1"/>
                </a:solidFill>
              </a:rPr>
              <a:t> </a:t>
            </a:r>
            <a:r>
              <a:rPr lang="en-US" dirty="0" err="1">
                <a:solidFill>
                  <a:schemeClr val="bg1"/>
                </a:solidFill>
              </a:rPr>
              <a:t>thế</a:t>
            </a:r>
            <a:r>
              <a:rPr lang="en-US" dirty="0">
                <a:solidFill>
                  <a:schemeClr val="bg1"/>
                </a:solidFill>
              </a:rPr>
              <a:t> </a:t>
            </a:r>
            <a:r>
              <a:rPr lang="en-US" dirty="0" err="1">
                <a:solidFill>
                  <a:schemeClr val="bg1"/>
                </a:solidFill>
              </a:rPr>
              <a:t>các</a:t>
            </a:r>
            <a:r>
              <a:rPr lang="en-US" dirty="0">
                <a:solidFill>
                  <a:schemeClr val="bg1"/>
                </a:solidFill>
              </a:rPr>
              <a:t> </a:t>
            </a:r>
            <a:r>
              <a:rPr lang="en-US" dirty="0" err="1">
                <a:solidFill>
                  <a:schemeClr val="bg1"/>
                </a:solidFill>
              </a:rPr>
              <a:t>linh</a:t>
            </a:r>
            <a:r>
              <a:rPr lang="en-US" dirty="0">
                <a:solidFill>
                  <a:schemeClr val="bg1"/>
                </a:solidFill>
              </a:rPr>
              <a:t> </a:t>
            </a:r>
            <a:r>
              <a:rPr lang="en-US" dirty="0" err="1">
                <a:solidFill>
                  <a:schemeClr val="bg1"/>
                </a:solidFill>
              </a:rPr>
              <a:t>kiện</a:t>
            </a:r>
            <a:r>
              <a:rPr lang="en-US" dirty="0">
                <a:solidFill>
                  <a:schemeClr val="bg1"/>
                </a:solidFill>
              </a:rPr>
              <a:t> </a:t>
            </a:r>
            <a:r>
              <a:rPr lang="en-US" dirty="0" err="1">
                <a:solidFill>
                  <a:schemeClr val="bg1"/>
                </a:solidFill>
              </a:rPr>
              <a:t>cơ</a:t>
            </a:r>
            <a:r>
              <a:rPr lang="en-US" dirty="0">
                <a:solidFill>
                  <a:schemeClr val="bg1"/>
                </a:solidFill>
              </a:rPr>
              <a:t> </a:t>
            </a:r>
            <a:r>
              <a:rPr lang="en-US" dirty="0" err="1">
                <a:solidFill>
                  <a:schemeClr val="bg1"/>
                </a:solidFill>
              </a:rPr>
              <a:t>khí</a:t>
            </a:r>
            <a:r>
              <a:rPr lang="en-US" dirty="0">
                <a:solidFill>
                  <a:schemeClr val="bg1"/>
                </a:solidFill>
              </a:rPr>
              <a:t> </a:t>
            </a:r>
            <a:r>
              <a:rPr lang="en-US" dirty="0" err="1">
                <a:solidFill>
                  <a:schemeClr val="bg1"/>
                </a:solidFill>
              </a:rPr>
              <a:t>khi</a:t>
            </a:r>
            <a:r>
              <a:rPr lang="en-US" dirty="0">
                <a:solidFill>
                  <a:schemeClr val="bg1"/>
                </a:solidFill>
              </a:rPr>
              <a:t> </a:t>
            </a:r>
            <a:r>
              <a:rPr lang="en-US" dirty="0" err="1">
                <a:solidFill>
                  <a:schemeClr val="bg1"/>
                </a:solidFill>
              </a:rPr>
              <a:t>chúng</a:t>
            </a:r>
            <a:r>
              <a:rPr lang="en-US" dirty="0">
                <a:solidFill>
                  <a:schemeClr val="bg1"/>
                </a:solidFill>
              </a:rPr>
              <a:t> </a:t>
            </a:r>
            <a:r>
              <a:rPr lang="en-US" dirty="0" err="1">
                <a:solidFill>
                  <a:schemeClr val="bg1"/>
                </a:solidFill>
              </a:rPr>
              <a:t>vẫn</a:t>
            </a:r>
            <a:r>
              <a:rPr lang="en-US" dirty="0">
                <a:solidFill>
                  <a:schemeClr val="bg1"/>
                </a:solidFill>
              </a:rPr>
              <a:t> </a:t>
            </a:r>
            <a:r>
              <a:rPr lang="en-US" dirty="0" err="1">
                <a:solidFill>
                  <a:schemeClr val="bg1"/>
                </a:solidFill>
              </a:rPr>
              <a:t>còn</a:t>
            </a:r>
            <a:r>
              <a:rPr lang="en-US" dirty="0">
                <a:solidFill>
                  <a:schemeClr val="bg1"/>
                </a:solidFill>
              </a:rPr>
              <a:t> </a:t>
            </a:r>
            <a:r>
              <a:rPr lang="en-US" dirty="0" err="1">
                <a:solidFill>
                  <a:schemeClr val="bg1"/>
                </a:solidFill>
              </a:rPr>
              <a:t>khả</a:t>
            </a:r>
            <a:r>
              <a:rPr lang="en-US" dirty="0">
                <a:solidFill>
                  <a:schemeClr val="bg1"/>
                </a:solidFill>
              </a:rPr>
              <a:t> </a:t>
            </a:r>
            <a:r>
              <a:rPr lang="en-US" dirty="0" err="1">
                <a:solidFill>
                  <a:schemeClr val="bg1"/>
                </a:solidFill>
              </a:rPr>
              <a:t>năng</a:t>
            </a:r>
            <a:r>
              <a:rPr lang="en-US" dirty="0">
                <a:solidFill>
                  <a:schemeClr val="bg1"/>
                </a:solidFill>
              </a:rPr>
              <a:t> </a:t>
            </a:r>
            <a:r>
              <a:rPr lang="en-US" dirty="0" err="1">
                <a:solidFill>
                  <a:schemeClr val="bg1"/>
                </a:solidFill>
              </a:rPr>
              <a:t>hoạt</a:t>
            </a:r>
            <a:r>
              <a:rPr lang="en-US" dirty="0">
                <a:solidFill>
                  <a:schemeClr val="bg1"/>
                </a:solidFill>
              </a:rPr>
              <a:t> </a:t>
            </a:r>
            <a:r>
              <a:rPr lang="en-US" dirty="0" err="1">
                <a:solidFill>
                  <a:schemeClr val="bg1"/>
                </a:solidFill>
              </a:rPr>
              <a:t>động</a:t>
            </a:r>
            <a:r>
              <a:rPr lang="en-US" dirty="0">
                <a:solidFill>
                  <a:schemeClr val="bg1"/>
                </a:solidFill>
              </a:rPr>
              <a:t> </a:t>
            </a:r>
            <a:r>
              <a:rPr lang="en-US" dirty="0" err="1">
                <a:solidFill>
                  <a:schemeClr val="bg1"/>
                </a:solidFill>
              </a:rPr>
              <a:t>tốt</a:t>
            </a:r>
            <a:r>
              <a:rPr lang="en-US" dirty="0">
                <a:solidFill>
                  <a:schemeClr val="bg1"/>
                </a:solidFill>
              </a:rPr>
              <a:t>.</a:t>
            </a:r>
          </a:p>
          <a:p>
            <a:pPr marL="342900" indent="-342900">
              <a:buSzPct val="100000"/>
              <a:buChar char="•"/>
            </a:pPr>
            <a:r>
              <a:rPr lang="en-US" b="1" dirty="0" err="1">
                <a:solidFill>
                  <a:schemeClr val="bg1"/>
                </a:solidFill>
              </a:rPr>
              <a:t>Rủi</a:t>
            </a:r>
            <a:r>
              <a:rPr lang="en-US" b="1" dirty="0">
                <a:solidFill>
                  <a:schemeClr val="bg1"/>
                </a:solidFill>
              </a:rPr>
              <a:t> </a:t>
            </a:r>
            <a:r>
              <a:rPr lang="en-US" b="1" dirty="0" err="1">
                <a:solidFill>
                  <a:schemeClr val="bg1"/>
                </a:solidFill>
              </a:rPr>
              <a:t>ro</a:t>
            </a:r>
            <a:r>
              <a:rPr lang="en-US" b="1" dirty="0">
                <a:solidFill>
                  <a:schemeClr val="bg1"/>
                </a:solidFill>
              </a:rPr>
              <a:t>: </a:t>
            </a:r>
            <a:r>
              <a:rPr lang="en-US" dirty="0" err="1">
                <a:solidFill>
                  <a:schemeClr val="bg1"/>
                </a:solidFill>
              </a:rPr>
              <a:t>Không</a:t>
            </a:r>
            <a:r>
              <a:rPr lang="en-US" dirty="0">
                <a:solidFill>
                  <a:schemeClr val="bg1"/>
                </a:solidFill>
              </a:rPr>
              <a:t> </a:t>
            </a:r>
            <a:r>
              <a:rPr lang="en-US" dirty="0" err="1">
                <a:solidFill>
                  <a:schemeClr val="bg1"/>
                </a:solidFill>
              </a:rPr>
              <a:t>thể</a:t>
            </a:r>
            <a:r>
              <a:rPr lang="en-US" dirty="0">
                <a:solidFill>
                  <a:schemeClr val="bg1"/>
                </a:solidFill>
              </a:rPr>
              <a:t> </a:t>
            </a:r>
            <a:r>
              <a:rPr lang="en-US" dirty="0" err="1">
                <a:solidFill>
                  <a:schemeClr val="bg1"/>
                </a:solidFill>
              </a:rPr>
              <a:t>phát</a:t>
            </a:r>
            <a:r>
              <a:rPr lang="en-US" dirty="0">
                <a:solidFill>
                  <a:schemeClr val="bg1"/>
                </a:solidFill>
              </a:rPr>
              <a:t> </a:t>
            </a:r>
            <a:r>
              <a:rPr lang="en-US" dirty="0" err="1">
                <a:solidFill>
                  <a:schemeClr val="bg1"/>
                </a:solidFill>
              </a:rPr>
              <a:t>hiện</a:t>
            </a:r>
            <a:r>
              <a:rPr lang="en-US" dirty="0">
                <a:solidFill>
                  <a:schemeClr val="bg1"/>
                </a:solidFill>
              </a:rPr>
              <a:t> </a:t>
            </a:r>
            <a:r>
              <a:rPr lang="en-US" dirty="0" err="1">
                <a:solidFill>
                  <a:schemeClr val="bg1"/>
                </a:solidFill>
              </a:rPr>
              <a:t>các</a:t>
            </a:r>
            <a:r>
              <a:rPr lang="en-US" dirty="0">
                <a:solidFill>
                  <a:schemeClr val="bg1"/>
                </a:solidFill>
              </a:rPr>
              <a:t> </a:t>
            </a:r>
            <a:r>
              <a:rPr lang="en-US" dirty="0" err="1">
                <a:solidFill>
                  <a:schemeClr val="bg1"/>
                </a:solidFill>
              </a:rPr>
              <a:t>khuyết</a:t>
            </a:r>
            <a:r>
              <a:rPr lang="en-US" dirty="0">
                <a:solidFill>
                  <a:schemeClr val="bg1"/>
                </a:solidFill>
              </a:rPr>
              <a:t> </a:t>
            </a:r>
            <a:r>
              <a:rPr lang="en-US" dirty="0" err="1">
                <a:solidFill>
                  <a:schemeClr val="bg1"/>
                </a:solidFill>
              </a:rPr>
              <a:t>tật</a:t>
            </a:r>
            <a:r>
              <a:rPr lang="en-US" dirty="0">
                <a:solidFill>
                  <a:schemeClr val="bg1"/>
                </a:solidFill>
              </a:rPr>
              <a:t> </a:t>
            </a:r>
            <a:r>
              <a:rPr lang="en-US" dirty="0" err="1">
                <a:solidFill>
                  <a:schemeClr val="bg1"/>
                </a:solidFill>
              </a:rPr>
              <a:t>phát</a:t>
            </a:r>
            <a:r>
              <a:rPr lang="en-US" dirty="0">
                <a:solidFill>
                  <a:schemeClr val="bg1"/>
                </a:solidFill>
              </a:rPr>
              <a:t> </a:t>
            </a:r>
            <a:r>
              <a:rPr lang="en-US" dirty="0" err="1">
                <a:solidFill>
                  <a:schemeClr val="bg1"/>
                </a:solidFill>
              </a:rPr>
              <a:t>sinh</a:t>
            </a:r>
            <a:r>
              <a:rPr lang="en-US" dirty="0">
                <a:solidFill>
                  <a:schemeClr val="bg1"/>
                </a:solidFill>
              </a:rPr>
              <a:t> </a:t>
            </a:r>
            <a:r>
              <a:rPr lang="en-US" dirty="0" err="1">
                <a:solidFill>
                  <a:schemeClr val="bg1"/>
                </a:solidFill>
              </a:rPr>
              <a:t>sớm</a:t>
            </a:r>
            <a:r>
              <a:rPr lang="en-US" dirty="0">
                <a:solidFill>
                  <a:schemeClr val="bg1"/>
                </a:solidFill>
              </a:rPr>
              <a:t> </a:t>
            </a:r>
            <a:r>
              <a:rPr lang="en-US" dirty="0" err="1">
                <a:solidFill>
                  <a:schemeClr val="bg1"/>
                </a:solidFill>
              </a:rPr>
              <a:t>trước</a:t>
            </a:r>
            <a:r>
              <a:rPr lang="en-US" dirty="0">
                <a:solidFill>
                  <a:schemeClr val="bg1"/>
                </a:solidFill>
              </a:rPr>
              <a:t> </a:t>
            </a:r>
            <a:r>
              <a:rPr lang="en-US" dirty="0" err="1">
                <a:solidFill>
                  <a:schemeClr val="bg1"/>
                </a:solidFill>
              </a:rPr>
              <a:t>kỳ</a:t>
            </a:r>
            <a:r>
              <a:rPr lang="en-US" dirty="0">
                <a:solidFill>
                  <a:schemeClr val="bg1"/>
                </a:solidFill>
              </a:rPr>
              <a:t> </a:t>
            </a:r>
            <a:r>
              <a:rPr lang="en-US" dirty="0" err="1">
                <a:solidFill>
                  <a:schemeClr val="bg1"/>
                </a:solidFill>
              </a:rPr>
              <a:t>bảo</a:t>
            </a:r>
            <a:r>
              <a:rPr lang="en-US" dirty="0">
                <a:solidFill>
                  <a:schemeClr val="bg1"/>
                </a:solidFill>
              </a:rPr>
              <a:t> </a:t>
            </a:r>
            <a:r>
              <a:rPr lang="en-US" dirty="0" err="1">
                <a:solidFill>
                  <a:schemeClr val="bg1"/>
                </a:solidFill>
              </a:rPr>
              <a:t>dưỡng</a:t>
            </a:r>
            <a:r>
              <a:rPr lang="en-US" dirty="0">
                <a:solidFill>
                  <a:schemeClr val="bg1"/>
                </a:solidFill>
              </a:rPr>
              <a:t>, </a:t>
            </a:r>
            <a:r>
              <a:rPr lang="en-US" dirty="0" err="1">
                <a:solidFill>
                  <a:schemeClr val="bg1"/>
                </a:solidFill>
              </a:rPr>
              <a:t>dẫn</a:t>
            </a:r>
            <a:r>
              <a:rPr lang="en-US" dirty="0">
                <a:solidFill>
                  <a:schemeClr val="bg1"/>
                </a:solidFill>
              </a:rPr>
              <a:t> </a:t>
            </a:r>
            <a:r>
              <a:rPr lang="en-US" dirty="0" err="1">
                <a:solidFill>
                  <a:schemeClr val="bg1"/>
                </a:solidFill>
              </a:rPr>
              <a:t>đến</a:t>
            </a:r>
            <a:r>
              <a:rPr lang="en-US" dirty="0">
                <a:solidFill>
                  <a:schemeClr val="bg1"/>
                </a:solidFill>
              </a:rPr>
              <a:t> </a:t>
            </a:r>
            <a:r>
              <a:rPr lang="en-US" dirty="0" err="1">
                <a:solidFill>
                  <a:schemeClr val="bg1"/>
                </a:solidFill>
              </a:rPr>
              <a:t>nguy</a:t>
            </a:r>
            <a:r>
              <a:rPr lang="en-US" dirty="0">
                <a:solidFill>
                  <a:schemeClr val="bg1"/>
                </a:solidFill>
              </a:rPr>
              <a:t> </a:t>
            </a:r>
            <a:r>
              <a:rPr lang="en-US" dirty="0" err="1">
                <a:solidFill>
                  <a:schemeClr val="bg1"/>
                </a:solidFill>
              </a:rPr>
              <a:t>cơ</a:t>
            </a:r>
            <a:r>
              <a:rPr lang="en-US" dirty="0">
                <a:solidFill>
                  <a:schemeClr val="bg1"/>
                </a:solidFill>
              </a:rPr>
              <a:t> </a:t>
            </a:r>
            <a:r>
              <a:rPr lang="en-US" dirty="0" err="1">
                <a:solidFill>
                  <a:schemeClr val="bg1"/>
                </a:solidFill>
              </a:rPr>
              <a:t>xảy</a:t>
            </a:r>
            <a:r>
              <a:rPr lang="en-US" dirty="0">
                <a:solidFill>
                  <a:schemeClr val="bg1"/>
                </a:solidFill>
              </a:rPr>
              <a:t> </a:t>
            </a:r>
            <a:r>
              <a:rPr lang="en-US" dirty="0" err="1">
                <a:solidFill>
                  <a:schemeClr val="bg1"/>
                </a:solidFill>
              </a:rPr>
              <a:t>ra</a:t>
            </a:r>
            <a:r>
              <a:rPr lang="en-US" dirty="0">
                <a:solidFill>
                  <a:schemeClr val="bg1"/>
                </a:solidFill>
              </a:rPr>
              <a:t> </a:t>
            </a:r>
            <a:r>
              <a:rPr lang="en-US" dirty="0" err="1">
                <a:solidFill>
                  <a:schemeClr val="bg1"/>
                </a:solidFill>
              </a:rPr>
              <a:t>sự</a:t>
            </a:r>
            <a:r>
              <a:rPr lang="en-US" dirty="0">
                <a:solidFill>
                  <a:schemeClr val="bg1"/>
                </a:solidFill>
              </a:rPr>
              <a:t> </a:t>
            </a:r>
            <a:r>
              <a:rPr lang="en-US" dirty="0" err="1">
                <a:solidFill>
                  <a:schemeClr val="bg1"/>
                </a:solidFill>
              </a:rPr>
              <a:t>cố</a:t>
            </a:r>
            <a:r>
              <a:rPr lang="en-US" dirty="0">
                <a:solidFill>
                  <a:schemeClr val="bg1"/>
                </a:solidFill>
              </a:rPr>
              <a:t> </a:t>
            </a:r>
            <a:r>
              <a:rPr lang="en-US" dirty="0" err="1">
                <a:solidFill>
                  <a:schemeClr val="bg1"/>
                </a:solidFill>
              </a:rPr>
              <a:t>đột</a:t>
            </a:r>
            <a:r>
              <a:rPr lang="en-US" dirty="0">
                <a:solidFill>
                  <a:schemeClr val="bg1"/>
                </a:solidFill>
              </a:rPr>
              <a:t> </a:t>
            </a:r>
            <a:r>
              <a:rPr lang="en-US" dirty="0" err="1">
                <a:solidFill>
                  <a:schemeClr val="bg1"/>
                </a:solidFill>
              </a:rPr>
              <a:t>xuất</a:t>
            </a:r>
            <a:r>
              <a:rPr lang="en-US" dirty="0">
                <a:solidFill>
                  <a:schemeClr val="bg1"/>
                </a:solidFill>
              </a:rPr>
              <a:t>.</a:t>
            </a:r>
          </a:p>
        </p:txBody>
      </p:sp>
      <p:sp>
        <p:nvSpPr>
          <p:cNvPr id="27" name="Shape 11">
            <a:extLst>
              <a:ext uri="{FF2B5EF4-FFF2-40B4-BE49-F238E27FC236}">
                <a16:creationId xmlns:a16="http://schemas.microsoft.com/office/drawing/2014/main" id="{E1FEFA1D-F44E-7478-964E-040B5D4D37E1}"/>
              </a:ext>
            </a:extLst>
          </p:cNvPr>
          <p:cNvSpPr/>
          <p:nvPr/>
        </p:nvSpPr>
        <p:spPr>
          <a:xfrm>
            <a:off x="8164099" y="1070044"/>
            <a:ext cx="3840480" cy="4114800"/>
          </a:xfrm>
          <a:prstGeom prst="roundRect">
            <a:avLst>
              <a:gd name="adj" fmla="val 6316"/>
            </a:avLst>
          </a:prstGeom>
          <a:solidFill>
            <a:srgbClr val="0A3D2A"/>
          </a:solidFill>
          <a:ln w="12700">
            <a:solidFill>
              <a:srgbClr val="0077B6"/>
            </a:solidFill>
            <a:prstDash val="solid"/>
          </a:ln>
        </p:spPr>
      </p:sp>
      <p:sp>
        <p:nvSpPr>
          <p:cNvPr id="28" name="Text 12">
            <a:extLst>
              <a:ext uri="{FF2B5EF4-FFF2-40B4-BE49-F238E27FC236}">
                <a16:creationId xmlns:a16="http://schemas.microsoft.com/office/drawing/2014/main" id="{E7A30B39-1E9C-CA7F-0824-F078B540E9C5}"/>
              </a:ext>
            </a:extLst>
          </p:cNvPr>
          <p:cNvSpPr/>
          <p:nvPr/>
        </p:nvSpPr>
        <p:spPr>
          <a:xfrm>
            <a:off x="8255539" y="1134052"/>
            <a:ext cx="2560320" cy="411480"/>
          </a:xfrm>
          <a:prstGeom prst="rect">
            <a:avLst/>
          </a:prstGeom>
          <a:noFill/>
          <a:ln/>
        </p:spPr>
        <p:txBody>
          <a:bodyPr wrap="square" rtlCol="0" anchor="ctr"/>
          <a:lstStyle/>
          <a:p>
            <a:pPr marL="0" indent="0">
              <a:buNone/>
            </a:pPr>
            <a:r>
              <a:rPr lang="en-US" b="1" dirty="0">
                <a:solidFill>
                  <a:srgbClr val="FFFFFF"/>
                </a:solidFill>
                <a:latin typeface="Calibri" pitchFamily="34" charset="0"/>
                <a:ea typeface="Calibri" pitchFamily="34" charset="-122"/>
                <a:cs typeface="Calibri" pitchFamily="34" charset="-120"/>
              </a:rPr>
              <a:t>Bảo trì dự đoán</a:t>
            </a:r>
            <a:endParaRPr lang="en-US" dirty="0"/>
          </a:p>
        </p:txBody>
      </p:sp>
      <p:sp>
        <p:nvSpPr>
          <p:cNvPr id="29" name="Text 13">
            <a:extLst>
              <a:ext uri="{FF2B5EF4-FFF2-40B4-BE49-F238E27FC236}">
                <a16:creationId xmlns:a16="http://schemas.microsoft.com/office/drawing/2014/main" id="{957E5386-9F5E-9B6F-5EFA-4B6B1F1A6039}"/>
              </a:ext>
            </a:extLst>
          </p:cNvPr>
          <p:cNvSpPr/>
          <p:nvPr/>
        </p:nvSpPr>
        <p:spPr>
          <a:xfrm>
            <a:off x="8255539" y="1554676"/>
            <a:ext cx="2560320" cy="274320"/>
          </a:xfrm>
          <a:prstGeom prst="rect">
            <a:avLst/>
          </a:prstGeom>
          <a:noFill/>
          <a:ln/>
        </p:spPr>
        <p:txBody>
          <a:bodyPr wrap="square" rtlCol="0" anchor="ctr"/>
          <a:lstStyle/>
          <a:p>
            <a:pPr marL="0" indent="0">
              <a:buNone/>
            </a:pPr>
            <a:r>
              <a:rPr lang="en-US" sz="1500" i="1" dirty="0">
                <a:solidFill>
                  <a:srgbClr val="8BAFC7"/>
                </a:solidFill>
                <a:latin typeface="Calibri" pitchFamily="34" charset="0"/>
                <a:ea typeface="Calibri" pitchFamily="34" charset="-122"/>
                <a:cs typeface="Calibri" pitchFamily="34" charset="-120"/>
              </a:rPr>
              <a:t>Theo tình trạng thực tế ✓</a:t>
            </a:r>
            <a:endParaRPr lang="en-US" sz="1500" dirty="0"/>
          </a:p>
        </p:txBody>
      </p:sp>
      <p:sp>
        <p:nvSpPr>
          <p:cNvPr id="30" name="Text 14">
            <a:extLst>
              <a:ext uri="{FF2B5EF4-FFF2-40B4-BE49-F238E27FC236}">
                <a16:creationId xmlns:a16="http://schemas.microsoft.com/office/drawing/2014/main" id="{65CA8596-ED21-C700-B26A-92EA52446DA5}"/>
              </a:ext>
            </a:extLst>
          </p:cNvPr>
          <p:cNvSpPr/>
          <p:nvPr/>
        </p:nvSpPr>
        <p:spPr>
          <a:xfrm>
            <a:off x="8255537" y="1893004"/>
            <a:ext cx="3657603" cy="3108960"/>
          </a:xfrm>
          <a:prstGeom prst="rect">
            <a:avLst/>
          </a:prstGeom>
          <a:noFill/>
          <a:ln/>
        </p:spPr>
        <p:txBody>
          <a:bodyPr wrap="square" rtlCol="0" anchor="t"/>
          <a:lstStyle/>
          <a:p>
            <a:pPr>
              <a:buSzPct val="100000"/>
            </a:pPr>
            <a:r>
              <a:rPr lang="en-US" dirty="0" err="1">
                <a:solidFill>
                  <a:schemeClr val="bg1"/>
                </a:solidFill>
              </a:rPr>
              <a:t>Chiến</a:t>
            </a:r>
            <a:r>
              <a:rPr lang="en-US" dirty="0">
                <a:solidFill>
                  <a:schemeClr val="bg1"/>
                </a:solidFill>
              </a:rPr>
              <a:t> </a:t>
            </a:r>
            <a:r>
              <a:rPr lang="en-US" dirty="0" err="1">
                <a:solidFill>
                  <a:schemeClr val="bg1"/>
                </a:solidFill>
              </a:rPr>
              <a:t>lược</a:t>
            </a:r>
            <a:r>
              <a:rPr lang="en-US" dirty="0">
                <a:solidFill>
                  <a:schemeClr val="bg1"/>
                </a:solidFill>
              </a:rPr>
              <a:t> </a:t>
            </a:r>
            <a:r>
              <a:rPr lang="en-US" dirty="0" err="1">
                <a:solidFill>
                  <a:schemeClr val="bg1"/>
                </a:solidFill>
              </a:rPr>
              <a:t>hiện</a:t>
            </a:r>
            <a:r>
              <a:rPr lang="en-US" dirty="0">
                <a:solidFill>
                  <a:schemeClr val="bg1"/>
                </a:solidFill>
              </a:rPr>
              <a:t> </a:t>
            </a:r>
            <a:r>
              <a:rPr lang="en-US" dirty="0" err="1">
                <a:solidFill>
                  <a:schemeClr val="bg1"/>
                </a:solidFill>
              </a:rPr>
              <a:t>đại</a:t>
            </a:r>
            <a:r>
              <a:rPr lang="en-US" dirty="0">
                <a:solidFill>
                  <a:schemeClr val="bg1"/>
                </a:solidFill>
              </a:rPr>
              <a:t>: </a:t>
            </a:r>
            <a:r>
              <a:rPr lang="en-US" dirty="0" err="1">
                <a:solidFill>
                  <a:schemeClr val="bg1"/>
                </a:solidFill>
              </a:rPr>
              <a:t>giám</a:t>
            </a:r>
            <a:r>
              <a:rPr lang="en-US" dirty="0">
                <a:solidFill>
                  <a:schemeClr val="bg1"/>
                </a:solidFill>
              </a:rPr>
              <a:t> </a:t>
            </a:r>
            <a:r>
              <a:rPr lang="en-US" dirty="0" err="1">
                <a:solidFill>
                  <a:schemeClr val="bg1"/>
                </a:solidFill>
              </a:rPr>
              <a:t>sát</a:t>
            </a:r>
            <a:r>
              <a:rPr lang="en-US" dirty="0">
                <a:solidFill>
                  <a:schemeClr val="bg1"/>
                </a:solidFill>
              </a:rPr>
              <a:t> </a:t>
            </a:r>
            <a:r>
              <a:rPr lang="en-US" dirty="0" err="1">
                <a:solidFill>
                  <a:schemeClr val="bg1"/>
                </a:solidFill>
              </a:rPr>
              <a:t>liên</a:t>
            </a:r>
            <a:r>
              <a:rPr lang="en-US" dirty="0">
                <a:solidFill>
                  <a:schemeClr val="bg1"/>
                </a:solidFill>
              </a:rPr>
              <a:t> </a:t>
            </a:r>
            <a:r>
              <a:rPr lang="en-US" dirty="0" err="1">
                <a:solidFill>
                  <a:schemeClr val="bg1"/>
                </a:solidFill>
              </a:rPr>
              <a:t>tục</a:t>
            </a:r>
            <a:r>
              <a:rPr lang="en-US" dirty="0">
                <a:solidFill>
                  <a:schemeClr val="bg1"/>
                </a:solidFill>
              </a:rPr>
              <a:t> </a:t>
            </a:r>
            <a:r>
              <a:rPr lang="en-US" dirty="0" err="1">
                <a:solidFill>
                  <a:schemeClr val="bg1"/>
                </a:solidFill>
              </a:rPr>
              <a:t>trạng</a:t>
            </a:r>
            <a:r>
              <a:rPr lang="en-US" dirty="0">
                <a:solidFill>
                  <a:schemeClr val="bg1"/>
                </a:solidFill>
              </a:rPr>
              <a:t> </a:t>
            </a:r>
            <a:r>
              <a:rPr lang="en-US" dirty="0" err="1">
                <a:solidFill>
                  <a:schemeClr val="bg1"/>
                </a:solidFill>
              </a:rPr>
              <a:t>thái</a:t>
            </a:r>
            <a:r>
              <a:rPr lang="en-US" dirty="0">
                <a:solidFill>
                  <a:schemeClr val="bg1"/>
                </a:solidFill>
              </a:rPr>
              <a:t> </a:t>
            </a:r>
            <a:r>
              <a:rPr lang="en-US" dirty="0" err="1">
                <a:solidFill>
                  <a:schemeClr val="bg1"/>
                </a:solidFill>
              </a:rPr>
              <a:t>sức</a:t>
            </a:r>
            <a:r>
              <a:rPr lang="en-US" dirty="0">
                <a:solidFill>
                  <a:schemeClr val="bg1"/>
                </a:solidFill>
              </a:rPr>
              <a:t> </a:t>
            </a:r>
            <a:r>
              <a:rPr lang="en-US" dirty="0" err="1">
                <a:solidFill>
                  <a:schemeClr val="bg1"/>
                </a:solidFill>
              </a:rPr>
              <a:t>khỏe</a:t>
            </a:r>
            <a:r>
              <a:rPr lang="en-US" dirty="0">
                <a:solidFill>
                  <a:schemeClr val="bg1"/>
                </a:solidFill>
              </a:rPr>
              <a:t> </a:t>
            </a:r>
            <a:r>
              <a:rPr lang="en-US" dirty="0" err="1">
                <a:solidFill>
                  <a:schemeClr val="bg1"/>
                </a:solidFill>
              </a:rPr>
              <a:t>của</a:t>
            </a:r>
            <a:r>
              <a:rPr lang="en-US" dirty="0">
                <a:solidFill>
                  <a:schemeClr val="bg1"/>
                </a:solidFill>
              </a:rPr>
              <a:t> </a:t>
            </a:r>
            <a:r>
              <a:rPr lang="en-US" dirty="0" err="1">
                <a:solidFill>
                  <a:schemeClr val="bg1"/>
                </a:solidFill>
              </a:rPr>
              <a:t>thiết</a:t>
            </a:r>
            <a:r>
              <a:rPr lang="en-US" dirty="0">
                <a:solidFill>
                  <a:schemeClr val="bg1"/>
                </a:solidFill>
              </a:rPr>
              <a:t> </a:t>
            </a:r>
            <a:r>
              <a:rPr lang="en-US" dirty="0" err="1">
                <a:solidFill>
                  <a:schemeClr val="bg1"/>
                </a:solidFill>
              </a:rPr>
              <a:t>bị</a:t>
            </a:r>
            <a:r>
              <a:rPr lang="en-US" dirty="0">
                <a:solidFill>
                  <a:schemeClr val="bg1"/>
                </a:solidFill>
              </a:rPr>
              <a:t> </a:t>
            </a:r>
            <a:r>
              <a:rPr lang="en-US" dirty="0" err="1">
                <a:solidFill>
                  <a:schemeClr val="bg1"/>
                </a:solidFill>
              </a:rPr>
              <a:t>bằng</a:t>
            </a:r>
            <a:r>
              <a:rPr lang="en-US" dirty="0">
                <a:solidFill>
                  <a:schemeClr val="bg1"/>
                </a:solidFill>
              </a:rPr>
              <a:t> </a:t>
            </a:r>
            <a:r>
              <a:rPr lang="en-US" dirty="0" err="1">
                <a:solidFill>
                  <a:schemeClr val="bg1"/>
                </a:solidFill>
              </a:rPr>
              <a:t>cảm</a:t>
            </a:r>
            <a:r>
              <a:rPr lang="en-US" dirty="0">
                <a:solidFill>
                  <a:schemeClr val="bg1"/>
                </a:solidFill>
              </a:rPr>
              <a:t> </a:t>
            </a:r>
            <a:r>
              <a:rPr lang="en-US" dirty="0" err="1">
                <a:solidFill>
                  <a:schemeClr val="bg1"/>
                </a:solidFill>
              </a:rPr>
              <a:t>biến</a:t>
            </a:r>
            <a:r>
              <a:rPr lang="en-US" dirty="0">
                <a:solidFill>
                  <a:schemeClr val="bg1"/>
                </a:solidFill>
              </a:rPr>
              <a:t> </a:t>
            </a:r>
            <a:r>
              <a:rPr lang="en-US" dirty="0" err="1">
                <a:solidFill>
                  <a:schemeClr val="bg1"/>
                </a:solidFill>
              </a:rPr>
              <a:t>đo</a:t>
            </a:r>
            <a:r>
              <a:rPr lang="en-US" dirty="0">
                <a:solidFill>
                  <a:schemeClr val="bg1"/>
                </a:solidFill>
              </a:rPr>
              <a:t> dao </a:t>
            </a:r>
            <a:r>
              <a:rPr lang="en-US" dirty="0" err="1">
                <a:solidFill>
                  <a:schemeClr val="bg1"/>
                </a:solidFill>
              </a:rPr>
              <a:t>động</a:t>
            </a:r>
            <a:r>
              <a:rPr lang="en-US" dirty="0">
                <a:solidFill>
                  <a:schemeClr val="bg1"/>
                </a:solidFill>
              </a:rPr>
              <a:t>.</a:t>
            </a:r>
            <a:endParaRPr lang="en-US" dirty="0">
              <a:solidFill>
                <a:schemeClr val="bg1"/>
              </a:solidFill>
              <a:latin typeface="Calibri" pitchFamily="34" charset="0"/>
              <a:ea typeface="Calibri" pitchFamily="34" charset="-122"/>
              <a:cs typeface="Calibri" pitchFamily="34" charset="-120"/>
            </a:endParaRPr>
          </a:p>
          <a:p>
            <a:pPr marL="342900" indent="-342900">
              <a:buSzPct val="100000"/>
              <a:buChar char="•"/>
            </a:pPr>
            <a:r>
              <a:rPr lang="en-US" b="1" dirty="0" err="1">
                <a:solidFill>
                  <a:schemeClr val="bg1"/>
                </a:solidFill>
              </a:rPr>
              <a:t>Mục</a:t>
            </a:r>
            <a:r>
              <a:rPr lang="en-US" b="1" dirty="0">
                <a:solidFill>
                  <a:schemeClr val="bg1"/>
                </a:solidFill>
              </a:rPr>
              <a:t> </a:t>
            </a:r>
            <a:r>
              <a:rPr lang="en-US" b="1" dirty="0" err="1">
                <a:solidFill>
                  <a:schemeClr val="bg1"/>
                </a:solidFill>
              </a:rPr>
              <a:t>tiêu</a:t>
            </a:r>
            <a:r>
              <a:rPr lang="en-US" b="1" dirty="0">
                <a:solidFill>
                  <a:schemeClr val="bg1"/>
                </a:solidFill>
              </a:rPr>
              <a:t>:</a:t>
            </a:r>
            <a:r>
              <a:rPr lang="en-US" dirty="0">
                <a:solidFill>
                  <a:schemeClr val="bg1"/>
                </a:solidFill>
              </a:rPr>
              <a:t> </a:t>
            </a:r>
            <a:r>
              <a:rPr lang="en-US" dirty="0" err="1">
                <a:solidFill>
                  <a:schemeClr val="bg1"/>
                </a:solidFill>
              </a:rPr>
              <a:t>Đo</a:t>
            </a:r>
            <a:r>
              <a:rPr lang="en-US" dirty="0">
                <a:solidFill>
                  <a:schemeClr val="bg1"/>
                </a:solidFill>
              </a:rPr>
              <a:t> </a:t>
            </a:r>
            <a:r>
              <a:rPr lang="en-US" dirty="0" err="1">
                <a:solidFill>
                  <a:schemeClr val="bg1"/>
                </a:solidFill>
              </a:rPr>
              <a:t>đạc</a:t>
            </a:r>
            <a:r>
              <a:rPr lang="en-US" dirty="0">
                <a:solidFill>
                  <a:schemeClr val="bg1"/>
                </a:solidFill>
              </a:rPr>
              <a:t> </a:t>
            </a:r>
            <a:r>
              <a:rPr lang="en-US" dirty="0" err="1">
                <a:solidFill>
                  <a:schemeClr val="bg1"/>
                </a:solidFill>
              </a:rPr>
              <a:t>độ</a:t>
            </a:r>
            <a:r>
              <a:rPr lang="en-US" dirty="0">
                <a:solidFill>
                  <a:schemeClr val="bg1"/>
                </a:solidFill>
              </a:rPr>
              <a:t> dao </a:t>
            </a:r>
            <a:r>
              <a:rPr lang="en-US" dirty="0" err="1">
                <a:solidFill>
                  <a:schemeClr val="bg1"/>
                </a:solidFill>
              </a:rPr>
              <a:t>động</a:t>
            </a:r>
            <a:r>
              <a:rPr lang="en-US" dirty="0">
                <a:solidFill>
                  <a:schemeClr val="bg1"/>
                </a:solidFill>
              </a:rPr>
              <a:t> </a:t>
            </a:r>
            <a:r>
              <a:rPr lang="en-US" dirty="0" err="1">
                <a:solidFill>
                  <a:schemeClr val="bg1"/>
                </a:solidFill>
              </a:rPr>
              <a:t>để</a:t>
            </a:r>
            <a:r>
              <a:rPr lang="en-US" dirty="0">
                <a:solidFill>
                  <a:schemeClr val="bg1"/>
                </a:solidFill>
              </a:rPr>
              <a:t> </a:t>
            </a:r>
            <a:r>
              <a:rPr lang="en-US" dirty="0" err="1">
                <a:solidFill>
                  <a:schemeClr val="bg1"/>
                </a:solidFill>
              </a:rPr>
              <a:t>phát</a:t>
            </a:r>
            <a:r>
              <a:rPr lang="en-US" dirty="0">
                <a:solidFill>
                  <a:schemeClr val="bg1"/>
                </a:solidFill>
              </a:rPr>
              <a:t> </a:t>
            </a:r>
            <a:r>
              <a:rPr lang="en-US" dirty="0" err="1">
                <a:solidFill>
                  <a:schemeClr val="bg1"/>
                </a:solidFill>
              </a:rPr>
              <a:t>hiện</a:t>
            </a:r>
            <a:r>
              <a:rPr lang="en-US" dirty="0">
                <a:solidFill>
                  <a:schemeClr val="bg1"/>
                </a:solidFill>
              </a:rPr>
              <a:t> </a:t>
            </a:r>
            <a:r>
              <a:rPr lang="en-US" dirty="0" err="1">
                <a:solidFill>
                  <a:schemeClr val="bg1"/>
                </a:solidFill>
              </a:rPr>
              <a:t>sớm</a:t>
            </a:r>
            <a:r>
              <a:rPr lang="en-US" dirty="0">
                <a:solidFill>
                  <a:schemeClr val="bg1"/>
                </a:solidFill>
              </a:rPr>
              <a:t> </a:t>
            </a:r>
            <a:r>
              <a:rPr lang="en-US" dirty="0" err="1">
                <a:solidFill>
                  <a:schemeClr val="bg1"/>
                </a:solidFill>
              </a:rPr>
              <a:t>các</a:t>
            </a:r>
            <a:r>
              <a:rPr lang="en-US" dirty="0">
                <a:solidFill>
                  <a:schemeClr val="bg1"/>
                </a:solidFill>
              </a:rPr>
              <a:t> </a:t>
            </a:r>
            <a:r>
              <a:rPr lang="en-US" dirty="0" err="1">
                <a:solidFill>
                  <a:schemeClr val="bg1"/>
                </a:solidFill>
              </a:rPr>
              <a:t>dấu</a:t>
            </a:r>
            <a:r>
              <a:rPr lang="en-US" dirty="0">
                <a:solidFill>
                  <a:schemeClr val="bg1"/>
                </a:solidFill>
              </a:rPr>
              <a:t> </a:t>
            </a:r>
            <a:r>
              <a:rPr lang="en-US" dirty="0" err="1">
                <a:solidFill>
                  <a:schemeClr val="bg1"/>
                </a:solidFill>
              </a:rPr>
              <a:t>hiệu</a:t>
            </a:r>
            <a:r>
              <a:rPr lang="en-US" dirty="0">
                <a:solidFill>
                  <a:schemeClr val="bg1"/>
                </a:solidFill>
              </a:rPr>
              <a:t> </a:t>
            </a:r>
            <a:r>
              <a:rPr lang="en-US" dirty="0" err="1">
                <a:solidFill>
                  <a:schemeClr val="bg1"/>
                </a:solidFill>
              </a:rPr>
              <a:t>hư</a:t>
            </a:r>
            <a:r>
              <a:rPr lang="en-US" dirty="0">
                <a:solidFill>
                  <a:schemeClr val="bg1"/>
                </a:solidFill>
              </a:rPr>
              <a:t> </a:t>
            </a:r>
            <a:r>
              <a:rPr lang="en-US" dirty="0" err="1">
                <a:solidFill>
                  <a:schemeClr val="bg1"/>
                </a:solidFill>
              </a:rPr>
              <a:t>hỏng</a:t>
            </a:r>
            <a:r>
              <a:rPr lang="en-US" dirty="0">
                <a:solidFill>
                  <a:schemeClr val="bg1"/>
                </a:solidFill>
              </a:rPr>
              <a:t> </a:t>
            </a:r>
            <a:r>
              <a:rPr lang="en-US" dirty="0" err="1">
                <a:solidFill>
                  <a:schemeClr val="bg1"/>
                </a:solidFill>
              </a:rPr>
              <a:t>của</a:t>
            </a:r>
            <a:r>
              <a:rPr lang="en-US" dirty="0">
                <a:solidFill>
                  <a:schemeClr val="bg1"/>
                </a:solidFill>
              </a:rPr>
              <a:t> ổ </a:t>
            </a:r>
            <a:r>
              <a:rPr lang="en-US" dirty="0" err="1">
                <a:solidFill>
                  <a:schemeClr val="bg1"/>
                </a:solidFill>
              </a:rPr>
              <a:t>lăn</a:t>
            </a:r>
            <a:r>
              <a:rPr lang="en-US" dirty="0">
                <a:solidFill>
                  <a:schemeClr val="bg1"/>
                </a:solidFill>
              </a:rPr>
              <a:t> </a:t>
            </a:r>
            <a:r>
              <a:rPr lang="en-US" dirty="0" err="1">
                <a:solidFill>
                  <a:schemeClr val="bg1"/>
                </a:solidFill>
              </a:rPr>
              <a:t>ngay</a:t>
            </a:r>
            <a:r>
              <a:rPr lang="en-US" dirty="0">
                <a:solidFill>
                  <a:schemeClr val="bg1"/>
                </a:solidFill>
              </a:rPr>
              <a:t> </a:t>
            </a:r>
            <a:r>
              <a:rPr lang="en-US" dirty="0" err="1">
                <a:solidFill>
                  <a:schemeClr val="bg1"/>
                </a:solidFill>
              </a:rPr>
              <a:t>từ</a:t>
            </a:r>
            <a:r>
              <a:rPr lang="en-US" dirty="0">
                <a:solidFill>
                  <a:schemeClr val="bg1"/>
                </a:solidFill>
              </a:rPr>
              <a:t> </a:t>
            </a:r>
            <a:r>
              <a:rPr lang="en-US" dirty="0" err="1">
                <a:solidFill>
                  <a:schemeClr val="bg1"/>
                </a:solidFill>
              </a:rPr>
              <a:t>giai</a:t>
            </a:r>
            <a:r>
              <a:rPr lang="en-US" dirty="0">
                <a:solidFill>
                  <a:schemeClr val="bg1"/>
                </a:solidFill>
              </a:rPr>
              <a:t> </a:t>
            </a:r>
            <a:r>
              <a:rPr lang="en-US" dirty="0" err="1">
                <a:solidFill>
                  <a:schemeClr val="bg1"/>
                </a:solidFill>
              </a:rPr>
              <a:t>đoạn</a:t>
            </a:r>
            <a:r>
              <a:rPr lang="en-US" dirty="0">
                <a:solidFill>
                  <a:schemeClr val="bg1"/>
                </a:solidFill>
              </a:rPr>
              <a:t> </a:t>
            </a:r>
            <a:r>
              <a:rPr lang="en-US" dirty="0" err="1">
                <a:solidFill>
                  <a:schemeClr val="bg1"/>
                </a:solidFill>
              </a:rPr>
              <a:t>khởi</a:t>
            </a:r>
            <a:r>
              <a:rPr lang="en-US" dirty="0">
                <a:solidFill>
                  <a:schemeClr val="bg1"/>
                </a:solidFill>
              </a:rPr>
              <a:t> </a:t>
            </a:r>
            <a:r>
              <a:rPr lang="en-US" dirty="0" err="1">
                <a:solidFill>
                  <a:schemeClr val="bg1"/>
                </a:solidFill>
              </a:rPr>
              <a:t>phát</a:t>
            </a:r>
            <a:endParaRPr lang="en-US" dirty="0">
              <a:solidFill>
                <a:schemeClr val="bg1"/>
              </a:solidFill>
            </a:endParaRPr>
          </a:p>
          <a:p>
            <a:pPr marL="342900" indent="-342900">
              <a:buSzPct val="100000"/>
              <a:buChar char="•"/>
            </a:pPr>
            <a:r>
              <a:rPr lang="en-US" b="1" dirty="0">
                <a:solidFill>
                  <a:schemeClr val="bg1"/>
                </a:solidFill>
              </a:rPr>
              <a:t>Hiệu </a:t>
            </a:r>
            <a:r>
              <a:rPr lang="en-US" b="1" dirty="0" err="1">
                <a:solidFill>
                  <a:schemeClr val="bg1"/>
                </a:solidFill>
              </a:rPr>
              <a:t>quả</a:t>
            </a:r>
            <a:r>
              <a:rPr lang="en-US" b="1" dirty="0">
                <a:solidFill>
                  <a:schemeClr val="bg1"/>
                </a:solidFill>
              </a:rPr>
              <a:t>:</a:t>
            </a:r>
            <a:r>
              <a:rPr lang="en-US" dirty="0">
                <a:solidFill>
                  <a:schemeClr val="bg1"/>
                </a:solidFill>
              </a:rPr>
              <a:t> </a:t>
            </a:r>
            <a:r>
              <a:rPr lang="en-US" dirty="0" err="1">
                <a:solidFill>
                  <a:schemeClr val="bg1"/>
                </a:solidFill>
              </a:rPr>
              <a:t>Chủ</a:t>
            </a:r>
            <a:r>
              <a:rPr lang="en-US" dirty="0">
                <a:solidFill>
                  <a:schemeClr val="bg1"/>
                </a:solidFill>
              </a:rPr>
              <a:t> </a:t>
            </a:r>
            <a:r>
              <a:rPr lang="en-US" dirty="0" err="1">
                <a:solidFill>
                  <a:schemeClr val="bg1"/>
                </a:solidFill>
              </a:rPr>
              <a:t>động</a:t>
            </a:r>
            <a:r>
              <a:rPr lang="en-US" dirty="0">
                <a:solidFill>
                  <a:schemeClr val="bg1"/>
                </a:solidFill>
              </a:rPr>
              <a:t> </a:t>
            </a:r>
            <a:r>
              <a:rPr lang="en-US" dirty="0" err="1">
                <a:solidFill>
                  <a:schemeClr val="bg1"/>
                </a:solidFill>
              </a:rPr>
              <a:t>lập</a:t>
            </a:r>
            <a:r>
              <a:rPr lang="en-US" dirty="0">
                <a:solidFill>
                  <a:schemeClr val="bg1"/>
                </a:solidFill>
              </a:rPr>
              <a:t> </a:t>
            </a:r>
            <a:r>
              <a:rPr lang="en-US" dirty="0" err="1">
                <a:solidFill>
                  <a:schemeClr val="bg1"/>
                </a:solidFill>
              </a:rPr>
              <a:t>kế</a:t>
            </a:r>
            <a:r>
              <a:rPr lang="en-US" dirty="0">
                <a:solidFill>
                  <a:schemeClr val="bg1"/>
                </a:solidFill>
              </a:rPr>
              <a:t> </a:t>
            </a:r>
            <a:r>
              <a:rPr lang="en-US" dirty="0" err="1">
                <a:solidFill>
                  <a:schemeClr val="bg1"/>
                </a:solidFill>
              </a:rPr>
              <a:t>hoạch</a:t>
            </a:r>
            <a:r>
              <a:rPr lang="en-US" dirty="0">
                <a:solidFill>
                  <a:schemeClr val="bg1"/>
                </a:solidFill>
              </a:rPr>
              <a:t> </a:t>
            </a:r>
            <a:r>
              <a:rPr lang="en-US" dirty="0" err="1">
                <a:solidFill>
                  <a:schemeClr val="bg1"/>
                </a:solidFill>
              </a:rPr>
              <a:t>bảo</a:t>
            </a:r>
            <a:r>
              <a:rPr lang="en-US" dirty="0">
                <a:solidFill>
                  <a:schemeClr val="bg1"/>
                </a:solidFill>
              </a:rPr>
              <a:t> </a:t>
            </a:r>
            <a:r>
              <a:rPr lang="en-US" dirty="0" err="1">
                <a:solidFill>
                  <a:schemeClr val="bg1"/>
                </a:solidFill>
              </a:rPr>
              <a:t>dưỡng</a:t>
            </a:r>
            <a:r>
              <a:rPr lang="en-US" dirty="0">
                <a:solidFill>
                  <a:schemeClr val="bg1"/>
                </a:solidFill>
              </a:rPr>
              <a:t>, </a:t>
            </a:r>
            <a:r>
              <a:rPr lang="en-US" dirty="0" err="1">
                <a:solidFill>
                  <a:schemeClr val="bg1"/>
                </a:solidFill>
              </a:rPr>
              <a:t>tối</a:t>
            </a:r>
            <a:r>
              <a:rPr lang="en-US" dirty="0">
                <a:solidFill>
                  <a:schemeClr val="bg1"/>
                </a:solidFill>
              </a:rPr>
              <a:t> </a:t>
            </a:r>
            <a:r>
              <a:rPr lang="en-US" dirty="0" err="1">
                <a:solidFill>
                  <a:schemeClr val="bg1"/>
                </a:solidFill>
              </a:rPr>
              <a:t>ưu</a:t>
            </a:r>
            <a:r>
              <a:rPr lang="en-US" dirty="0">
                <a:solidFill>
                  <a:schemeClr val="bg1"/>
                </a:solidFill>
              </a:rPr>
              <a:t> </a:t>
            </a:r>
            <a:r>
              <a:rPr lang="en-US" dirty="0" err="1">
                <a:solidFill>
                  <a:schemeClr val="bg1"/>
                </a:solidFill>
              </a:rPr>
              <a:t>hóa</a:t>
            </a:r>
            <a:r>
              <a:rPr lang="en-US" dirty="0">
                <a:solidFill>
                  <a:schemeClr val="bg1"/>
                </a:solidFill>
              </a:rPr>
              <a:t> </a:t>
            </a:r>
            <a:r>
              <a:rPr lang="en-US" dirty="0" err="1">
                <a:solidFill>
                  <a:schemeClr val="bg1"/>
                </a:solidFill>
              </a:rPr>
              <a:t>thời</a:t>
            </a:r>
            <a:r>
              <a:rPr lang="en-US" dirty="0">
                <a:solidFill>
                  <a:schemeClr val="bg1"/>
                </a:solidFill>
              </a:rPr>
              <a:t> </a:t>
            </a:r>
            <a:r>
              <a:rPr lang="en-US" dirty="0" err="1">
                <a:solidFill>
                  <a:schemeClr val="bg1"/>
                </a:solidFill>
              </a:rPr>
              <a:t>gian</a:t>
            </a:r>
            <a:r>
              <a:rPr lang="en-US" dirty="0">
                <a:solidFill>
                  <a:schemeClr val="bg1"/>
                </a:solidFill>
              </a:rPr>
              <a:t> </a:t>
            </a:r>
            <a:r>
              <a:rPr lang="en-US" dirty="0" err="1">
                <a:solidFill>
                  <a:schemeClr val="bg1"/>
                </a:solidFill>
              </a:rPr>
              <a:t>dừng</a:t>
            </a:r>
            <a:r>
              <a:rPr lang="en-US" dirty="0">
                <a:solidFill>
                  <a:schemeClr val="bg1"/>
                </a:solidFill>
              </a:rPr>
              <a:t> </a:t>
            </a:r>
            <a:r>
              <a:rPr lang="en-US" dirty="0" err="1">
                <a:solidFill>
                  <a:schemeClr val="bg1"/>
                </a:solidFill>
              </a:rPr>
              <a:t>máy</a:t>
            </a:r>
            <a:r>
              <a:rPr lang="en-US" dirty="0">
                <a:solidFill>
                  <a:schemeClr val="bg1"/>
                </a:solidFill>
              </a:rPr>
              <a:t> </a:t>
            </a:r>
            <a:r>
              <a:rPr lang="en-US" dirty="0" err="1">
                <a:solidFill>
                  <a:schemeClr val="bg1"/>
                </a:solidFill>
              </a:rPr>
              <a:t>và</a:t>
            </a:r>
            <a:r>
              <a:rPr lang="en-US" dirty="0">
                <a:solidFill>
                  <a:schemeClr val="bg1"/>
                </a:solidFill>
              </a:rPr>
              <a:t> </a:t>
            </a:r>
            <a:r>
              <a:rPr lang="en-US" dirty="0" err="1">
                <a:solidFill>
                  <a:schemeClr val="bg1"/>
                </a:solidFill>
              </a:rPr>
              <a:t>khai</a:t>
            </a:r>
            <a:r>
              <a:rPr lang="en-US" dirty="0">
                <a:solidFill>
                  <a:schemeClr val="bg1"/>
                </a:solidFill>
              </a:rPr>
              <a:t> </a:t>
            </a:r>
            <a:r>
              <a:rPr lang="en-US" dirty="0" err="1">
                <a:solidFill>
                  <a:schemeClr val="bg1"/>
                </a:solidFill>
              </a:rPr>
              <a:t>thác</a:t>
            </a:r>
            <a:r>
              <a:rPr lang="en-US" dirty="0">
                <a:solidFill>
                  <a:schemeClr val="bg1"/>
                </a:solidFill>
              </a:rPr>
              <a:t> </a:t>
            </a:r>
            <a:r>
              <a:rPr lang="en-US" dirty="0" err="1">
                <a:solidFill>
                  <a:schemeClr val="bg1"/>
                </a:solidFill>
              </a:rPr>
              <a:t>tối</a:t>
            </a:r>
            <a:r>
              <a:rPr lang="en-US" dirty="0">
                <a:solidFill>
                  <a:schemeClr val="bg1"/>
                </a:solidFill>
              </a:rPr>
              <a:t> </a:t>
            </a:r>
            <a:r>
              <a:rPr lang="en-US" dirty="0" err="1">
                <a:solidFill>
                  <a:schemeClr val="bg1"/>
                </a:solidFill>
              </a:rPr>
              <a:t>đa</a:t>
            </a:r>
            <a:r>
              <a:rPr lang="en-US" dirty="0">
                <a:solidFill>
                  <a:schemeClr val="bg1"/>
                </a:solidFill>
              </a:rPr>
              <a:t> </a:t>
            </a:r>
            <a:r>
              <a:rPr lang="en-US" dirty="0" err="1">
                <a:solidFill>
                  <a:schemeClr val="bg1"/>
                </a:solidFill>
              </a:rPr>
              <a:t>tuổi</a:t>
            </a:r>
            <a:r>
              <a:rPr lang="en-US" dirty="0">
                <a:solidFill>
                  <a:schemeClr val="bg1"/>
                </a:solidFill>
              </a:rPr>
              <a:t> </a:t>
            </a:r>
            <a:r>
              <a:rPr lang="en-US" dirty="0" err="1">
                <a:solidFill>
                  <a:schemeClr val="bg1"/>
                </a:solidFill>
              </a:rPr>
              <a:t>thọ</a:t>
            </a:r>
            <a:r>
              <a:rPr lang="en-US" dirty="0">
                <a:solidFill>
                  <a:schemeClr val="bg1"/>
                </a:solidFill>
              </a:rPr>
              <a:t> </a:t>
            </a:r>
            <a:r>
              <a:rPr lang="en-US" dirty="0" err="1">
                <a:solidFill>
                  <a:schemeClr val="bg1"/>
                </a:solidFill>
              </a:rPr>
              <a:t>hữu</a:t>
            </a:r>
            <a:r>
              <a:rPr lang="en-US" dirty="0">
                <a:solidFill>
                  <a:schemeClr val="bg1"/>
                </a:solidFill>
              </a:rPr>
              <a:t> </a:t>
            </a:r>
            <a:r>
              <a:rPr lang="en-US" dirty="0" err="1">
                <a:solidFill>
                  <a:schemeClr val="bg1"/>
                </a:solidFill>
              </a:rPr>
              <a:t>ích</a:t>
            </a:r>
            <a:r>
              <a:rPr lang="en-US" dirty="0">
                <a:solidFill>
                  <a:schemeClr val="bg1"/>
                </a:solidFill>
              </a:rPr>
              <a:t> </a:t>
            </a:r>
            <a:r>
              <a:rPr lang="en-US" dirty="0" err="1">
                <a:solidFill>
                  <a:schemeClr val="bg1"/>
                </a:solidFill>
              </a:rPr>
              <a:t>của</a:t>
            </a:r>
            <a:r>
              <a:rPr lang="en-US" dirty="0">
                <a:solidFill>
                  <a:schemeClr val="bg1"/>
                </a:solidFill>
              </a:rPr>
              <a:t> </a:t>
            </a:r>
            <a:r>
              <a:rPr lang="en-US" dirty="0" err="1">
                <a:solidFill>
                  <a:schemeClr val="bg1"/>
                </a:solidFill>
              </a:rPr>
              <a:t>linh</a:t>
            </a:r>
            <a:r>
              <a:rPr lang="en-US" dirty="0">
                <a:solidFill>
                  <a:schemeClr val="bg1"/>
                </a:solidFill>
              </a:rPr>
              <a:t> </a:t>
            </a:r>
            <a:r>
              <a:rPr lang="en-US" dirty="0" err="1">
                <a:solidFill>
                  <a:schemeClr val="bg1"/>
                </a:solidFill>
              </a:rPr>
              <a:t>kiện</a:t>
            </a:r>
            <a:r>
              <a:rPr lang="en-US" dirty="0">
                <a:solidFill>
                  <a:schemeClr val="bg1"/>
                </a:solidFill>
              </a:rPr>
              <a:t>.</a:t>
            </a:r>
          </a:p>
        </p:txBody>
      </p:sp>
      <p:sp>
        <p:nvSpPr>
          <p:cNvPr id="32" name="Title 31">
            <a:extLst>
              <a:ext uri="{FF2B5EF4-FFF2-40B4-BE49-F238E27FC236}">
                <a16:creationId xmlns:a16="http://schemas.microsoft.com/office/drawing/2014/main" id="{BA197A3E-D45F-5AFC-5843-0BD196DC45FF}"/>
              </a:ext>
            </a:extLst>
          </p:cNvPr>
          <p:cNvSpPr>
            <a:spLocks noGrp="1"/>
          </p:cNvSpPr>
          <p:nvPr>
            <p:ph type="title"/>
          </p:nvPr>
        </p:nvSpPr>
        <p:spPr/>
        <p:txBody>
          <a:bodyPr/>
          <a:lstStyle/>
          <a:p>
            <a:r>
              <a:rPr lang="en-US" dirty="0" err="1"/>
              <a:t>Vì</a:t>
            </a:r>
            <a:r>
              <a:rPr lang="en-US" dirty="0"/>
              <a:t> </a:t>
            </a:r>
            <a:r>
              <a:rPr lang="en-US" dirty="0" err="1"/>
              <a:t>sao</a:t>
            </a:r>
            <a:r>
              <a:rPr lang="en-US" dirty="0"/>
              <a:t> </a:t>
            </a:r>
            <a:r>
              <a:rPr lang="en-US" dirty="0" err="1"/>
              <a:t>cần</a:t>
            </a:r>
            <a:r>
              <a:rPr lang="en-US" dirty="0"/>
              <a:t> </a:t>
            </a:r>
            <a:r>
              <a:rPr lang="en-US" dirty="0" err="1"/>
              <a:t>bảo</a:t>
            </a:r>
            <a:r>
              <a:rPr lang="en-US" dirty="0"/>
              <a:t> </a:t>
            </a:r>
            <a:r>
              <a:rPr lang="en-US" dirty="0" err="1"/>
              <a:t>trì</a:t>
            </a:r>
            <a:r>
              <a:rPr lang="en-US" dirty="0"/>
              <a:t> </a:t>
            </a:r>
            <a:r>
              <a:rPr lang="en-US" dirty="0" err="1"/>
              <a:t>dự</a:t>
            </a:r>
            <a:r>
              <a:rPr lang="en-US" dirty="0"/>
              <a:t> </a:t>
            </a:r>
            <a:r>
              <a:rPr lang="en-US" dirty="0" err="1"/>
              <a:t>đoán</a:t>
            </a:r>
            <a:endParaRPr lang="en-US" dirty="0"/>
          </a:p>
        </p:txBody>
      </p:sp>
      <p:sp>
        <p:nvSpPr>
          <p:cNvPr id="35" name="TextBox 34">
            <a:extLst>
              <a:ext uri="{FF2B5EF4-FFF2-40B4-BE49-F238E27FC236}">
                <a16:creationId xmlns:a16="http://schemas.microsoft.com/office/drawing/2014/main" id="{E68A5DFB-E7E0-CC7C-5632-2D00D53094EA}"/>
              </a:ext>
            </a:extLst>
          </p:cNvPr>
          <p:cNvSpPr txBox="1"/>
          <p:nvPr/>
        </p:nvSpPr>
        <p:spPr>
          <a:xfrm>
            <a:off x="590519" y="5435036"/>
            <a:ext cx="10968048" cy="646331"/>
          </a:xfrm>
          <a:prstGeom prst="rect">
            <a:avLst/>
          </a:prstGeom>
          <a:noFill/>
        </p:spPr>
        <p:txBody>
          <a:bodyPr wrap="square" rtlCol="0">
            <a:spAutoFit/>
          </a:bodyPr>
          <a:lstStyle/>
          <a:p>
            <a:pPr algn="ctr"/>
            <a:r>
              <a:rPr lang="en-US" b="1" dirty="0" err="1"/>
              <a:t>Cảm</a:t>
            </a:r>
            <a:r>
              <a:rPr lang="en-US" b="1" dirty="0"/>
              <a:t> </a:t>
            </a:r>
            <a:r>
              <a:rPr lang="en-US" b="1" dirty="0" err="1"/>
              <a:t>biến</a:t>
            </a:r>
            <a:r>
              <a:rPr lang="en-US" b="1" dirty="0"/>
              <a:t> </a:t>
            </a:r>
            <a:r>
              <a:rPr lang="en-US" b="1" dirty="0" err="1"/>
              <a:t>phát</a:t>
            </a:r>
            <a:r>
              <a:rPr lang="en-US" b="1" dirty="0"/>
              <a:t> </a:t>
            </a:r>
            <a:r>
              <a:rPr lang="en-US" b="1" dirty="0" err="1"/>
              <a:t>hiện</a:t>
            </a:r>
            <a:r>
              <a:rPr lang="en-US" b="1" dirty="0"/>
              <a:t> </a:t>
            </a:r>
            <a:r>
              <a:rPr lang="en-US" b="1" dirty="0" err="1"/>
              <a:t>sớm</a:t>
            </a:r>
            <a:r>
              <a:rPr lang="en-US" b="1" dirty="0"/>
              <a:t> </a:t>
            </a:r>
            <a:r>
              <a:rPr lang="en-US" b="1" dirty="0" err="1"/>
              <a:t>lỗi</a:t>
            </a:r>
            <a:r>
              <a:rPr lang="en-US" b="1" dirty="0"/>
              <a:t> </a:t>
            </a:r>
            <a:r>
              <a:rPr lang="en-US" b="1" dirty="0" err="1"/>
              <a:t>siêu</a:t>
            </a:r>
            <a:r>
              <a:rPr lang="en-US" b="1" dirty="0"/>
              <a:t> </a:t>
            </a:r>
            <a:r>
              <a:rPr lang="en-US" b="1" dirty="0" err="1"/>
              <a:t>nhỏ</a:t>
            </a:r>
            <a:r>
              <a:rPr lang="en-US" b="1" dirty="0"/>
              <a:t> </a:t>
            </a:r>
            <a:r>
              <a:rPr lang="en-US" b="1" dirty="0" err="1"/>
              <a:t>trước</a:t>
            </a:r>
            <a:r>
              <a:rPr lang="en-US" b="1" dirty="0"/>
              <a:t> tai </a:t>
            </a:r>
            <a:r>
              <a:rPr lang="en-US" b="1" dirty="0" err="1"/>
              <a:t>người</a:t>
            </a:r>
            <a:r>
              <a:rPr lang="en-US" b="1" dirty="0"/>
              <a:t> </a:t>
            </a:r>
            <a:r>
              <a:rPr lang="en-US" b="1" dirty="0" err="1"/>
              <a:t>vài</a:t>
            </a:r>
            <a:r>
              <a:rPr lang="en-US" b="1" dirty="0"/>
              <a:t> </a:t>
            </a:r>
            <a:r>
              <a:rPr lang="en-US" b="1" dirty="0" err="1"/>
              <a:t>tuần</a:t>
            </a:r>
            <a:r>
              <a:rPr lang="en-US" b="1" dirty="0"/>
              <a:t>/</a:t>
            </a:r>
            <a:r>
              <a:rPr lang="en-US" b="1" dirty="0" err="1"/>
              <a:t>tháng</a:t>
            </a:r>
            <a:r>
              <a:rPr lang="en-US" b="1" dirty="0"/>
              <a:t>, </a:t>
            </a:r>
            <a:r>
              <a:rPr lang="en-US" b="1" dirty="0" err="1"/>
              <a:t>dù</a:t>
            </a:r>
            <a:r>
              <a:rPr lang="en-US" b="1" dirty="0"/>
              <a:t> </a:t>
            </a:r>
            <a:r>
              <a:rPr lang="en-US" b="1" dirty="0" err="1"/>
              <a:t>vậy</a:t>
            </a:r>
            <a:r>
              <a:rPr lang="en-US" b="1" dirty="0"/>
              <a:t> </a:t>
            </a:r>
            <a:r>
              <a:rPr lang="en-US" b="1" dirty="0" err="1"/>
              <a:t>tín</a:t>
            </a:r>
            <a:r>
              <a:rPr lang="en-US" b="1" dirty="0"/>
              <a:t> </a:t>
            </a:r>
            <a:r>
              <a:rPr lang="en-US" b="1" dirty="0" err="1"/>
              <a:t>hiệu</a:t>
            </a:r>
            <a:r>
              <a:rPr lang="en-US" b="1" dirty="0"/>
              <a:t> ban </a:t>
            </a:r>
            <a:r>
              <a:rPr lang="en-US" b="1" dirty="0" err="1"/>
              <a:t>đầu</a:t>
            </a:r>
            <a:r>
              <a:rPr lang="en-US" b="1" dirty="0"/>
              <a:t> </a:t>
            </a:r>
            <a:r>
              <a:rPr lang="en-US" b="1" dirty="0" err="1"/>
              <a:t>nhỏ</a:t>
            </a:r>
            <a:r>
              <a:rPr lang="en-US" b="1" dirty="0"/>
              <a:t> </a:t>
            </a:r>
            <a:r>
              <a:rPr lang="en-US" b="1" dirty="0" err="1"/>
              <a:t>và</a:t>
            </a:r>
            <a:r>
              <a:rPr lang="en-US" b="1" dirty="0"/>
              <a:t> </a:t>
            </a:r>
            <a:r>
              <a:rPr lang="en-US" b="1" dirty="0" err="1"/>
              <a:t>dễ</a:t>
            </a:r>
            <a:r>
              <a:rPr lang="en-US" b="1" dirty="0"/>
              <a:t> </a:t>
            </a:r>
            <a:r>
              <a:rPr lang="en-US" b="1" dirty="0" err="1"/>
              <a:t>bị</a:t>
            </a:r>
            <a:r>
              <a:rPr lang="en-US" b="1" dirty="0"/>
              <a:t> </a:t>
            </a:r>
            <a:r>
              <a:rPr lang="en-US" b="1" dirty="0" err="1"/>
              <a:t>che</a:t>
            </a:r>
            <a:r>
              <a:rPr lang="en-US" b="1" dirty="0"/>
              <a:t> </a:t>
            </a:r>
            <a:r>
              <a:rPr lang="en-US" b="1" dirty="0" err="1"/>
              <a:t>lấp</a:t>
            </a:r>
            <a:r>
              <a:rPr lang="en-US" b="1" dirty="0"/>
              <a:t> </a:t>
            </a:r>
            <a:r>
              <a:rPr lang="en-US" b="1" dirty="0" err="1"/>
              <a:t>nhiễu</a:t>
            </a:r>
            <a:r>
              <a:rPr lang="en-US" b="1" dirty="0"/>
              <a:t> </a:t>
            </a:r>
            <a:r>
              <a:rPr lang="en-US" b="1" dirty="0" err="1"/>
              <a:t>và</a:t>
            </a:r>
            <a:r>
              <a:rPr lang="en-US" b="1" dirty="0"/>
              <a:t> </a:t>
            </a:r>
            <a:r>
              <a:rPr lang="en-US" b="1" dirty="0" err="1"/>
              <a:t>cần</a:t>
            </a:r>
            <a:r>
              <a:rPr lang="en-US" b="1" dirty="0"/>
              <a:t> </a:t>
            </a:r>
            <a:r>
              <a:rPr lang="en-US" b="1" dirty="0" err="1"/>
              <a:t>xử</a:t>
            </a:r>
            <a:r>
              <a:rPr lang="en-US" b="1" dirty="0"/>
              <a:t> </a:t>
            </a:r>
            <a:r>
              <a:rPr lang="en-US" b="1" dirty="0" err="1"/>
              <a:t>lý</a:t>
            </a:r>
            <a:r>
              <a:rPr lang="en-US" b="1" dirty="0"/>
              <a:t> </a:t>
            </a:r>
            <a:r>
              <a:rPr lang="en-US" b="1" dirty="0" err="1"/>
              <a:t>chuyên</a:t>
            </a:r>
            <a:r>
              <a:rPr lang="en-US" b="1" dirty="0"/>
              <a:t> </a:t>
            </a:r>
            <a:r>
              <a:rPr lang="en-US" b="1" dirty="0" err="1"/>
              <a:t>sâu</a:t>
            </a:r>
            <a:r>
              <a:rPr lang="en-US" b="1" dirty="0"/>
              <a:t>.</a:t>
            </a:r>
            <a:endParaRPr lang="en-US" dirty="0"/>
          </a:p>
        </p:txBody>
      </p:sp>
    </p:spTree>
    <p:extLst>
      <p:ext uri="{BB962C8B-B14F-4D97-AF65-F5344CB8AC3E}">
        <p14:creationId xmlns:p14="http://schemas.microsoft.com/office/powerpoint/2010/main" val="35059527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79DFEEB-8F07-817C-A868-7CC63A23DF6D}"/>
              </a:ext>
            </a:extLst>
          </p:cNvPr>
          <p:cNvSpPr>
            <a:spLocks noGrp="1"/>
          </p:cNvSpPr>
          <p:nvPr>
            <p:ph type="title"/>
          </p:nvPr>
        </p:nvSpPr>
        <p:spPr>
          <a:xfrm>
            <a:off x="338736" y="102815"/>
            <a:ext cx="11514528" cy="436098"/>
          </a:xfrm>
        </p:spPr>
        <p:txBody>
          <a:bodyPr/>
          <a:lstStyle/>
          <a:p>
            <a:r>
              <a:rPr lang="en-US" dirty="0">
                <a:solidFill>
                  <a:srgbClr val="FFFFFF"/>
                </a:solidFill>
                <a:latin typeface="Calibri" pitchFamily="34" charset="0"/>
                <a:ea typeface="Calibri" pitchFamily="34" charset="-122"/>
                <a:cs typeface="Calibri" pitchFamily="34" charset="-120"/>
              </a:rPr>
              <a:t>Quy </a:t>
            </a:r>
            <a:r>
              <a:rPr lang="en-US" dirty="0" err="1">
                <a:solidFill>
                  <a:srgbClr val="FFFFFF"/>
                </a:solidFill>
                <a:latin typeface="Calibri" pitchFamily="34" charset="0"/>
                <a:ea typeface="Calibri" pitchFamily="34" charset="-122"/>
                <a:cs typeface="Calibri" pitchFamily="34" charset="-120"/>
              </a:rPr>
              <a:t>Trình</a:t>
            </a:r>
            <a:r>
              <a:rPr lang="en-US" dirty="0">
                <a:solidFill>
                  <a:srgbClr val="FFFFFF"/>
                </a:solidFill>
                <a:latin typeface="Calibri" pitchFamily="34" charset="0"/>
                <a:ea typeface="Calibri" pitchFamily="34" charset="-122"/>
                <a:cs typeface="Calibri" pitchFamily="34" charset="-120"/>
              </a:rPr>
              <a:t> 7 </a:t>
            </a:r>
            <a:r>
              <a:rPr lang="en-US" dirty="0" err="1">
                <a:solidFill>
                  <a:srgbClr val="FFFFFF"/>
                </a:solidFill>
                <a:latin typeface="Calibri" pitchFamily="34" charset="0"/>
                <a:ea typeface="Calibri" pitchFamily="34" charset="-122"/>
                <a:cs typeface="Calibri" pitchFamily="34" charset="-120"/>
              </a:rPr>
              <a:t>Bước</a:t>
            </a:r>
            <a:endParaRPr lang="en-US" dirty="0"/>
          </a:p>
        </p:txBody>
      </p:sp>
      <p:sp>
        <p:nvSpPr>
          <p:cNvPr id="5" name="Slide Number Placeholder 4">
            <a:extLst>
              <a:ext uri="{FF2B5EF4-FFF2-40B4-BE49-F238E27FC236}">
                <a16:creationId xmlns:a16="http://schemas.microsoft.com/office/drawing/2014/main" id="{E8B4E653-E636-4EED-9A37-BC263FE84A93}"/>
              </a:ext>
            </a:extLst>
          </p:cNvPr>
          <p:cNvSpPr>
            <a:spLocks noGrp="1"/>
          </p:cNvSpPr>
          <p:nvPr>
            <p:ph type="sldNum" sz="quarter" idx="12"/>
          </p:nvPr>
        </p:nvSpPr>
        <p:spPr/>
        <p:txBody>
          <a:bodyPr/>
          <a:lstStyle/>
          <a:p>
            <a:fld id="{9EA0BE3B-158A-4EDF-80DC-E394A0D1600F}" type="slidenum">
              <a:rPr lang="en-US" smtClean="0"/>
              <a:pPr/>
              <a:t>5</a:t>
            </a:fld>
            <a:endParaRPr lang="en-US"/>
          </a:p>
        </p:txBody>
      </p:sp>
      <p:pic>
        <p:nvPicPr>
          <p:cNvPr id="48" name="Picture 47">
            <a:extLst>
              <a:ext uri="{FF2B5EF4-FFF2-40B4-BE49-F238E27FC236}">
                <a16:creationId xmlns:a16="http://schemas.microsoft.com/office/drawing/2014/main" id="{96B269E1-DA61-F11B-C548-D10212D4D991}"/>
              </a:ext>
            </a:extLst>
          </p:cNvPr>
          <p:cNvPicPr>
            <a:picLocks noChangeAspect="1"/>
          </p:cNvPicPr>
          <p:nvPr/>
        </p:nvPicPr>
        <p:blipFill>
          <a:blip r:embed="rId2"/>
          <a:srcRect t="5096" b="18129"/>
          <a:stretch>
            <a:fillRect/>
          </a:stretch>
        </p:blipFill>
        <p:spPr>
          <a:xfrm>
            <a:off x="1219199" y="1337553"/>
            <a:ext cx="10113523" cy="4337248"/>
          </a:xfrm>
          <a:prstGeom prst="rect">
            <a:avLst/>
          </a:prstGeom>
        </p:spPr>
      </p:pic>
    </p:spTree>
    <p:extLst>
      <p:ext uri="{BB962C8B-B14F-4D97-AF65-F5344CB8AC3E}">
        <p14:creationId xmlns:p14="http://schemas.microsoft.com/office/powerpoint/2010/main" val="22877002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308E1B1-D9CD-415A-BCE5-B57F39B2F31D}"/>
              </a:ext>
            </a:extLst>
          </p:cNvPr>
          <p:cNvSpPr>
            <a:spLocks noGrp="1"/>
          </p:cNvSpPr>
          <p:nvPr>
            <p:ph sz="quarter" idx="13"/>
          </p:nvPr>
        </p:nvSpPr>
        <p:spPr/>
        <p:txBody>
          <a:bodyPr/>
          <a:lstStyle/>
          <a:p>
            <a:endParaRPr lang="en-US" b="1" dirty="0">
              <a:solidFill>
                <a:srgbClr val="06D6A0"/>
              </a:solidFill>
              <a:latin typeface="Calibri" pitchFamily="34" charset="0"/>
              <a:ea typeface="Calibri" pitchFamily="34" charset="-122"/>
              <a:cs typeface="Calibri" pitchFamily="34" charset="-120"/>
            </a:endParaRPr>
          </a:p>
          <a:p>
            <a:endParaRPr lang="en-US" b="1" dirty="0">
              <a:solidFill>
                <a:srgbClr val="06D6A0"/>
              </a:solidFill>
              <a:latin typeface="Calibri" pitchFamily="34" charset="0"/>
              <a:ea typeface="Calibri" pitchFamily="34" charset="-122"/>
              <a:cs typeface="Calibri" pitchFamily="34" charset="-120"/>
            </a:endParaRPr>
          </a:p>
          <a:p>
            <a:pPr marL="574675" indent="-515938"/>
            <a:endParaRPr lang="en-US" dirty="0">
              <a:latin typeface="Calibri" pitchFamily="34" charset="0"/>
              <a:ea typeface="Calibri" pitchFamily="34" charset="-122"/>
              <a:cs typeface="Calibri" pitchFamily="34" charset="-120"/>
            </a:endParaRPr>
          </a:p>
          <a:p>
            <a:pPr marL="574675" indent="-515938">
              <a:buFont typeface="Wingdings" panose="05000000000000000000" pitchFamily="2" charset="2"/>
              <a:buChar char="q"/>
            </a:pPr>
            <a:r>
              <a:rPr lang="en-US" sz="2400" dirty="0" err="1">
                <a:latin typeface="Calibri" pitchFamily="34" charset="0"/>
                <a:ea typeface="Calibri" pitchFamily="34" charset="-122"/>
                <a:cs typeface="Calibri" pitchFamily="34" charset="-120"/>
              </a:rPr>
              <a:t>Cấu</a:t>
            </a:r>
            <a:r>
              <a:rPr lang="en-US" sz="2400" dirty="0">
                <a:latin typeface="Calibri" pitchFamily="34" charset="0"/>
                <a:ea typeface="Calibri" pitchFamily="34" charset="-122"/>
                <a:cs typeface="Calibri" pitchFamily="34" charset="-120"/>
              </a:rPr>
              <a:t> </a:t>
            </a:r>
            <a:r>
              <a:rPr lang="en-US" sz="2400" dirty="0" err="1">
                <a:latin typeface="Calibri" pitchFamily="34" charset="0"/>
                <a:ea typeface="Calibri" pitchFamily="34" charset="-122"/>
                <a:cs typeface="Calibri" pitchFamily="34" charset="-120"/>
              </a:rPr>
              <a:t>tạo</a:t>
            </a:r>
            <a:r>
              <a:rPr lang="en-US" sz="2400" dirty="0">
                <a:latin typeface="Calibri" pitchFamily="34" charset="0"/>
                <a:ea typeface="Calibri" pitchFamily="34" charset="-122"/>
                <a:cs typeface="Calibri" pitchFamily="34" charset="-120"/>
              </a:rPr>
              <a:t> CWRU Test Rig &amp; </a:t>
            </a:r>
            <a:r>
              <a:rPr lang="en-US" sz="2400" dirty="0" err="1">
                <a:latin typeface="Calibri" pitchFamily="34" charset="0"/>
                <a:ea typeface="Calibri" pitchFamily="34" charset="-122"/>
                <a:cs typeface="Calibri" pitchFamily="34" charset="-120"/>
              </a:rPr>
              <a:t>vị</a:t>
            </a:r>
            <a:r>
              <a:rPr lang="en-US" sz="2400" dirty="0">
                <a:latin typeface="Calibri" pitchFamily="34" charset="0"/>
                <a:ea typeface="Calibri" pitchFamily="34" charset="-122"/>
                <a:cs typeface="Calibri" pitchFamily="34" charset="-120"/>
              </a:rPr>
              <a:t> </a:t>
            </a:r>
            <a:r>
              <a:rPr lang="en-US" sz="2400" dirty="0" err="1">
                <a:latin typeface="Calibri" pitchFamily="34" charset="0"/>
                <a:ea typeface="Calibri" pitchFamily="34" charset="-122"/>
                <a:cs typeface="Calibri" pitchFamily="34" charset="-120"/>
              </a:rPr>
              <a:t>trí</a:t>
            </a:r>
            <a:r>
              <a:rPr lang="en-US" sz="2400" dirty="0">
                <a:latin typeface="Calibri" pitchFamily="34" charset="0"/>
                <a:ea typeface="Calibri" pitchFamily="34" charset="-122"/>
                <a:cs typeface="Calibri" pitchFamily="34" charset="-120"/>
              </a:rPr>
              <a:t> </a:t>
            </a:r>
            <a:r>
              <a:rPr lang="en-US" sz="2400" dirty="0" err="1">
                <a:latin typeface="Calibri" pitchFamily="34" charset="0"/>
                <a:ea typeface="Calibri" pitchFamily="34" charset="-122"/>
                <a:cs typeface="Calibri" pitchFamily="34" charset="-120"/>
              </a:rPr>
              <a:t>cảm</a:t>
            </a:r>
            <a:r>
              <a:rPr lang="en-US" sz="2400" dirty="0">
                <a:latin typeface="Calibri" pitchFamily="34" charset="0"/>
                <a:ea typeface="Calibri" pitchFamily="34" charset="-122"/>
                <a:cs typeface="Calibri" pitchFamily="34" charset="-120"/>
              </a:rPr>
              <a:t> </a:t>
            </a:r>
            <a:r>
              <a:rPr lang="en-US" sz="2400" dirty="0" err="1">
                <a:latin typeface="Calibri" pitchFamily="34" charset="0"/>
                <a:ea typeface="Calibri" pitchFamily="34" charset="-122"/>
                <a:cs typeface="Calibri" pitchFamily="34" charset="-120"/>
              </a:rPr>
              <a:t>biến</a:t>
            </a:r>
            <a:r>
              <a:rPr lang="en-US" sz="2400" dirty="0">
                <a:latin typeface="Calibri" pitchFamily="34" charset="0"/>
                <a:ea typeface="Calibri" pitchFamily="34" charset="-122"/>
                <a:cs typeface="Calibri" pitchFamily="34" charset="-120"/>
              </a:rPr>
              <a:t>
</a:t>
            </a:r>
            <a:r>
              <a:rPr lang="en-US" sz="2400" dirty="0" err="1">
                <a:latin typeface="Calibri" pitchFamily="34" charset="0"/>
                <a:ea typeface="Calibri" pitchFamily="34" charset="-122"/>
                <a:cs typeface="Calibri" pitchFamily="34" charset="-120"/>
              </a:rPr>
              <a:t>Phân</a:t>
            </a:r>
            <a:r>
              <a:rPr lang="en-US" sz="2400" dirty="0">
                <a:latin typeface="Calibri" pitchFamily="34" charset="0"/>
                <a:ea typeface="Calibri" pitchFamily="34" charset="-122"/>
                <a:cs typeface="Calibri" pitchFamily="34" charset="-120"/>
              </a:rPr>
              <a:t> </a:t>
            </a:r>
            <a:r>
              <a:rPr lang="en-US" sz="2400" dirty="0" err="1">
                <a:latin typeface="Calibri" pitchFamily="34" charset="0"/>
                <a:ea typeface="Calibri" pitchFamily="34" charset="-122"/>
                <a:cs typeface="Calibri" pitchFamily="34" charset="-120"/>
              </a:rPr>
              <a:t>loại</a:t>
            </a:r>
            <a:r>
              <a:rPr lang="en-US" sz="2400" dirty="0">
                <a:latin typeface="Calibri" pitchFamily="34" charset="0"/>
                <a:ea typeface="Calibri" pitchFamily="34" charset="-122"/>
                <a:cs typeface="Calibri" pitchFamily="34" charset="-120"/>
              </a:rPr>
              <a:t> 4 </a:t>
            </a:r>
            <a:r>
              <a:rPr lang="en-US" sz="2400" dirty="0" err="1">
                <a:latin typeface="Calibri" pitchFamily="34" charset="0"/>
                <a:ea typeface="Calibri" pitchFamily="34" charset="-122"/>
                <a:cs typeface="Calibri" pitchFamily="34" charset="-120"/>
              </a:rPr>
              <a:t>trạng</a:t>
            </a:r>
            <a:r>
              <a:rPr lang="en-US" sz="2400" dirty="0">
                <a:latin typeface="Calibri" pitchFamily="34" charset="0"/>
                <a:ea typeface="Calibri" pitchFamily="34" charset="-122"/>
                <a:cs typeface="Calibri" pitchFamily="34" charset="-120"/>
              </a:rPr>
              <a:t> </a:t>
            </a:r>
            <a:r>
              <a:rPr lang="en-US" sz="2400" dirty="0" err="1">
                <a:latin typeface="Calibri" pitchFamily="34" charset="0"/>
                <a:ea typeface="Calibri" pitchFamily="34" charset="-122"/>
                <a:cs typeface="Calibri" pitchFamily="34" charset="-120"/>
              </a:rPr>
              <a:t>thái</a:t>
            </a:r>
            <a:r>
              <a:rPr lang="en-US" sz="2400" dirty="0">
                <a:latin typeface="Calibri" pitchFamily="34" charset="0"/>
                <a:ea typeface="Calibri" pitchFamily="34" charset="-122"/>
                <a:cs typeface="Calibri" pitchFamily="34" charset="-120"/>
              </a:rPr>
              <a:t> </a:t>
            </a:r>
            <a:r>
              <a:rPr lang="en-US" sz="2400" dirty="0" err="1">
                <a:latin typeface="Calibri" pitchFamily="34" charset="0"/>
                <a:ea typeface="Calibri" pitchFamily="34" charset="-122"/>
                <a:cs typeface="Calibri" pitchFamily="34" charset="-120"/>
              </a:rPr>
              <a:t>kỹ</a:t>
            </a:r>
            <a:r>
              <a:rPr lang="en-US" sz="2400" dirty="0">
                <a:latin typeface="Calibri" pitchFamily="34" charset="0"/>
                <a:ea typeface="Calibri" pitchFamily="34" charset="-122"/>
                <a:cs typeface="Calibri" pitchFamily="34" charset="-120"/>
              </a:rPr>
              <a:t> </a:t>
            </a:r>
            <a:r>
              <a:rPr lang="en-US" sz="2400" dirty="0" err="1">
                <a:latin typeface="Calibri" pitchFamily="34" charset="0"/>
                <a:ea typeface="Calibri" pitchFamily="34" charset="-122"/>
                <a:cs typeface="Calibri" pitchFamily="34" charset="-120"/>
              </a:rPr>
              <a:t>thuật</a:t>
            </a:r>
            <a:r>
              <a:rPr lang="en-US" sz="2400" dirty="0">
                <a:latin typeface="Calibri" pitchFamily="34" charset="0"/>
                <a:ea typeface="Calibri" pitchFamily="34" charset="-122"/>
                <a:cs typeface="Calibri" pitchFamily="34" charset="-120"/>
              </a:rPr>
              <a:t> </a:t>
            </a:r>
            <a:r>
              <a:rPr lang="en-US" sz="2400" dirty="0" err="1">
                <a:latin typeface="Calibri" pitchFamily="34" charset="0"/>
                <a:ea typeface="Calibri" pitchFamily="34" charset="-122"/>
                <a:cs typeface="Calibri" pitchFamily="34" charset="-120"/>
              </a:rPr>
              <a:t>của</a:t>
            </a:r>
            <a:r>
              <a:rPr lang="en-US" sz="2400" dirty="0">
                <a:latin typeface="Calibri" pitchFamily="34" charset="0"/>
                <a:ea typeface="Calibri" pitchFamily="34" charset="-122"/>
                <a:cs typeface="Calibri" pitchFamily="34" charset="-120"/>
              </a:rPr>
              <a:t> ổ </a:t>
            </a:r>
            <a:r>
              <a:rPr lang="en-US" sz="2400" dirty="0" err="1">
                <a:latin typeface="Calibri" pitchFamily="34" charset="0"/>
                <a:ea typeface="Calibri" pitchFamily="34" charset="-122"/>
                <a:cs typeface="Calibri" pitchFamily="34" charset="-120"/>
              </a:rPr>
              <a:t>lăn</a:t>
            </a:r>
            <a:r>
              <a:rPr lang="en-US" sz="2400" dirty="0">
                <a:latin typeface="Calibri" pitchFamily="34" charset="0"/>
                <a:ea typeface="Calibri" pitchFamily="34" charset="-122"/>
                <a:cs typeface="Calibri" pitchFamily="34" charset="-120"/>
              </a:rPr>
              <a:t>
</a:t>
            </a:r>
            <a:r>
              <a:rPr lang="en-US" sz="2400" dirty="0" err="1">
                <a:latin typeface="Calibri" pitchFamily="34" charset="0"/>
                <a:ea typeface="Calibri" pitchFamily="34" charset="-122"/>
                <a:cs typeface="Calibri" pitchFamily="34" charset="-120"/>
              </a:rPr>
              <a:t>Tần</a:t>
            </a:r>
            <a:r>
              <a:rPr lang="en-US" sz="2400" dirty="0">
                <a:latin typeface="Calibri" pitchFamily="34" charset="0"/>
                <a:ea typeface="Calibri" pitchFamily="34" charset="-122"/>
                <a:cs typeface="Calibri" pitchFamily="34" charset="-120"/>
              </a:rPr>
              <a:t> </a:t>
            </a:r>
            <a:r>
              <a:rPr lang="en-US" sz="2400" dirty="0" err="1">
                <a:latin typeface="Calibri" pitchFamily="34" charset="0"/>
                <a:ea typeface="Calibri" pitchFamily="34" charset="-122"/>
                <a:cs typeface="Calibri" pitchFamily="34" charset="-120"/>
              </a:rPr>
              <a:t>số</a:t>
            </a:r>
            <a:r>
              <a:rPr lang="en-US" sz="2400" dirty="0">
                <a:latin typeface="Calibri" pitchFamily="34" charset="0"/>
                <a:ea typeface="Calibri" pitchFamily="34" charset="-122"/>
                <a:cs typeface="Calibri" pitchFamily="34" charset="-120"/>
              </a:rPr>
              <a:t> </a:t>
            </a:r>
            <a:r>
              <a:rPr lang="en-US" sz="2400" dirty="0" err="1">
                <a:latin typeface="Calibri" pitchFamily="34" charset="0"/>
                <a:ea typeface="Calibri" pitchFamily="34" charset="-122"/>
                <a:cs typeface="Calibri" pitchFamily="34" charset="-120"/>
              </a:rPr>
              <a:t>lấy</a:t>
            </a:r>
            <a:r>
              <a:rPr lang="en-US" sz="2400" dirty="0">
                <a:latin typeface="Calibri" pitchFamily="34" charset="0"/>
                <a:ea typeface="Calibri" pitchFamily="34" charset="-122"/>
                <a:cs typeface="Calibri" pitchFamily="34" charset="-120"/>
              </a:rPr>
              <a:t> </a:t>
            </a:r>
            <a:r>
              <a:rPr lang="en-US" sz="2400" dirty="0" err="1">
                <a:latin typeface="Calibri" pitchFamily="34" charset="0"/>
                <a:ea typeface="Calibri" pitchFamily="34" charset="-122"/>
                <a:cs typeface="Calibri" pitchFamily="34" charset="-120"/>
              </a:rPr>
              <a:t>mẫu</a:t>
            </a:r>
            <a:r>
              <a:rPr lang="en-US" sz="2400" dirty="0">
                <a:latin typeface="Calibri" pitchFamily="34" charset="0"/>
                <a:ea typeface="Calibri" pitchFamily="34" charset="-122"/>
                <a:cs typeface="Calibri" pitchFamily="34" charset="-120"/>
              </a:rPr>
              <a:t> 12 kHz &amp; </a:t>
            </a:r>
            <a:r>
              <a:rPr lang="en-US" sz="2400" dirty="0" err="1">
                <a:latin typeface="Calibri" pitchFamily="34" charset="0"/>
                <a:ea typeface="Calibri" pitchFamily="34" charset="-122"/>
                <a:cs typeface="Calibri" pitchFamily="34" charset="-120"/>
              </a:rPr>
              <a:t>mức</a:t>
            </a:r>
            <a:r>
              <a:rPr lang="en-US" sz="2400" dirty="0">
                <a:latin typeface="Calibri" pitchFamily="34" charset="0"/>
                <a:ea typeface="Calibri" pitchFamily="34" charset="-122"/>
                <a:cs typeface="Calibri" pitchFamily="34" charset="-120"/>
              </a:rPr>
              <a:t> </a:t>
            </a:r>
            <a:r>
              <a:rPr lang="en-US" sz="2400" dirty="0" err="1">
                <a:latin typeface="Calibri" pitchFamily="34" charset="0"/>
                <a:ea typeface="Calibri" pitchFamily="34" charset="-122"/>
                <a:cs typeface="Calibri" pitchFamily="34" charset="-120"/>
              </a:rPr>
              <a:t>tải</a:t>
            </a:r>
            <a:r>
              <a:rPr lang="en-US" sz="2400" dirty="0">
                <a:latin typeface="Calibri" pitchFamily="34" charset="0"/>
                <a:ea typeface="Calibri" pitchFamily="34" charset="-122"/>
                <a:cs typeface="Calibri" pitchFamily="34" charset="-120"/>
              </a:rPr>
              <a:t> </a:t>
            </a:r>
            <a:r>
              <a:rPr lang="en-US" sz="2400" dirty="0" err="1">
                <a:latin typeface="Calibri" pitchFamily="34" charset="0"/>
                <a:ea typeface="Calibri" pitchFamily="34" charset="-122"/>
                <a:cs typeface="Calibri" pitchFamily="34" charset="-120"/>
              </a:rPr>
              <a:t>động</a:t>
            </a:r>
            <a:r>
              <a:rPr lang="en-US" sz="2400" dirty="0">
                <a:latin typeface="Calibri" pitchFamily="34" charset="0"/>
                <a:ea typeface="Calibri" pitchFamily="34" charset="-122"/>
                <a:cs typeface="Calibri" pitchFamily="34" charset="-120"/>
              </a:rPr>
              <a:t> </a:t>
            </a:r>
            <a:r>
              <a:rPr lang="en-US" sz="2400" dirty="0" err="1">
                <a:latin typeface="Calibri" pitchFamily="34" charset="0"/>
                <a:ea typeface="Calibri" pitchFamily="34" charset="-122"/>
                <a:cs typeface="Calibri" pitchFamily="34" charset="-120"/>
              </a:rPr>
              <a:t>cơ</a:t>
            </a:r>
            <a:r>
              <a:rPr lang="en-US" sz="2400" dirty="0">
                <a:latin typeface="Calibri" pitchFamily="34" charset="0"/>
                <a:ea typeface="Calibri" pitchFamily="34" charset="-122"/>
                <a:cs typeface="Calibri" pitchFamily="34" charset="-120"/>
              </a:rPr>
              <a:t>
Công </a:t>
            </a:r>
            <a:r>
              <a:rPr lang="en-US" sz="2400" dirty="0" err="1">
                <a:latin typeface="Calibri" pitchFamily="34" charset="0"/>
                <a:ea typeface="Calibri" pitchFamily="34" charset="-122"/>
                <a:cs typeface="Calibri" pitchFamily="34" charset="-120"/>
              </a:rPr>
              <a:t>thức</a:t>
            </a:r>
            <a:r>
              <a:rPr lang="en-US" sz="2400" dirty="0">
                <a:latin typeface="Calibri" pitchFamily="34" charset="0"/>
                <a:ea typeface="Calibri" pitchFamily="34" charset="-122"/>
                <a:cs typeface="Calibri" pitchFamily="34" charset="-120"/>
              </a:rPr>
              <a:t> &amp; </a:t>
            </a:r>
            <a:r>
              <a:rPr lang="en-US" sz="2400" dirty="0" err="1">
                <a:latin typeface="Calibri" pitchFamily="34" charset="0"/>
                <a:ea typeface="Calibri" pitchFamily="34" charset="-122"/>
                <a:cs typeface="Calibri" pitchFamily="34" charset="-120"/>
              </a:rPr>
              <a:t>tần</a:t>
            </a:r>
            <a:r>
              <a:rPr lang="en-US" sz="2400" dirty="0">
                <a:latin typeface="Calibri" pitchFamily="34" charset="0"/>
                <a:ea typeface="Calibri" pitchFamily="34" charset="-122"/>
                <a:cs typeface="Calibri" pitchFamily="34" charset="-120"/>
              </a:rPr>
              <a:t> </a:t>
            </a:r>
            <a:r>
              <a:rPr lang="en-US" sz="2400" dirty="0" err="1">
                <a:latin typeface="Calibri" pitchFamily="34" charset="0"/>
                <a:ea typeface="Calibri" pitchFamily="34" charset="-122"/>
                <a:cs typeface="Calibri" pitchFamily="34" charset="-120"/>
              </a:rPr>
              <a:t>số</a:t>
            </a:r>
            <a:r>
              <a:rPr lang="en-US" sz="2400" dirty="0">
                <a:latin typeface="Calibri" pitchFamily="34" charset="0"/>
                <a:ea typeface="Calibri" pitchFamily="34" charset="-122"/>
                <a:cs typeface="Calibri" pitchFamily="34" charset="-120"/>
              </a:rPr>
              <a:t> </a:t>
            </a:r>
            <a:r>
              <a:rPr lang="en-US" sz="2400" dirty="0" err="1">
                <a:latin typeface="Calibri" pitchFamily="34" charset="0"/>
                <a:ea typeface="Calibri" pitchFamily="34" charset="-122"/>
                <a:cs typeface="Calibri" pitchFamily="34" charset="-120"/>
              </a:rPr>
              <a:t>đặc</a:t>
            </a:r>
            <a:r>
              <a:rPr lang="en-US" sz="2400" dirty="0">
                <a:latin typeface="Calibri" pitchFamily="34" charset="0"/>
                <a:ea typeface="Calibri" pitchFamily="34" charset="-122"/>
                <a:cs typeface="Calibri" pitchFamily="34" charset="-120"/>
              </a:rPr>
              <a:t> </a:t>
            </a:r>
            <a:r>
              <a:rPr lang="en-US" sz="2400" dirty="0" err="1">
                <a:latin typeface="Calibri" pitchFamily="34" charset="0"/>
                <a:ea typeface="Calibri" pitchFamily="34" charset="-122"/>
                <a:cs typeface="Calibri" pitchFamily="34" charset="-120"/>
              </a:rPr>
              <a:t>trưng</a:t>
            </a:r>
            <a:r>
              <a:rPr lang="en-US" sz="2400" dirty="0">
                <a:latin typeface="Calibri" pitchFamily="34" charset="0"/>
                <a:ea typeface="Calibri" pitchFamily="34" charset="-122"/>
                <a:cs typeface="Calibri" pitchFamily="34" charset="-120"/>
              </a:rPr>
              <a:t> </a:t>
            </a:r>
            <a:r>
              <a:rPr lang="en-US" sz="2400" dirty="0" err="1">
                <a:latin typeface="Calibri" pitchFamily="34" charset="0"/>
                <a:ea typeface="Calibri" pitchFamily="34" charset="-122"/>
                <a:cs typeface="Calibri" pitchFamily="34" charset="-120"/>
              </a:rPr>
              <a:t>lỗi</a:t>
            </a:r>
            <a:r>
              <a:rPr lang="en-US" sz="2400" dirty="0">
                <a:latin typeface="Calibri" pitchFamily="34" charset="0"/>
                <a:ea typeface="Calibri" pitchFamily="34" charset="-122"/>
                <a:cs typeface="Calibri" pitchFamily="34" charset="-120"/>
              </a:rPr>
              <a:t> SKF 6205</a:t>
            </a:r>
            <a:endParaRPr lang="en-US" sz="2400" dirty="0"/>
          </a:p>
          <a:p>
            <a:pPr marL="0" indent="0">
              <a:buNone/>
            </a:pPr>
            <a:endParaRPr lang="en-US" dirty="0"/>
          </a:p>
        </p:txBody>
      </p:sp>
      <p:sp>
        <p:nvSpPr>
          <p:cNvPr id="3" name="Title 2">
            <a:extLst>
              <a:ext uri="{FF2B5EF4-FFF2-40B4-BE49-F238E27FC236}">
                <a16:creationId xmlns:a16="http://schemas.microsoft.com/office/drawing/2014/main" id="{AD6941D0-D074-43AE-8875-C4BDC98ADB7F}"/>
              </a:ext>
            </a:extLst>
          </p:cNvPr>
          <p:cNvSpPr>
            <a:spLocks noGrp="1"/>
          </p:cNvSpPr>
          <p:nvPr>
            <p:ph type="title"/>
          </p:nvPr>
        </p:nvSpPr>
        <p:spPr/>
        <p:txBody>
          <a:bodyPr/>
          <a:lstStyle/>
          <a:p>
            <a:r>
              <a:rPr lang="en-US" sz="3500" dirty="0" err="1">
                <a:latin typeface="Calibri" pitchFamily="34" charset="0"/>
                <a:ea typeface="Calibri" pitchFamily="34" charset="-122"/>
                <a:cs typeface="Calibri" pitchFamily="34" charset="-120"/>
              </a:rPr>
              <a:t>Dữ</a:t>
            </a:r>
            <a:r>
              <a:rPr lang="en-US" sz="3500" dirty="0">
                <a:latin typeface="Calibri" pitchFamily="34" charset="0"/>
                <a:ea typeface="Calibri" pitchFamily="34" charset="-122"/>
                <a:cs typeface="Calibri" pitchFamily="34" charset="-120"/>
              </a:rPr>
              <a:t> Liệu CWRU</a:t>
            </a:r>
            <a:br>
              <a:rPr lang="en-US" dirty="0">
                <a:latin typeface="Calibri" pitchFamily="34" charset="0"/>
                <a:ea typeface="Calibri" pitchFamily="34" charset="-122"/>
                <a:cs typeface="Calibri" pitchFamily="34" charset="-120"/>
              </a:rPr>
            </a:br>
            <a:r>
              <a:rPr lang="en-US" sz="1800" b="0" i="1" dirty="0" err="1">
                <a:latin typeface="Calibri" pitchFamily="34" charset="0"/>
                <a:ea typeface="Calibri" pitchFamily="34" charset="-122"/>
                <a:cs typeface="Calibri" pitchFamily="34" charset="-120"/>
              </a:rPr>
              <a:t>Hệ</a:t>
            </a:r>
            <a:r>
              <a:rPr lang="en-US" sz="1800" b="0" i="1" dirty="0">
                <a:latin typeface="Calibri" pitchFamily="34" charset="0"/>
                <a:ea typeface="Calibri" pitchFamily="34" charset="-122"/>
                <a:cs typeface="Calibri" pitchFamily="34" charset="-120"/>
              </a:rPr>
              <a:t> </a:t>
            </a:r>
            <a:r>
              <a:rPr lang="en-US" sz="1800" b="0" i="1" dirty="0" err="1">
                <a:latin typeface="Calibri" pitchFamily="34" charset="0"/>
                <a:ea typeface="Calibri" pitchFamily="34" charset="-122"/>
                <a:cs typeface="Calibri" pitchFamily="34" charset="-120"/>
              </a:rPr>
              <a:t>thí</a:t>
            </a:r>
            <a:r>
              <a:rPr lang="en-US" sz="1800" b="0" i="1" dirty="0">
                <a:latin typeface="Calibri" pitchFamily="34" charset="0"/>
                <a:ea typeface="Calibri" pitchFamily="34" charset="-122"/>
                <a:cs typeface="Calibri" pitchFamily="34" charset="-120"/>
              </a:rPr>
              <a:t> </a:t>
            </a:r>
            <a:r>
              <a:rPr lang="en-US" sz="1800" b="0" i="1" dirty="0" err="1">
                <a:latin typeface="Calibri" pitchFamily="34" charset="0"/>
                <a:ea typeface="Calibri" pitchFamily="34" charset="-122"/>
                <a:cs typeface="Calibri" pitchFamily="34" charset="-120"/>
              </a:rPr>
              <a:t>nghiệm</a:t>
            </a:r>
            <a:r>
              <a:rPr lang="en-US" sz="1800" b="0" i="1" dirty="0">
                <a:latin typeface="Calibri" pitchFamily="34" charset="0"/>
                <a:ea typeface="Calibri" pitchFamily="34" charset="-122"/>
                <a:cs typeface="Calibri" pitchFamily="34" charset="-120"/>
              </a:rPr>
              <a:t>, </a:t>
            </a:r>
            <a:r>
              <a:rPr lang="en-US" sz="1800" b="0" i="1" dirty="0" err="1">
                <a:latin typeface="Calibri" pitchFamily="34" charset="0"/>
                <a:ea typeface="Calibri" pitchFamily="34" charset="-122"/>
                <a:cs typeface="Calibri" pitchFamily="34" charset="-120"/>
              </a:rPr>
              <a:t>cảm</a:t>
            </a:r>
            <a:r>
              <a:rPr lang="en-US" sz="1800" b="0" i="1" dirty="0">
                <a:latin typeface="Calibri" pitchFamily="34" charset="0"/>
                <a:ea typeface="Calibri" pitchFamily="34" charset="-122"/>
                <a:cs typeface="Calibri" pitchFamily="34" charset="-120"/>
              </a:rPr>
              <a:t> </a:t>
            </a:r>
            <a:r>
              <a:rPr lang="en-US" sz="1800" b="0" i="1" dirty="0" err="1">
                <a:latin typeface="Calibri" pitchFamily="34" charset="0"/>
                <a:ea typeface="Calibri" pitchFamily="34" charset="-122"/>
                <a:cs typeface="Calibri" pitchFamily="34" charset="-120"/>
              </a:rPr>
              <a:t>biến</a:t>
            </a:r>
            <a:r>
              <a:rPr lang="en-US" sz="1800" b="0" i="1" dirty="0">
                <a:latin typeface="Calibri" pitchFamily="34" charset="0"/>
                <a:ea typeface="Calibri" pitchFamily="34" charset="-122"/>
                <a:cs typeface="Calibri" pitchFamily="34" charset="-120"/>
              </a:rPr>
              <a:t>, </a:t>
            </a:r>
            <a:r>
              <a:rPr lang="en-US" sz="1800" b="0" i="1" dirty="0" err="1">
                <a:latin typeface="Calibri" pitchFamily="34" charset="0"/>
                <a:ea typeface="Calibri" pitchFamily="34" charset="-122"/>
                <a:cs typeface="Calibri" pitchFamily="34" charset="-120"/>
              </a:rPr>
              <a:t>phân</a:t>
            </a:r>
            <a:r>
              <a:rPr lang="en-US" sz="1800" b="0" i="1" dirty="0">
                <a:latin typeface="Calibri" pitchFamily="34" charset="0"/>
                <a:ea typeface="Calibri" pitchFamily="34" charset="-122"/>
                <a:cs typeface="Calibri" pitchFamily="34" charset="-120"/>
              </a:rPr>
              <a:t> </a:t>
            </a:r>
            <a:r>
              <a:rPr lang="en-US" sz="1800" b="0" i="1" dirty="0" err="1">
                <a:latin typeface="Calibri" pitchFamily="34" charset="0"/>
                <a:ea typeface="Calibri" pitchFamily="34" charset="-122"/>
                <a:cs typeface="Calibri" pitchFamily="34" charset="-120"/>
              </a:rPr>
              <a:t>loại</a:t>
            </a:r>
            <a:r>
              <a:rPr lang="en-US" sz="1800" b="0" i="1" dirty="0">
                <a:latin typeface="Calibri" pitchFamily="34" charset="0"/>
                <a:ea typeface="Calibri" pitchFamily="34" charset="-122"/>
                <a:cs typeface="Calibri" pitchFamily="34" charset="-120"/>
              </a:rPr>
              <a:t> </a:t>
            </a:r>
            <a:r>
              <a:rPr lang="en-US" sz="1800" b="0" i="1" dirty="0" err="1">
                <a:latin typeface="Calibri" pitchFamily="34" charset="0"/>
                <a:ea typeface="Calibri" pitchFamily="34" charset="-122"/>
                <a:cs typeface="Calibri" pitchFamily="34" charset="-120"/>
              </a:rPr>
              <a:t>lỗi</a:t>
            </a:r>
            <a:r>
              <a:rPr lang="en-US" sz="1800" b="0" i="1" dirty="0">
                <a:latin typeface="Calibri" pitchFamily="34" charset="0"/>
                <a:ea typeface="Calibri" pitchFamily="34" charset="-122"/>
                <a:cs typeface="Calibri" pitchFamily="34" charset="-120"/>
              </a:rPr>
              <a:t> </a:t>
            </a:r>
            <a:r>
              <a:rPr lang="en-US" sz="1800" b="0" i="1" dirty="0" err="1">
                <a:latin typeface="Calibri" pitchFamily="34" charset="0"/>
                <a:ea typeface="Calibri" pitchFamily="34" charset="-122"/>
                <a:cs typeface="Calibri" pitchFamily="34" charset="-120"/>
              </a:rPr>
              <a:t>và</a:t>
            </a:r>
            <a:r>
              <a:rPr lang="en-US" sz="1800" b="0" i="1" dirty="0">
                <a:latin typeface="Calibri" pitchFamily="34" charset="0"/>
                <a:ea typeface="Calibri" pitchFamily="34" charset="-122"/>
                <a:cs typeface="Calibri" pitchFamily="34" charset="-120"/>
              </a:rPr>
              <a:t> </a:t>
            </a:r>
            <a:r>
              <a:rPr lang="en-US" sz="1800" b="0" i="1" dirty="0" err="1">
                <a:latin typeface="Calibri" pitchFamily="34" charset="0"/>
                <a:ea typeface="Calibri" pitchFamily="34" charset="-122"/>
                <a:cs typeface="Calibri" pitchFamily="34" charset="-120"/>
              </a:rPr>
              <a:t>tần</a:t>
            </a:r>
            <a:r>
              <a:rPr lang="en-US" sz="1800" b="0" i="1" dirty="0">
                <a:latin typeface="Calibri" pitchFamily="34" charset="0"/>
                <a:ea typeface="Calibri" pitchFamily="34" charset="-122"/>
                <a:cs typeface="Calibri" pitchFamily="34" charset="-120"/>
              </a:rPr>
              <a:t> </a:t>
            </a:r>
            <a:r>
              <a:rPr lang="en-US" sz="1800" b="0" i="1" dirty="0" err="1">
                <a:latin typeface="Calibri" pitchFamily="34" charset="0"/>
                <a:ea typeface="Calibri" pitchFamily="34" charset="-122"/>
                <a:cs typeface="Calibri" pitchFamily="34" charset="-120"/>
              </a:rPr>
              <a:t>số</a:t>
            </a:r>
            <a:r>
              <a:rPr lang="en-US" sz="1800" b="0" i="1" dirty="0">
                <a:latin typeface="Calibri" pitchFamily="34" charset="0"/>
                <a:ea typeface="Calibri" pitchFamily="34" charset="-122"/>
                <a:cs typeface="Calibri" pitchFamily="34" charset="-120"/>
              </a:rPr>
              <a:t> </a:t>
            </a:r>
            <a:r>
              <a:rPr lang="en-US" sz="1800" b="0" i="1" dirty="0" err="1">
                <a:latin typeface="Calibri" pitchFamily="34" charset="0"/>
                <a:ea typeface="Calibri" pitchFamily="34" charset="-122"/>
                <a:cs typeface="Calibri" pitchFamily="34" charset="-120"/>
              </a:rPr>
              <a:t>đặc</a:t>
            </a:r>
            <a:r>
              <a:rPr lang="en-US" sz="1800" b="0" i="1" dirty="0">
                <a:latin typeface="Calibri" pitchFamily="34" charset="0"/>
                <a:ea typeface="Calibri" pitchFamily="34" charset="-122"/>
                <a:cs typeface="Calibri" pitchFamily="34" charset="-120"/>
              </a:rPr>
              <a:t> </a:t>
            </a:r>
            <a:r>
              <a:rPr lang="en-US" sz="1800" b="0" i="1" dirty="0" err="1">
                <a:latin typeface="Calibri" pitchFamily="34" charset="0"/>
                <a:ea typeface="Calibri" pitchFamily="34" charset="-122"/>
                <a:cs typeface="Calibri" pitchFamily="34" charset="-120"/>
              </a:rPr>
              <a:t>trưng</a:t>
            </a:r>
            <a:r>
              <a:rPr lang="en-US" sz="1800" b="0" i="1" dirty="0">
                <a:latin typeface="Calibri" pitchFamily="34" charset="0"/>
                <a:ea typeface="Calibri" pitchFamily="34" charset="-122"/>
                <a:cs typeface="Calibri" pitchFamily="34" charset="-120"/>
              </a:rPr>
              <a:t> ổ </a:t>
            </a:r>
            <a:r>
              <a:rPr lang="en-US" sz="1800" b="0" i="1" dirty="0" err="1">
                <a:latin typeface="Calibri" pitchFamily="34" charset="0"/>
                <a:ea typeface="Calibri" pitchFamily="34" charset="-122"/>
                <a:cs typeface="Calibri" pitchFamily="34" charset="-120"/>
              </a:rPr>
              <a:t>lăn</a:t>
            </a:r>
            <a:r>
              <a:rPr lang="en-US" sz="1800" b="0" i="1" dirty="0">
                <a:latin typeface="Calibri" pitchFamily="34" charset="0"/>
                <a:ea typeface="Calibri" pitchFamily="34" charset="-122"/>
                <a:cs typeface="Calibri" pitchFamily="34" charset="-120"/>
              </a:rPr>
              <a:t> SKF 6205</a:t>
            </a:r>
            <a:br>
              <a:rPr lang="en-US" sz="1800" b="0" i="1" dirty="0"/>
            </a:br>
            <a:endParaRPr lang="en-US" b="0" dirty="0"/>
          </a:p>
        </p:txBody>
      </p:sp>
      <p:sp>
        <p:nvSpPr>
          <p:cNvPr id="4" name="Slide Number Placeholder 3">
            <a:extLst>
              <a:ext uri="{FF2B5EF4-FFF2-40B4-BE49-F238E27FC236}">
                <a16:creationId xmlns:a16="http://schemas.microsoft.com/office/drawing/2014/main" id="{BD91CA00-8B5A-4B5F-AE21-CF0691D64D53}"/>
              </a:ext>
            </a:extLst>
          </p:cNvPr>
          <p:cNvSpPr>
            <a:spLocks noGrp="1"/>
          </p:cNvSpPr>
          <p:nvPr>
            <p:ph type="sldNum" sz="quarter" idx="12"/>
          </p:nvPr>
        </p:nvSpPr>
        <p:spPr/>
        <p:txBody>
          <a:bodyPr/>
          <a:lstStyle/>
          <a:p>
            <a:fld id="{9EA0BE3B-158A-4EDF-80DC-E394A0D1600F}" type="slidenum">
              <a:rPr lang="en-US" smtClean="0"/>
              <a:pPr/>
              <a:t>6</a:t>
            </a:fld>
            <a:endParaRPr lang="en-US"/>
          </a:p>
        </p:txBody>
      </p:sp>
    </p:spTree>
    <p:extLst>
      <p:ext uri="{BB962C8B-B14F-4D97-AF65-F5344CB8AC3E}">
        <p14:creationId xmlns:p14="http://schemas.microsoft.com/office/powerpoint/2010/main" val="4855005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C5AD8A-1EA9-C7CE-D797-0A3D974FB867}"/>
              </a:ext>
            </a:extLst>
          </p:cNvPr>
          <p:cNvSpPr>
            <a:spLocks noGrp="1"/>
          </p:cNvSpPr>
          <p:nvPr>
            <p:ph type="title"/>
          </p:nvPr>
        </p:nvSpPr>
        <p:spPr/>
        <p:txBody>
          <a:bodyPr/>
          <a:lstStyle/>
          <a:p>
            <a:r>
              <a:rPr lang="en-US" dirty="0">
                <a:solidFill>
                  <a:srgbClr val="FFFFFF"/>
                </a:solidFill>
                <a:latin typeface="Calibri" pitchFamily="34" charset="0"/>
                <a:ea typeface="Calibri" pitchFamily="34" charset="-122"/>
                <a:cs typeface="Calibri" pitchFamily="34" charset="-120"/>
              </a:rPr>
              <a:t>CWRU Test Rig &amp; </a:t>
            </a:r>
            <a:r>
              <a:rPr lang="en-US" dirty="0" err="1">
                <a:solidFill>
                  <a:srgbClr val="FFFFFF"/>
                </a:solidFill>
                <a:latin typeface="Calibri" pitchFamily="34" charset="0"/>
                <a:ea typeface="Calibri" pitchFamily="34" charset="-122"/>
                <a:cs typeface="Calibri" pitchFamily="34" charset="-120"/>
              </a:rPr>
              <a:t>Cảm</a:t>
            </a:r>
            <a:r>
              <a:rPr lang="en-US" dirty="0">
                <a:solidFill>
                  <a:srgbClr val="FFFFFF"/>
                </a:solidFill>
                <a:latin typeface="Calibri" pitchFamily="34" charset="0"/>
                <a:ea typeface="Calibri" pitchFamily="34" charset="-122"/>
                <a:cs typeface="Calibri" pitchFamily="34" charset="-120"/>
              </a:rPr>
              <a:t> </a:t>
            </a:r>
            <a:r>
              <a:rPr lang="en-US" dirty="0" err="1">
                <a:solidFill>
                  <a:srgbClr val="FFFFFF"/>
                </a:solidFill>
                <a:latin typeface="Calibri" pitchFamily="34" charset="0"/>
                <a:ea typeface="Calibri" pitchFamily="34" charset="-122"/>
                <a:cs typeface="Calibri" pitchFamily="34" charset="-120"/>
              </a:rPr>
              <a:t>Biến</a:t>
            </a:r>
            <a:endParaRPr lang="en-US" dirty="0"/>
          </a:p>
        </p:txBody>
      </p:sp>
      <p:sp>
        <p:nvSpPr>
          <p:cNvPr id="4" name="Slide Number Placeholder 3">
            <a:extLst>
              <a:ext uri="{FF2B5EF4-FFF2-40B4-BE49-F238E27FC236}">
                <a16:creationId xmlns:a16="http://schemas.microsoft.com/office/drawing/2014/main" id="{F8DD1CE8-660D-F65D-7BA2-062181F1E9B0}"/>
              </a:ext>
            </a:extLst>
          </p:cNvPr>
          <p:cNvSpPr>
            <a:spLocks noGrp="1"/>
          </p:cNvSpPr>
          <p:nvPr>
            <p:ph type="sldNum" sz="quarter" idx="12"/>
          </p:nvPr>
        </p:nvSpPr>
        <p:spPr/>
        <p:txBody>
          <a:bodyPr/>
          <a:lstStyle/>
          <a:p>
            <a:fld id="{9EA0BE3B-158A-4EDF-80DC-E394A0D1600F}" type="slidenum">
              <a:rPr lang="en-US" smtClean="0"/>
              <a:pPr/>
              <a:t>7</a:t>
            </a:fld>
            <a:endParaRPr lang="en-US"/>
          </a:p>
        </p:txBody>
      </p:sp>
      <p:pic>
        <p:nvPicPr>
          <p:cNvPr id="5" name="Image 0" descr="preencoded.png">
            <a:extLst>
              <a:ext uri="{FF2B5EF4-FFF2-40B4-BE49-F238E27FC236}">
                <a16:creationId xmlns:a16="http://schemas.microsoft.com/office/drawing/2014/main" id="{ECCCB16F-D7E5-61A4-B882-215BF3A36917}"/>
              </a:ext>
            </a:extLst>
          </p:cNvPr>
          <p:cNvPicPr>
            <a:picLocks noChangeAspect="1"/>
          </p:cNvPicPr>
          <p:nvPr/>
        </p:nvPicPr>
        <p:blipFill>
          <a:blip r:embed="rId2"/>
          <a:srcRect/>
          <a:stretch/>
        </p:blipFill>
        <p:spPr>
          <a:xfrm>
            <a:off x="338736" y="1124517"/>
            <a:ext cx="5757264" cy="4094054"/>
          </a:xfrm>
          <a:prstGeom prst="rect">
            <a:avLst/>
          </a:prstGeom>
        </p:spPr>
      </p:pic>
      <p:sp>
        <p:nvSpPr>
          <p:cNvPr id="6" name="Shape 3">
            <a:extLst>
              <a:ext uri="{FF2B5EF4-FFF2-40B4-BE49-F238E27FC236}">
                <a16:creationId xmlns:a16="http://schemas.microsoft.com/office/drawing/2014/main" id="{221420C6-B740-C3B5-390F-02A3786D2311}"/>
              </a:ext>
            </a:extLst>
          </p:cNvPr>
          <p:cNvSpPr/>
          <p:nvPr/>
        </p:nvSpPr>
        <p:spPr>
          <a:xfrm>
            <a:off x="6230676" y="1123031"/>
            <a:ext cx="5622588" cy="1979437"/>
          </a:xfrm>
          <a:prstGeom prst="rect">
            <a:avLst/>
          </a:prstGeom>
          <a:solidFill>
            <a:schemeClr val="bg1"/>
          </a:solidFill>
          <a:ln w="12700">
            <a:solidFill>
              <a:srgbClr val="0077B6"/>
            </a:solidFill>
            <a:prstDash val="solid"/>
          </a:ln>
        </p:spPr>
      </p:sp>
      <p:sp>
        <p:nvSpPr>
          <p:cNvPr id="7" name="Text 4">
            <a:extLst>
              <a:ext uri="{FF2B5EF4-FFF2-40B4-BE49-F238E27FC236}">
                <a16:creationId xmlns:a16="http://schemas.microsoft.com/office/drawing/2014/main" id="{7FCAEC26-703F-55D8-CE04-E18B940BE8AD}"/>
              </a:ext>
            </a:extLst>
          </p:cNvPr>
          <p:cNvSpPr/>
          <p:nvPr/>
        </p:nvSpPr>
        <p:spPr>
          <a:xfrm>
            <a:off x="6332972" y="1254301"/>
            <a:ext cx="3931920" cy="274320"/>
          </a:xfrm>
          <a:prstGeom prst="rect">
            <a:avLst/>
          </a:prstGeom>
          <a:noFill/>
          <a:ln/>
        </p:spPr>
        <p:txBody>
          <a:bodyPr wrap="square" rtlCol="0" anchor="ctr"/>
          <a:lstStyle/>
          <a:p>
            <a:pPr marL="0" indent="0">
              <a:buNone/>
            </a:pPr>
            <a:r>
              <a:rPr lang="en-US" b="1" dirty="0">
                <a:solidFill>
                  <a:srgbClr val="00B4D8"/>
                </a:solidFill>
                <a:latin typeface="Calibri" pitchFamily="34" charset="0"/>
                <a:ea typeface="Calibri" pitchFamily="34" charset="-122"/>
                <a:cs typeface="Calibri" pitchFamily="34" charset="-120"/>
              </a:rPr>
              <a:t>🛠️  Cấu trúc bệ thử</a:t>
            </a:r>
            <a:endParaRPr lang="en-US" dirty="0"/>
          </a:p>
        </p:txBody>
      </p:sp>
      <p:sp>
        <p:nvSpPr>
          <p:cNvPr id="8" name="Text 5">
            <a:extLst>
              <a:ext uri="{FF2B5EF4-FFF2-40B4-BE49-F238E27FC236}">
                <a16:creationId xmlns:a16="http://schemas.microsoft.com/office/drawing/2014/main" id="{6B5DA217-590C-B70E-04E6-BAF568316D0B}"/>
              </a:ext>
            </a:extLst>
          </p:cNvPr>
          <p:cNvSpPr/>
          <p:nvPr/>
        </p:nvSpPr>
        <p:spPr>
          <a:xfrm>
            <a:off x="6332972" y="1787414"/>
            <a:ext cx="5417992" cy="868680"/>
          </a:xfrm>
          <a:prstGeom prst="rect">
            <a:avLst/>
          </a:prstGeom>
          <a:noFill/>
          <a:ln/>
        </p:spPr>
        <p:txBody>
          <a:bodyPr wrap="square" rtlCol="0" anchor="ctr"/>
          <a:lstStyle/>
          <a:p>
            <a:pPr marL="0" indent="0">
              <a:buNone/>
            </a:pPr>
            <a:r>
              <a:rPr lang="en-US" dirty="0">
                <a:latin typeface="Calibri" pitchFamily="34" charset="0"/>
                <a:ea typeface="Calibri" pitchFamily="34" charset="-122"/>
                <a:cs typeface="Calibri" pitchFamily="34" charset="-120"/>
              </a:rPr>
              <a:t>• Động cơ 2 HP, tốc </a:t>
            </a:r>
            <a:r>
              <a:rPr lang="en-US" dirty="0" err="1">
                <a:latin typeface="Calibri" pitchFamily="34" charset="0"/>
                <a:ea typeface="Calibri" pitchFamily="34" charset="-122"/>
                <a:cs typeface="Calibri" pitchFamily="34" charset="-120"/>
              </a:rPr>
              <a:t>độ</a:t>
            </a:r>
            <a:r>
              <a:rPr lang="en-US" dirty="0">
                <a:latin typeface="Calibri" pitchFamily="34" charset="0"/>
                <a:ea typeface="Calibri" pitchFamily="34" charset="-122"/>
                <a:cs typeface="Calibri" pitchFamily="34" charset="-120"/>
              </a:rPr>
              <a:t> 1720–1797 RPM
• Ổ lăn thử SKF 6205-2RS 
• Khuyết tật nhân tạo EDM: 7, 14, 21 mils
• Tải 0–3 HP qua Dynamometer</a:t>
            </a:r>
            <a:endParaRPr lang="en-US" dirty="0"/>
          </a:p>
        </p:txBody>
      </p:sp>
      <p:sp>
        <p:nvSpPr>
          <p:cNvPr id="9" name="Shape 6">
            <a:extLst>
              <a:ext uri="{FF2B5EF4-FFF2-40B4-BE49-F238E27FC236}">
                <a16:creationId xmlns:a16="http://schemas.microsoft.com/office/drawing/2014/main" id="{B629A365-ADAD-08AC-D29C-C91B055A0D69}"/>
              </a:ext>
            </a:extLst>
          </p:cNvPr>
          <p:cNvSpPr/>
          <p:nvPr/>
        </p:nvSpPr>
        <p:spPr>
          <a:xfrm>
            <a:off x="6230675" y="3239134"/>
            <a:ext cx="5622587" cy="1979437"/>
          </a:xfrm>
          <a:prstGeom prst="rect">
            <a:avLst/>
          </a:prstGeom>
          <a:solidFill>
            <a:schemeClr val="bg1"/>
          </a:solidFill>
          <a:ln w="12700">
            <a:solidFill>
              <a:srgbClr val="0077B6"/>
            </a:solidFill>
            <a:prstDash val="solid"/>
          </a:ln>
        </p:spPr>
      </p:sp>
      <p:sp>
        <p:nvSpPr>
          <p:cNvPr id="10" name="Shape 7">
            <a:extLst>
              <a:ext uri="{FF2B5EF4-FFF2-40B4-BE49-F238E27FC236}">
                <a16:creationId xmlns:a16="http://schemas.microsoft.com/office/drawing/2014/main" id="{2D4B9466-4081-0109-0508-BD36130EB375}"/>
              </a:ext>
            </a:extLst>
          </p:cNvPr>
          <p:cNvSpPr/>
          <p:nvPr/>
        </p:nvSpPr>
        <p:spPr>
          <a:xfrm>
            <a:off x="6230675" y="3252256"/>
            <a:ext cx="5622586" cy="424601"/>
          </a:xfrm>
          <a:prstGeom prst="rect">
            <a:avLst/>
          </a:prstGeom>
          <a:solidFill>
            <a:srgbClr val="0077B6"/>
          </a:solidFill>
          <a:ln w="12700">
            <a:solidFill>
              <a:srgbClr val="0077B6"/>
            </a:solidFill>
            <a:prstDash val="solid"/>
          </a:ln>
        </p:spPr>
      </p:sp>
      <p:sp>
        <p:nvSpPr>
          <p:cNvPr id="11" name="Text 8">
            <a:extLst>
              <a:ext uri="{FF2B5EF4-FFF2-40B4-BE49-F238E27FC236}">
                <a16:creationId xmlns:a16="http://schemas.microsoft.com/office/drawing/2014/main" id="{AC881A95-F0DC-A788-B493-DF0F9A4D02AE}"/>
              </a:ext>
            </a:extLst>
          </p:cNvPr>
          <p:cNvSpPr/>
          <p:nvPr/>
        </p:nvSpPr>
        <p:spPr>
          <a:xfrm>
            <a:off x="6303828" y="3322140"/>
            <a:ext cx="3931920" cy="292608"/>
          </a:xfrm>
          <a:prstGeom prst="rect">
            <a:avLst/>
          </a:prstGeom>
          <a:noFill/>
          <a:ln/>
        </p:spPr>
        <p:txBody>
          <a:bodyPr wrap="square" lIns="0" tIns="0" rIns="0" bIns="0" rtlCol="0" anchor="ctr"/>
          <a:lstStyle/>
          <a:p>
            <a:pPr marL="0" indent="0">
              <a:buNone/>
            </a:pPr>
            <a:r>
              <a:rPr lang="en-US" b="1" dirty="0">
                <a:solidFill>
                  <a:srgbClr val="FFFFFF"/>
                </a:solidFill>
                <a:latin typeface="Calibri" pitchFamily="34" charset="0"/>
                <a:ea typeface="Calibri" pitchFamily="34" charset="-122"/>
                <a:cs typeface="Calibri" pitchFamily="34" charset="-120"/>
              </a:rPr>
              <a:t>📍  Vị trí cảm biến</a:t>
            </a:r>
            <a:endParaRPr lang="en-US" dirty="0"/>
          </a:p>
        </p:txBody>
      </p:sp>
      <p:sp>
        <p:nvSpPr>
          <p:cNvPr id="12" name="Text 9">
            <a:extLst>
              <a:ext uri="{FF2B5EF4-FFF2-40B4-BE49-F238E27FC236}">
                <a16:creationId xmlns:a16="http://schemas.microsoft.com/office/drawing/2014/main" id="{AC801D3A-EB55-FBD5-7561-4AFEE7CDD13F}"/>
              </a:ext>
            </a:extLst>
          </p:cNvPr>
          <p:cNvSpPr/>
          <p:nvPr/>
        </p:nvSpPr>
        <p:spPr>
          <a:xfrm>
            <a:off x="6303828" y="3935650"/>
            <a:ext cx="5436280" cy="1024128"/>
          </a:xfrm>
          <a:prstGeom prst="rect">
            <a:avLst/>
          </a:prstGeom>
          <a:noFill/>
          <a:ln/>
        </p:spPr>
        <p:txBody>
          <a:bodyPr wrap="square" rtlCol="0" anchor="t"/>
          <a:lstStyle/>
          <a:p>
            <a:pPr marL="342900" indent="-342900">
              <a:buSzPct val="100000"/>
              <a:buChar char="•"/>
            </a:pPr>
            <a:r>
              <a:rPr lang="en-US" dirty="0">
                <a:latin typeface="Calibri" pitchFamily="34" charset="0"/>
                <a:ea typeface="Calibri" pitchFamily="34" charset="-122"/>
                <a:cs typeface="Calibri" pitchFamily="34" charset="-120"/>
              </a:rPr>
              <a:t>DE (Drive End): Thu thập tín hiệu chính</a:t>
            </a:r>
            <a:endParaRPr lang="en-US" dirty="0"/>
          </a:p>
          <a:p>
            <a:pPr marL="342900" indent="-342900">
              <a:buSzPct val="100000"/>
              <a:buChar char="•"/>
            </a:pPr>
            <a:r>
              <a:rPr lang="en-US" dirty="0">
                <a:latin typeface="Calibri" pitchFamily="34" charset="0"/>
                <a:ea typeface="Calibri" pitchFamily="34" charset="-122"/>
                <a:cs typeface="Calibri" pitchFamily="34" charset="-120"/>
              </a:rPr>
              <a:t>FE (Fan End): Tín hiệu tham chiếu chéo</a:t>
            </a:r>
            <a:endParaRPr lang="en-US" dirty="0"/>
          </a:p>
          <a:p>
            <a:pPr marL="342900" indent="-342900">
              <a:buSzPct val="100000"/>
              <a:buChar char="•"/>
            </a:pPr>
            <a:r>
              <a:rPr lang="en-US" dirty="0">
                <a:latin typeface="Calibri" pitchFamily="34" charset="0"/>
                <a:ea typeface="Calibri" pitchFamily="34" charset="-122"/>
                <a:cs typeface="Calibri" pitchFamily="34" charset="-120"/>
              </a:rPr>
              <a:t>BA (Base): Giám sát dao động nền bệ đỡ</a:t>
            </a:r>
            <a:endParaRPr lang="en-US" dirty="0"/>
          </a:p>
        </p:txBody>
      </p:sp>
      <p:sp>
        <p:nvSpPr>
          <p:cNvPr id="13" name="Shape 10">
            <a:extLst>
              <a:ext uri="{FF2B5EF4-FFF2-40B4-BE49-F238E27FC236}">
                <a16:creationId xmlns:a16="http://schemas.microsoft.com/office/drawing/2014/main" id="{C086A991-8E92-72EA-1D5E-BFDFCDEF0E7C}"/>
              </a:ext>
            </a:extLst>
          </p:cNvPr>
          <p:cNvSpPr/>
          <p:nvPr/>
        </p:nvSpPr>
        <p:spPr>
          <a:xfrm>
            <a:off x="338736" y="5301576"/>
            <a:ext cx="11514528" cy="749811"/>
          </a:xfrm>
          <a:prstGeom prst="rect">
            <a:avLst/>
          </a:prstGeom>
          <a:solidFill>
            <a:schemeClr val="bg1"/>
          </a:solidFill>
          <a:ln w="12700">
            <a:solidFill>
              <a:schemeClr val="accent1"/>
            </a:solidFill>
            <a:prstDash val="solid"/>
          </a:ln>
        </p:spPr>
      </p:sp>
      <p:sp>
        <p:nvSpPr>
          <p:cNvPr id="14" name="Text 11">
            <a:extLst>
              <a:ext uri="{FF2B5EF4-FFF2-40B4-BE49-F238E27FC236}">
                <a16:creationId xmlns:a16="http://schemas.microsoft.com/office/drawing/2014/main" id="{D21DF648-B173-9D15-3B1F-FC856825FDBC}"/>
              </a:ext>
            </a:extLst>
          </p:cNvPr>
          <p:cNvSpPr/>
          <p:nvPr/>
        </p:nvSpPr>
        <p:spPr>
          <a:xfrm>
            <a:off x="475896" y="5413443"/>
            <a:ext cx="11264212" cy="548640"/>
          </a:xfrm>
          <a:prstGeom prst="rect">
            <a:avLst/>
          </a:prstGeom>
          <a:noFill/>
          <a:ln/>
        </p:spPr>
        <p:txBody>
          <a:bodyPr wrap="square" rtlCol="0" anchor="ctr"/>
          <a:lstStyle/>
          <a:p>
            <a:pPr marL="0" indent="0">
              <a:buNone/>
            </a:pPr>
            <a:r>
              <a:rPr lang="en-US" i="1" dirty="0">
                <a:solidFill>
                  <a:srgbClr val="FFD166"/>
                </a:solidFill>
                <a:latin typeface="Calibri" pitchFamily="34" charset="0"/>
                <a:ea typeface="Calibri" pitchFamily="34" charset="-122"/>
                <a:cs typeface="Calibri" pitchFamily="34" charset="-120"/>
              </a:rPr>
              <a:t>💡  </a:t>
            </a:r>
            <a:r>
              <a:rPr lang="en-US" i="1" dirty="0">
                <a:solidFill>
                  <a:schemeClr val="accent1"/>
                </a:solidFill>
                <a:latin typeface="Calibri" pitchFamily="34" charset="0"/>
                <a:ea typeface="Calibri" pitchFamily="34" charset="-122"/>
                <a:cs typeface="Calibri" pitchFamily="34" charset="-120"/>
              </a:rPr>
              <a:t>Vị trí đặt cảm biến đúng kỹ thuật quan trọng hơn việc tinh chỉnh mô hình toán học. Cảm biến DE nằm trực tiếp trên đường truyền dao động → tỷ số SNR tối ưu.</a:t>
            </a:r>
            <a:endParaRPr lang="en-US" dirty="0">
              <a:solidFill>
                <a:schemeClr val="accent1"/>
              </a:solidFill>
            </a:endParaRPr>
          </a:p>
        </p:txBody>
      </p:sp>
    </p:spTree>
    <p:extLst>
      <p:ext uri="{BB962C8B-B14F-4D97-AF65-F5344CB8AC3E}">
        <p14:creationId xmlns:p14="http://schemas.microsoft.com/office/powerpoint/2010/main" val="30925163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F7B391B-1BF5-6E9B-9F0A-CCA0525D2FF1}"/>
              </a:ext>
            </a:extLst>
          </p:cNvPr>
          <p:cNvSpPr>
            <a:spLocks noGrp="1"/>
          </p:cNvSpPr>
          <p:nvPr>
            <p:ph type="title"/>
          </p:nvPr>
        </p:nvSpPr>
        <p:spPr/>
        <p:txBody>
          <a:bodyPr/>
          <a:lstStyle/>
          <a:p>
            <a:r>
              <a:rPr lang="en-US" dirty="0" err="1">
                <a:solidFill>
                  <a:srgbClr val="FFFFFF"/>
                </a:solidFill>
                <a:latin typeface="Calibri" pitchFamily="34" charset="0"/>
                <a:ea typeface="Calibri" pitchFamily="34" charset="-122"/>
                <a:cs typeface="Calibri" pitchFamily="34" charset="-120"/>
              </a:rPr>
              <a:t>Trạng</a:t>
            </a:r>
            <a:r>
              <a:rPr lang="en-US" dirty="0">
                <a:solidFill>
                  <a:srgbClr val="FFFFFF"/>
                </a:solidFill>
                <a:latin typeface="Calibri" pitchFamily="34" charset="0"/>
                <a:ea typeface="Calibri" pitchFamily="34" charset="-122"/>
                <a:cs typeface="Calibri" pitchFamily="34" charset="-120"/>
              </a:rPr>
              <a:t> Thái Ổ </a:t>
            </a:r>
            <a:r>
              <a:rPr lang="en-US" dirty="0" err="1">
                <a:solidFill>
                  <a:srgbClr val="FFFFFF"/>
                </a:solidFill>
                <a:latin typeface="Calibri" pitchFamily="34" charset="0"/>
                <a:ea typeface="Calibri" pitchFamily="34" charset="-122"/>
                <a:cs typeface="Calibri" pitchFamily="34" charset="-120"/>
              </a:rPr>
              <a:t>Lăn</a:t>
            </a:r>
            <a:r>
              <a:rPr lang="en-US" dirty="0">
                <a:solidFill>
                  <a:srgbClr val="FFFFFF"/>
                </a:solidFill>
                <a:latin typeface="Calibri" pitchFamily="34" charset="0"/>
                <a:ea typeface="Calibri" pitchFamily="34" charset="-122"/>
                <a:cs typeface="Calibri" pitchFamily="34" charset="-120"/>
              </a:rPr>
              <a:t> — </a:t>
            </a:r>
            <a:r>
              <a:rPr lang="en-US" dirty="0" err="1">
                <a:solidFill>
                  <a:srgbClr val="FFFFFF"/>
                </a:solidFill>
                <a:latin typeface="Calibri" pitchFamily="34" charset="0"/>
                <a:ea typeface="Calibri" pitchFamily="34" charset="-122"/>
                <a:cs typeface="Calibri" pitchFamily="34" charset="-120"/>
              </a:rPr>
              <a:t>Vị</a:t>
            </a:r>
            <a:r>
              <a:rPr lang="en-US" dirty="0">
                <a:solidFill>
                  <a:srgbClr val="FFFFFF"/>
                </a:solidFill>
                <a:latin typeface="Calibri" pitchFamily="34" charset="0"/>
                <a:ea typeface="Calibri" pitchFamily="34" charset="-122"/>
                <a:cs typeface="Calibri" pitchFamily="34" charset="-120"/>
              </a:rPr>
              <a:t> Trí </a:t>
            </a:r>
            <a:r>
              <a:rPr lang="en-US" dirty="0" err="1">
                <a:solidFill>
                  <a:srgbClr val="FFFFFF"/>
                </a:solidFill>
                <a:latin typeface="Calibri" pitchFamily="34" charset="0"/>
                <a:ea typeface="Calibri" pitchFamily="34" charset="-122"/>
                <a:cs typeface="Calibri" pitchFamily="34" charset="-120"/>
              </a:rPr>
              <a:t>Khuyết</a:t>
            </a:r>
            <a:r>
              <a:rPr lang="en-US" dirty="0">
                <a:solidFill>
                  <a:srgbClr val="FFFFFF"/>
                </a:solidFill>
                <a:latin typeface="Calibri" pitchFamily="34" charset="0"/>
                <a:ea typeface="Calibri" pitchFamily="34" charset="-122"/>
                <a:cs typeface="Calibri" pitchFamily="34" charset="-120"/>
              </a:rPr>
              <a:t> </a:t>
            </a:r>
            <a:r>
              <a:rPr lang="en-US" dirty="0" err="1">
                <a:solidFill>
                  <a:srgbClr val="FFFFFF"/>
                </a:solidFill>
                <a:latin typeface="Calibri" pitchFamily="34" charset="0"/>
                <a:ea typeface="Calibri" pitchFamily="34" charset="-122"/>
                <a:cs typeface="Calibri" pitchFamily="34" charset="-120"/>
              </a:rPr>
              <a:t>Tật</a:t>
            </a:r>
            <a:r>
              <a:rPr lang="en-US" dirty="0">
                <a:solidFill>
                  <a:srgbClr val="FFFFFF"/>
                </a:solidFill>
                <a:latin typeface="Calibri" pitchFamily="34" charset="0"/>
                <a:ea typeface="Calibri" pitchFamily="34" charset="-122"/>
                <a:cs typeface="Calibri" pitchFamily="34" charset="-120"/>
              </a:rPr>
              <a:t> </a:t>
            </a:r>
            <a:r>
              <a:rPr lang="en-US" dirty="0" err="1">
                <a:solidFill>
                  <a:srgbClr val="FFFFFF"/>
                </a:solidFill>
                <a:latin typeface="Calibri" pitchFamily="34" charset="0"/>
                <a:ea typeface="Calibri" pitchFamily="34" charset="-122"/>
                <a:cs typeface="Calibri" pitchFamily="34" charset="-120"/>
              </a:rPr>
              <a:t>Vật</a:t>
            </a:r>
            <a:r>
              <a:rPr lang="en-US" dirty="0">
                <a:solidFill>
                  <a:srgbClr val="FFFFFF"/>
                </a:solidFill>
                <a:latin typeface="Calibri" pitchFamily="34" charset="0"/>
                <a:ea typeface="Calibri" pitchFamily="34" charset="-122"/>
                <a:cs typeface="Calibri" pitchFamily="34" charset="-120"/>
              </a:rPr>
              <a:t> Lý</a:t>
            </a:r>
            <a:endParaRPr lang="en-US" dirty="0"/>
          </a:p>
        </p:txBody>
      </p:sp>
      <p:sp>
        <p:nvSpPr>
          <p:cNvPr id="2" name="Slide Number Placeholder 1">
            <a:extLst>
              <a:ext uri="{FF2B5EF4-FFF2-40B4-BE49-F238E27FC236}">
                <a16:creationId xmlns:a16="http://schemas.microsoft.com/office/drawing/2014/main" id="{3F787B8F-671E-899B-3B95-4CCE696DE9CF}"/>
              </a:ext>
            </a:extLst>
          </p:cNvPr>
          <p:cNvSpPr>
            <a:spLocks noGrp="1"/>
          </p:cNvSpPr>
          <p:nvPr>
            <p:ph type="sldNum" sz="quarter" idx="12"/>
          </p:nvPr>
        </p:nvSpPr>
        <p:spPr/>
        <p:txBody>
          <a:bodyPr/>
          <a:lstStyle/>
          <a:p>
            <a:fld id="{9EA0BE3B-158A-4EDF-80DC-E394A0D1600F}" type="slidenum">
              <a:rPr lang="en-US" smtClean="0"/>
              <a:pPr/>
              <a:t>8</a:t>
            </a:fld>
            <a:endParaRPr lang="en-US"/>
          </a:p>
        </p:txBody>
      </p:sp>
      <p:sp>
        <p:nvSpPr>
          <p:cNvPr id="8" name="Shape 3">
            <a:extLst>
              <a:ext uri="{FF2B5EF4-FFF2-40B4-BE49-F238E27FC236}">
                <a16:creationId xmlns:a16="http://schemas.microsoft.com/office/drawing/2014/main" id="{1CEF6675-C39B-B823-044A-168735799FF1}"/>
              </a:ext>
            </a:extLst>
          </p:cNvPr>
          <p:cNvSpPr/>
          <p:nvPr/>
        </p:nvSpPr>
        <p:spPr>
          <a:xfrm>
            <a:off x="6302415" y="998242"/>
            <a:ext cx="5577840" cy="1188720"/>
          </a:xfrm>
          <a:prstGeom prst="rect">
            <a:avLst/>
          </a:prstGeom>
          <a:solidFill>
            <a:srgbClr val="063D2A"/>
          </a:solidFill>
          <a:ln w="12700">
            <a:solidFill>
              <a:srgbClr val="0077B6"/>
            </a:solidFill>
            <a:prstDash val="solid"/>
          </a:ln>
        </p:spPr>
      </p:sp>
      <p:sp>
        <p:nvSpPr>
          <p:cNvPr id="9" name="Text 4">
            <a:extLst>
              <a:ext uri="{FF2B5EF4-FFF2-40B4-BE49-F238E27FC236}">
                <a16:creationId xmlns:a16="http://schemas.microsoft.com/office/drawing/2014/main" id="{30A3BC85-E753-A7F3-C507-709988862FF2}"/>
              </a:ext>
            </a:extLst>
          </p:cNvPr>
          <p:cNvSpPr/>
          <p:nvPr/>
        </p:nvSpPr>
        <p:spPr>
          <a:xfrm>
            <a:off x="6393855" y="1102329"/>
            <a:ext cx="5257800" cy="292608"/>
          </a:xfrm>
          <a:prstGeom prst="rect">
            <a:avLst/>
          </a:prstGeom>
          <a:noFill/>
          <a:ln/>
        </p:spPr>
        <p:txBody>
          <a:bodyPr wrap="square" rtlCol="0" anchor="ctr"/>
          <a:lstStyle/>
          <a:p>
            <a:pPr marL="0" indent="0">
              <a:buNone/>
            </a:pPr>
            <a:r>
              <a:rPr lang="en-US" b="1" dirty="0">
                <a:solidFill>
                  <a:srgbClr val="FFFFFF"/>
                </a:solidFill>
                <a:latin typeface="Calibri" pitchFamily="34" charset="0"/>
                <a:ea typeface="Calibri" pitchFamily="34" charset="-122"/>
                <a:cs typeface="Calibri" pitchFamily="34" charset="-120"/>
              </a:rPr>
              <a:t>Bình </a:t>
            </a:r>
            <a:r>
              <a:rPr lang="en-US" b="1" dirty="0" err="1">
                <a:solidFill>
                  <a:srgbClr val="FFFFFF"/>
                </a:solidFill>
                <a:latin typeface="Calibri" pitchFamily="34" charset="0"/>
                <a:ea typeface="Calibri" pitchFamily="34" charset="-122"/>
                <a:cs typeface="Calibri" pitchFamily="34" charset="-120"/>
              </a:rPr>
              <a:t>thường</a:t>
            </a:r>
            <a:r>
              <a:rPr lang="en-US" b="1" dirty="0">
                <a:solidFill>
                  <a:srgbClr val="FFFFFF"/>
                </a:solidFill>
                <a:latin typeface="Calibri" pitchFamily="34" charset="0"/>
                <a:ea typeface="Calibri" pitchFamily="34" charset="-122"/>
                <a:cs typeface="Calibri" pitchFamily="34" charset="-120"/>
              </a:rPr>
              <a:t> (N)</a:t>
            </a:r>
            <a:endParaRPr lang="en-US" dirty="0"/>
          </a:p>
        </p:txBody>
      </p:sp>
      <p:sp>
        <p:nvSpPr>
          <p:cNvPr id="10" name="Text 5">
            <a:extLst>
              <a:ext uri="{FF2B5EF4-FFF2-40B4-BE49-F238E27FC236}">
                <a16:creationId xmlns:a16="http://schemas.microsoft.com/office/drawing/2014/main" id="{A313727A-ADAA-1450-3949-03DC9E764675}"/>
              </a:ext>
            </a:extLst>
          </p:cNvPr>
          <p:cNvSpPr/>
          <p:nvPr/>
        </p:nvSpPr>
        <p:spPr>
          <a:xfrm>
            <a:off x="6393855" y="1501361"/>
            <a:ext cx="5257800" cy="457200"/>
          </a:xfrm>
          <a:prstGeom prst="rect">
            <a:avLst/>
          </a:prstGeom>
          <a:noFill/>
          <a:ln/>
        </p:spPr>
        <p:txBody>
          <a:bodyPr wrap="square" rtlCol="0" anchor="ctr"/>
          <a:lstStyle/>
          <a:p>
            <a:pPr marL="0" indent="0">
              <a:buNone/>
            </a:pPr>
            <a:r>
              <a:rPr lang="en-US" dirty="0">
                <a:solidFill>
                  <a:srgbClr val="E8F4FD"/>
                </a:solidFill>
                <a:latin typeface="Calibri" pitchFamily="34" charset="0"/>
                <a:ea typeface="Calibri" pitchFamily="34" charset="-122"/>
                <a:cs typeface="Calibri" pitchFamily="34" charset="-120"/>
              </a:rPr>
              <a:t>Biên độ </a:t>
            </a:r>
            <a:r>
              <a:rPr lang="en-US" dirty="0" err="1">
                <a:solidFill>
                  <a:srgbClr val="E8F4FD"/>
                </a:solidFill>
                <a:latin typeface="Calibri" pitchFamily="34" charset="0"/>
                <a:ea typeface="Calibri" pitchFamily="34" charset="-122"/>
                <a:cs typeface="Calibri" pitchFamily="34" charset="-120"/>
              </a:rPr>
              <a:t>cực</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nhỏ</a:t>
            </a:r>
            <a:r>
              <a:rPr lang="en-US" dirty="0">
                <a:solidFill>
                  <a:srgbClr val="E8F4FD"/>
                </a:solidFill>
                <a:latin typeface="Calibri" pitchFamily="34" charset="0"/>
                <a:ea typeface="Calibri" pitchFamily="34" charset="-122"/>
                <a:cs typeface="Calibri" pitchFamily="34" charset="-120"/>
              </a:rPr>
              <a:t>, tín hiệu phẳng, không có xung bất thường.</a:t>
            </a:r>
            <a:endParaRPr lang="en-US" dirty="0"/>
          </a:p>
        </p:txBody>
      </p:sp>
      <p:sp>
        <p:nvSpPr>
          <p:cNvPr id="11" name="Shape 6">
            <a:extLst>
              <a:ext uri="{FF2B5EF4-FFF2-40B4-BE49-F238E27FC236}">
                <a16:creationId xmlns:a16="http://schemas.microsoft.com/office/drawing/2014/main" id="{710D371D-AB83-FFE0-BF52-DA5B2F8BC9FF}"/>
              </a:ext>
            </a:extLst>
          </p:cNvPr>
          <p:cNvSpPr/>
          <p:nvPr/>
        </p:nvSpPr>
        <p:spPr>
          <a:xfrm>
            <a:off x="6302415" y="2308563"/>
            <a:ext cx="5577840" cy="1188720"/>
          </a:xfrm>
          <a:prstGeom prst="rect">
            <a:avLst/>
          </a:prstGeom>
          <a:solidFill>
            <a:srgbClr val="0A2A50"/>
          </a:solidFill>
          <a:ln w="12700">
            <a:solidFill>
              <a:srgbClr val="0077B6"/>
            </a:solidFill>
            <a:prstDash val="solid"/>
          </a:ln>
        </p:spPr>
      </p:sp>
      <p:sp>
        <p:nvSpPr>
          <p:cNvPr id="12" name="Text 7">
            <a:extLst>
              <a:ext uri="{FF2B5EF4-FFF2-40B4-BE49-F238E27FC236}">
                <a16:creationId xmlns:a16="http://schemas.microsoft.com/office/drawing/2014/main" id="{5154445F-E212-8914-5919-94C287E0F2DD}"/>
              </a:ext>
            </a:extLst>
          </p:cNvPr>
          <p:cNvSpPr/>
          <p:nvPr/>
        </p:nvSpPr>
        <p:spPr>
          <a:xfrm>
            <a:off x="6393855" y="2421213"/>
            <a:ext cx="5257800" cy="292608"/>
          </a:xfrm>
          <a:prstGeom prst="rect">
            <a:avLst/>
          </a:prstGeom>
          <a:noFill/>
          <a:ln/>
        </p:spPr>
        <p:txBody>
          <a:bodyPr wrap="square" rtlCol="0" anchor="ctr"/>
          <a:lstStyle/>
          <a:p>
            <a:pPr marL="0" indent="0">
              <a:buNone/>
            </a:pPr>
            <a:r>
              <a:rPr lang="en-US" b="1" dirty="0" err="1">
                <a:solidFill>
                  <a:srgbClr val="FFFFFF"/>
                </a:solidFill>
                <a:latin typeface="Calibri" pitchFamily="34" charset="0"/>
                <a:ea typeface="Calibri" pitchFamily="34" charset="-122"/>
                <a:cs typeface="Calibri" pitchFamily="34" charset="-120"/>
              </a:rPr>
              <a:t>Lỗi</a:t>
            </a:r>
            <a:r>
              <a:rPr lang="en-US" b="1" dirty="0">
                <a:solidFill>
                  <a:srgbClr val="FFFFFF"/>
                </a:solidFill>
                <a:latin typeface="Calibri" pitchFamily="34" charset="0"/>
                <a:ea typeface="Calibri" pitchFamily="34" charset="-122"/>
                <a:cs typeface="Calibri" pitchFamily="34" charset="-120"/>
              </a:rPr>
              <a:t> rãnh ngoài (OR)</a:t>
            </a:r>
            <a:endParaRPr lang="en-US" dirty="0"/>
          </a:p>
        </p:txBody>
      </p:sp>
      <p:sp>
        <p:nvSpPr>
          <p:cNvPr id="13" name="Text 8">
            <a:extLst>
              <a:ext uri="{FF2B5EF4-FFF2-40B4-BE49-F238E27FC236}">
                <a16:creationId xmlns:a16="http://schemas.microsoft.com/office/drawing/2014/main" id="{8E3F7F3A-18DE-C8E4-C91B-259DEBDAE7CC}"/>
              </a:ext>
            </a:extLst>
          </p:cNvPr>
          <p:cNvSpPr/>
          <p:nvPr/>
        </p:nvSpPr>
        <p:spPr>
          <a:xfrm>
            <a:off x="6393855" y="2831232"/>
            <a:ext cx="5257800" cy="457200"/>
          </a:xfrm>
          <a:prstGeom prst="rect">
            <a:avLst/>
          </a:prstGeom>
          <a:noFill/>
          <a:ln/>
        </p:spPr>
        <p:txBody>
          <a:bodyPr wrap="square" rtlCol="0" anchor="ctr"/>
          <a:lstStyle/>
          <a:p>
            <a:pPr marL="0" indent="0">
              <a:buNone/>
            </a:pPr>
            <a:r>
              <a:rPr lang="en-US" dirty="0" err="1">
                <a:solidFill>
                  <a:srgbClr val="E8F4FD"/>
                </a:solidFill>
                <a:latin typeface="Calibri" pitchFamily="34" charset="0"/>
                <a:ea typeface="Calibri" pitchFamily="34" charset="-122"/>
                <a:cs typeface="Calibri" pitchFamily="34" charset="-120"/>
              </a:rPr>
              <a:t>Vết</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nứt</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nằm</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trên</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đường</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lăn</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rãnh</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ngoài</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cố</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định</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Xung</a:t>
            </a:r>
            <a:r>
              <a:rPr lang="en-US" dirty="0">
                <a:solidFill>
                  <a:srgbClr val="E8F4FD"/>
                </a:solidFill>
                <a:latin typeface="Calibri" pitchFamily="34" charset="0"/>
                <a:ea typeface="Calibri" pitchFamily="34" charset="-122"/>
                <a:cs typeface="Calibri" pitchFamily="34" charset="-120"/>
              </a:rPr>
              <a:t> va đập mạnh, chu </a:t>
            </a:r>
            <a:r>
              <a:rPr lang="en-US" dirty="0" err="1">
                <a:solidFill>
                  <a:srgbClr val="E8F4FD"/>
                </a:solidFill>
                <a:latin typeface="Calibri" pitchFamily="34" charset="0"/>
                <a:ea typeface="Calibri" pitchFamily="34" charset="-122"/>
                <a:cs typeface="Calibri" pitchFamily="34" charset="-120"/>
              </a:rPr>
              <a:t>kỳ</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ổn</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định</a:t>
            </a:r>
            <a:endParaRPr lang="en-US" dirty="0"/>
          </a:p>
        </p:txBody>
      </p:sp>
      <p:sp>
        <p:nvSpPr>
          <p:cNvPr id="14" name="Shape 9">
            <a:extLst>
              <a:ext uri="{FF2B5EF4-FFF2-40B4-BE49-F238E27FC236}">
                <a16:creationId xmlns:a16="http://schemas.microsoft.com/office/drawing/2014/main" id="{2B1EC4FC-07AF-B3AF-6EF4-3C528B4B7505}"/>
              </a:ext>
            </a:extLst>
          </p:cNvPr>
          <p:cNvSpPr/>
          <p:nvPr/>
        </p:nvSpPr>
        <p:spPr>
          <a:xfrm>
            <a:off x="6302415" y="3609156"/>
            <a:ext cx="5577840" cy="1188720"/>
          </a:xfrm>
          <a:prstGeom prst="rect">
            <a:avLst/>
          </a:prstGeom>
          <a:solidFill>
            <a:srgbClr val="3D2A00"/>
          </a:solidFill>
          <a:ln w="12700">
            <a:solidFill>
              <a:srgbClr val="0077B6"/>
            </a:solidFill>
            <a:prstDash val="solid"/>
          </a:ln>
        </p:spPr>
      </p:sp>
      <p:sp>
        <p:nvSpPr>
          <p:cNvPr id="15" name="Text 10">
            <a:extLst>
              <a:ext uri="{FF2B5EF4-FFF2-40B4-BE49-F238E27FC236}">
                <a16:creationId xmlns:a16="http://schemas.microsoft.com/office/drawing/2014/main" id="{A113BDCB-444D-564A-E6B2-66CB99A16B14}"/>
              </a:ext>
            </a:extLst>
          </p:cNvPr>
          <p:cNvSpPr/>
          <p:nvPr/>
        </p:nvSpPr>
        <p:spPr>
          <a:xfrm>
            <a:off x="6393855" y="3747872"/>
            <a:ext cx="5257800" cy="292608"/>
          </a:xfrm>
          <a:prstGeom prst="rect">
            <a:avLst/>
          </a:prstGeom>
          <a:noFill/>
          <a:ln/>
        </p:spPr>
        <p:txBody>
          <a:bodyPr wrap="square" rtlCol="0" anchor="ctr"/>
          <a:lstStyle/>
          <a:p>
            <a:pPr marL="0" indent="0">
              <a:buNone/>
            </a:pPr>
            <a:r>
              <a:rPr lang="en-US" b="1" dirty="0" err="1">
                <a:solidFill>
                  <a:srgbClr val="FFFFFF"/>
                </a:solidFill>
                <a:latin typeface="Calibri" pitchFamily="34" charset="0"/>
                <a:ea typeface="Calibri" pitchFamily="34" charset="-122"/>
                <a:cs typeface="Calibri" pitchFamily="34" charset="-120"/>
              </a:rPr>
              <a:t>Lỗi</a:t>
            </a:r>
            <a:r>
              <a:rPr lang="en-US" b="1" dirty="0">
                <a:solidFill>
                  <a:srgbClr val="FFFFFF"/>
                </a:solidFill>
                <a:latin typeface="Calibri" pitchFamily="34" charset="0"/>
                <a:ea typeface="Calibri" pitchFamily="34" charset="-122"/>
                <a:cs typeface="Calibri" pitchFamily="34" charset="-120"/>
              </a:rPr>
              <a:t> rãnh trong (IR)</a:t>
            </a:r>
            <a:endParaRPr lang="en-US" dirty="0"/>
          </a:p>
        </p:txBody>
      </p:sp>
      <p:sp>
        <p:nvSpPr>
          <p:cNvPr id="16" name="Text 11">
            <a:extLst>
              <a:ext uri="{FF2B5EF4-FFF2-40B4-BE49-F238E27FC236}">
                <a16:creationId xmlns:a16="http://schemas.microsoft.com/office/drawing/2014/main" id="{DB45BE24-4139-1FD0-7B9A-120D16862BDC}"/>
              </a:ext>
            </a:extLst>
          </p:cNvPr>
          <p:cNvSpPr/>
          <p:nvPr/>
        </p:nvSpPr>
        <p:spPr>
          <a:xfrm>
            <a:off x="6393855" y="4098360"/>
            <a:ext cx="5257800" cy="457200"/>
          </a:xfrm>
          <a:prstGeom prst="rect">
            <a:avLst/>
          </a:prstGeom>
          <a:noFill/>
          <a:ln/>
        </p:spPr>
        <p:txBody>
          <a:bodyPr wrap="square" rtlCol="0" anchor="ctr"/>
          <a:lstStyle/>
          <a:p>
            <a:pPr marL="0" indent="0">
              <a:buNone/>
            </a:pPr>
            <a:r>
              <a:rPr lang="en-US" dirty="0" err="1">
                <a:solidFill>
                  <a:srgbClr val="E8F4FD"/>
                </a:solidFill>
                <a:latin typeface="Calibri" pitchFamily="34" charset="0"/>
                <a:ea typeface="Calibri" pitchFamily="34" charset="-122"/>
                <a:cs typeface="Calibri" pitchFamily="34" charset="-120"/>
              </a:rPr>
              <a:t>Vết</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nứt</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nằm</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trong</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đương</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lẵn</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rãnh</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trong</a:t>
            </a:r>
            <a:r>
              <a:rPr lang="en-US" dirty="0">
                <a:solidFill>
                  <a:srgbClr val="E8F4FD"/>
                </a:solidFill>
                <a:latin typeface="Calibri" pitchFamily="34" charset="0"/>
                <a:ea typeface="Calibri" pitchFamily="34" charset="-122"/>
                <a:cs typeface="Calibri" pitchFamily="34" charset="-120"/>
              </a:rPr>
              <a:t> quay </a:t>
            </a:r>
            <a:r>
              <a:rPr lang="en-US" dirty="0" err="1">
                <a:solidFill>
                  <a:srgbClr val="E8F4FD"/>
                </a:solidFill>
                <a:latin typeface="Calibri" pitchFamily="34" charset="0"/>
                <a:ea typeface="Calibri" pitchFamily="34" charset="-122"/>
                <a:cs typeface="Calibri" pitchFamily="34" charset="-120"/>
              </a:rPr>
              <a:t>cùng</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trục</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Xung</a:t>
            </a:r>
            <a:r>
              <a:rPr lang="en-US" dirty="0">
                <a:solidFill>
                  <a:srgbClr val="E8F4FD"/>
                </a:solidFill>
                <a:latin typeface="Calibri" pitchFamily="34" charset="0"/>
                <a:ea typeface="Calibri" pitchFamily="34" charset="-122"/>
                <a:cs typeface="Calibri" pitchFamily="34" charset="-120"/>
              </a:rPr>
              <a:t> bị điều chế biên </a:t>
            </a:r>
            <a:r>
              <a:rPr lang="en-US" dirty="0" err="1">
                <a:solidFill>
                  <a:srgbClr val="E8F4FD"/>
                </a:solidFill>
                <a:latin typeface="Calibri" pitchFamily="34" charset="0"/>
                <a:ea typeface="Calibri" pitchFamily="34" charset="-122"/>
                <a:cs typeface="Calibri" pitchFamily="34" charset="-120"/>
              </a:rPr>
              <a:t>độ</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theo</a:t>
            </a:r>
            <a:r>
              <a:rPr lang="en-US" dirty="0">
                <a:solidFill>
                  <a:srgbClr val="E8F4FD"/>
                </a:solidFill>
                <a:latin typeface="Calibri" pitchFamily="34" charset="0"/>
                <a:ea typeface="Calibri" pitchFamily="34" charset="-122"/>
                <a:cs typeface="Calibri" pitchFamily="34" charset="-120"/>
              </a:rPr>
              <a:t> chu kỳ quay trục.</a:t>
            </a:r>
            <a:endParaRPr lang="en-US" dirty="0"/>
          </a:p>
        </p:txBody>
      </p:sp>
      <p:sp>
        <p:nvSpPr>
          <p:cNvPr id="17" name="Shape 12">
            <a:extLst>
              <a:ext uri="{FF2B5EF4-FFF2-40B4-BE49-F238E27FC236}">
                <a16:creationId xmlns:a16="http://schemas.microsoft.com/office/drawing/2014/main" id="{C840DC34-EC67-C819-4600-476BDB8CDAFA}"/>
              </a:ext>
            </a:extLst>
          </p:cNvPr>
          <p:cNvSpPr/>
          <p:nvPr/>
        </p:nvSpPr>
        <p:spPr>
          <a:xfrm>
            <a:off x="6302415" y="4938933"/>
            <a:ext cx="5577840" cy="1188720"/>
          </a:xfrm>
          <a:prstGeom prst="rect">
            <a:avLst/>
          </a:prstGeom>
          <a:solidFill>
            <a:srgbClr val="3D0A1A"/>
          </a:solidFill>
          <a:ln w="12700">
            <a:solidFill>
              <a:srgbClr val="0077B6"/>
            </a:solidFill>
            <a:prstDash val="solid"/>
          </a:ln>
        </p:spPr>
      </p:sp>
      <p:sp>
        <p:nvSpPr>
          <p:cNvPr id="18" name="Text 13">
            <a:extLst>
              <a:ext uri="{FF2B5EF4-FFF2-40B4-BE49-F238E27FC236}">
                <a16:creationId xmlns:a16="http://schemas.microsoft.com/office/drawing/2014/main" id="{637877E2-70B4-DE72-9D19-7624BE35B5F4}"/>
              </a:ext>
            </a:extLst>
          </p:cNvPr>
          <p:cNvSpPr/>
          <p:nvPr/>
        </p:nvSpPr>
        <p:spPr>
          <a:xfrm>
            <a:off x="6393855" y="5033072"/>
            <a:ext cx="5257800" cy="292608"/>
          </a:xfrm>
          <a:prstGeom prst="rect">
            <a:avLst/>
          </a:prstGeom>
          <a:noFill/>
          <a:ln/>
        </p:spPr>
        <p:txBody>
          <a:bodyPr wrap="square" rtlCol="0" anchor="ctr"/>
          <a:lstStyle/>
          <a:p>
            <a:pPr marL="0" indent="0">
              <a:buNone/>
            </a:pPr>
            <a:r>
              <a:rPr lang="en-US" b="1" dirty="0" err="1">
                <a:solidFill>
                  <a:srgbClr val="FFFFFF"/>
                </a:solidFill>
                <a:latin typeface="Calibri" pitchFamily="34" charset="0"/>
                <a:ea typeface="Calibri" pitchFamily="34" charset="-122"/>
                <a:cs typeface="Calibri" pitchFamily="34" charset="-120"/>
              </a:rPr>
              <a:t>Lỗi</a:t>
            </a:r>
            <a:r>
              <a:rPr lang="en-US" b="1" dirty="0">
                <a:solidFill>
                  <a:srgbClr val="FFFFFF"/>
                </a:solidFill>
                <a:latin typeface="Calibri" pitchFamily="34" charset="0"/>
                <a:ea typeface="Calibri" pitchFamily="34" charset="-122"/>
                <a:cs typeface="Calibri" pitchFamily="34" charset="-120"/>
              </a:rPr>
              <a:t> viên bi (Ball)</a:t>
            </a:r>
            <a:endParaRPr lang="en-US" dirty="0"/>
          </a:p>
        </p:txBody>
      </p:sp>
      <p:sp>
        <p:nvSpPr>
          <p:cNvPr id="19" name="Text 14">
            <a:extLst>
              <a:ext uri="{FF2B5EF4-FFF2-40B4-BE49-F238E27FC236}">
                <a16:creationId xmlns:a16="http://schemas.microsoft.com/office/drawing/2014/main" id="{C0EB2737-5D04-C021-04FE-F659C372478D}"/>
              </a:ext>
            </a:extLst>
          </p:cNvPr>
          <p:cNvSpPr/>
          <p:nvPr/>
        </p:nvSpPr>
        <p:spPr>
          <a:xfrm>
            <a:off x="6393855" y="5439248"/>
            <a:ext cx="5257800" cy="457200"/>
          </a:xfrm>
          <a:prstGeom prst="rect">
            <a:avLst/>
          </a:prstGeom>
          <a:noFill/>
          <a:ln/>
        </p:spPr>
        <p:txBody>
          <a:bodyPr wrap="square" rtlCol="0" anchor="ctr"/>
          <a:lstStyle/>
          <a:p>
            <a:pPr marL="0" indent="0">
              <a:buNone/>
            </a:pPr>
            <a:r>
              <a:rPr lang="en-US" dirty="0" err="1">
                <a:solidFill>
                  <a:srgbClr val="E8F4FD"/>
                </a:solidFill>
                <a:latin typeface="Calibri" pitchFamily="34" charset="0"/>
                <a:ea typeface="Calibri" pitchFamily="34" charset="-122"/>
                <a:cs typeface="Calibri" pitchFamily="34" charset="-120"/>
              </a:rPr>
              <a:t>Khuyết</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tật</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nằm</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trên</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bề</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mặt</a:t>
            </a:r>
            <a:r>
              <a:rPr lang="en-US" dirty="0">
                <a:solidFill>
                  <a:srgbClr val="E8F4FD"/>
                </a:solidFill>
                <a:latin typeface="Calibri" pitchFamily="34" charset="0"/>
                <a:ea typeface="Calibri" pitchFamily="34" charset="-122"/>
                <a:cs typeface="Calibri" pitchFamily="34" charset="-120"/>
              </a:rPr>
              <a:t> </a:t>
            </a:r>
            <a:r>
              <a:rPr lang="en-US" dirty="0" err="1">
                <a:solidFill>
                  <a:srgbClr val="E8F4FD"/>
                </a:solidFill>
                <a:latin typeface="Calibri" pitchFamily="34" charset="0"/>
                <a:ea typeface="Calibri" pitchFamily="34" charset="-122"/>
                <a:cs typeface="Calibri" pitchFamily="34" charset="-120"/>
              </a:rPr>
              <a:t>viên</a:t>
            </a:r>
            <a:r>
              <a:rPr lang="en-US" dirty="0">
                <a:solidFill>
                  <a:srgbClr val="E8F4FD"/>
                </a:solidFill>
                <a:latin typeface="Calibri" pitchFamily="34" charset="0"/>
                <a:ea typeface="Calibri" pitchFamily="34" charset="-122"/>
                <a:cs typeface="Calibri" pitchFamily="34" charset="-120"/>
              </a:rPr>
              <a:t> bi. Va đập đa hướng, phức tạp, khó nhận biết nhất.</a:t>
            </a:r>
            <a:endParaRPr lang="en-US" dirty="0"/>
          </a:p>
        </p:txBody>
      </p:sp>
      <p:pic>
        <p:nvPicPr>
          <p:cNvPr id="22" name="Picture 21" descr="Fig. 1">
            <a:extLst>
              <a:ext uri="{FF2B5EF4-FFF2-40B4-BE49-F238E27FC236}">
                <a16:creationId xmlns:a16="http://schemas.microsoft.com/office/drawing/2014/main" id="{B9DF1223-4D0A-ECC8-167D-8AFD632B1BBE}"/>
              </a:ext>
            </a:extLst>
          </p:cNvPr>
          <p:cNvPicPr>
            <a:picLocks noChangeAspect="1"/>
          </p:cNvPicPr>
          <p:nvPr/>
        </p:nvPicPr>
        <p:blipFill>
          <a:blip r:embed="rId2"/>
          <a:stretch>
            <a:fillRect/>
          </a:stretch>
        </p:blipFill>
        <p:spPr>
          <a:xfrm>
            <a:off x="379779" y="913862"/>
            <a:ext cx="5440680" cy="5080965"/>
          </a:xfrm>
          <a:prstGeom prst="rect">
            <a:avLst/>
          </a:prstGeom>
        </p:spPr>
      </p:pic>
    </p:spTree>
    <p:extLst>
      <p:ext uri="{BB962C8B-B14F-4D97-AF65-F5344CB8AC3E}">
        <p14:creationId xmlns:p14="http://schemas.microsoft.com/office/powerpoint/2010/main" val="4284332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BCDCA-26D1-DE31-7955-F13FF981A1DC}"/>
              </a:ext>
            </a:extLst>
          </p:cNvPr>
          <p:cNvSpPr>
            <a:spLocks noGrp="1"/>
          </p:cNvSpPr>
          <p:nvPr>
            <p:ph type="title"/>
          </p:nvPr>
        </p:nvSpPr>
        <p:spPr/>
        <p:txBody>
          <a:bodyPr/>
          <a:lstStyle/>
          <a:p>
            <a:r>
              <a:rPr lang="en-US" dirty="0" err="1"/>
              <a:t>Tần</a:t>
            </a:r>
            <a:r>
              <a:rPr lang="en-US" dirty="0"/>
              <a:t> </a:t>
            </a:r>
            <a:r>
              <a:rPr lang="en-US" dirty="0" err="1"/>
              <a:t>số</a:t>
            </a:r>
            <a:r>
              <a:rPr lang="en-US" dirty="0"/>
              <a:t> </a:t>
            </a:r>
            <a:r>
              <a:rPr lang="en-US" dirty="0" err="1"/>
              <a:t>hư</a:t>
            </a:r>
            <a:r>
              <a:rPr lang="en-US" dirty="0"/>
              <a:t> </a:t>
            </a:r>
            <a:r>
              <a:rPr lang="en-US" dirty="0" err="1"/>
              <a:t>hỏng</a:t>
            </a:r>
            <a:r>
              <a:rPr lang="en-US" dirty="0"/>
              <a:t> </a:t>
            </a:r>
            <a:r>
              <a:rPr lang="en-US" dirty="0" err="1"/>
              <a:t>đặc</a:t>
            </a:r>
            <a:r>
              <a:rPr lang="en-US" dirty="0"/>
              <a:t> </a:t>
            </a:r>
            <a:r>
              <a:rPr lang="en-US" dirty="0" err="1"/>
              <a:t>trưng</a:t>
            </a:r>
            <a:endParaRPr lang="en-US" dirty="0"/>
          </a:p>
        </p:txBody>
      </p:sp>
      <p:sp>
        <p:nvSpPr>
          <p:cNvPr id="4" name="Slide Number Placeholder 3">
            <a:extLst>
              <a:ext uri="{FF2B5EF4-FFF2-40B4-BE49-F238E27FC236}">
                <a16:creationId xmlns:a16="http://schemas.microsoft.com/office/drawing/2014/main" id="{F830FB4F-C0E4-5A49-AA97-BCAA527E88FD}"/>
              </a:ext>
            </a:extLst>
          </p:cNvPr>
          <p:cNvSpPr>
            <a:spLocks noGrp="1"/>
          </p:cNvSpPr>
          <p:nvPr>
            <p:ph type="sldNum" sz="quarter" idx="12"/>
          </p:nvPr>
        </p:nvSpPr>
        <p:spPr/>
        <p:txBody>
          <a:bodyPr/>
          <a:lstStyle/>
          <a:p>
            <a:fld id="{9EA0BE3B-158A-4EDF-80DC-E394A0D1600F}" type="slidenum">
              <a:rPr lang="en-US" smtClean="0"/>
              <a:pPr/>
              <a:t>9</a:t>
            </a:fld>
            <a:endParaRPr lang="en-US"/>
          </a:p>
        </p:txBody>
      </p:sp>
      <p:sp>
        <p:nvSpPr>
          <p:cNvPr id="5" name="Shape KeyBox">
            <a:extLst>
              <a:ext uri="{FF2B5EF4-FFF2-40B4-BE49-F238E27FC236}">
                <a16:creationId xmlns:a16="http://schemas.microsoft.com/office/drawing/2014/main" id="{DE16377C-F56D-E2E6-3C62-6A091D3AC95C}"/>
              </a:ext>
            </a:extLst>
          </p:cNvPr>
          <p:cNvSpPr/>
          <p:nvPr/>
        </p:nvSpPr>
        <p:spPr>
          <a:xfrm>
            <a:off x="338735" y="985886"/>
            <a:ext cx="11560976" cy="726176"/>
          </a:xfrm>
          <a:prstGeom prst="rect">
            <a:avLst/>
          </a:prstGeom>
          <a:solidFill>
            <a:schemeClr val="bg1"/>
          </a:solidFill>
          <a:ln w="19050">
            <a:solidFill>
              <a:srgbClr val="00B4D8"/>
            </a:solidFill>
            <a:prstDash val="solid"/>
          </a:ln>
        </p:spPr>
      </p:sp>
      <p:sp>
        <p:nvSpPr>
          <p:cNvPr id="6" name="Text Key">
            <a:extLst>
              <a:ext uri="{FF2B5EF4-FFF2-40B4-BE49-F238E27FC236}">
                <a16:creationId xmlns:a16="http://schemas.microsoft.com/office/drawing/2014/main" id="{DB149966-C3A8-7D2C-5E22-29696C3BA77D}"/>
              </a:ext>
            </a:extLst>
          </p:cNvPr>
          <p:cNvSpPr/>
          <p:nvPr/>
        </p:nvSpPr>
        <p:spPr>
          <a:xfrm>
            <a:off x="407564" y="1130925"/>
            <a:ext cx="11445699" cy="436098"/>
          </a:xfrm>
          <a:prstGeom prst="rect">
            <a:avLst/>
          </a:prstGeom>
          <a:noFill/>
          <a:ln/>
        </p:spPr>
        <p:txBody>
          <a:bodyPr wrap="square" rtlCol="0" anchor="ctr"/>
          <a:lstStyle/>
          <a:p>
            <a:pPr marL="0" indent="0">
              <a:buNone/>
            </a:pPr>
            <a:r>
              <a:rPr lang="en-US" b="1" dirty="0">
                <a:solidFill>
                  <a:srgbClr val="00B4D8"/>
                </a:solidFill>
                <a:latin typeface="Calibri" pitchFamily="34" charset="0"/>
              </a:rPr>
              <a:t>Ý CHÍNH: </a:t>
            </a:r>
            <a:r>
              <a:rPr lang="en-US" dirty="0" err="1">
                <a:latin typeface="Calibri" pitchFamily="34" charset="0"/>
              </a:rPr>
              <a:t>Mỗi</a:t>
            </a:r>
            <a:r>
              <a:rPr lang="en-US" dirty="0">
                <a:latin typeface="Calibri" pitchFamily="34" charset="0"/>
              </a:rPr>
              <a:t> </a:t>
            </a:r>
            <a:r>
              <a:rPr lang="en-US" dirty="0" err="1">
                <a:latin typeface="Calibri" pitchFamily="34" charset="0"/>
              </a:rPr>
              <a:t>dạng</a:t>
            </a:r>
            <a:r>
              <a:rPr lang="en-US" dirty="0">
                <a:latin typeface="Calibri" pitchFamily="34" charset="0"/>
              </a:rPr>
              <a:t> </a:t>
            </a:r>
            <a:r>
              <a:rPr lang="en-US" dirty="0" err="1">
                <a:latin typeface="Calibri" pitchFamily="34" charset="0"/>
              </a:rPr>
              <a:t>khuyết</a:t>
            </a:r>
            <a:r>
              <a:rPr lang="en-US" dirty="0">
                <a:latin typeface="Calibri" pitchFamily="34" charset="0"/>
              </a:rPr>
              <a:t> </a:t>
            </a:r>
            <a:r>
              <a:rPr lang="en-US" dirty="0" err="1">
                <a:latin typeface="Calibri" pitchFamily="34" charset="0"/>
              </a:rPr>
              <a:t>tật</a:t>
            </a:r>
            <a:r>
              <a:rPr lang="en-US" dirty="0">
                <a:latin typeface="Calibri" pitchFamily="34" charset="0"/>
              </a:rPr>
              <a:t> </a:t>
            </a:r>
            <a:r>
              <a:rPr lang="en-US" dirty="0" err="1">
                <a:latin typeface="Calibri" pitchFamily="34" charset="0"/>
              </a:rPr>
              <a:t>ứng</a:t>
            </a:r>
            <a:r>
              <a:rPr lang="en-US" dirty="0">
                <a:latin typeface="Calibri" pitchFamily="34" charset="0"/>
              </a:rPr>
              <a:t> </a:t>
            </a:r>
            <a:r>
              <a:rPr lang="en-US" dirty="0" err="1">
                <a:latin typeface="Calibri" pitchFamily="34" charset="0"/>
              </a:rPr>
              <a:t>với</a:t>
            </a:r>
            <a:r>
              <a:rPr lang="en-US" dirty="0">
                <a:latin typeface="Calibri" pitchFamily="34" charset="0"/>
              </a:rPr>
              <a:t> </a:t>
            </a:r>
            <a:r>
              <a:rPr lang="en-US" dirty="0" err="1">
                <a:latin typeface="Calibri" pitchFamily="34" charset="0"/>
              </a:rPr>
              <a:t>một</a:t>
            </a:r>
            <a:r>
              <a:rPr lang="en-US" dirty="0">
                <a:latin typeface="Calibri" pitchFamily="34" charset="0"/>
              </a:rPr>
              <a:t> </a:t>
            </a:r>
            <a:r>
              <a:rPr lang="en-US" dirty="0" err="1">
                <a:latin typeface="Calibri" pitchFamily="34" charset="0"/>
              </a:rPr>
              <a:t>tần</a:t>
            </a:r>
            <a:r>
              <a:rPr lang="en-US" dirty="0">
                <a:latin typeface="Calibri" pitchFamily="34" charset="0"/>
              </a:rPr>
              <a:t> </a:t>
            </a:r>
            <a:r>
              <a:rPr lang="en-US" dirty="0" err="1">
                <a:latin typeface="Calibri" pitchFamily="34" charset="0"/>
              </a:rPr>
              <a:t>số</a:t>
            </a:r>
            <a:r>
              <a:rPr lang="en-US" dirty="0">
                <a:latin typeface="Calibri" pitchFamily="34" charset="0"/>
              </a:rPr>
              <a:t> </a:t>
            </a:r>
            <a:r>
              <a:rPr lang="en-US" dirty="0" err="1">
                <a:latin typeface="Calibri" pitchFamily="34" charset="0"/>
              </a:rPr>
              <a:t>kích</a:t>
            </a:r>
            <a:r>
              <a:rPr lang="en-US" dirty="0">
                <a:latin typeface="Calibri" pitchFamily="34" charset="0"/>
              </a:rPr>
              <a:t> </a:t>
            </a:r>
            <a:r>
              <a:rPr lang="en-US" dirty="0" err="1">
                <a:latin typeface="Calibri" pitchFamily="34" charset="0"/>
              </a:rPr>
              <a:t>thích</a:t>
            </a:r>
            <a:r>
              <a:rPr lang="en-US" dirty="0">
                <a:latin typeface="Calibri" pitchFamily="34" charset="0"/>
              </a:rPr>
              <a:t> </a:t>
            </a:r>
            <a:r>
              <a:rPr lang="en-US" dirty="0" err="1">
                <a:latin typeface="Calibri" pitchFamily="34" charset="0"/>
              </a:rPr>
              <a:t>riêng</a:t>
            </a:r>
            <a:r>
              <a:rPr lang="en-US" dirty="0">
                <a:latin typeface="Calibri" pitchFamily="34" charset="0"/>
              </a:rPr>
              <a:t> </a:t>
            </a:r>
            <a:r>
              <a:rPr lang="en-US" dirty="0" err="1">
                <a:latin typeface="Calibri" pitchFamily="34" charset="0"/>
              </a:rPr>
              <a:t>biệt</a:t>
            </a:r>
            <a:r>
              <a:rPr lang="en-US" dirty="0">
                <a:latin typeface="Calibri" pitchFamily="34" charset="0"/>
              </a:rPr>
              <a:t>, </a:t>
            </a:r>
            <a:r>
              <a:rPr lang="en-US" b="1" dirty="0" err="1">
                <a:latin typeface="Calibri" pitchFamily="34" charset="0"/>
              </a:rPr>
              <a:t>được</a:t>
            </a:r>
            <a:r>
              <a:rPr lang="en-US" b="1" dirty="0">
                <a:latin typeface="Calibri" pitchFamily="34" charset="0"/>
              </a:rPr>
              <a:t> </a:t>
            </a:r>
            <a:r>
              <a:rPr lang="en-US" b="1" dirty="0" err="1">
                <a:latin typeface="Calibri" pitchFamily="34" charset="0"/>
              </a:rPr>
              <a:t>tính</a:t>
            </a:r>
            <a:r>
              <a:rPr lang="en-US" b="1" dirty="0">
                <a:latin typeface="Calibri" pitchFamily="34" charset="0"/>
              </a:rPr>
              <a:t> </a:t>
            </a:r>
            <a:r>
              <a:rPr lang="en-US" b="1" dirty="0" err="1">
                <a:latin typeface="Calibri" pitchFamily="34" charset="0"/>
              </a:rPr>
              <a:t>toán</a:t>
            </a:r>
            <a:r>
              <a:rPr lang="en-US" b="1" dirty="0">
                <a:latin typeface="Calibri" pitchFamily="34" charset="0"/>
              </a:rPr>
              <a:t> </a:t>
            </a:r>
            <a:r>
              <a:rPr lang="en-US" b="1" dirty="0" err="1">
                <a:latin typeface="Calibri" pitchFamily="34" charset="0"/>
              </a:rPr>
              <a:t>từ</a:t>
            </a:r>
            <a:r>
              <a:rPr lang="en-US" b="1" dirty="0">
                <a:latin typeface="Calibri" pitchFamily="34" charset="0"/>
              </a:rPr>
              <a:t> </a:t>
            </a:r>
            <a:r>
              <a:rPr lang="en-US" b="1" dirty="0" err="1">
                <a:latin typeface="Calibri" pitchFamily="34" charset="0"/>
              </a:rPr>
              <a:t>thông</a:t>
            </a:r>
            <a:r>
              <a:rPr lang="en-US" b="1" dirty="0">
                <a:latin typeface="Calibri" pitchFamily="34" charset="0"/>
              </a:rPr>
              <a:t> </a:t>
            </a:r>
            <a:r>
              <a:rPr lang="en-US" b="1" dirty="0" err="1">
                <a:latin typeface="Calibri" pitchFamily="34" charset="0"/>
              </a:rPr>
              <a:t>số</a:t>
            </a:r>
            <a:r>
              <a:rPr lang="en-US" b="1" dirty="0">
                <a:latin typeface="Calibri" pitchFamily="34" charset="0"/>
              </a:rPr>
              <a:t> </a:t>
            </a:r>
            <a:r>
              <a:rPr lang="en-US" b="1" dirty="0" err="1">
                <a:latin typeface="Calibri" pitchFamily="34" charset="0"/>
              </a:rPr>
              <a:t>hình</a:t>
            </a:r>
            <a:r>
              <a:rPr lang="en-US" b="1" dirty="0">
                <a:latin typeface="Calibri" pitchFamily="34" charset="0"/>
              </a:rPr>
              <a:t> </a:t>
            </a:r>
            <a:r>
              <a:rPr lang="en-US" b="1" dirty="0" err="1">
                <a:latin typeface="Calibri" pitchFamily="34" charset="0"/>
              </a:rPr>
              <a:t>học</a:t>
            </a:r>
            <a:r>
              <a:rPr lang="en-US" b="1" dirty="0">
                <a:latin typeface="Calibri" pitchFamily="34" charset="0"/>
              </a:rPr>
              <a:t> </a:t>
            </a:r>
            <a:r>
              <a:rPr lang="en-US" b="1" dirty="0" err="1">
                <a:latin typeface="Calibri" pitchFamily="34" charset="0"/>
              </a:rPr>
              <a:t>của</a:t>
            </a:r>
            <a:r>
              <a:rPr lang="en-US" b="1" dirty="0">
                <a:latin typeface="Calibri" pitchFamily="34" charset="0"/>
              </a:rPr>
              <a:t> ổ </a:t>
            </a:r>
            <a:r>
              <a:rPr lang="en-US" b="1" dirty="0" err="1">
                <a:latin typeface="Calibri" pitchFamily="34" charset="0"/>
              </a:rPr>
              <a:t>lăn</a:t>
            </a:r>
            <a:r>
              <a:rPr lang="en-US" dirty="0">
                <a:latin typeface="Calibri" pitchFamily="34" charset="0"/>
              </a:rPr>
              <a:t> — </a:t>
            </a:r>
            <a:r>
              <a:rPr lang="en-US" dirty="0" err="1">
                <a:latin typeface="Calibri" pitchFamily="34" charset="0"/>
              </a:rPr>
              <a:t>đây</a:t>
            </a:r>
            <a:r>
              <a:rPr lang="en-US" dirty="0">
                <a:latin typeface="Calibri" pitchFamily="34" charset="0"/>
              </a:rPr>
              <a:t> </a:t>
            </a:r>
            <a:r>
              <a:rPr lang="en-US" dirty="0" err="1">
                <a:latin typeface="Calibri" pitchFamily="34" charset="0"/>
              </a:rPr>
              <a:t>chính</a:t>
            </a:r>
            <a:r>
              <a:rPr lang="en-US" dirty="0">
                <a:latin typeface="Calibri" pitchFamily="34" charset="0"/>
              </a:rPr>
              <a:t> </a:t>
            </a:r>
            <a:r>
              <a:rPr lang="en-US" dirty="0" err="1">
                <a:latin typeface="Calibri" pitchFamily="34" charset="0"/>
              </a:rPr>
              <a:t>là</a:t>
            </a:r>
            <a:r>
              <a:rPr lang="en-US" dirty="0">
                <a:latin typeface="Calibri" pitchFamily="34" charset="0"/>
              </a:rPr>
              <a:t> </a:t>
            </a:r>
            <a:r>
              <a:rPr lang="en-US" dirty="0" err="1">
                <a:latin typeface="Calibri" pitchFamily="34" charset="0"/>
              </a:rPr>
              <a:t>dấu</a:t>
            </a:r>
            <a:r>
              <a:rPr lang="en-US" dirty="0">
                <a:latin typeface="Calibri" pitchFamily="34" charset="0"/>
              </a:rPr>
              <a:t> </a:t>
            </a:r>
            <a:r>
              <a:rPr lang="en-US" dirty="0" err="1">
                <a:latin typeface="Calibri" pitchFamily="34" charset="0"/>
              </a:rPr>
              <a:t>hiệu</a:t>
            </a:r>
            <a:r>
              <a:rPr lang="en-US" dirty="0">
                <a:latin typeface="Calibri" pitchFamily="34" charset="0"/>
              </a:rPr>
              <a:t> </a:t>
            </a:r>
            <a:r>
              <a:rPr lang="en-US" dirty="0" err="1">
                <a:latin typeface="Calibri" pitchFamily="34" charset="0"/>
              </a:rPr>
              <a:t>để</a:t>
            </a:r>
            <a:r>
              <a:rPr lang="en-US" dirty="0">
                <a:latin typeface="Calibri" pitchFamily="34" charset="0"/>
              </a:rPr>
              <a:t> </a:t>
            </a:r>
            <a:r>
              <a:rPr lang="en-US" dirty="0" err="1">
                <a:latin typeface="Calibri" pitchFamily="34" charset="0"/>
              </a:rPr>
              <a:t>nhận</a:t>
            </a:r>
            <a:r>
              <a:rPr lang="en-US" dirty="0">
                <a:latin typeface="Calibri" pitchFamily="34" charset="0"/>
              </a:rPr>
              <a:t> </a:t>
            </a:r>
            <a:r>
              <a:rPr lang="en-US" dirty="0" err="1">
                <a:latin typeface="Calibri" pitchFamily="34" charset="0"/>
              </a:rPr>
              <a:t>diện</a:t>
            </a:r>
            <a:r>
              <a:rPr lang="en-US" dirty="0">
                <a:latin typeface="Calibri" pitchFamily="34" charset="0"/>
              </a:rPr>
              <a:t> </a:t>
            </a:r>
            <a:r>
              <a:rPr lang="en-US" dirty="0" err="1">
                <a:latin typeface="Calibri" pitchFamily="34" charset="0"/>
              </a:rPr>
              <a:t>và</a:t>
            </a:r>
            <a:r>
              <a:rPr lang="en-US" dirty="0">
                <a:latin typeface="Calibri" pitchFamily="34" charset="0"/>
              </a:rPr>
              <a:t> </a:t>
            </a:r>
            <a:r>
              <a:rPr lang="en-US" dirty="0" err="1">
                <a:latin typeface="Calibri" pitchFamily="34" charset="0"/>
              </a:rPr>
              <a:t>xác</a:t>
            </a:r>
            <a:r>
              <a:rPr lang="en-US" dirty="0">
                <a:latin typeface="Calibri" pitchFamily="34" charset="0"/>
              </a:rPr>
              <a:t> </a:t>
            </a:r>
            <a:r>
              <a:rPr lang="en-US" dirty="0" err="1">
                <a:latin typeface="Calibri" pitchFamily="34" charset="0"/>
              </a:rPr>
              <a:t>định</a:t>
            </a:r>
            <a:r>
              <a:rPr lang="en-US" dirty="0">
                <a:latin typeface="Calibri" pitchFamily="34" charset="0"/>
              </a:rPr>
              <a:t> </a:t>
            </a:r>
            <a:r>
              <a:rPr lang="en-US" dirty="0" err="1">
                <a:latin typeface="Calibri" pitchFamily="34" charset="0"/>
              </a:rPr>
              <a:t>loại</a:t>
            </a:r>
            <a:r>
              <a:rPr lang="en-US" dirty="0">
                <a:latin typeface="Calibri" pitchFamily="34" charset="0"/>
              </a:rPr>
              <a:t> </a:t>
            </a:r>
            <a:r>
              <a:rPr lang="en-US" dirty="0" err="1">
                <a:latin typeface="Calibri" pitchFamily="34" charset="0"/>
              </a:rPr>
              <a:t>hư</a:t>
            </a:r>
            <a:r>
              <a:rPr lang="en-US" dirty="0">
                <a:latin typeface="Calibri" pitchFamily="34" charset="0"/>
              </a:rPr>
              <a:t> </a:t>
            </a:r>
            <a:r>
              <a:rPr lang="en-US" dirty="0" err="1">
                <a:latin typeface="Calibri" pitchFamily="34" charset="0"/>
              </a:rPr>
              <a:t>hỏng</a:t>
            </a:r>
            <a:r>
              <a:rPr lang="en-US" dirty="0">
                <a:latin typeface="Calibri" pitchFamily="34" charset="0"/>
              </a:rPr>
              <a:t>.</a:t>
            </a:r>
          </a:p>
        </p:txBody>
      </p:sp>
      <mc:AlternateContent xmlns:mc="http://schemas.openxmlformats.org/markup-compatibility/2006" xmlns:a14="http://schemas.microsoft.com/office/drawing/2010/main">
        <mc:Choice Requires="a14">
          <p:graphicFrame>
            <p:nvGraphicFramePr>
              <p:cNvPr id="36" name="Table 35">
                <a:extLst>
                  <a:ext uri="{FF2B5EF4-FFF2-40B4-BE49-F238E27FC236}">
                    <a16:creationId xmlns:a16="http://schemas.microsoft.com/office/drawing/2014/main" id="{E8796D80-6B10-FE70-4D67-DE6569B027C2}"/>
                  </a:ext>
                </a:extLst>
              </p:cNvPr>
              <p:cNvGraphicFramePr>
                <a:graphicFrameLocks noGrp="1"/>
              </p:cNvGraphicFramePr>
              <p:nvPr>
                <p:extLst>
                  <p:ext uri="{D42A27DB-BD31-4B8C-83A1-F6EECF244321}">
                    <p14:modId xmlns:p14="http://schemas.microsoft.com/office/powerpoint/2010/main" val="15247603"/>
                  </p:ext>
                </p:extLst>
              </p:nvPr>
            </p:nvGraphicFramePr>
            <p:xfrm>
              <a:off x="1202987" y="2002028"/>
              <a:ext cx="9786026" cy="2853944"/>
            </p:xfrm>
            <a:graphic>
              <a:graphicData uri="http://schemas.openxmlformats.org/drawingml/2006/table">
                <a:tbl>
                  <a:tblPr firstRow="1" bandRow="1">
                    <a:tableStyleId>{5940675A-B579-460E-94D1-54222C63F5DA}</a:tableStyleId>
                  </a:tblPr>
                  <a:tblGrid>
                    <a:gridCol w="2797757">
                      <a:extLst>
                        <a:ext uri="{9D8B030D-6E8A-4147-A177-3AD203B41FA5}">
                          <a16:colId xmlns:a16="http://schemas.microsoft.com/office/drawing/2014/main" val="755063102"/>
                        </a:ext>
                      </a:extLst>
                    </a:gridCol>
                    <a:gridCol w="2659460">
                      <a:extLst>
                        <a:ext uri="{9D8B030D-6E8A-4147-A177-3AD203B41FA5}">
                          <a16:colId xmlns:a16="http://schemas.microsoft.com/office/drawing/2014/main" val="919845592"/>
                        </a:ext>
                      </a:extLst>
                    </a:gridCol>
                    <a:gridCol w="1984443">
                      <a:extLst>
                        <a:ext uri="{9D8B030D-6E8A-4147-A177-3AD203B41FA5}">
                          <a16:colId xmlns:a16="http://schemas.microsoft.com/office/drawing/2014/main" val="1655169045"/>
                        </a:ext>
                      </a:extLst>
                    </a:gridCol>
                    <a:gridCol w="2344366">
                      <a:extLst>
                        <a:ext uri="{9D8B030D-6E8A-4147-A177-3AD203B41FA5}">
                          <a16:colId xmlns:a16="http://schemas.microsoft.com/office/drawing/2014/main" val="2870351229"/>
                        </a:ext>
                      </a:extLst>
                    </a:gridCol>
                  </a:tblGrid>
                  <a:tr h="370840">
                    <a:tc>
                      <a:txBody>
                        <a:bodyPr/>
                        <a:lstStyle/>
                        <a:p>
                          <a:r>
                            <a:rPr lang="en-US" b="1" dirty="0" err="1"/>
                            <a:t>Ký</a:t>
                          </a:r>
                          <a:r>
                            <a:rPr lang="en-US" b="1" dirty="0"/>
                            <a:t> </a:t>
                          </a:r>
                          <a:r>
                            <a:rPr lang="en-US" b="1" dirty="0" err="1"/>
                            <a:t>hiệu</a:t>
                          </a:r>
                          <a:endParaRPr lang="en-US" b="1" dirty="0"/>
                        </a:p>
                      </a:txBody>
                      <a:tcPr anchor="ctr"/>
                    </a:tc>
                    <a:tc>
                      <a:txBody>
                        <a:bodyPr/>
                        <a:lstStyle/>
                        <a:p>
                          <a:r>
                            <a:rPr lang="en-US" b="1" dirty="0"/>
                            <a:t>Công </a:t>
                          </a:r>
                          <a:r>
                            <a:rPr lang="en-US" b="1" dirty="0" err="1"/>
                            <a:t>thức</a:t>
                          </a:r>
                          <a:r>
                            <a:rPr lang="en-US" b="1" dirty="0"/>
                            <a:t> </a:t>
                          </a:r>
                          <a:r>
                            <a:rPr lang="en-US" b="1" dirty="0" err="1"/>
                            <a:t>xác</a:t>
                          </a:r>
                          <a:r>
                            <a:rPr lang="en-US" b="1" dirty="0"/>
                            <a:t> </a:t>
                          </a:r>
                          <a:r>
                            <a:rPr lang="en-US" b="1" dirty="0" err="1"/>
                            <a:t>định</a:t>
                          </a:r>
                          <a:endParaRPr lang="en-US" b="1" dirty="0"/>
                        </a:p>
                      </a:txBody>
                      <a:tcPr anchor="ctr"/>
                    </a:tc>
                    <a:tc>
                      <a:txBody>
                        <a:bodyPr/>
                        <a:lstStyle/>
                        <a:p>
                          <a:r>
                            <a:rPr lang="en-US" b="1" dirty="0" err="1"/>
                            <a:t>Hệ</a:t>
                          </a:r>
                          <a:r>
                            <a:rPr lang="en-US" b="1" dirty="0"/>
                            <a:t> </a:t>
                          </a:r>
                          <a:r>
                            <a:rPr lang="en-US" b="1" dirty="0" err="1"/>
                            <a:t>số</a:t>
                          </a:r>
                          <a:r>
                            <a:rPr lang="en-US" b="1" dirty="0"/>
                            <a:t> </a:t>
                          </a:r>
                          <a:r>
                            <a:rPr lang="en-US" b="1" dirty="0" err="1"/>
                            <a:t>hư</a:t>
                          </a:r>
                          <a:r>
                            <a:rPr lang="en-US" b="1" dirty="0"/>
                            <a:t> </a:t>
                          </a:r>
                          <a:r>
                            <a:rPr lang="en-US" b="1" dirty="0" err="1"/>
                            <a:t>hỏng</a:t>
                          </a:r>
                          <a:r>
                            <a:rPr lang="en-US" b="1" dirty="0"/>
                            <a:t> (</a:t>
                          </a:r>
                          <a:r>
                            <a:rPr lang="en-US" b="1" dirty="0">
                              <a:latin typeface="Calibri" pitchFamily="34" charset="0"/>
                              <a:ea typeface="Calibri" pitchFamily="34" charset="-122"/>
                              <a:cs typeface="Calibri" pitchFamily="34" charset="-120"/>
                            </a:rPr>
                            <a:t>SKF 6205-2RS)</a:t>
                          </a:r>
                          <a:endParaRPr lang="en-US" b="1" dirty="0"/>
                        </a:p>
                      </a:txBody>
                      <a:tcPr anchor="ctr"/>
                    </a:tc>
                    <a:tc>
                      <a:txBody>
                        <a:bodyPr/>
                        <a:lstStyle/>
                        <a:p>
                          <a:r>
                            <a:rPr lang="en-US" b="1" dirty="0"/>
                            <a:t>@1797 RPM (0 HP)</a:t>
                          </a:r>
                        </a:p>
                      </a:txBody>
                      <a:tcPr anchor="ctr"/>
                    </a:tc>
                    <a:extLst>
                      <a:ext uri="{0D108BD9-81ED-4DB2-BD59-A6C34878D82A}">
                        <a16:rowId xmlns:a16="http://schemas.microsoft.com/office/drawing/2014/main" val="2632798780"/>
                      </a:ext>
                    </a:extLst>
                  </a:tr>
                  <a:tr h="370840">
                    <a:tc>
                      <a:txBody>
                        <a:bodyPr/>
                        <a:lstStyle/>
                        <a:p>
                          <a:pPr marL="0" indent="0">
                            <a:buNone/>
                          </a:pPr>
                          <a:r>
                            <a:rPr lang="en-US" sz="1800" b="1" dirty="0">
                              <a:solidFill>
                                <a:schemeClr val="tx1"/>
                              </a:solidFill>
                              <a:latin typeface="Calibri" pitchFamily="34" charset="0"/>
                            </a:rPr>
                            <a:t>BPFO</a:t>
                          </a:r>
                        </a:p>
                        <a:p>
                          <a:pPr marL="0" indent="0">
                            <a:buNone/>
                          </a:pPr>
                          <a:r>
                            <a:rPr lang="en-US" sz="1200" i="1" dirty="0" err="1">
                              <a:solidFill>
                                <a:schemeClr val="tx1"/>
                              </a:solidFill>
                              <a:latin typeface="Calibri" pitchFamily="34" charset="0"/>
                            </a:rPr>
                            <a:t>Tần</a:t>
                          </a:r>
                          <a:r>
                            <a:rPr lang="en-US" sz="1200" i="1" dirty="0">
                              <a:solidFill>
                                <a:schemeClr val="tx1"/>
                              </a:solidFill>
                              <a:latin typeface="Calibri" pitchFamily="34" charset="0"/>
                            </a:rPr>
                            <a:t> </a:t>
                          </a:r>
                          <a:r>
                            <a:rPr lang="en-US" sz="1200" i="1" dirty="0" err="1">
                              <a:solidFill>
                                <a:schemeClr val="tx1"/>
                              </a:solidFill>
                              <a:latin typeface="Calibri" pitchFamily="34" charset="0"/>
                            </a:rPr>
                            <a:t>số</a:t>
                          </a:r>
                          <a:r>
                            <a:rPr lang="en-US" sz="1200" i="1" dirty="0">
                              <a:solidFill>
                                <a:schemeClr val="tx1"/>
                              </a:solidFill>
                              <a:latin typeface="Calibri" pitchFamily="34" charset="0"/>
                            </a:rPr>
                            <a:t> </a:t>
                          </a:r>
                          <a:r>
                            <a:rPr lang="en-US" sz="1200" i="1" dirty="0" err="1">
                              <a:solidFill>
                                <a:schemeClr val="tx1"/>
                              </a:solidFill>
                              <a:latin typeface="Calibri" pitchFamily="34" charset="0"/>
                            </a:rPr>
                            <a:t>va</a:t>
                          </a:r>
                          <a:r>
                            <a:rPr lang="en-US" sz="1200" i="1" dirty="0">
                              <a:solidFill>
                                <a:schemeClr val="tx1"/>
                              </a:solidFill>
                              <a:latin typeface="Calibri" pitchFamily="34" charset="0"/>
                            </a:rPr>
                            <a:t> </a:t>
                          </a:r>
                          <a:r>
                            <a:rPr lang="en-US" sz="1200" i="1" dirty="0" err="1">
                              <a:solidFill>
                                <a:schemeClr val="tx1"/>
                              </a:solidFill>
                              <a:latin typeface="Calibri" pitchFamily="34" charset="0"/>
                            </a:rPr>
                            <a:t>đập</a:t>
                          </a:r>
                          <a:r>
                            <a:rPr lang="en-US" sz="1200" i="1" dirty="0">
                              <a:solidFill>
                                <a:schemeClr val="tx1"/>
                              </a:solidFill>
                              <a:latin typeface="Calibri" pitchFamily="34" charset="0"/>
                            </a:rPr>
                            <a:t> </a:t>
                          </a:r>
                          <a:r>
                            <a:rPr lang="en-US" sz="1200" i="1" dirty="0" err="1">
                              <a:solidFill>
                                <a:schemeClr val="tx1"/>
                              </a:solidFill>
                              <a:latin typeface="Calibri" pitchFamily="34" charset="0"/>
                            </a:rPr>
                            <a:t>khuyết</a:t>
                          </a:r>
                          <a:r>
                            <a:rPr lang="en-US" sz="1200" i="1" dirty="0">
                              <a:solidFill>
                                <a:schemeClr val="tx1"/>
                              </a:solidFill>
                              <a:latin typeface="Calibri" pitchFamily="34" charset="0"/>
                            </a:rPr>
                            <a:t> </a:t>
                          </a:r>
                          <a:r>
                            <a:rPr lang="en-US" sz="1200" i="1" dirty="0" err="1">
                              <a:solidFill>
                                <a:schemeClr val="tx1"/>
                              </a:solidFill>
                              <a:latin typeface="Calibri" pitchFamily="34" charset="0"/>
                            </a:rPr>
                            <a:t>tật</a:t>
                          </a:r>
                          <a:r>
                            <a:rPr lang="en-US" sz="1200" i="1" dirty="0">
                              <a:solidFill>
                                <a:schemeClr val="tx1"/>
                              </a:solidFill>
                              <a:latin typeface="Calibri" pitchFamily="34" charset="0"/>
                            </a:rPr>
                            <a:t> </a:t>
                          </a:r>
                          <a:r>
                            <a:rPr lang="en-US" sz="1200" i="1" dirty="0" err="1">
                              <a:solidFill>
                                <a:schemeClr val="tx1"/>
                              </a:solidFill>
                              <a:latin typeface="Calibri" pitchFamily="34" charset="0"/>
                            </a:rPr>
                            <a:t>rãnh</a:t>
                          </a:r>
                          <a:r>
                            <a:rPr lang="en-US" sz="1200" i="1" dirty="0">
                              <a:solidFill>
                                <a:schemeClr val="tx1"/>
                              </a:solidFill>
                              <a:latin typeface="Calibri" pitchFamily="34" charset="0"/>
                            </a:rPr>
                            <a:t> </a:t>
                          </a:r>
                          <a:r>
                            <a:rPr lang="en-US" sz="1200" i="1" dirty="0" err="1">
                              <a:solidFill>
                                <a:schemeClr val="tx1"/>
                              </a:solidFill>
                              <a:latin typeface="Calibri" pitchFamily="34" charset="0"/>
                            </a:rPr>
                            <a:t>ngoài</a:t>
                          </a:r>
                          <a:endParaRPr lang="en-US" sz="1200" i="1" dirty="0">
                            <a:solidFill>
                              <a:schemeClr val="tx1"/>
                            </a:solidFill>
                            <a:latin typeface="Calibri" pitchFamily="34" charset="0"/>
                          </a:endParaRPr>
                        </a:p>
                      </a:txBody>
                      <a:tcPr/>
                    </a:tc>
                    <a:tc>
                      <a:txBody>
                        <a:bodyPr/>
                        <a:lstStyle/>
                        <a:p>
                          <a:pPr/>
                          <a14:m>
                            <m:oMathPara xmlns:m="http://schemas.openxmlformats.org/officeDocument/2006/math">
                              <m:oMathParaPr>
                                <m:jc m:val="centerGroup"/>
                              </m:oMathParaPr>
                              <m:oMath xmlns:m="http://schemas.openxmlformats.org/officeDocument/2006/math">
                                <m:f>
                                  <m:fPr>
                                    <m:ctrlPr>
                                      <a:rPr lang="en-US" sz="1600" i="1" smtClean="0">
                                        <a:latin typeface="Cambria Math" panose="02040503050406030204" pitchFamily="18" charset="0"/>
                                      </a:rPr>
                                    </m:ctrlPr>
                                  </m:fPr>
                                  <m:num>
                                    <m:r>
                                      <a:rPr lang="en-US" sz="1600" b="0" i="1" smtClean="0">
                                        <a:latin typeface="Cambria Math" panose="02040503050406030204" pitchFamily="18" charset="0"/>
                                      </a:rPr>
                                      <m:t>𝑛</m:t>
                                    </m:r>
                                    <m:r>
                                      <a:rPr lang="en-US" sz="1600" b="0" i="1" smtClean="0">
                                        <a:latin typeface="Cambria Math" panose="02040503050406030204" pitchFamily="18" charset="0"/>
                                        <a:ea typeface="Cambria Math" panose="02040503050406030204" pitchFamily="18" charset="0"/>
                                      </a:rPr>
                                      <m:t>∙</m:t>
                                    </m:r>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𝑓</m:t>
                                        </m:r>
                                      </m:e>
                                      <m:sub>
                                        <m:r>
                                          <a:rPr lang="en-US" sz="1600" b="0" i="1" smtClean="0">
                                            <a:latin typeface="Cambria Math" panose="02040503050406030204" pitchFamily="18" charset="0"/>
                                            <a:ea typeface="Cambria Math" panose="02040503050406030204" pitchFamily="18" charset="0"/>
                                          </a:rPr>
                                          <m:t>𝑠</m:t>
                                        </m:r>
                                      </m:sub>
                                    </m:sSub>
                                  </m:num>
                                  <m:den>
                                    <m:r>
                                      <a:rPr lang="en-US" sz="1600" b="0" i="1" smtClean="0">
                                        <a:latin typeface="Cambria Math" panose="02040503050406030204" pitchFamily="18" charset="0"/>
                                      </a:rPr>
                                      <m:t>2</m:t>
                                    </m:r>
                                  </m:den>
                                </m:f>
                                <m:r>
                                  <a:rPr lang="en-US" sz="160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(1−</m:t>
                                </m:r>
                                <m:f>
                                  <m:fPr>
                                    <m:ctrlPr>
                                      <a:rPr lang="en-US" sz="1600" b="0" i="1" smtClean="0">
                                        <a:latin typeface="Cambria Math" panose="02040503050406030204" pitchFamily="18" charset="0"/>
                                        <a:ea typeface="Cambria Math" panose="02040503050406030204" pitchFamily="18" charset="0"/>
                                      </a:rPr>
                                    </m:ctrlPr>
                                  </m:fPr>
                                  <m:num>
                                    <m:r>
                                      <a:rPr lang="en-US" sz="1600" b="0" i="1" smtClean="0">
                                        <a:latin typeface="Cambria Math" panose="02040503050406030204" pitchFamily="18" charset="0"/>
                                        <a:ea typeface="Cambria Math" panose="02040503050406030204" pitchFamily="18" charset="0"/>
                                      </a:rPr>
                                      <m:t>𝑑</m:t>
                                    </m:r>
                                  </m:num>
                                  <m:den>
                                    <m:r>
                                      <a:rPr lang="en-US" sz="1600" b="0" i="1" smtClean="0">
                                        <a:latin typeface="Cambria Math" panose="02040503050406030204" pitchFamily="18" charset="0"/>
                                        <a:ea typeface="Cambria Math" panose="02040503050406030204" pitchFamily="18" charset="0"/>
                                      </a:rPr>
                                      <m:t>𝐷</m:t>
                                    </m:r>
                                  </m:den>
                                </m:f>
                                <m:r>
                                  <a:rPr lang="en-US" sz="1600" b="0" i="1" smtClean="0">
                                    <a:latin typeface="Cambria Math" panose="02040503050406030204" pitchFamily="18" charset="0"/>
                                    <a:ea typeface="Cambria Math" panose="02040503050406030204" pitchFamily="18" charset="0"/>
                                  </a:rPr>
                                  <m:t>𝑐𝑜𝑠</m:t>
                                </m:r>
                                <m:r>
                                  <a:rPr lang="en-US" sz="1600" b="0" i="1" smtClean="0">
                                    <a:latin typeface="Cambria Math" panose="02040503050406030204" pitchFamily="18" charset="0"/>
                                    <a:ea typeface="Cambria Math" panose="02040503050406030204" pitchFamily="18" charset="0"/>
                                  </a:rPr>
                                  <m:t>𝛼</m:t>
                                </m:r>
                                <m:r>
                                  <a:rPr lang="en-US" sz="1600" b="0" i="1" smtClean="0">
                                    <a:latin typeface="Cambria Math" panose="02040503050406030204" pitchFamily="18" charset="0"/>
                                    <a:ea typeface="Cambria Math" panose="02040503050406030204" pitchFamily="18" charset="0"/>
                                  </a:rPr>
                                  <m:t>)</m:t>
                                </m:r>
                              </m:oMath>
                            </m:oMathPara>
                          </a14:m>
                          <a:endParaRPr lang="en-US" sz="16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Calibri" pitchFamily="34" charset="0"/>
                            </a:rPr>
                            <a:t>3.585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solidFill>
                                <a:srgbClr val="EF476F"/>
                              </a:solidFill>
                              <a:latin typeface="Calibri" pitchFamily="34" charset="0"/>
                            </a:rPr>
                            <a:t>≈ 107 Hz</a:t>
                          </a:r>
                        </a:p>
                      </a:txBody>
                      <a:tcPr anchor="ctr"/>
                    </a:tc>
                    <a:extLst>
                      <a:ext uri="{0D108BD9-81ED-4DB2-BD59-A6C34878D82A}">
                        <a16:rowId xmlns:a16="http://schemas.microsoft.com/office/drawing/2014/main" val="1905425267"/>
                      </a:ext>
                    </a:extLst>
                  </a:tr>
                  <a:tr h="370840">
                    <a:tc>
                      <a:txBody>
                        <a:bodyPr/>
                        <a:lstStyle/>
                        <a:p>
                          <a:pPr marL="0" indent="0">
                            <a:buNone/>
                          </a:pPr>
                          <a:r>
                            <a:rPr lang="en-US" sz="1800" b="1" dirty="0">
                              <a:solidFill>
                                <a:schemeClr val="tx1"/>
                              </a:solidFill>
                              <a:latin typeface="Calibri" pitchFamily="34" charset="0"/>
                            </a:rPr>
                            <a:t>BPFI</a:t>
                          </a:r>
                        </a:p>
                        <a:p>
                          <a:pPr marL="0" indent="0">
                            <a:buNone/>
                          </a:pPr>
                          <a:r>
                            <a:rPr lang="en-US" sz="1200" i="1" dirty="0" err="1">
                              <a:solidFill>
                                <a:schemeClr val="tx1"/>
                              </a:solidFill>
                              <a:latin typeface="Calibri" pitchFamily="34" charset="0"/>
                            </a:rPr>
                            <a:t>Tần</a:t>
                          </a:r>
                          <a:r>
                            <a:rPr lang="en-US" sz="1200" i="1" dirty="0">
                              <a:solidFill>
                                <a:schemeClr val="tx1"/>
                              </a:solidFill>
                              <a:latin typeface="Calibri" pitchFamily="34" charset="0"/>
                            </a:rPr>
                            <a:t> </a:t>
                          </a:r>
                          <a:r>
                            <a:rPr lang="en-US" sz="1200" i="1" dirty="0" err="1">
                              <a:solidFill>
                                <a:schemeClr val="tx1"/>
                              </a:solidFill>
                              <a:latin typeface="Calibri" pitchFamily="34" charset="0"/>
                            </a:rPr>
                            <a:t>số</a:t>
                          </a:r>
                          <a:r>
                            <a:rPr lang="en-US" sz="1200" i="1" dirty="0">
                              <a:solidFill>
                                <a:schemeClr val="tx1"/>
                              </a:solidFill>
                              <a:latin typeface="Calibri" pitchFamily="34" charset="0"/>
                            </a:rPr>
                            <a:t> </a:t>
                          </a:r>
                          <a:r>
                            <a:rPr lang="en-US" sz="1200" i="1" dirty="0" err="1">
                              <a:solidFill>
                                <a:schemeClr val="tx1"/>
                              </a:solidFill>
                              <a:latin typeface="Calibri" pitchFamily="34" charset="0"/>
                            </a:rPr>
                            <a:t>va</a:t>
                          </a:r>
                          <a:r>
                            <a:rPr lang="en-US" sz="1200" i="1" dirty="0">
                              <a:solidFill>
                                <a:schemeClr val="tx1"/>
                              </a:solidFill>
                              <a:latin typeface="Calibri" pitchFamily="34" charset="0"/>
                            </a:rPr>
                            <a:t> </a:t>
                          </a:r>
                          <a:r>
                            <a:rPr lang="en-US" sz="1200" i="1" dirty="0" err="1">
                              <a:solidFill>
                                <a:schemeClr val="tx1"/>
                              </a:solidFill>
                              <a:latin typeface="Calibri" pitchFamily="34" charset="0"/>
                            </a:rPr>
                            <a:t>đập</a:t>
                          </a:r>
                          <a:r>
                            <a:rPr lang="en-US" sz="1200" i="1" dirty="0">
                              <a:solidFill>
                                <a:schemeClr val="tx1"/>
                              </a:solidFill>
                              <a:latin typeface="Calibri" pitchFamily="34" charset="0"/>
                            </a:rPr>
                            <a:t> </a:t>
                          </a:r>
                          <a:r>
                            <a:rPr lang="en-US" sz="1200" i="1" dirty="0" err="1">
                              <a:solidFill>
                                <a:schemeClr val="tx1"/>
                              </a:solidFill>
                              <a:latin typeface="Calibri" pitchFamily="34" charset="0"/>
                            </a:rPr>
                            <a:t>khuyết</a:t>
                          </a:r>
                          <a:r>
                            <a:rPr lang="en-US" sz="1200" i="1" dirty="0">
                              <a:solidFill>
                                <a:schemeClr val="tx1"/>
                              </a:solidFill>
                              <a:latin typeface="Calibri" pitchFamily="34" charset="0"/>
                            </a:rPr>
                            <a:t> </a:t>
                          </a:r>
                          <a:r>
                            <a:rPr lang="en-US" sz="1200" i="1" dirty="0" err="1">
                              <a:solidFill>
                                <a:schemeClr val="tx1"/>
                              </a:solidFill>
                              <a:latin typeface="Calibri" pitchFamily="34" charset="0"/>
                            </a:rPr>
                            <a:t>tật</a:t>
                          </a:r>
                          <a:r>
                            <a:rPr lang="en-US" sz="1200" i="1" dirty="0">
                              <a:solidFill>
                                <a:schemeClr val="tx1"/>
                              </a:solidFill>
                              <a:latin typeface="Calibri" pitchFamily="34" charset="0"/>
                            </a:rPr>
                            <a:t> </a:t>
                          </a:r>
                          <a:r>
                            <a:rPr lang="en-US" sz="1200" i="1" dirty="0" err="1">
                              <a:solidFill>
                                <a:schemeClr val="tx1"/>
                              </a:solidFill>
                              <a:latin typeface="Calibri" pitchFamily="34" charset="0"/>
                            </a:rPr>
                            <a:t>rãnh</a:t>
                          </a:r>
                          <a:r>
                            <a:rPr lang="en-US" sz="1200" i="1" dirty="0">
                              <a:solidFill>
                                <a:schemeClr val="tx1"/>
                              </a:solidFill>
                              <a:latin typeface="Calibri" pitchFamily="34" charset="0"/>
                            </a:rPr>
                            <a:t> </a:t>
                          </a:r>
                          <a:r>
                            <a:rPr lang="en-US" sz="1200" i="1" dirty="0" err="1">
                              <a:solidFill>
                                <a:schemeClr val="tx1"/>
                              </a:solidFill>
                              <a:latin typeface="Calibri" pitchFamily="34" charset="0"/>
                            </a:rPr>
                            <a:t>trong</a:t>
                          </a:r>
                          <a:endParaRPr lang="en-US" sz="1200" i="1" dirty="0">
                            <a:solidFill>
                              <a:schemeClr val="tx1"/>
                            </a:solidFill>
                            <a:latin typeface="Calibri"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lang="en-US" sz="1600" i="1" smtClean="0">
                                        <a:latin typeface="Cambria Math" panose="02040503050406030204" pitchFamily="18" charset="0"/>
                                      </a:rPr>
                                    </m:ctrlPr>
                                  </m:fPr>
                                  <m:num>
                                    <m:r>
                                      <a:rPr lang="en-US" sz="1600" b="0" i="1" smtClean="0">
                                        <a:latin typeface="Cambria Math" panose="02040503050406030204" pitchFamily="18" charset="0"/>
                                      </a:rPr>
                                      <m:t>𝑛</m:t>
                                    </m:r>
                                    <m:r>
                                      <a:rPr lang="en-US" sz="1600" b="0" i="1" smtClean="0">
                                        <a:latin typeface="Cambria Math" panose="02040503050406030204" pitchFamily="18" charset="0"/>
                                        <a:ea typeface="Cambria Math" panose="02040503050406030204" pitchFamily="18" charset="0"/>
                                      </a:rPr>
                                      <m:t>∙</m:t>
                                    </m:r>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𝑓</m:t>
                                        </m:r>
                                      </m:e>
                                      <m:sub>
                                        <m:r>
                                          <a:rPr lang="en-US" sz="1600" b="0" i="1" smtClean="0">
                                            <a:latin typeface="Cambria Math" panose="02040503050406030204" pitchFamily="18" charset="0"/>
                                            <a:ea typeface="Cambria Math" panose="02040503050406030204" pitchFamily="18" charset="0"/>
                                          </a:rPr>
                                          <m:t>𝑠</m:t>
                                        </m:r>
                                      </m:sub>
                                    </m:sSub>
                                  </m:num>
                                  <m:den>
                                    <m:r>
                                      <a:rPr lang="en-US" sz="1600" b="0" i="1" smtClean="0">
                                        <a:latin typeface="Cambria Math" panose="02040503050406030204" pitchFamily="18" charset="0"/>
                                      </a:rPr>
                                      <m:t>2</m:t>
                                    </m:r>
                                  </m:den>
                                </m:f>
                                <m:r>
                                  <a:rPr lang="en-US" sz="160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(1+</m:t>
                                </m:r>
                                <m:f>
                                  <m:fPr>
                                    <m:ctrlPr>
                                      <a:rPr lang="en-US" sz="1600" b="0" i="1" smtClean="0">
                                        <a:latin typeface="Cambria Math" panose="02040503050406030204" pitchFamily="18" charset="0"/>
                                        <a:ea typeface="Cambria Math" panose="02040503050406030204" pitchFamily="18" charset="0"/>
                                      </a:rPr>
                                    </m:ctrlPr>
                                  </m:fPr>
                                  <m:num>
                                    <m:r>
                                      <a:rPr lang="en-US" sz="1600" b="0" i="1" smtClean="0">
                                        <a:latin typeface="Cambria Math" panose="02040503050406030204" pitchFamily="18" charset="0"/>
                                        <a:ea typeface="Cambria Math" panose="02040503050406030204" pitchFamily="18" charset="0"/>
                                      </a:rPr>
                                      <m:t>𝑑</m:t>
                                    </m:r>
                                  </m:num>
                                  <m:den>
                                    <m:r>
                                      <a:rPr lang="en-US" sz="1600" b="0" i="1" smtClean="0">
                                        <a:latin typeface="Cambria Math" panose="02040503050406030204" pitchFamily="18" charset="0"/>
                                        <a:ea typeface="Cambria Math" panose="02040503050406030204" pitchFamily="18" charset="0"/>
                                      </a:rPr>
                                      <m:t>𝐷</m:t>
                                    </m:r>
                                  </m:den>
                                </m:f>
                                <m:r>
                                  <a:rPr lang="en-US" sz="1600" b="0" i="1" smtClean="0">
                                    <a:latin typeface="Cambria Math" panose="02040503050406030204" pitchFamily="18" charset="0"/>
                                    <a:ea typeface="Cambria Math" panose="02040503050406030204" pitchFamily="18" charset="0"/>
                                  </a:rPr>
                                  <m:t>𝑐𝑜𝑠</m:t>
                                </m:r>
                                <m:r>
                                  <a:rPr lang="en-US" sz="1600" b="0" i="1" smtClean="0">
                                    <a:latin typeface="Cambria Math" panose="02040503050406030204" pitchFamily="18" charset="0"/>
                                    <a:ea typeface="Cambria Math" panose="02040503050406030204" pitchFamily="18" charset="0"/>
                                  </a:rPr>
                                  <m:t>𝛼</m:t>
                                </m:r>
                                <m:r>
                                  <a:rPr lang="en-US" sz="1600" b="0" i="1" smtClean="0">
                                    <a:latin typeface="Cambria Math" panose="02040503050406030204" pitchFamily="18" charset="0"/>
                                    <a:ea typeface="Cambria Math" panose="02040503050406030204" pitchFamily="18" charset="0"/>
                                  </a:rPr>
                                  <m:t>)</m:t>
                                </m:r>
                              </m:oMath>
                            </m:oMathPara>
                          </a14:m>
                          <a:endParaRPr lang="en-US" sz="16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Calibri" pitchFamily="34" charset="0"/>
                            </a:rPr>
                            <a:t>5.415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solidFill>
                                <a:srgbClr val="00B4D8"/>
                              </a:solidFill>
                              <a:latin typeface="Calibri" pitchFamily="34" charset="0"/>
                            </a:rPr>
                            <a:t>≈ 162 Hz</a:t>
                          </a:r>
                        </a:p>
                      </a:txBody>
                      <a:tcPr anchor="ctr"/>
                    </a:tc>
                    <a:extLst>
                      <a:ext uri="{0D108BD9-81ED-4DB2-BD59-A6C34878D82A}">
                        <a16:rowId xmlns:a16="http://schemas.microsoft.com/office/drawing/2014/main" val="4108585213"/>
                      </a:ext>
                    </a:extLst>
                  </a:tr>
                  <a:tr h="370840">
                    <a:tc>
                      <a:txBody>
                        <a:bodyPr/>
                        <a:lstStyle/>
                        <a:p>
                          <a:pPr marL="0" indent="0">
                            <a:buNone/>
                          </a:pPr>
                          <a:r>
                            <a:rPr lang="en-US" sz="1800" b="1" dirty="0">
                              <a:solidFill>
                                <a:schemeClr val="tx1"/>
                              </a:solidFill>
                              <a:latin typeface="Calibri" pitchFamily="34" charset="0"/>
                            </a:rPr>
                            <a:t>BFS</a:t>
                          </a:r>
                        </a:p>
                        <a:p>
                          <a:pPr marL="0" indent="0">
                            <a:buNone/>
                          </a:pPr>
                          <a:r>
                            <a:rPr lang="en-US" sz="1200" i="1" dirty="0" err="1">
                              <a:solidFill>
                                <a:schemeClr val="tx1"/>
                              </a:solidFill>
                              <a:latin typeface="Calibri" pitchFamily="34" charset="0"/>
                            </a:rPr>
                            <a:t>Tần</a:t>
                          </a:r>
                          <a:r>
                            <a:rPr lang="en-US" sz="1200" i="1" dirty="0">
                              <a:solidFill>
                                <a:schemeClr val="tx1"/>
                              </a:solidFill>
                              <a:latin typeface="Calibri" pitchFamily="34" charset="0"/>
                            </a:rPr>
                            <a:t> </a:t>
                          </a:r>
                          <a:r>
                            <a:rPr lang="en-US" sz="1200" i="1" dirty="0" err="1">
                              <a:solidFill>
                                <a:schemeClr val="tx1"/>
                              </a:solidFill>
                              <a:latin typeface="Calibri" pitchFamily="34" charset="0"/>
                            </a:rPr>
                            <a:t>số</a:t>
                          </a:r>
                          <a:r>
                            <a:rPr lang="en-US" sz="1200" i="1" dirty="0">
                              <a:solidFill>
                                <a:schemeClr val="tx1"/>
                              </a:solidFill>
                              <a:latin typeface="Calibri" pitchFamily="34" charset="0"/>
                            </a:rPr>
                            <a:t> </a:t>
                          </a:r>
                          <a:r>
                            <a:rPr lang="en-US" sz="1200" i="1" dirty="0" err="1">
                              <a:solidFill>
                                <a:schemeClr val="tx1"/>
                              </a:solidFill>
                              <a:latin typeface="Calibri" pitchFamily="34" charset="0"/>
                            </a:rPr>
                            <a:t>va</a:t>
                          </a:r>
                          <a:r>
                            <a:rPr lang="en-US" sz="1200" i="1" dirty="0">
                              <a:solidFill>
                                <a:schemeClr val="tx1"/>
                              </a:solidFill>
                              <a:latin typeface="Calibri" pitchFamily="34" charset="0"/>
                            </a:rPr>
                            <a:t> </a:t>
                          </a:r>
                          <a:r>
                            <a:rPr lang="en-US" sz="1200" i="1" dirty="0" err="1">
                              <a:solidFill>
                                <a:schemeClr val="tx1"/>
                              </a:solidFill>
                              <a:latin typeface="Calibri" pitchFamily="34" charset="0"/>
                            </a:rPr>
                            <a:t>đập</a:t>
                          </a:r>
                          <a:r>
                            <a:rPr lang="en-US" sz="1200" i="1" dirty="0">
                              <a:solidFill>
                                <a:schemeClr val="tx1"/>
                              </a:solidFill>
                              <a:latin typeface="Calibri" pitchFamily="34" charset="0"/>
                            </a:rPr>
                            <a:t> </a:t>
                          </a:r>
                          <a:r>
                            <a:rPr lang="en-US" sz="1200" i="1" dirty="0" err="1">
                              <a:solidFill>
                                <a:schemeClr val="tx1"/>
                              </a:solidFill>
                              <a:latin typeface="Calibri" pitchFamily="34" charset="0"/>
                            </a:rPr>
                            <a:t>khuyết</a:t>
                          </a:r>
                          <a:r>
                            <a:rPr lang="en-US" sz="1200" i="1" dirty="0">
                              <a:solidFill>
                                <a:schemeClr val="tx1"/>
                              </a:solidFill>
                              <a:latin typeface="Calibri" pitchFamily="34" charset="0"/>
                            </a:rPr>
                            <a:t> </a:t>
                          </a:r>
                          <a:r>
                            <a:rPr lang="en-US" sz="1200" i="1" dirty="0" err="1">
                              <a:solidFill>
                                <a:schemeClr val="tx1"/>
                              </a:solidFill>
                              <a:latin typeface="Calibri" pitchFamily="34" charset="0"/>
                            </a:rPr>
                            <a:t>tật</a:t>
                          </a:r>
                          <a:r>
                            <a:rPr lang="en-US" sz="1200" i="1" dirty="0">
                              <a:solidFill>
                                <a:schemeClr val="tx1"/>
                              </a:solidFill>
                              <a:latin typeface="Calibri" pitchFamily="34" charset="0"/>
                            </a:rPr>
                            <a:t> </a:t>
                          </a:r>
                          <a:r>
                            <a:rPr lang="en-US" sz="1200" i="1" dirty="0" err="1">
                              <a:solidFill>
                                <a:schemeClr val="tx1"/>
                              </a:solidFill>
                              <a:latin typeface="Calibri" pitchFamily="34" charset="0"/>
                            </a:rPr>
                            <a:t>rãnh</a:t>
                          </a:r>
                          <a:r>
                            <a:rPr lang="en-US" sz="1200" i="1" dirty="0">
                              <a:solidFill>
                                <a:schemeClr val="tx1"/>
                              </a:solidFill>
                              <a:latin typeface="Calibri" pitchFamily="34" charset="0"/>
                            </a:rPr>
                            <a:t> </a:t>
                          </a:r>
                          <a:r>
                            <a:rPr lang="en-US" sz="1200" i="1" dirty="0" err="1">
                              <a:solidFill>
                                <a:schemeClr val="tx1"/>
                              </a:solidFill>
                              <a:latin typeface="Calibri" pitchFamily="34" charset="0"/>
                            </a:rPr>
                            <a:t>ngoài</a:t>
                          </a:r>
                          <a:endParaRPr lang="en-US" sz="1200" i="1" dirty="0">
                            <a:solidFill>
                              <a:schemeClr val="tx1"/>
                            </a:solidFill>
                            <a:latin typeface="Calibri" pitchFamily="34" charset="0"/>
                          </a:endParaRPr>
                        </a:p>
                      </a:txBody>
                      <a:tcPr/>
                    </a:tc>
                    <a:tc>
                      <a:txBody>
                        <a:bodyPr/>
                        <a:lstStyle/>
                        <a:p>
                          <a:pPr/>
                          <a14:m>
                            <m:oMathPara xmlns:m="http://schemas.openxmlformats.org/officeDocument/2006/math">
                              <m:oMathParaPr>
                                <m:jc m:val="centerGroup"/>
                              </m:oMathParaPr>
                              <m:oMath xmlns:m="http://schemas.openxmlformats.org/officeDocument/2006/math">
                                <m:f>
                                  <m:fPr>
                                    <m:ctrlPr>
                                      <a:rPr lang="en-US" sz="1600" i="1" smtClean="0">
                                        <a:latin typeface="Cambria Math" panose="02040503050406030204" pitchFamily="18" charset="0"/>
                                      </a:rPr>
                                    </m:ctrlPr>
                                  </m:fPr>
                                  <m:num>
                                    <m:r>
                                      <a:rPr lang="en-US" sz="1600" b="0" i="1" smtClean="0">
                                        <a:latin typeface="Cambria Math" panose="02040503050406030204" pitchFamily="18" charset="0"/>
                                      </a:rPr>
                                      <m:t>𝑑</m:t>
                                    </m:r>
                                    <m:r>
                                      <a:rPr lang="en-US" sz="1600" b="0" i="1" smtClean="0">
                                        <a:latin typeface="Cambria Math" panose="02040503050406030204" pitchFamily="18" charset="0"/>
                                        <a:ea typeface="Cambria Math" panose="02040503050406030204" pitchFamily="18" charset="0"/>
                                      </a:rPr>
                                      <m:t>∙</m:t>
                                    </m:r>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𝑓</m:t>
                                        </m:r>
                                      </m:e>
                                      <m:sub>
                                        <m:r>
                                          <a:rPr lang="en-US" sz="1600" b="0" i="1" smtClean="0">
                                            <a:latin typeface="Cambria Math" panose="02040503050406030204" pitchFamily="18" charset="0"/>
                                            <a:ea typeface="Cambria Math" panose="02040503050406030204" pitchFamily="18" charset="0"/>
                                          </a:rPr>
                                          <m:t>𝑠</m:t>
                                        </m:r>
                                      </m:sub>
                                    </m:sSub>
                                  </m:num>
                                  <m:den>
                                    <m:r>
                                      <a:rPr lang="en-US" sz="1600" b="0" i="1" smtClean="0">
                                        <a:latin typeface="Cambria Math" panose="02040503050406030204" pitchFamily="18" charset="0"/>
                                      </a:rPr>
                                      <m:t>2</m:t>
                                    </m:r>
                                    <m:r>
                                      <a:rPr lang="en-US" sz="1600" b="0" i="1" smtClean="0">
                                        <a:latin typeface="Cambria Math" panose="02040503050406030204" pitchFamily="18" charset="0"/>
                                      </a:rPr>
                                      <m:t>𝐷</m:t>
                                    </m:r>
                                  </m:den>
                                </m:f>
                                <m:r>
                                  <a:rPr lang="en-US" sz="160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(1−</m:t>
                                </m:r>
                                <m:sSup>
                                  <m:sSupPr>
                                    <m:ctrlPr>
                                      <a:rPr lang="en-US" sz="1600" b="0" i="1" smtClean="0">
                                        <a:latin typeface="Cambria Math" panose="02040503050406030204" pitchFamily="18" charset="0"/>
                                        <a:ea typeface="Cambria Math" panose="02040503050406030204" pitchFamily="18" charset="0"/>
                                      </a:rPr>
                                    </m:ctrlPr>
                                  </m:sSupPr>
                                  <m:e>
                                    <m:r>
                                      <a:rPr lang="en-US" sz="1600" b="0" i="1" smtClean="0">
                                        <a:latin typeface="Cambria Math" panose="02040503050406030204" pitchFamily="18" charset="0"/>
                                        <a:ea typeface="Cambria Math" panose="02040503050406030204" pitchFamily="18" charset="0"/>
                                      </a:rPr>
                                      <m:t>(</m:t>
                                    </m:r>
                                    <m:f>
                                      <m:fPr>
                                        <m:ctrlPr>
                                          <a:rPr lang="en-US" sz="1600" b="0" i="1" smtClean="0">
                                            <a:latin typeface="Cambria Math" panose="02040503050406030204" pitchFamily="18" charset="0"/>
                                            <a:ea typeface="Cambria Math" panose="02040503050406030204" pitchFamily="18" charset="0"/>
                                          </a:rPr>
                                        </m:ctrlPr>
                                      </m:fPr>
                                      <m:num>
                                        <m:r>
                                          <a:rPr lang="en-US" sz="1600" b="0" i="1" smtClean="0">
                                            <a:latin typeface="Cambria Math" panose="02040503050406030204" pitchFamily="18" charset="0"/>
                                            <a:ea typeface="Cambria Math" panose="02040503050406030204" pitchFamily="18" charset="0"/>
                                          </a:rPr>
                                          <m:t>𝑑</m:t>
                                        </m:r>
                                      </m:num>
                                      <m:den>
                                        <m:r>
                                          <a:rPr lang="en-US" sz="1600" b="0" i="1" smtClean="0">
                                            <a:latin typeface="Cambria Math" panose="02040503050406030204" pitchFamily="18" charset="0"/>
                                            <a:ea typeface="Cambria Math" panose="02040503050406030204" pitchFamily="18" charset="0"/>
                                          </a:rPr>
                                          <m:t>𝐷</m:t>
                                        </m:r>
                                      </m:den>
                                    </m:f>
                                    <m:r>
                                      <a:rPr lang="en-US" sz="1600" b="0" i="1" smtClean="0">
                                        <a:latin typeface="Cambria Math" panose="02040503050406030204" pitchFamily="18" charset="0"/>
                                        <a:ea typeface="Cambria Math" panose="02040503050406030204" pitchFamily="18" charset="0"/>
                                      </a:rPr>
                                      <m:t>𝑐𝑜𝑠</m:t>
                                    </m:r>
                                    <m:r>
                                      <a:rPr lang="en-US" sz="1600" b="0" i="1" smtClean="0">
                                        <a:latin typeface="Cambria Math" panose="02040503050406030204" pitchFamily="18" charset="0"/>
                                        <a:ea typeface="Cambria Math" panose="02040503050406030204" pitchFamily="18" charset="0"/>
                                      </a:rPr>
                                      <m:t>𝛼</m:t>
                                    </m:r>
                                    <m:r>
                                      <a:rPr lang="en-US" sz="1600" b="0" i="1" smtClean="0">
                                        <a:latin typeface="Cambria Math" panose="02040503050406030204" pitchFamily="18" charset="0"/>
                                        <a:ea typeface="Cambria Math" panose="02040503050406030204" pitchFamily="18" charset="0"/>
                                      </a:rPr>
                                      <m:t>)</m:t>
                                    </m:r>
                                  </m:e>
                                  <m:sup>
                                    <m:r>
                                      <a:rPr lang="en-US" sz="1600" b="0" i="1" smtClean="0">
                                        <a:latin typeface="Cambria Math" panose="02040503050406030204" pitchFamily="18" charset="0"/>
                                        <a:ea typeface="Cambria Math" panose="02040503050406030204" pitchFamily="18" charset="0"/>
                                      </a:rPr>
                                      <m:t>2</m:t>
                                    </m:r>
                                  </m:sup>
                                </m:sSup>
                                <m:r>
                                  <a:rPr lang="en-US" sz="1600" b="0" i="1" smtClean="0">
                                    <a:latin typeface="Cambria Math" panose="02040503050406030204" pitchFamily="18" charset="0"/>
                                    <a:ea typeface="Cambria Math" panose="02040503050406030204" pitchFamily="18" charset="0"/>
                                  </a:rPr>
                                  <m:t>)</m:t>
                                </m:r>
                              </m:oMath>
                            </m:oMathPara>
                          </a14:m>
                          <a:endParaRPr lang="en-US" sz="16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Calibri" pitchFamily="34" charset="0"/>
                            </a:rPr>
                            <a:t>2.357</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solidFill>
                                <a:srgbClr val="FFD166"/>
                              </a:solidFill>
                              <a:latin typeface="Calibri" pitchFamily="34" charset="0"/>
                            </a:rPr>
                            <a:t>≈ 70.6 Hz</a:t>
                          </a:r>
                        </a:p>
                      </a:txBody>
                      <a:tcPr anchor="ctr"/>
                    </a:tc>
                    <a:extLst>
                      <a:ext uri="{0D108BD9-81ED-4DB2-BD59-A6C34878D82A}">
                        <a16:rowId xmlns:a16="http://schemas.microsoft.com/office/drawing/2014/main" val="79463702"/>
                      </a:ext>
                    </a:extLst>
                  </a:tr>
                  <a:tr h="370840">
                    <a:tc>
                      <a:txBody>
                        <a:bodyPr/>
                        <a:lstStyle/>
                        <a:p>
                          <a:r>
                            <a:rPr lang="en-US" b="1" dirty="0"/>
                            <a:t>FTF</a:t>
                          </a:r>
                        </a:p>
                        <a:p>
                          <a:r>
                            <a:rPr lang="en-US" sz="1200" b="0" i="1" dirty="0" err="1"/>
                            <a:t>Tần</a:t>
                          </a:r>
                          <a:r>
                            <a:rPr lang="en-US" sz="1200" b="0" i="1" dirty="0"/>
                            <a:t> </a:t>
                          </a:r>
                          <a:r>
                            <a:rPr lang="en-US" sz="1200" b="0" i="1" dirty="0" err="1"/>
                            <a:t>số</a:t>
                          </a:r>
                          <a:r>
                            <a:rPr lang="en-US" sz="1200" b="0" i="1" dirty="0"/>
                            <a:t> quay </a:t>
                          </a:r>
                          <a:r>
                            <a:rPr lang="en-US" sz="1200" b="0" i="1" dirty="0" err="1"/>
                            <a:t>vòng</a:t>
                          </a:r>
                          <a:r>
                            <a:rPr lang="en-US" sz="1200" b="0" i="1" dirty="0"/>
                            <a:t> </a:t>
                          </a:r>
                          <a:r>
                            <a:rPr lang="en-US" sz="1200" b="0" i="1" dirty="0" err="1"/>
                            <a:t>cách</a:t>
                          </a:r>
                          <a:endParaRPr lang="en-US" sz="1200" b="0" i="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lang="en-US" sz="1600" i="1" smtClean="0">
                                        <a:latin typeface="Cambria Math" panose="02040503050406030204" pitchFamily="18" charset="0"/>
                                      </a:rPr>
                                    </m:ctrlPr>
                                  </m:fPr>
                                  <m:num>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𝑓</m:t>
                                        </m:r>
                                      </m:e>
                                      <m:sub>
                                        <m:r>
                                          <a:rPr lang="en-US" sz="1600" b="0" i="1" smtClean="0">
                                            <a:latin typeface="Cambria Math" panose="02040503050406030204" pitchFamily="18" charset="0"/>
                                            <a:ea typeface="Cambria Math" panose="02040503050406030204" pitchFamily="18" charset="0"/>
                                          </a:rPr>
                                          <m:t>𝑠</m:t>
                                        </m:r>
                                      </m:sub>
                                    </m:sSub>
                                  </m:num>
                                  <m:den>
                                    <m:r>
                                      <a:rPr lang="en-US" sz="1600" b="0" i="1" smtClean="0">
                                        <a:latin typeface="Cambria Math" panose="02040503050406030204" pitchFamily="18" charset="0"/>
                                      </a:rPr>
                                      <m:t>2</m:t>
                                    </m:r>
                                  </m:den>
                                </m:f>
                                <m:r>
                                  <a:rPr lang="en-US" sz="160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(1−</m:t>
                                </m:r>
                                <m:f>
                                  <m:fPr>
                                    <m:ctrlPr>
                                      <a:rPr lang="en-US" sz="1600" b="0" i="1" smtClean="0">
                                        <a:latin typeface="Cambria Math" panose="02040503050406030204" pitchFamily="18" charset="0"/>
                                        <a:ea typeface="Cambria Math" panose="02040503050406030204" pitchFamily="18" charset="0"/>
                                      </a:rPr>
                                    </m:ctrlPr>
                                  </m:fPr>
                                  <m:num>
                                    <m:r>
                                      <a:rPr lang="en-US" sz="1600" b="0" i="1" smtClean="0">
                                        <a:latin typeface="Cambria Math" panose="02040503050406030204" pitchFamily="18" charset="0"/>
                                        <a:ea typeface="Cambria Math" panose="02040503050406030204" pitchFamily="18" charset="0"/>
                                      </a:rPr>
                                      <m:t>𝑑</m:t>
                                    </m:r>
                                  </m:num>
                                  <m:den>
                                    <m:r>
                                      <a:rPr lang="en-US" sz="1600" b="0" i="1" smtClean="0">
                                        <a:latin typeface="Cambria Math" panose="02040503050406030204" pitchFamily="18" charset="0"/>
                                        <a:ea typeface="Cambria Math" panose="02040503050406030204" pitchFamily="18" charset="0"/>
                                      </a:rPr>
                                      <m:t>𝐷</m:t>
                                    </m:r>
                                  </m:den>
                                </m:f>
                                <m:r>
                                  <a:rPr lang="en-US" sz="1600" b="0" i="1" smtClean="0">
                                    <a:latin typeface="Cambria Math" panose="02040503050406030204" pitchFamily="18" charset="0"/>
                                    <a:ea typeface="Cambria Math" panose="02040503050406030204" pitchFamily="18" charset="0"/>
                                  </a:rPr>
                                  <m:t>𝑐𝑜𝑠</m:t>
                                </m:r>
                                <m:r>
                                  <a:rPr lang="en-US" sz="1600" b="0" i="1" smtClean="0">
                                    <a:latin typeface="Cambria Math" panose="02040503050406030204" pitchFamily="18" charset="0"/>
                                    <a:ea typeface="Cambria Math" panose="02040503050406030204" pitchFamily="18" charset="0"/>
                                  </a:rPr>
                                  <m:t>𝛼</m:t>
                                </m:r>
                                <m:r>
                                  <a:rPr lang="en-US" sz="1600" b="0" i="1" smtClean="0">
                                    <a:latin typeface="Cambria Math" panose="02040503050406030204" pitchFamily="18" charset="0"/>
                                    <a:ea typeface="Cambria Math" panose="02040503050406030204" pitchFamily="18" charset="0"/>
                                  </a:rPr>
                                  <m:t>)</m:t>
                                </m:r>
                              </m:oMath>
                            </m:oMathPara>
                          </a14:m>
                          <a:endParaRPr lang="en-US" sz="1600" dirty="0"/>
                        </a:p>
                      </a:txBody>
                      <a:tcPr/>
                    </a:tc>
                    <a:tc>
                      <a:txBody>
                        <a:bodyPr/>
                        <a:lstStyle/>
                        <a:p>
                          <a:pPr algn="ctr"/>
                          <a:r>
                            <a:rPr lang="en-US" sz="1800" dirty="0">
                              <a:solidFill>
                                <a:schemeClr val="tx1"/>
                              </a:solidFill>
                              <a:latin typeface="Calibri" pitchFamily="34" charset="0"/>
                            </a:rPr>
                            <a:t>0.398</a:t>
                          </a:r>
                          <a:endParaRPr lang="en-US" dirty="0">
                            <a:solidFill>
                              <a:schemeClr val="tx1"/>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solidFill>
                                <a:srgbClr val="8BAFC7"/>
                              </a:solidFill>
                              <a:latin typeface="Calibri" pitchFamily="34" charset="0"/>
                            </a:rPr>
                            <a:t>≈ 12 Hz</a:t>
                          </a:r>
                        </a:p>
                      </a:txBody>
                      <a:tcPr anchor="ctr"/>
                    </a:tc>
                    <a:extLst>
                      <a:ext uri="{0D108BD9-81ED-4DB2-BD59-A6C34878D82A}">
                        <a16:rowId xmlns:a16="http://schemas.microsoft.com/office/drawing/2014/main" val="17107518"/>
                      </a:ext>
                    </a:extLst>
                  </a:tr>
                </a:tbl>
              </a:graphicData>
            </a:graphic>
          </p:graphicFrame>
        </mc:Choice>
        <mc:Fallback xmlns="">
          <p:graphicFrame>
            <p:nvGraphicFramePr>
              <p:cNvPr id="36" name="Table 35">
                <a:extLst>
                  <a:ext uri="{FF2B5EF4-FFF2-40B4-BE49-F238E27FC236}">
                    <a16:creationId xmlns:a16="http://schemas.microsoft.com/office/drawing/2014/main" id="{E8796D80-6B10-FE70-4D67-DE6569B027C2}"/>
                  </a:ext>
                </a:extLst>
              </p:cNvPr>
              <p:cNvGraphicFramePr>
                <a:graphicFrameLocks noGrp="1"/>
              </p:cNvGraphicFramePr>
              <p:nvPr>
                <p:extLst>
                  <p:ext uri="{D42A27DB-BD31-4B8C-83A1-F6EECF244321}">
                    <p14:modId xmlns:p14="http://schemas.microsoft.com/office/powerpoint/2010/main" val="15247603"/>
                  </p:ext>
                </p:extLst>
              </p:nvPr>
            </p:nvGraphicFramePr>
            <p:xfrm>
              <a:off x="1202987" y="2002028"/>
              <a:ext cx="9786026" cy="2853944"/>
            </p:xfrm>
            <a:graphic>
              <a:graphicData uri="http://schemas.openxmlformats.org/drawingml/2006/table">
                <a:tbl>
                  <a:tblPr firstRow="1" bandRow="1">
                    <a:tableStyleId>{5940675A-B579-460E-94D1-54222C63F5DA}</a:tableStyleId>
                  </a:tblPr>
                  <a:tblGrid>
                    <a:gridCol w="2797757">
                      <a:extLst>
                        <a:ext uri="{9D8B030D-6E8A-4147-A177-3AD203B41FA5}">
                          <a16:colId xmlns:a16="http://schemas.microsoft.com/office/drawing/2014/main" val="755063102"/>
                        </a:ext>
                      </a:extLst>
                    </a:gridCol>
                    <a:gridCol w="2659460">
                      <a:extLst>
                        <a:ext uri="{9D8B030D-6E8A-4147-A177-3AD203B41FA5}">
                          <a16:colId xmlns:a16="http://schemas.microsoft.com/office/drawing/2014/main" val="919845592"/>
                        </a:ext>
                      </a:extLst>
                    </a:gridCol>
                    <a:gridCol w="1984443">
                      <a:extLst>
                        <a:ext uri="{9D8B030D-6E8A-4147-A177-3AD203B41FA5}">
                          <a16:colId xmlns:a16="http://schemas.microsoft.com/office/drawing/2014/main" val="1655169045"/>
                        </a:ext>
                      </a:extLst>
                    </a:gridCol>
                    <a:gridCol w="2344366">
                      <a:extLst>
                        <a:ext uri="{9D8B030D-6E8A-4147-A177-3AD203B41FA5}">
                          <a16:colId xmlns:a16="http://schemas.microsoft.com/office/drawing/2014/main" val="2870351229"/>
                        </a:ext>
                      </a:extLst>
                    </a:gridCol>
                  </a:tblGrid>
                  <a:tr h="640080">
                    <a:tc>
                      <a:txBody>
                        <a:bodyPr/>
                        <a:lstStyle/>
                        <a:p>
                          <a:r>
                            <a:rPr lang="en-US" b="1" dirty="0" err="1"/>
                            <a:t>Ký</a:t>
                          </a:r>
                          <a:r>
                            <a:rPr lang="en-US" b="1" dirty="0"/>
                            <a:t> </a:t>
                          </a:r>
                          <a:r>
                            <a:rPr lang="en-US" b="1" dirty="0" err="1"/>
                            <a:t>hiệu</a:t>
                          </a:r>
                          <a:endParaRPr lang="en-US" b="1" dirty="0"/>
                        </a:p>
                      </a:txBody>
                      <a:tcPr anchor="ctr"/>
                    </a:tc>
                    <a:tc>
                      <a:txBody>
                        <a:bodyPr/>
                        <a:lstStyle/>
                        <a:p>
                          <a:r>
                            <a:rPr lang="en-US" b="1" dirty="0"/>
                            <a:t>Công </a:t>
                          </a:r>
                          <a:r>
                            <a:rPr lang="en-US" b="1" dirty="0" err="1"/>
                            <a:t>thức</a:t>
                          </a:r>
                          <a:r>
                            <a:rPr lang="en-US" b="1" dirty="0"/>
                            <a:t> </a:t>
                          </a:r>
                          <a:r>
                            <a:rPr lang="en-US" b="1" dirty="0" err="1"/>
                            <a:t>xác</a:t>
                          </a:r>
                          <a:r>
                            <a:rPr lang="en-US" b="1" dirty="0"/>
                            <a:t> </a:t>
                          </a:r>
                          <a:r>
                            <a:rPr lang="en-US" b="1" dirty="0" err="1"/>
                            <a:t>định</a:t>
                          </a:r>
                          <a:endParaRPr lang="en-US" b="1" dirty="0"/>
                        </a:p>
                      </a:txBody>
                      <a:tcPr anchor="ctr"/>
                    </a:tc>
                    <a:tc>
                      <a:txBody>
                        <a:bodyPr/>
                        <a:lstStyle/>
                        <a:p>
                          <a:r>
                            <a:rPr lang="en-US" b="1" dirty="0" err="1"/>
                            <a:t>Hệ</a:t>
                          </a:r>
                          <a:r>
                            <a:rPr lang="en-US" b="1" dirty="0"/>
                            <a:t> </a:t>
                          </a:r>
                          <a:r>
                            <a:rPr lang="en-US" b="1" dirty="0" err="1"/>
                            <a:t>số</a:t>
                          </a:r>
                          <a:r>
                            <a:rPr lang="en-US" b="1" dirty="0"/>
                            <a:t> </a:t>
                          </a:r>
                          <a:r>
                            <a:rPr lang="en-US" b="1" dirty="0" err="1"/>
                            <a:t>hư</a:t>
                          </a:r>
                          <a:r>
                            <a:rPr lang="en-US" b="1" dirty="0"/>
                            <a:t> </a:t>
                          </a:r>
                          <a:r>
                            <a:rPr lang="en-US" b="1" dirty="0" err="1"/>
                            <a:t>hỏng</a:t>
                          </a:r>
                          <a:r>
                            <a:rPr lang="en-US" b="1" dirty="0"/>
                            <a:t> (</a:t>
                          </a:r>
                          <a:r>
                            <a:rPr lang="en-US" b="1" dirty="0">
                              <a:latin typeface="Calibri" pitchFamily="34" charset="0"/>
                              <a:ea typeface="Calibri" pitchFamily="34" charset="-122"/>
                              <a:cs typeface="Calibri" pitchFamily="34" charset="-120"/>
                            </a:rPr>
                            <a:t>SKF 6205-2RS)</a:t>
                          </a:r>
                          <a:endParaRPr lang="en-US" b="1" dirty="0"/>
                        </a:p>
                      </a:txBody>
                      <a:tcPr anchor="ctr"/>
                    </a:tc>
                    <a:tc>
                      <a:txBody>
                        <a:bodyPr/>
                        <a:lstStyle/>
                        <a:p>
                          <a:r>
                            <a:rPr lang="en-US" b="1" dirty="0"/>
                            <a:t>@1797 RPM (0 HP)</a:t>
                          </a:r>
                        </a:p>
                      </a:txBody>
                      <a:tcPr anchor="ctr"/>
                    </a:tc>
                    <a:extLst>
                      <a:ext uri="{0D108BD9-81ED-4DB2-BD59-A6C34878D82A}">
                        <a16:rowId xmlns:a16="http://schemas.microsoft.com/office/drawing/2014/main" val="2632798780"/>
                      </a:ext>
                    </a:extLst>
                  </a:tr>
                  <a:tr h="553466">
                    <a:tc>
                      <a:txBody>
                        <a:bodyPr/>
                        <a:lstStyle/>
                        <a:p>
                          <a:pPr marL="0" indent="0">
                            <a:buNone/>
                          </a:pPr>
                          <a:r>
                            <a:rPr lang="en-US" sz="1800" b="1" dirty="0">
                              <a:solidFill>
                                <a:schemeClr val="tx1"/>
                              </a:solidFill>
                              <a:latin typeface="Calibri" pitchFamily="34" charset="0"/>
                            </a:rPr>
                            <a:t>BPFO</a:t>
                          </a:r>
                        </a:p>
                        <a:p>
                          <a:pPr marL="0" indent="0">
                            <a:buNone/>
                          </a:pPr>
                          <a:r>
                            <a:rPr lang="en-US" sz="1200" i="1" dirty="0" err="1">
                              <a:solidFill>
                                <a:schemeClr val="tx1"/>
                              </a:solidFill>
                              <a:latin typeface="Calibri" pitchFamily="34" charset="0"/>
                            </a:rPr>
                            <a:t>Tần</a:t>
                          </a:r>
                          <a:r>
                            <a:rPr lang="en-US" sz="1200" i="1" dirty="0">
                              <a:solidFill>
                                <a:schemeClr val="tx1"/>
                              </a:solidFill>
                              <a:latin typeface="Calibri" pitchFamily="34" charset="0"/>
                            </a:rPr>
                            <a:t> </a:t>
                          </a:r>
                          <a:r>
                            <a:rPr lang="en-US" sz="1200" i="1" dirty="0" err="1">
                              <a:solidFill>
                                <a:schemeClr val="tx1"/>
                              </a:solidFill>
                              <a:latin typeface="Calibri" pitchFamily="34" charset="0"/>
                            </a:rPr>
                            <a:t>số</a:t>
                          </a:r>
                          <a:r>
                            <a:rPr lang="en-US" sz="1200" i="1" dirty="0">
                              <a:solidFill>
                                <a:schemeClr val="tx1"/>
                              </a:solidFill>
                              <a:latin typeface="Calibri" pitchFamily="34" charset="0"/>
                            </a:rPr>
                            <a:t> </a:t>
                          </a:r>
                          <a:r>
                            <a:rPr lang="en-US" sz="1200" i="1" dirty="0" err="1">
                              <a:solidFill>
                                <a:schemeClr val="tx1"/>
                              </a:solidFill>
                              <a:latin typeface="Calibri" pitchFamily="34" charset="0"/>
                            </a:rPr>
                            <a:t>va</a:t>
                          </a:r>
                          <a:r>
                            <a:rPr lang="en-US" sz="1200" i="1" dirty="0">
                              <a:solidFill>
                                <a:schemeClr val="tx1"/>
                              </a:solidFill>
                              <a:latin typeface="Calibri" pitchFamily="34" charset="0"/>
                            </a:rPr>
                            <a:t> </a:t>
                          </a:r>
                          <a:r>
                            <a:rPr lang="en-US" sz="1200" i="1" dirty="0" err="1">
                              <a:solidFill>
                                <a:schemeClr val="tx1"/>
                              </a:solidFill>
                              <a:latin typeface="Calibri" pitchFamily="34" charset="0"/>
                            </a:rPr>
                            <a:t>đập</a:t>
                          </a:r>
                          <a:r>
                            <a:rPr lang="en-US" sz="1200" i="1" dirty="0">
                              <a:solidFill>
                                <a:schemeClr val="tx1"/>
                              </a:solidFill>
                              <a:latin typeface="Calibri" pitchFamily="34" charset="0"/>
                            </a:rPr>
                            <a:t> </a:t>
                          </a:r>
                          <a:r>
                            <a:rPr lang="en-US" sz="1200" i="1" dirty="0" err="1">
                              <a:solidFill>
                                <a:schemeClr val="tx1"/>
                              </a:solidFill>
                              <a:latin typeface="Calibri" pitchFamily="34" charset="0"/>
                            </a:rPr>
                            <a:t>khuyết</a:t>
                          </a:r>
                          <a:r>
                            <a:rPr lang="en-US" sz="1200" i="1" dirty="0">
                              <a:solidFill>
                                <a:schemeClr val="tx1"/>
                              </a:solidFill>
                              <a:latin typeface="Calibri" pitchFamily="34" charset="0"/>
                            </a:rPr>
                            <a:t> </a:t>
                          </a:r>
                          <a:r>
                            <a:rPr lang="en-US" sz="1200" i="1" dirty="0" err="1">
                              <a:solidFill>
                                <a:schemeClr val="tx1"/>
                              </a:solidFill>
                              <a:latin typeface="Calibri" pitchFamily="34" charset="0"/>
                            </a:rPr>
                            <a:t>tật</a:t>
                          </a:r>
                          <a:r>
                            <a:rPr lang="en-US" sz="1200" i="1" dirty="0">
                              <a:solidFill>
                                <a:schemeClr val="tx1"/>
                              </a:solidFill>
                              <a:latin typeface="Calibri" pitchFamily="34" charset="0"/>
                            </a:rPr>
                            <a:t> </a:t>
                          </a:r>
                          <a:r>
                            <a:rPr lang="en-US" sz="1200" i="1" dirty="0" err="1">
                              <a:solidFill>
                                <a:schemeClr val="tx1"/>
                              </a:solidFill>
                              <a:latin typeface="Calibri" pitchFamily="34" charset="0"/>
                            </a:rPr>
                            <a:t>rãnh</a:t>
                          </a:r>
                          <a:r>
                            <a:rPr lang="en-US" sz="1200" i="1" dirty="0">
                              <a:solidFill>
                                <a:schemeClr val="tx1"/>
                              </a:solidFill>
                              <a:latin typeface="Calibri" pitchFamily="34" charset="0"/>
                            </a:rPr>
                            <a:t> </a:t>
                          </a:r>
                          <a:r>
                            <a:rPr lang="en-US" sz="1200" i="1" dirty="0" err="1">
                              <a:solidFill>
                                <a:schemeClr val="tx1"/>
                              </a:solidFill>
                              <a:latin typeface="Calibri" pitchFamily="34" charset="0"/>
                            </a:rPr>
                            <a:t>ngoài</a:t>
                          </a:r>
                          <a:endParaRPr lang="en-US" sz="1200" i="1" dirty="0">
                            <a:solidFill>
                              <a:schemeClr val="tx1"/>
                            </a:solidFill>
                            <a:latin typeface="Calibri" pitchFamily="34" charset="0"/>
                          </a:endParaRPr>
                        </a:p>
                      </a:txBody>
                      <a:tcPr/>
                    </a:tc>
                    <a:tc>
                      <a:txBody>
                        <a:bodyPr/>
                        <a:lstStyle/>
                        <a:p>
                          <a:endParaRPr lang="en-US"/>
                        </a:p>
                      </a:txBody>
                      <a:tcPr>
                        <a:blipFill>
                          <a:blip r:embed="rId2"/>
                          <a:stretch>
                            <a:fillRect l="-105263" t="-120879" r="-162929" b="-307692"/>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Calibri" pitchFamily="34" charset="0"/>
                            </a:rPr>
                            <a:t>3.585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solidFill>
                                <a:srgbClr val="EF476F"/>
                              </a:solidFill>
                              <a:latin typeface="Calibri" pitchFamily="34" charset="0"/>
                            </a:rPr>
                            <a:t>≈ 107 Hz</a:t>
                          </a:r>
                        </a:p>
                      </a:txBody>
                      <a:tcPr anchor="ctr"/>
                    </a:tc>
                    <a:extLst>
                      <a:ext uri="{0D108BD9-81ED-4DB2-BD59-A6C34878D82A}">
                        <a16:rowId xmlns:a16="http://schemas.microsoft.com/office/drawing/2014/main" val="1905425267"/>
                      </a:ext>
                    </a:extLst>
                  </a:tr>
                  <a:tr h="553466">
                    <a:tc>
                      <a:txBody>
                        <a:bodyPr/>
                        <a:lstStyle/>
                        <a:p>
                          <a:pPr marL="0" indent="0">
                            <a:buNone/>
                          </a:pPr>
                          <a:r>
                            <a:rPr lang="en-US" sz="1800" b="1" dirty="0">
                              <a:solidFill>
                                <a:schemeClr val="tx1"/>
                              </a:solidFill>
                              <a:latin typeface="Calibri" pitchFamily="34" charset="0"/>
                            </a:rPr>
                            <a:t>BPFI</a:t>
                          </a:r>
                        </a:p>
                        <a:p>
                          <a:pPr marL="0" indent="0">
                            <a:buNone/>
                          </a:pPr>
                          <a:r>
                            <a:rPr lang="en-US" sz="1200" i="1" dirty="0" err="1">
                              <a:solidFill>
                                <a:schemeClr val="tx1"/>
                              </a:solidFill>
                              <a:latin typeface="Calibri" pitchFamily="34" charset="0"/>
                            </a:rPr>
                            <a:t>Tần</a:t>
                          </a:r>
                          <a:r>
                            <a:rPr lang="en-US" sz="1200" i="1" dirty="0">
                              <a:solidFill>
                                <a:schemeClr val="tx1"/>
                              </a:solidFill>
                              <a:latin typeface="Calibri" pitchFamily="34" charset="0"/>
                            </a:rPr>
                            <a:t> </a:t>
                          </a:r>
                          <a:r>
                            <a:rPr lang="en-US" sz="1200" i="1" dirty="0" err="1">
                              <a:solidFill>
                                <a:schemeClr val="tx1"/>
                              </a:solidFill>
                              <a:latin typeface="Calibri" pitchFamily="34" charset="0"/>
                            </a:rPr>
                            <a:t>số</a:t>
                          </a:r>
                          <a:r>
                            <a:rPr lang="en-US" sz="1200" i="1" dirty="0">
                              <a:solidFill>
                                <a:schemeClr val="tx1"/>
                              </a:solidFill>
                              <a:latin typeface="Calibri" pitchFamily="34" charset="0"/>
                            </a:rPr>
                            <a:t> </a:t>
                          </a:r>
                          <a:r>
                            <a:rPr lang="en-US" sz="1200" i="1" dirty="0" err="1">
                              <a:solidFill>
                                <a:schemeClr val="tx1"/>
                              </a:solidFill>
                              <a:latin typeface="Calibri" pitchFamily="34" charset="0"/>
                            </a:rPr>
                            <a:t>va</a:t>
                          </a:r>
                          <a:r>
                            <a:rPr lang="en-US" sz="1200" i="1" dirty="0">
                              <a:solidFill>
                                <a:schemeClr val="tx1"/>
                              </a:solidFill>
                              <a:latin typeface="Calibri" pitchFamily="34" charset="0"/>
                            </a:rPr>
                            <a:t> </a:t>
                          </a:r>
                          <a:r>
                            <a:rPr lang="en-US" sz="1200" i="1" dirty="0" err="1">
                              <a:solidFill>
                                <a:schemeClr val="tx1"/>
                              </a:solidFill>
                              <a:latin typeface="Calibri" pitchFamily="34" charset="0"/>
                            </a:rPr>
                            <a:t>đập</a:t>
                          </a:r>
                          <a:r>
                            <a:rPr lang="en-US" sz="1200" i="1" dirty="0">
                              <a:solidFill>
                                <a:schemeClr val="tx1"/>
                              </a:solidFill>
                              <a:latin typeface="Calibri" pitchFamily="34" charset="0"/>
                            </a:rPr>
                            <a:t> </a:t>
                          </a:r>
                          <a:r>
                            <a:rPr lang="en-US" sz="1200" i="1" dirty="0" err="1">
                              <a:solidFill>
                                <a:schemeClr val="tx1"/>
                              </a:solidFill>
                              <a:latin typeface="Calibri" pitchFamily="34" charset="0"/>
                            </a:rPr>
                            <a:t>khuyết</a:t>
                          </a:r>
                          <a:r>
                            <a:rPr lang="en-US" sz="1200" i="1" dirty="0">
                              <a:solidFill>
                                <a:schemeClr val="tx1"/>
                              </a:solidFill>
                              <a:latin typeface="Calibri" pitchFamily="34" charset="0"/>
                            </a:rPr>
                            <a:t> </a:t>
                          </a:r>
                          <a:r>
                            <a:rPr lang="en-US" sz="1200" i="1" dirty="0" err="1">
                              <a:solidFill>
                                <a:schemeClr val="tx1"/>
                              </a:solidFill>
                              <a:latin typeface="Calibri" pitchFamily="34" charset="0"/>
                            </a:rPr>
                            <a:t>tật</a:t>
                          </a:r>
                          <a:r>
                            <a:rPr lang="en-US" sz="1200" i="1" dirty="0">
                              <a:solidFill>
                                <a:schemeClr val="tx1"/>
                              </a:solidFill>
                              <a:latin typeface="Calibri" pitchFamily="34" charset="0"/>
                            </a:rPr>
                            <a:t> </a:t>
                          </a:r>
                          <a:r>
                            <a:rPr lang="en-US" sz="1200" i="1" dirty="0" err="1">
                              <a:solidFill>
                                <a:schemeClr val="tx1"/>
                              </a:solidFill>
                              <a:latin typeface="Calibri" pitchFamily="34" charset="0"/>
                            </a:rPr>
                            <a:t>rãnh</a:t>
                          </a:r>
                          <a:r>
                            <a:rPr lang="en-US" sz="1200" i="1" dirty="0">
                              <a:solidFill>
                                <a:schemeClr val="tx1"/>
                              </a:solidFill>
                              <a:latin typeface="Calibri" pitchFamily="34" charset="0"/>
                            </a:rPr>
                            <a:t> </a:t>
                          </a:r>
                          <a:r>
                            <a:rPr lang="en-US" sz="1200" i="1" dirty="0" err="1">
                              <a:solidFill>
                                <a:schemeClr val="tx1"/>
                              </a:solidFill>
                              <a:latin typeface="Calibri" pitchFamily="34" charset="0"/>
                            </a:rPr>
                            <a:t>trong</a:t>
                          </a:r>
                          <a:endParaRPr lang="en-US" sz="1200" i="1" dirty="0">
                            <a:solidFill>
                              <a:schemeClr val="tx1"/>
                            </a:solidFill>
                            <a:latin typeface="Calibri" pitchFamily="34" charset="0"/>
                          </a:endParaRPr>
                        </a:p>
                      </a:txBody>
                      <a:tcPr/>
                    </a:tc>
                    <a:tc>
                      <a:txBody>
                        <a:bodyPr/>
                        <a:lstStyle/>
                        <a:p>
                          <a:endParaRPr lang="en-US"/>
                        </a:p>
                      </a:txBody>
                      <a:tcPr>
                        <a:blipFill>
                          <a:blip r:embed="rId2"/>
                          <a:stretch>
                            <a:fillRect l="-105263" t="-220879" r="-162929" b="-207692"/>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Calibri" pitchFamily="34" charset="0"/>
                            </a:rPr>
                            <a:t>5.415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solidFill>
                                <a:srgbClr val="00B4D8"/>
                              </a:solidFill>
                              <a:latin typeface="Calibri" pitchFamily="34" charset="0"/>
                            </a:rPr>
                            <a:t>≈ 162 Hz</a:t>
                          </a:r>
                        </a:p>
                      </a:txBody>
                      <a:tcPr anchor="ctr"/>
                    </a:tc>
                    <a:extLst>
                      <a:ext uri="{0D108BD9-81ED-4DB2-BD59-A6C34878D82A}">
                        <a16:rowId xmlns:a16="http://schemas.microsoft.com/office/drawing/2014/main" val="4108585213"/>
                      </a:ext>
                    </a:extLst>
                  </a:tr>
                  <a:tr h="553466">
                    <a:tc>
                      <a:txBody>
                        <a:bodyPr/>
                        <a:lstStyle/>
                        <a:p>
                          <a:pPr marL="0" indent="0">
                            <a:buNone/>
                          </a:pPr>
                          <a:r>
                            <a:rPr lang="en-US" sz="1800" b="1" dirty="0">
                              <a:solidFill>
                                <a:schemeClr val="tx1"/>
                              </a:solidFill>
                              <a:latin typeface="Calibri" pitchFamily="34" charset="0"/>
                            </a:rPr>
                            <a:t>BFS</a:t>
                          </a:r>
                        </a:p>
                        <a:p>
                          <a:pPr marL="0" indent="0">
                            <a:buNone/>
                          </a:pPr>
                          <a:r>
                            <a:rPr lang="en-US" sz="1200" i="1" dirty="0" err="1">
                              <a:solidFill>
                                <a:schemeClr val="tx1"/>
                              </a:solidFill>
                              <a:latin typeface="Calibri" pitchFamily="34" charset="0"/>
                            </a:rPr>
                            <a:t>Tần</a:t>
                          </a:r>
                          <a:r>
                            <a:rPr lang="en-US" sz="1200" i="1" dirty="0">
                              <a:solidFill>
                                <a:schemeClr val="tx1"/>
                              </a:solidFill>
                              <a:latin typeface="Calibri" pitchFamily="34" charset="0"/>
                            </a:rPr>
                            <a:t> </a:t>
                          </a:r>
                          <a:r>
                            <a:rPr lang="en-US" sz="1200" i="1" dirty="0" err="1">
                              <a:solidFill>
                                <a:schemeClr val="tx1"/>
                              </a:solidFill>
                              <a:latin typeface="Calibri" pitchFamily="34" charset="0"/>
                            </a:rPr>
                            <a:t>số</a:t>
                          </a:r>
                          <a:r>
                            <a:rPr lang="en-US" sz="1200" i="1" dirty="0">
                              <a:solidFill>
                                <a:schemeClr val="tx1"/>
                              </a:solidFill>
                              <a:latin typeface="Calibri" pitchFamily="34" charset="0"/>
                            </a:rPr>
                            <a:t> </a:t>
                          </a:r>
                          <a:r>
                            <a:rPr lang="en-US" sz="1200" i="1" dirty="0" err="1">
                              <a:solidFill>
                                <a:schemeClr val="tx1"/>
                              </a:solidFill>
                              <a:latin typeface="Calibri" pitchFamily="34" charset="0"/>
                            </a:rPr>
                            <a:t>va</a:t>
                          </a:r>
                          <a:r>
                            <a:rPr lang="en-US" sz="1200" i="1" dirty="0">
                              <a:solidFill>
                                <a:schemeClr val="tx1"/>
                              </a:solidFill>
                              <a:latin typeface="Calibri" pitchFamily="34" charset="0"/>
                            </a:rPr>
                            <a:t> </a:t>
                          </a:r>
                          <a:r>
                            <a:rPr lang="en-US" sz="1200" i="1" dirty="0" err="1">
                              <a:solidFill>
                                <a:schemeClr val="tx1"/>
                              </a:solidFill>
                              <a:latin typeface="Calibri" pitchFamily="34" charset="0"/>
                            </a:rPr>
                            <a:t>đập</a:t>
                          </a:r>
                          <a:r>
                            <a:rPr lang="en-US" sz="1200" i="1" dirty="0">
                              <a:solidFill>
                                <a:schemeClr val="tx1"/>
                              </a:solidFill>
                              <a:latin typeface="Calibri" pitchFamily="34" charset="0"/>
                            </a:rPr>
                            <a:t> </a:t>
                          </a:r>
                          <a:r>
                            <a:rPr lang="en-US" sz="1200" i="1" dirty="0" err="1">
                              <a:solidFill>
                                <a:schemeClr val="tx1"/>
                              </a:solidFill>
                              <a:latin typeface="Calibri" pitchFamily="34" charset="0"/>
                            </a:rPr>
                            <a:t>khuyết</a:t>
                          </a:r>
                          <a:r>
                            <a:rPr lang="en-US" sz="1200" i="1" dirty="0">
                              <a:solidFill>
                                <a:schemeClr val="tx1"/>
                              </a:solidFill>
                              <a:latin typeface="Calibri" pitchFamily="34" charset="0"/>
                            </a:rPr>
                            <a:t> </a:t>
                          </a:r>
                          <a:r>
                            <a:rPr lang="en-US" sz="1200" i="1" dirty="0" err="1">
                              <a:solidFill>
                                <a:schemeClr val="tx1"/>
                              </a:solidFill>
                              <a:latin typeface="Calibri" pitchFamily="34" charset="0"/>
                            </a:rPr>
                            <a:t>tật</a:t>
                          </a:r>
                          <a:r>
                            <a:rPr lang="en-US" sz="1200" i="1" dirty="0">
                              <a:solidFill>
                                <a:schemeClr val="tx1"/>
                              </a:solidFill>
                              <a:latin typeface="Calibri" pitchFamily="34" charset="0"/>
                            </a:rPr>
                            <a:t> </a:t>
                          </a:r>
                          <a:r>
                            <a:rPr lang="en-US" sz="1200" i="1" dirty="0" err="1">
                              <a:solidFill>
                                <a:schemeClr val="tx1"/>
                              </a:solidFill>
                              <a:latin typeface="Calibri" pitchFamily="34" charset="0"/>
                            </a:rPr>
                            <a:t>rãnh</a:t>
                          </a:r>
                          <a:r>
                            <a:rPr lang="en-US" sz="1200" i="1" dirty="0">
                              <a:solidFill>
                                <a:schemeClr val="tx1"/>
                              </a:solidFill>
                              <a:latin typeface="Calibri" pitchFamily="34" charset="0"/>
                            </a:rPr>
                            <a:t> </a:t>
                          </a:r>
                          <a:r>
                            <a:rPr lang="en-US" sz="1200" i="1" dirty="0" err="1">
                              <a:solidFill>
                                <a:schemeClr val="tx1"/>
                              </a:solidFill>
                              <a:latin typeface="Calibri" pitchFamily="34" charset="0"/>
                            </a:rPr>
                            <a:t>ngoài</a:t>
                          </a:r>
                          <a:endParaRPr lang="en-US" sz="1200" i="1" dirty="0">
                            <a:solidFill>
                              <a:schemeClr val="tx1"/>
                            </a:solidFill>
                            <a:latin typeface="Calibri" pitchFamily="34" charset="0"/>
                          </a:endParaRPr>
                        </a:p>
                      </a:txBody>
                      <a:tcPr/>
                    </a:tc>
                    <a:tc>
                      <a:txBody>
                        <a:bodyPr/>
                        <a:lstStyle/>
                        <a:p>
                          <a:endParaRPr lang="en-US"/>
                        </a:p>
                      </a:txBody>
                      <a:tcPr>
                        <a:blipFill>
                          <a:blip r:embed="rId2"/>
                          <a:stretch>
                            <a:fillRect l="-105263" t="-320879" r="-162929" b="-107692"/>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Calibri" pitchFamily="34" charset="0"/>
                            </a:rPr>
                            <a:t>2.357</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solidFill>
                                <a:srgbClr val="FFD166"/>
                              </a:solidFill>
                              <a:latin typeface="Calibri" pitchFamily="34" charset="0"/>
                            </a:rPr>
                            <a:t>≈ 70.6 Hz</a:t>
                          </a:r>
                        </a:p>
                      </a:txBody>
                      <a:tcPr anchor="ctr"/>
                    </a:tc>
                    <a:extLst>
                      <a:ext uri="{0D108BD9-81ED-4DB2-BD59-A6C34878D82A}">
                        <a16:rowId xmlns:a16="http://schemas.microsoft.com/office/drawing/2014/main" val="79463702"/>
                      </a:ext>
                    </a:extLst>
                  </a:tr>
                  <a:tr h="553466">
                    <a:tc>
                      <a:txBody>
                        <a:bodyPr/>
                        <a:lstStyle/>
                        <a:p>
                          <a:r>
                            <a:rPr lang="en-US" b="1" dirty="0"/>
                            <a:t>FTF</a:t>
                          </a:r>
                        </a:p>
                        <a:p>
                          <a:r>
                            <a:rPr lang="en-US" sz="1200" b="0" i="1" dirty="0" err="1"/>
                            <a:t>Tần</a:t>
                          </a:r>
                          <a:r>
                            <a:rPr lang="en-US" sz="1200" b="0" i="1" dirty="0"/>
                            <a:t> </a:t>
                          </a:r>
                          <a:r>
                            <a:rPr lang="en-US" sz="1200" b="0" i="1" dirty="0" err="1"/>
                            <a:t>số</a:t>
                          </a:r>
                          <a:r>
                            <a:rPr lang="en-US" sz="1200" b="0" i="1" dirty="0"/>
                            <a:t> quay </a:t>
                          </a:r>
                          <a:r>
                            <a:rPr lang="en-US" sz="1200" b="0" i="1" dirty="0" err="1"/>
                            <a:t>vòng</a:t>
                          </a:r>
                          <a:r>
                            <a:rPr lang="en-US" sz="1200" b="0" i="1" dirty="0"/>
                            <a:t> </a:t>
                          </a:r>
                          <a:r>
                            <a:rPr lang="en-US" sz="1200" b="0" i="1" dirty="0" err="1"/>
                            <a:t>cách</a:t>
                          </a:r>
                          <a:endParaRPr lang="en-US" sz="1200" b="0" i="1" dirty="0"/>
                        </a:p>
                      </a:txBody>
                      <a:tcPr/>
                    </a:tc>
                    <a:tc>
                      <a:txBody>
                        <a:bodyPr/>
                        <a:lstStyle/>
                        <a:p>
                          <a:endParaRPr lang="en-US"/>
                        </a:p>
                      </a:txBody>
                      <a:tcPr>
                        <a:blipFill>
                          <a:blip r:embed="rId2"/>
                          <a:stretch>
                            <a:fillRect l="-105263" t="-420879" r="-162929" b="-7692"/>
                          </a:stretch>
                        </a:blipFill>
                      </a:tcPr>
                    </a:tc>
                    <a:tc>
                      <a:txBody>
                        <a:bodyPr/>
                        <a:lstStyle/>
                        <a:p>
                          <a:pPr algn="ctr"/>
                          <a:r>
                            <a:rPr lang="en-US" sz="1800" dirty="0">
                              <a:solidFill>
                                <a:schemeClr val="tx1"/>
                              </a:solidFill>
                              <a:latin typeface="Calibri" pitchFamily="34" charset="0"/>
                            </a:rPr>
                            <a:t>0.398</a:t>
                          </a:r>
                          <a:endParaRPr lang="en-US" dirty="0">
                            <a:solidFill>
                              <a:schemeClr val="tx1"/>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solidFill>
                                <a:srgbClr val="8BAFC7"/>
                              </a:solidFill>
                              <a:latin typeface="Calibri" pitchFamily="34" charset="0"/>
                            </a:rPr>
                            <a:t>≈ 12 Hz</a:t>
                          </a:r>
                        </a:p>
                      </a:txBody>
                      <a:tcPr anchor="ctr"/>
                    </a:tc>
                    <a:extLst>
                      <a:ext uri="{0D108BD9-81ED-4DB2-BD59-A6C34878D82A}">
                        <a16:rowId xmlns:a16="http://schemas.microsoft.com/office/drawing/2014/main" val="17107518"/>
                      </a:ext>
                    </a:extLst>
                  </a:tr>
                </a:tbl>
              </a:graphicData>
            </a:graphic>
          </p:graphicFrame>
        </mc:Fallback>
      </mc:AlternateContent>
      <p:sp>
        <p:nvSpPr>
          <p:cNvPr id="38" name="TextBox 37">
            <a:extLst>
              <a:ext uri="{FF2B5EF4-FFF2-40B4-BE49-F238E27FC236}">
                <a16:creationId xmlns:a16="http://schemas.microsoft.com/office/drawing/2014/main" id="{97C7D58F-64B9-79EB-224F-DED7C14E39DA}"/>
              </a:ext>
            </a:extLst>
          </p:cNvPr>
          <p:cNvSpPr txBox="1"/>
          <p:nvPr/>
        </p:nvSpPr>
        <p:spPr>
          <a:xfrm>
            <a:off x="2358588" y="5007152"/>
            <a:ext cx="4680002" cy="923330"/>
          </a:xfrm>
          <a:prstGeom prst="rect">
            <a:avLst/>
          </a:prstGeom>
          <a:noFill/>
        </p:spPr>
        <p:txBody>
          <a:bodyPr wrap="square">
            <a:spAutoFit/>
          </a:bodyPr>
          <a:lstStyle/>
          <a:p>
            <a:pPr marL="285750" indent="-285750">
              <a:buFont typeface="Arial" panose="020B0604020202020204" pitchFamily="34" charset="0"/>
              <a:buChar char="•"/>
            </a:pPr>
            <a:r>
              <a:rPr lang="en-US" sz="1800" dirty="0">
                <a:latin typeface="Calibri" pitchFamily="34" charset="0"/>
              </a:rPr>
              <a:t>n : </a:t>
            </a:r>
            <a:r>
              <a:rPr lang="en-US" sz="1800" dirty="0" err="1">
                <a:latin typeface="Calibri" pitchFamily="34" charset="0"/>
              </a:rPr>
              <a:t>số</a:t>
            </a:r>
            <a:r>
              <a:rPr lang="en-US" sz="1800" dirty="0">
                <a:latin typeface="Calibri" pitchFamily="34" charset="0"/>
              </a:rPr>
              <a:t> </a:t>
            </a:r>
            <a:r>
              <a:rPr lang="en-US" sz="1800" dirty="0" err="1">
                <a:latin typeface="Calibri" pitchFamily="34" charset="0"/>
              </a:rPr>
              <a:t>vi</a:t>
            </a:r>
            <a:r>
              <a:rPr lang="en-US" dirty="0" err="1">
                <a:latin typeface="Calibri" pitchFamily="34" charset="0"/>
              </a:rPr>
              <a:t>ê</a:t>
            </a:r>
            <a:r>
              <a:rPr lang="en-US" sz="1800" dirty="0" err="1">
                <a:latin typeface="Calibri" pitchFamily="34" charset="0"/>
              </a:rPr>
              <a:t>n</a:t>
            </a:r>
            <a:r>
              <a:rPr lang="en-US" sz="1800" dirty="0">
                <a:latin typeface="Calibri" pitchFamily="34" charset="0"/>
              </a:rPr>
              <a:t> bi  </a:t>
            </a:r>
          </a:p>
          <a:p>
            <a:pPr marL="285750" indent="-285750">
              <a:buFont typeface="Arial" panose="020B0604020202020204" pitchFamily="34" charset="0"/>
              <a:buChar char="•"/>
            </a:pPr>
            <a:r>
              <a:rPr lang="en-US" sz="1800" dirty="0">
                <a:latin typeface="Calibri" pitchFamily="34" charset="0"/>
              </a:rPr>
              <a:t>d : </a:t>
            </a:r>
            <a:r>
              <a:rPr lang="en-US" dirty="0" err="1">
                <a:latin typeface="Calibri" pitchFamily="34" charset="0"/>
              </a:rPr>
              <a:t>đường</a:t>
            </a:r>
            <a:r>
              <a:rPr lang="en-US" sz="1800" dirty="0">
                <a:latin typeface="Calibri" pitchFamily="34" charset="0"/>
              </a:rPr>
              <a:t> </a:t>
            </a:r>
            <a:r>
              <a:rPr lang="en-US" sz="1800" dirty="0" err="1">
                <a:latin typeface="Calibri" pitchFamily="34" charset="0"/>
              </a:rPr>
              <a:t>k</a:t>
            </a:r>
            <a:r>
              <a:rPr lang="en-US" dirty="0" err="1">
                <a:latin typeface="Calibri" pitchFamily="34" charset="0"/>
              </a:rPr>
              <a:t>í</a:t>
            </a:r>
            <a:r>
              <a:rPr lang="en-US" sz="1800" dirty="0" err="1">
                <a:latin typeface="Calibri" pitchFamily="34" charset="0"/>
              </a:rPr>
              <a:t>nh</a:t>
            </a:r>
            <a:r>
              <a:rPr lang="en-US" sz="1800" dirty="0">
                <a:latin typeface="Calibri" pitchFamily="34" charset="0"/>
              </a:rPr>
              <a:t> </a:t>
            </a:r>
            <a:r>
              <a:rPr lang="en-US" sz="1800" dirty="0" err="1">
                <a:latin typeface="Calibri" pitchFamily="34" charset="0"/>
              </a:rPr>
              <a:t>vi</a:t>
            </a:r>
            <a:r>
              <a:rPr lang="en-US" dirty="0" err="1">
                <a:latin typeface="Calibri" pitchFamily="34" charset="0"/>
              </a:rPr>
              <a:t>ê</a:t>
            </a:r>
            <a:r>
              <a:rPr lang="en-US" sz="1800" dirty="0" err="1">
                <a:latin typeface="Calibri" pitchFamily="34" charset="0"/>
              </a:rPr>
              <a:t>n</a:t>
            </a:r>
            <a:r>
              <a:rPr lang="en-US" sz="1800" dirty="0">
                <a:latin typeface="Calibri" pitchFamily="34" charset="0"/>
              </a:rPr>
              <a:t> bi  (mm)</a:t>
            </a:r>
          </a:p>
          <a:p>
            <a:pPr marL="285750" indent="-285750">
              <a:buFont typeface="Arial" panose="020B0604020202020204" pitchFamily="34" charset="0"/>
              <a:buChar char="•"/>
            </a:pPr>
            <a:r>
              <a:rPr lang="en-US" sz="1800" dirty="0">
                <a:latin typeface="Calibri" pitchFamily="34" charset="0"/>
              </a:rPr>
              <a:t>D : </a:t>
            </a:r>
            <a:r>
              <a:rPr lang="en-US" dirty="0" err="1">
                <a:latin typeface="Calibri" pitchFamily="34" charset="0"/>
              </a:rPr>
              <a:t>đường</a:t>
            </a:r>
            <a:r>
              <a:rPr lang="en-US" sz="1800" dirty="0">
                <a:latin typeface="Calibri" pitchFamily="34" charset="0"/>
              </a:rPr>
              <a:t> </a:t>
            </a:r>
            <a:r>
              <a:rPr lang="en-US" sz="1800" dirty="0" err="1">
                <a:latin typeface="Calibri" pitchFamily="34" charset="0"/>
              </a:rPr>
              <a:t>kinh</a:t>
            </a:r>
            <a:r>
              <a:rPr lang="en-US" sz="1800" dirty="0">
                <a:latin typeface="Calibri" pitchFamily="34" charset="0"/>
              </a:rPr>
              <a:t> </a:t>
            </a:r>
            <a:r>
              <a:rPr lang="en-US" sz="1800" dirty="0" err="1">
                <a:latin typeface="Calibri" pitchFamily="34" charset="0"/>
              </a:rPr>
              <a:t>v</a:t>
            </a:r>
            <a:r>
              <a:rPr lang="en-US" dirty="0" err="1">
                <a:latin typeface="Calibri" pitchFamily="34" charset="0"/>
              </a:rPr>
              <a:t>ò</a:t>
            </a:r>
            <a:r>
              <a:rPr lang="en-US" sz="1800" dirty="0" err="1">
                <a:latin typeface="Calibri" pitchFamily="34" charset="0"/>
              </a:rPr>
              <a:t>ng</a:t>
            </a:r>
            <a:r>
              <a:rPr lang="en-US" sz="1800" dirty="0">
                <a:latin typeface="Calibri" pitchFamily="34" charset="0"/>
              </a:rPr>
              <a:t> chia (mm)</a:t>
            </a:r>
          </a:p>
        </p:txBody>
      </p: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B7B97680-750F-78E6-0339-C3A321FD5F75}"/>
                  </a:ext>
                </a:extLst>
              </p:cNvPr>
              <p:cNvSpPr txBox="1"/>
              <p:nvPr/>
            </p:nvSpPr>
            <p:spPr>
              <a:xfrm>
                <a:off x="6567960" y="5007152"/>
                <a:ext cx="4680002" cy="646331"/>
              </a:xfrm>
              <a:prstGeom prst="rect">
                <a:avLst/>
              </a:prstGeom>
              <a:noFill/>
            </p:spPr>
            <p:txBody>
              <a:bodyPr wrap="square">
                <a:spAutoFit/>
              </a:bodyPr>
              <a:lstStyle/>
              <a:p>
                <a:pPr marL="285750" indent="-285750">
                  <a:buFont typeface="Arial" panose="020B0604020202020204" pitchFamily="34" charset="0"/>
                  <a:buChar char="•"/>
                </a:pPr>
                <a:r>
                  <a:rPr lang="el-GR" dirty="0">
                    <a:latin typeface="Calibri" pitchFamily="34" charset="0"/>
                    <a:ea typeface="Calibri" pitchFamily="34" charset="-122"/>
                    <a:cs typeface="Calibri" pitchFamily="34" charset="-120"/>
                  </a:rPr>
                  <a:t>α</a:t>
                </a:r>
                <a:r>
                  <a:rPr lang="en-US" dirty="0">
                    <a:latin typeface="Calibri" pitchFamily="34" charset="0"/>
                    <a:ea typeface="Calibri" pitchFamily="34" charset="-122"/>
                    <a:cs typeface="Calibri" pitchFamily="34" charset="-120"/>
                  </a:rPr>
                  <a:t> : </a:t>
                </a:r>
                <a:r>
                  <a:rPr lang="en-US" dirty="0" err="1">
                    <a:latin typeface="Calibri" pitchFamily="34" charset="0"/>
                    <a:ea typeface="Calibri" pitchFamily="34" charset="-122"/>
                    <a:cs typeface="Calibri" pitchFamily="34" charset="-120"/>
                  </a:rPr>
                  <a:t>góc</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tiếp</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xúc</a:t>
                </a:r>
                <a:r>
                  <a:rPr lang="en-US" dirty="0">
                    <a:latin typeface="Calibri" pitchFamily="34" charset="0"/>
                    <a:ea typeface="Calibri" pitchFamily="34" charset="-122"/>
                    <a:cs typeface="Calibri" pitchFamily="34" charset="-120"/>
                  </a:rPr>
                  <a:t> (˚) </a:t>
                </a:r>
              </a:p>
              <a:p>
                <a:pPr marL="285750" indent="-285750">
                  <a:buFont typeface="Arial" panose="020B0604020202020204" pitchFamily="34" charset="0"/>
                  <a:buChar char="•"/>
                </a:pPr>
                <a14:m>
                  <m:oMath xmlns:m="http://schemas.openxmlformats.org/officeDocument/2006/math">
                    <m:sSub>
                      <m:sSubPr>
                        <m:ctrlPr>
                          <a:rPr lang="en-US" i="1" smtClean="0">
                            <a:latin typeface="Cambria Math" panose="02040503050406030204" pitchFamily="18" charset="0"/>
                            <a:ea typeface="Calibri" pitchFamily="34" charset="-122"/>
                            <a:cs typeface="Calibri" pitchFamily="34" charset="-120"/>
                          </a:rPr>
                        </m:ctrlPr>
                      </m:sSubPr>
                      <m:e>
                        <m:r>
                          <a:rPr lang="en-US" b="0" i="1" smtClean="0">
                            <a:latin typeface="Cambria Math" panose="02040503050406030204" pitchFamily="18" charset="0"/>
                            <a:ea typeface="Calibri" pitchFamily="34" charset="-122"/>
                            <a:cs typeface="Calibri" pitchFamily="34" charset="-120"/>
                          </a:rPr>
                          <m:t>𝑓</m:t>
                        </m:r>
                      </m:e>
                      <m:sub>
                        <m:r>
                          <a:rPr lang="en-US" b="0" i="1" smtClean="0">
                            <a:latin typeface="Cambria Math" panose="02040503050406030204" pitchFamily="18" charset="0"/>
                            <a:ea typeface="Calibri" pitchFamily="34" charset="-122"/>
                            <a:cs typeface="Calibri" pitchFamily="34" charset="-120"/>
                          </a:rPr>
                          <m:t>𝑠</m:t>
                        </m:r>
                      </m:sub>
                    </m:sSub>
                  </m:oMath>
                </a14:m>
                <a:r>
                  <a:rPr lang="en-US" dirty="0">
                    <a:latin typeface="Calibri" pitchFamily="34" charset="0"/>
                    <a:ea typeface="Calibri" pitchFamily="34" charset="-122"/>
                    <a:cs typeface="Calibri" pitchFamily="34" charset="-120"/>
                  </a:rPr>
                  <a:t> : </a:t>
                </a:r>
                <a:r>
                  <a:rPr lang="en-US" dirty="0" err="1">
                    <a:latin typeface="Calibri" pitchFamily="34" charset="0"/>
                    <a:ea typeface="Calibri" pitchFamily="34" charset="-122"/>
                    <a:cs typeface="Calibri" pitchFamily="34" charset="-120"/>
                  </a:rPr>
                  <a:t>tần</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số</a:t>
                </a:r>
                <a:r>
                  <a:rPr lang="en-US" dirty="0">
                    <a:latin typeface="Calibri" pitchFamily="34" charset="0"/>
                    <a:ea typeface="Calibri" pitchFamily="34" charset="-122"/>
                    <a:cs typeface="Calibri" pitchFamily="34" charset="-120"/>
                  </a:rPr>
                  <a:t> quay (Hz)</a:t>
                </a:r>
                <a:endParaRPr lang="en-US" dirty="0"/>
              </a:p>
            </p:txBody>
          </p:sp>
        </mc:Choice>
        <mc:Fallback xmlns="">
          <p:sp>
            <p:nvSpPr>
              <p:cNvPr id="39" name="TextBox 38">
                <a:extLst>
                  <a:ext uri="{FF2B5EF4-FFF2-40B4-BE49-F238E27FC236}">
                    <a16:creationId xmlns:a16="http://schemas.microsoft.com/office/drawing/2014/main" id="{B7B97680-750F-78E6-0339-C3A321FD5F75}"/>
                  </a:ext>
                </a:extLst>
              </p:cNvPr>
              <p:cNvSpPr txBox="1">
                <a:spLocks noRot="1" noChangeAspect="1" noMove="1" noResize="1" noEditPoints="1" noAdjustHandles="1" noChangeArrowheads="1" noChangeShapeType="1" noTextEdit="1"/>
              </p:cNvSpPr>
              <p:nvPr/>
            </p:nvSpPr>
            <p:spPr>
              <a:xfrm>
                <a:off x="6567960" y="5007152"/>
                <a:ext cx="4680002" cy="646331"/>
              </a:xfrm>
              <a:prstGeom prst="rect">
                <a:avLst/>
              </a:prstGeom>
              <a:blipFill>
                <a:blip r:embed="rId3"/>
                <a:stretch>
                  <a:fillRect l="-781" t="-4717" b="-14151"/>
                </a:stretch>
              </a:blipFill>
            </p:spPr>
            <p:txBody>
              <a:bodyPr/>
              <a:lstStyle/>
              <a:p>
                <a:r>
                  <a:rPr lang="en-US">
                    <a:noFill/>
                  </a:rPr>
                  <a:t> </a:t>
                </a:r>
              </a:p>
            </p:txBody>
          </p:sp>
        </mc:Fallback>
      </mc:AlternateContent>
    </p:spTree>
    <p:extLst>
      <p:ext uri="{BB962C8B-B14F-4D97-AF65-F5344CB8AC3E}">
        <p14:creationId xmlns:p14="http://schemas.microsoft.com/office/powerpoint/2010/main" val="30015684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4C05717-7927-F23D-8237-4958A4E514FF}"/>
              </a:ext>
            </a:extLst>
          </p:cNvPr>
          <p:cNvSpPr>
            <a:spLocks noGrp="1"/>
          </p:cNvSpPr>
          <p:nvPr>
            <p:ph type="title"/>
          </p:nvPr>
        </p:nvSpPr>
        <p:spPr/>
        <p:txBody>
          <a:bodyPr/>
          <a:lstStyle/>
          <a:p>
            <a:r>
              <a:rPr lang="en-US" dirty="0" err="1"/>
              <a:t>Phân</a:t>
            </a:r>
            <a:r>
              <a:rPr lang="en-US" dirty="0"/>
              <a:t> </a:t>
            </a:r>
            <a:r>
              <a:rPr lang="en-US" dirty="0" err="1"/>
              <a:t>tích</a:t>
            </a:r>
            <a:r>
              <a:rPr lang="en-US" dirty="0"/>
              <a:t> </a:t>
            </a:r>
            <a:r>
              <a:rPr lang="en-US" dirty="0" err="1"/>
              <a:t>dạng</a:t>
            </a:r>
            <a:r>
              <a:rPr lang="en-US" dirty="0"/>
              <a:t> </a:t>
            </a:r>
            <a:r>
              <a:rPr lang="en-US" dirty="0" err="1"/>
              <a:t>sóng</a:t>
            </a:r>
            <a:endParaRPr lang="en-US" dirty="0"/>
          </a:p>
        </p:txBody>
      </p:sp>
      <p:sp>
        <p:nvSpPr>
          <p:cNvPr id="2" name="Slide Number Placeholder 1">
            <a:extLst>
              <a:ext uri="{FF2B5EF4-FFF2-40B4-BE49-F238E27FC236}">
                <a16:creationId xmlns:a16="http://schemas.microsoft.com/office/drawing/2014/main" id="{4E248DCA-B91F-BC5A-64CE-246CF3581AEB}"/>
              </a:ext>
            </a:extLst>
          </p:cNvPr>
          <p:cNvSpPr>
            <a:spLocks noGrp="1"/>
          </p:cNvSpPr>
          <p:nvPr>
            <p:ph type="sldNum" sz="quarter" idx="12"/>
          </p:nvPr>
        </p:nvSpPr>
        <p:spPr/>
        <p:txBody>
          <a:bodyPr/>
          <a:lstStyle/>
          <a:p>
            <a:fld id="{9EA0BE3B-158A-4EDF-80DC-E394A0D1600F}" type="slidenum">
              <a:rPr lang="en-US" smtClean="0"/>
              <a:pPr/>
              <a:t>10</a:t>
            </a:fld>
            <a:endParaRPr lang="en-US"/>
          </a:p>
        </p:txBody>
      </p:sp>
      <p:pic>
        <p:nvPicPr>
          <p:cNvPr id="8" name="Image 0" descr="preencoded.png">
            <a:extLst>
              <a:ext uri="{FF2B5EF4-FFF2-40B4-BE49-F238E27FC236}">
                <a16:creationId xmlns:a16="http://schemas.microsoft.com/office/drawing/2014/main" id="{E1658AD1-7555-FB08-6313-37336BA43395}"/>
              </a:ext>
            </a:extLst>
          </p:cNvPr>
          <p:cNvPicPr>
            <a:picLocks noChangeAspect="1"/>
          </p:cNvPicPr>
          <p:nvPr/>
        </p:nvPicPr>
        <p:blipFill>
          <a:blip r:embed="rId2"/>
          <a:srcRect/>
          <a:stretch/>
        </p:blipFill>
        <p:spPr>
          <a:xfrm>
            <a:off x="6456889" y="1901069"/>
            <a:ext cx="5514793" cy="4197148"/>
          </a:xfrm>
          <a:prstGeom prst="rect">
            <a:avLst/>
          </a:prstGeom>
        </p:spPr>
      </p:pic>
      <p:sp>
        <p:nvSpPr>
          <p:cNvPr id="10" name="TextBox 9">
            <a:extLst>
              <a:ext uri="{FF2B5EF4-FFF2-40B4-BE49-F238E27FC236}">
                <a16:creationId xmlns:a16="http://schemas.microsoft.com/office/drawing/2014/main" id="{B94E1E46-ED63-E54D-6B30-F4F1AE800608}"/>
              </a:ext>
            </a:extLst>
          </p:cNvPr>
          <p:cNvSpPr txBox="1"/>
          <p:nvPr/>
        </p:nvSpPr>
        <p:spPr>
          <a:xfrm>
            <a:off x="220317" y="975693"/>
            <a:ext cx="11751365" cy="646331"/>
          </a:xfrm>
          <a:prstGeom prst="rect">
            <a:avLst/>
          </a:prstGeom>
          <a:noFill/>
        </p:spPr>
        <p:txBody>
          <a:bodyPr wrap="square">
            <a:spAutoFit/>
          </a:bodyPr>
          <a:lstStyle/>
          <a:p>
            <a:r>
              <a:rPr lang="en-US" b="1" i="0" dirty="0" err="1">
                <a:solidFill>
                  <a:srgbClr val="1F1F1F"/>
                </a:solidFill>
                <a:effectLst/>
              </a:rPr>
              <a:t>Phân</a:t>
            </a:r>
            <a:r>
              <a:rPr lang="en-US" b="1" i="0" dirty="0">
                <a:solidFill>
                  <a:srgbClr val="1F1F1F"/>
                </a:solidFill>
                <a:effectLst/>
              </a:rPr>
              <a:t> </a:t>
            </a:r>
            <a:r>
              <a:rPr lang="en-US" b="1" i="0" dirty="0" err="1">
                <a:solidFill>
                  <a:srgbClr val="1F1F1F"/>
                </a:solidFill>
                <a:effectLst/>
              </a:rPr>
              <a:t>tích</a:t>
            </a:r>
            <a:r>
              <a:rPr lang="en-US" b="1" i="0" dirty="0">
                <a:solidFill>
                  <a:srgbClr val="1F1F1F"/>
                </a:solidFill>
                <a:effectLst/>
              </a:rPr>
              <a:t> </a:t>
            </a:r>
            <a:r>
              <a:rPr lang="en-US" b="1" i="0" dirty="0" err="1">
                <a:solidFill>
                  <a:srgbClr val="1F1F1F"/>
                </a:solidFill>
                <a:effectLst/>
              </a:rPr>
              <a:t>trực</a:t>
            </a:r>
            <a:r>
              <a:rPr lang="en-US" b="1" i="0" dirty="0">
                <a:solidFill>
                  <a:srgbClr val="1F1F1F"/>
                </a:solidFill>
                <a:effectLst/>
              </a:rPr>
              <a:t> </a:t>
            </a:r>
            <a:r>
              <a:rPr lang="en-US" b="1" i="0" dirty="0" err="1">
                <a:solidFill>
                  <a:srgbClr val="1F1F1F"/>
                </a:solidFill>
                <a:effectLst/>
              </a:rPr>
              <a:t>quan</a:t>
            </a:r>
            <a:r>
              <a:rPr lang="en-US" b="1" i="0" dirty="0">
                <a:solidFill>
                  <a:srgbClr val="1F1F1F"/>
                </a:solidFill>
                <a:effectLst/>
              </a:rPr>
              <a:t> </a:t>
            </a:r>
            <a:r>
              <a:rPr lang="en-US" b="1" i="0" dirty="0" err="1">
                <a:solidFill>
                  <a:srgbClr val="1F1F1F"/>
                </a:solidFill>
                <a:effectLst/>
              </a:rPr>
              <a:t>trong</a:t>
            </a:r>
            <a:r>
              <a:rPr lang="en-US" b="1" i="0" dirty="0">
                <a:solidFill>
                  <a:srgbClr val="1F1F1F"/>
                </a:solidFill>
                <a:effectLst/>
              </a:rPr>
              <a:t> </a:t>
            </a:r>
            <a:r>
              <a:rPr lang="en-US" b="1" i="0" dirty="0" err="1">
                <a:solidFill>
                  <a:srgbClr val="1F1F1F"/>
                </a:solidFill>
                <a:effectLst/>
              </a:rPr>
              <a:t>miền</a:t>
            </a:r>
            <a:r>
              <a:rPr lang="en-US" b="1" i="0" dirty="0">
                <a:solidFill>
                  <a:srgbClr val="1F1F1F"/>
                </a:solidFill>
                <a:effectLst/>
              </a:rPr>
              <a:t> </a:t>
            </a:r>
            <a:r>
              <a:rPr lang="en-US" b="1" i="0" dirty="0" err="1">
                <a:solidFill>
                  <a:srgbClr val="1F1F1F"/>
                </a:solidFill>
                <a:effectLst/>
              </a:rPr>
              <a:t>thời</a:t>
            </a:r>
            <a:r>
              <a:rPr lang="en-US" b="1" i="0" dirty="0">
                <a:solidFill>
                  <a:srgbClr val="1F1F1F"/>
                </a:solidFill>
                <a:effectLst/>
              </a:rPr>
              <a:t> </a:t>
            </a:r>
            <a:r>
              <a:rPr lang="en-US" b="1" i="0" dirty="0" err="1">
                <a:solidFill>
                  <a:srgbClr val="1F1F1F"/>
                </a:solidFill>
                <a:effectLst/>
              </a:rPr>
              <a:t>gian</a:t>
            </a:r>
            <a:r>
              <a:rPr lang="en-US" b="1" i="0" dirty="0">
                <a:solidFill>
                  <a:srgbClr val="1F1F1F"/>
                </a:solidFill>
                <a:effectLst/>
              </a:rPr>
              <a:t>:</a:t>
            </a:r>
            <a:r>
              <a:rPr lang="en-US" b="0" i="0" dirty="0">
                <a:solidFill>
                  <a:srgbClr val="1F1F1F"/>
                </a:solidFill>
                <a:effectLst/>
              </a:rPr>
              <a:t> </a:t>
            </a:r>
            <a:r>
              <a:rPr lang="en-US" b="0" i="0" dirty="0" err="1">
                <a:solidFill>
                  <a:srgbClr val="1F1F1F"/>
                </a:solidFill>
                <a:effectLst/>
              </a:rPr>
              <a:t>Trạng</a:t>
            </a:r>
            <a:r>
              <a:rPr lang="en-US" b="0" i="0" dirty="0">
                <a:solidFill>
                  <a:srgbClr val="1F1F1F"/>
                </a:solidFill>
                <a:effectLst/>
              </a:rPr>
              <a:t> </a:t>
            </a:r>
            <a:r>
              <a:rPr lang="en-US" b="0" i="0" dirty="0" err="1">
                <a:solidFill>
                  <a:srgbClr val="1F1F1F"/>
                </a:solidFill>
                <a:effectLst/>
              </a:rPr>
              <a:t>thái</a:t>
            </a:r>
            <a:r>
              <a:rPr lang="en-US" b="0" i="0" dirty="0">
                <a:solidFill>
                  <a:srgbClr val="1F1F1F"/>
                </a:solidFill>
                <a:effectLst/>
              </a:rPr>
              <a:t> Bình </a:t>
            </a:r>
            <a:r>
              <a:rPr lang="en-US" b="0" i="0" dirty="0" err="1">
                <a:solidFill>
                  <a:srgbClr val="1F1F1F"/>
                </a:solidFill>
                <a:effectLst/>
              </a:rPr>
              <a:t>thường</a:t>
            </a:r>
            <a:r>
              <a:rPr lang="en-US" b="0" i="0" dirty="0">
                <a:solidFill>
                  <a:srgbClr val="1F1F1F"/>
                </a:solidFill>
                <a:effectLst/>
              </a:rPr>
              <a:t> </a:t>
            </a:r>
            <a:r>
              <a:rPr lang="en-US" b="0" i="0" dirty="0" err="1">
                <a:solidFill>
                  <a:srgbClr val="1F1F1F"/>
                </a:solidFill>
                <a:effectLst/>
              </a:rPr>
              <a:t>có</a:t>
            </a:r>
            <a:r>
              <a:rPr lang="en-US" b="0" i="0" dirty="0">
                <a:solidFill>
                  <a:srgbClr val="1F1F1F"/>
                </a:solidFill>
                <a:effectLst/>
              </a:rPr>
              <a:t> </a:t>
            </a:r>
            <a:r>
              <a:rPr lang="en-US" b="0" i="0" dirty="0" err="1">
                <a:solidFill>
                  <a:srgbClr val="1F1F1F"/>
                </a:solidFill>
                <a:effectLst/>
              </a:rPr>
              <a:t>biên</a:t>
            </a:r>
            <a:r>
              <a:rPr lang="en-US" b="0" i="0" dirty="0">
                <a:solidFill>
                  <a:srgbClr val="1F1F1F"/>
                </a:solidFill>
                <a:effectLst/>
              </a:rPr>
              <a:t> </a:t>
            </a:r>
            <a:r>
              <a:rPr lang="en-US" b="0" i="0" dirty="0" err="1">
                <a:solidFill>
                  <a:srgbClr val="1F1F1F"/>
                </a:solidFill>
                <a:effectLst/>
              </a:rPr>
              <a:t>độ</a:t>
            </a:r>
            <a:r>
              <a:rPr lang="en-US" b="0" i="0" dirty="0">
                <a:solidFill>
                  <a:srgbClr val="1F1F1F"/>
                </a:solidFill>
                <a:effectLst/>
              </a:rPr>
              <a:t> </a:t>
            </a:r>
            <a:r>
              <a:rPr lang="en-US" b="0" i="0" dirty="0" err="1">
                <a:solidFill>
                  <a:srgbClr val="1F1F1F"/>
                </a:solidFill>
                <a:effectLst/>
              </a:rPr>
              <a:t>rất</a:t>
            </a:r>
            <a:r>
              <a:rPr lang="en-US" b="0" i="0" dirty="0">
                <a:solidFill>
                  <a:srgbClr val="1F1F1F"/>
                </a:solidFill>
                <a:effectLst/>
              </a:rPr>
              <a:t> </a:t>
            </a:r>
            <a:r>
              <a:rPr lang="en-US" b="0" i="0" dirty="0" err="1">
                <a:solidFill>
                  <a:srgbClr val="1F1F1F"/>
                </a:solidFill>
                <a:effectLst/>
              </a:rPr>
              <a:t>nhỏ</a:t>
            </a:r>
            <a:r>
              <a:rPr lang="en-US" b="0" i="0" dirty="0">
                <a:solidFill>
                  <a:srgbClr val="1F1F1F"/>
                </a:solidFill>
                <a:effectLst/>
              </a:rPr>
              <a:t>; </a:t>
            </a:r>
            <a:r>
              <a:rPr lang="en-US" b="0" i="0" dirty="0" err="1">
                <a:solidFill>
                  <a:srgbClr val="1F1F1F"/>
                </a:solidFill>
                <a:effectLst/>
              </a:rPr>
              <a:t>Lỗi</a:t>
            </a:r>
            <a:r>
              <a:rPr lang="en-US" b="0" i="0" dirty="0">
                <a:solidFill>
                  <a:srgbClr val="1F1F1F"/>
                </a:solidFill>
                <a:effectLst/>
              </a:rPr>
              <a:t> </a:t>
            </a:r>
            <a:r>
              <a:rPr lang="en-US" b="0" i="0" dirty="0" err="1">
                <a:solidFill>
                  <a:srgbClr val="1F1F1F"/>
                </a:solidFill>
                <a:effectLst/>
              </a:rPr>
              <a:t>rãnh</a:t>
            </a:r>
            <a:r>
              <a:rPr lang="en-US" b="0" i="0" dirty="0">
                <a:solidFill>
                  <a:srgbClr val="1F1F1F"/>
                </a:solidFill>
                <a:effectLst/>
              </a:rPr>
              <a:t> </a:t>
            </a:r>
            <a:r>
              <a:rPr lang="en-US" b="0" i="0" dirty="0" err="1">
                <a:solidFill>
                  <a:srgbClr val="1F1F1F"/>
                </a:solidFill>
                <a:effectLst/>
              </a:rPr>
              <a:t>ngoài</a:t>
            </a:r>
            <a:r>
              <a:rPr lang="en-US" b="0" i="0" dirty="0">
                <a:solidFill>
                  <a:srgbClr val="1F1F1F"/>
                </a:solidFill>
                <a:effectLst/>
              </a:rPr>
              <a:t> (OR) </a:t>
            </a:r>
            <a:r>
              <a:rPr lang="en-US" b="0" i="0" dirty="0" err="1">
                <a:solidFill>
                  <a:srgbClr val="1F1F1F"/>
                </a:solidFill>
                <a:effectLst/>
              </a:rPr>
              <a:t>tạo</a:t>
            </a:r>
            <a:r>
              <a:rPr lang="en-US" b="0" i="0" dirty="0">
                <a:solidFill>
                  <a:srgbClr val="1F1F1F"/>
                </a:solidFill>
                <a:effectLst/>
              </a:rPr>
              <a:t> </a:t>
            </a:r>
            <a:r>
              <a:rPr lang="en-US" b="0" i="0" dirty="0" err="1">
                <a:solidFill>
                  <a:srgbClr val="1F1F1F"/>
                </a:solidFill>
                <a:effectLst/>
              </a:rPr>
              <a:t>xung</a:t>
            </a:r>
            <a:r>
              <a:rPr lang="en-US" b="0" i="0" dirty="0">
                <a:solidFill>
                  <a:srgbClr val="1F1F1F"/>
                </a:solidFill>
                <a:effectLst/>
              </a:rPr>
              <a:t> </a:t>
            </a:r>
            <a:r>
              <a:rPr lang="en-US" b="0" i="0" dirty="0" err="1">
                <a:solidFill>
                  <a:srgbClr val="1F1F1F"/>
                </a:solidFill>
                <a:effectLst/>
              </a:rPr>
              <a:t>va</a:t>
            </a:r>
            <a:r>
              <a:rPr lang="en-US" b="0" i="0" dirty="0">
                <a:solidFill>
                  <a:srgbClr val="1F1F1F"/>
                </a:solidFill>
                <a:effectLst/>
              </a:rPr>
              <a:t> </a:t>
            </a:r>
            <a:r>
              <a:rPr lang="en-US" b="0" i="0" dirty="0" err="1">
                <a:solidFill>
                  <a:srgbClr val="1F1F1F"/>
                </a:solidFill>
                <a:effectLst/>
              </a:rPr>
              <a:t>đập</a:t>
            </a:r>
            <a:r>
              <a:rPr lang="en-US" b="0" i="0" dirty="0">
                <a:solidFill>
                  <a:srgbClr val="1F1F1F"/>
                </a:solidFill>
                <a:effectLst/>
              </a:rPr>
              <a:t> </a:t>
            </a:r>
            <a:r>
              <a:rPr lang="en-US" b="0" i="0" dirty="0" err="1">
                <a:solidFill>
                  <a:srgbClr val="1F1F1F"/>
                </a:solidFill>
                <a:effectLst/>
              </a:rPr>
              <a:t>đều</a:t>
            </a:r>
            <a:r>
              <a:rPr lang="en-US" b="0" i="0" dirty="0">
                <a:solidFill>
                  <a:srgbClr val="1F1F1F"/>
                </a:solidFill>
                <a:effectLst/>
              </a:rPr>
              <a:t> </a:t>
            </a:r>
            <a:r>
              <a:rPr lang="en-US" b="0" i="0" dirty="0" err="1">
                <a:solidFill>
                  <a:srgbClr val="1F1F1F"/>
                </a:solidFill>
                <a:effectLst/>
              </a:rPr>
              <a:t>đặn</a:t>
            </a:r>
            <a:r>
              <a:rPr lang="en-US" b="0" i="0" dirty="0">
                <a:solidFill>
                  <a:srgbClr val="1F1F1F"/>
                </a:solidFill>
                <a:effectLst/>
              </a:rPr>
              <a:t>; </a:t>
            </a:r>
            <a:r>
              <a:rPr lang="en-US" b="0" i="0" dirty="0" err="1">
                <a:solidFill>
                  <a:srgbClr val="1F1F1F"/>
                </a:solidFill>
                <a:effectLst/>
              </a:rPr>
              <a:t>Lỗi</a:t>
            </a:r>
            <a:r>
              <a:rPr lang="en-US" b="0" i="0" dirty="0">
                <a:solidFill>
                  <a:srgbClr val="1F1F1F"/>
                </a:solidFill>
                <a:effectLst/>
              </a:rPr>
              <a:t> </a:t>
            </a:r>
            <a:r>
              <a:rPr lang="en-US" b="0" i="0" dirty="0" err="1">
                <a:solidFill>
                  <a:srgbClr val="1F1F1F"/>
                </a:solidFill>
                <a:effectLst/>
              </a:rPr>
              <a:t>rãnh</a:t>
            </a:r>
            <a:r>
              <a:rPr lang="en-US" b="0" i="0" dirty="0">
                <a:solidFill>
                  <a:srgbClr val="1F1F1F"/>
                </a:solidFill>
                <a:effectLst/>
              </a:rPr>
              <a:t> </a:t>
            </a:r>
            <a:r>
              <a:rPr lang="en-US" b="0" i="0" dirty="0" err="1">
                <a:solidFill>
                  <a:srgbClr val="1F1F1F"/>
                </a:solidFill>
                <a:effectLst/>
              </a:rPr>
              <a:t>trong</a:t>
            </a:r>
            <a:r>
              <a:rPr lang="en-US" b="0" i="0" dirty="0">
                <a:solidFill>
                  <a:srgbClr val="1F1F1F"/>
                </a:solidFill>
                <a:effectLst/>
              </a:rPr>
              <a:t> (IR) </a:t>
            </a:r>
            <a:r>
              <a:rPr lang="en-US" b="0" i="0" dirty="0" err="1">
                <a:solidFill>
                  <a:srgbClr val="1F1F1F"/>
                </a:solidFill>
                <a:effectLst/>
              </a:rPr>
              <a:t>xuất</a:t>
            </a:r>
            <a:r>
              <a:rPr lang="en-US" b="0" i="0" dirty="0">
                <a:solidFill>
                  <a:srgbClr val="1F1F1F"/>
                </a:solidFill>
                <a:effectLst/>
              </a:rPr>
              <a:t> </a:t>
            </a:r>
            <a:r>
              <a:rPr lang="en-US" b="0" i="0" dirty="0" err="1">
                <a:solidFill>
                  <a:srgbClr val="1F1F1F"/>
                </a:solidFill>
                <a:effectLst/>
              </a:rPr>
              <a:t>hiện</a:t>
            </a:r>
            <a:r>
              <a:rPr lang="en-US" b="0" i="0" dirty="0">
                <a:solidFill>
                  <a:srgbClr val="1F1F1F"/>
                </a:solidFill>
                <a:effectLst/>
              </a:rPr>
              <a:t> </a:t>
            </a:r>
            <a:r>
              <a:rPr lang="en-US" b="0" i="0" dirty="0" err="1">
                <a:solidFill>
                  <a:srgbClr val="1F1F1F"/>
                </a:solidFill>
                <a:effectLst/>
              </a:rPr>
              <a:t>xung</a:t>
            </a:r>
            <a:r>
              <a:rPr lang="en-US" b="0" i="0" dirty="0">
                <a:solidFill>
                  <a:srgbClr val="1F1F1F"/>
                </a:solidFill>
                <a:effectLst/>
              </a:rPr>
              <a:t> </a:t>
            </a:r>
            <a:r>
              <a:rPr lang="en-US" b="0" i="0" dirty="0" err="1">
                <a:solidFill>
                  <a:srgbClr val="1F1F1F"/>
                </a:solidFill>
                <a:effectLst/>
              </a:rPr>
              <a:t>bị</a:t>
            </a:r>
            <a:r>
              <a:rPr lang="en-US" b="0" i="0" dirty="0">
                <a:solidFill>
                  <a:srgbClr val="1F1F1F"/>
                </a:solidFill>
                <a:effectLst/>
              </a:rPr>
              <a:t> </a:t>
            </a:r>
            <a:r>
              <a:rPr lang="en-US" b="0" i="0" dirty="0" err="1">
                <a:solidFill>
                  <a:srgbClr val="1F1F1F"/>
                </a:solidFill>
                <a:effectLst/>
              </a:rPr>
              <a:t>điều</a:t>
            </a:r>
            <a:r>
              <a:rPr lang="en-US" b="0" i="0" dirty="0">
                <a:solidFill>
                  <a:srgbClr val="1F1F1F"/>
                </a:solidFill>
                <a:effectLst/>
              </a:rPr>
              <a:t> </a:t>
            </a:r>
            <a:r>
              <a:rPr lang="en-US" b="0" i="0" dirty="0" err="1">
                <a:solidFill>
                  <a:srgbClr val="1F1F1F"/>
                </a:solidFill>
                <a:effectLst/>
              </a:rPr>
              <a:t>chế</a:t>
            </a:r>
            <a:r>
              <a:rPr lang="en-US" b="0" i="0" dirty="0">
                <a:solidFill>
                  <a:srgbClr val="1F1F1F"/>
                </a:solidFill>
                <a:effectLst/>
              </a:rPr>
              <a:t> </a:t>
            </a:r>
            <a:r>
              <a:rPr lang="en-US" b="0" i="0" dirty="0" err="1">
                <a:solidFill>
                  <a:srgbClr val="1F1F1F"/>
                </a:solidFill>
                <a:effectLst/>
              </a:rPr>
              <a:t>biên</a:t>
            </a:r>
            <a:r>
              <a:rPr lang="en-US" b="0" i="0" dirty="0">
                <a:solidFill>
                  <a:srgbClr val="1F1F1F"/>
                </a:solidFill>
                <a:effectLst/>
              </a:rPr>
              <a:t> </a:t>
            </a:r>
            <a:r>
              <a:rPr lang="en-US" b="0" i="0" dirty="0" err="1">
                <a:solidFill>
                  <a:srgbClr val="1F1F1F"/>
                </a:solidFill>
                <a:effectLst/>
              </a:rPr>
              <a:t>độ</a:t>
            </a:r>
            <a:r>
              <a:rPr lang="en-US" b="0" i="0" dirty="0">
                <a:solidFill>
                  <a:srgbClr val="1F1F1F"/>
                </a:solidFill>
                <a:effectLst/>
              </a:rPr>
              <a:t>; </a:t>
            </a:r>
            <a:r>
              <a:rPr lang="en-US" b="0" i="0" dirty="0" err="1">
                <a:solidFill>
                  <a:srgbClr val="1F1F1F"/>
                </a:solidFill>
                <a:effectLst/>
              </a:rPr>
              <a:t>Lỗi</a:t>
            </a:r>
            <a:r>
              <a:rPr lang="en-US" b="0" i="0" dirty="0">
                <a:solidFill>
                  <a:srgbClr val="1F1F1F"/>
                </a:solidFill>
                <a:effectLst/>
              </a:rPr>
              <a:t> </a:t>
            </a:r>
            <a:r>
              <a:rPr lang="en-US" b="0" i="0" dirty="0" err="1">
                <a:solidFill>
                  <a:srgbClr val="1F1F1F"/>
                </a:solidFill>
                <a:effectLst/>
              </a:rPr>
              <a:t>viên</a:t>
            </a:r>
            <a:r>
              <a:rPr lang="en-US" b="0" i="0" dirty="0">
                <a:solidFill>
                  <a:srgbClr val="1F1F1F"/>
                </a:solidFill>
                <a:effectLst/>
              </a:rPr>
              <a:t> bi (Ball) </a:t>
            </a:r>
            <a:r>
              <a:rPr lang="en-US" b="0" i="0" dirty="0" err="1">
                <a:solidFill>
                  <a:srgbClr val="1F1F1F"/>
                </a:solidFill>
                <a:effectLst/>
              </a:rPr>
              <a:t>có</a:t>
            </a:r>
            <a:r>
              <a:rPr lang="en-US" b="0" i="0" dirty="0">
                <a:solidFill>
                  <a:srgbClr val="1F1F1F"/>
                </a:solidFill>
                <a:effectLst/>
              </a:rPr>
              <a:t> </a:t>
            </a:r>
            <a:r>
              <a:rPr lang="en-US" b="0" i="0" dirty="0" err="1">
                <a:solidFill>
                  <a:srgbClr val="1F1F1F"/>
                </a:solidFill>
                <a:effectLst/>
              </a:rPr>
              <a:t>xung</a:t>
            </a:r>
            <a:r>
              <a:rPr lang="en-US" b="0" i="0" dirty="0">
                <a:solidFill>
                  <a:srgbClr val="1F1F1F"/>
                </a:solidFill>
                <a:effectLst/>
              </a:rPr>
              <a:t> </a:t>
            </a:r>
            <a:r>
              <a:rPr lang="en-US" b="0" i="0" dirty="0" err="1">
                <a:solidFill>
                  <a:srgbClr val="1F1F1F"/>
                </a:solidFill>
                <a:effectLst/>
              </a:rPr>
              <a:t>thưa</a:t>
            </a:r>
            <a:r>
              <a:rPr lang="en-US" b="0" i="0" dirty="0">
                <a:solidFill>
                  <a:srgbClr val="1F1F1F"/>
                </a:solidFill>
                <a:effectLst/>
              </a:rPr>
              <a:t> </a:t>
            </a:r>
            <a:r>
              <a:rPr lang="en-US" b="0" i="0" dirty="0" err="1">
                <a:solidFill>
                  <a:srgbClr val="1F1F1F"/>
                </a:solidFill>
                <a:effectLst/>
              </a:rPr>
              <a:t>thớt</a:t>
            </a:r>
            <a:r>
              <a:rPr lang="en-US" b="0" i="0" dirty="0">
                <a:solidFill>
                  <a:srgbClr val="1F1F1F"/>
                </a:solidFill>
                <a:effectLst/>
              </a:rPr>
              <a:t>, </a:t>
            </a:r>
            <a:r>
              <a:rPr lang="en-US" b="0" i="0" dirty="0" err="1">
                <a:solidFill>
                  <a:srgbClr val="1F1F1F"/>
                </a:solidFill>
                <a:effectLst/>
              </a:rPr>
              <a:t>khó</a:t>
            </a:r>
            <a:r>
              <a:rPr lang="en-US" b="0" i="0" dirty="0">
                <a:solidFill>
                  <a:srgbClr val="1F1F1F"/>
                </a:solidFill>
                <a:effectLst/>
              </a:rPr>
              <a:t> </a:t>
            </a:r>
            <a:r>
              <a:rPr lang="en-US" b="0" i="0" dirty="0" err="1">
                <a:solidFill>
                  <a:srgbClr val="1F1F1F"/>
                </a:solidFill>
                <a:effectLst/>
              </a:rPr>
              <a:t>nhận</a:t>
            </a:r>
            <a:r>
              <a:rPr lang="en-US" b="0" i="0" dirty="0">
                <a:solidFill>
                  <a:srgbClr val="1F1F1F"/>
                </a:solidFill>
                <a:effectLst/>
              </a:rPr>
              <a:t> </a:t>
            </a:r>
            <a:r>
              <a:rPr lang="en-US" b="0" i="0" dirty="0" err="1">
                <a:solidFill>
                  <a:srgbClr val="1F1F1F"/>
                </a:solidFill>
                <a:effectLst/>
              </a:rPr>
              <a:t>diện</a:t>
            </a:r>
            <a:endParaRPr lang="en-US" dirty="0"/>
          </a:p>
        </p:txBody>
      </p:sp>
      <p:sp>
        <p:nvSpPr>
          <p:cNvPr id="12" name="Text 4">
            <a:extLst>
              <a:ext uri="{FF2B5EF4-FFF2-40B4-BE49-F238E27FC236}">
                <a16:creationId xmlns:a16="http://schemas.microsoft.com/office/drawing/2014/main" id="{1BB83EB0-93E3-3D42-C62C-194525204BA1}"/>
              </a:ext>
            </a:extLst>
          </p:cNvPr>
          <p:cNvSpPr/>
          <p:nvPr/>
        </p:nvSpPr>
        <p:spPr>
          <a:xfrm>
            <a:off x="220318" y="1901068"/>
            <a:ext cx="5977282" cy="303651"/>
          </a:xfrm>
          <a:prstGeom prst="rect">
            <a:avLst/>
          </a:prstGeom>
          <a:noFill/>
          <a:ln/>
        </p:spPr>
        <p:txBody>
          <a:bodyPr wrap="square" rtlCol="0" anchor="ctr"/>
          <a:lstStyle/>
          <a:p>
            <a:pPr marL="0" indent="0">
              <a:buNone/>
            </a:pPr>
            <a:r>
              <a:rPr lang="en-US" b="1" dirty="0">
                <a:solidFill>
                  <a:srgbClr val="68C496"/>
                </a:solidFill>
                <a:latin typeface="Calibri" pitchFamily="34" charset="0"/>
                <a:ea typeface="Calibri" pitchFamily="34" charset="-122"/>
                <a:cs typeface="Calibri" pitchFamily="34" charset="-120"/>
              </a:rPr>
              <a:t>Bình </a:t>
            </a:r>
            <a:r>
              <a:rPr lang="en-US" b="1" dirty="0" err="1">
                <a:solidFill>
                  <a:srgbClr val="68C496"/>
                </a:solidFill>
                <a:latin typeface="Calibri" pitchFamily="34" charset="0"/>
                <a:ea typeface="Calibri" pitchFamily="34" charset="-122"/>
                <a:cs typeface="Calibri" pitchFamily="34" charset="-120"/>
              </a:rPr>
              <a:t>thường</a:t>
            </a:r>
            <a:r>
              <a:rPr lang="en-US" b="1" dirty="0">
                <a:solidFill>
                  <a:srgbClr val="68C496"/>
                </a:solidFill>
                <a:latin typeface="Calibri" pitchFamily="34" charset="0"/>
                <a:ea typeface="Calibri" pitchFamily="34" charset="-122"/>
                <a:cs typeface="Calibri" pitchFamily="34" charset="-120"/>
              </a:rPr>
              <a:t> (N)</a:t>
            </a:r>
            <a:endParaRPr lang="en-US" dirty="0">
              <a:solidFill>
                <a:srgbClr val="68C496"/>
              </a:solidFill>
            </a:endParaRPr>
          </a:p>
        </p:txBody>
      </p:sp>
      <p:sp>
        <p:nvSpPr>
          <p:cNvPr id="13" name="Text 5">
            <a:extLst>
              <a:ext uri="{FF2B5EF4-FFF2-40B4-BE49-F238E27FC236}">
                <a16:creationId xmlns:a16="http://schemas.microsoft.com/office/drawing/2014/main" id="{9F25A2FD-037E-5795-9342-CEEA76CBBDC0}"/>
              </a:ext>
            </a:extLst>
          </p:cNvPr>
          <p:cNvSpPr/>
          <p:nvPr/>
        </p:nvSpPr>
        <p:spPr>
          <a:xfrm>
            <a:off x="220318" y="2300100"/>
            <a:ext cx="5977282" cy="474455"/>
          </a:xfrm>
          <a:prstGeom prst="rect">
            <a:avLst/>
          </a:prstGeom>
          <a:noFill/>
          <a:ln/>
        </p:spPr>
        <p:txBody>
          <a:bodyPr wrap="square" rtlCol="0" anchor="ctr"/>
          <a:lstStyle/>
          <a:p>
            <a:pPr marL="0" indent="0">
              <a:buNone/>
            </a:pPr>
            <a:r>
              <a:rPr lang="en-US" dirty="0">
                <a:latin typeface="Calibri" pitchFamily="34" charset="0"/>
                <a:ea typeface="Calibri" pitchFamily="34" charset="-122"/>
                <a:cs typeface="Calibri" pitchFamily="34" charset="-120"/>
              </a:rPr>
              <a:t>Biên độ </a:t>
            </a:r>
            <a:r>
              <a:rPr lang="en-US" dirty="0" err="1">
                <a:latin typeface="Calibri" pitchFamily="34" charset="0"/>
                <a:ea typeface="Calibri" pitchFamily="34" charset="-122"/>
                <a:cs typeface="Calibri" pitchFamily="34" charset="-120"/>
              </a:rPr>
              <a:t>cực</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nhỏ</a:t>
            </a:r>
            <a:r>
              <a:rPr lang="en-US" dirty="0">
                <a:latin typeface="Calibri" pitchFamily="34" charset="0"/>
                <a:ea typeface="Calibri" pitchFamily="34" charset="-122"/>
                <a:cs typeface="Calibri" pitchFamily="34" charset="-120"/>
              </a:rPr>
              <a:t> (0.2 g), tín hiệu phẳng, </a:t>
            </a:r>
            <a:r>
              <a:rPr lang="en-US" dirty="0" err="1">
                <a:latin typeface="Calibri" pitchFamily="34" charset="0"/>
                <a:ea typeface="Calibri" pitchFamily="34" charset="-122"/>
                <a:cs typeface="Calibri" pitchFamily="34" charset="-120"/>
              </a:rPr>
              <a:t>không</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xuất</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hiện</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các</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xung</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va</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đập</a:t>
            </a:r>
            <a:r>
              <a:rPr lang="en-US" dirty="0">
                <a:latin typeface="Calibri" pitchFamily="34" charset="0"/>
                <a:ea typeface="Calibri" pitchFamily="34" charset="-122"/>
                <a:cs typeface="Calibri" pitchFamily="34" charset="-120"/>
              </a:rPr>
              <a:t> bất thường.</a:t>
            </a:r>
            <a:endParaRPr lang="en-US" dirty="0"/>
          </a:p>
        </p:txBody>
      </p:sp>
      <p:sp>
        <p:nvSpPr>
          <p:cNvPr id="15" name="Text 7">
            <a:extLst>
              <a:ext uri="{FF2B5EF4-FFF2-40B4-BE49-F238E27FC236}">
                <a16:creationId xmlns:a16="http://schemas.microsoft.com/office/drawing/2014/main" id="{8F2EECFA-3CF4-10CB-8CC8-08D9FB4B4186}"/>
              </a:ext>
            </a:extLst>
          </p:cNvPr>
          <p:cNvSpPr/>
          <p:nvPr/>
        </p:nvSpPr>
        <p:spPr>
          <a:xfrm>
            <a:off x="220318" y="2967923"/>
            <a:ext cx="5977282" cy="303651"/>
          </a:xfrm>
          <a:prstGeom prst="rect">
            <a:avLst/>
          </a:prstGeom>
          <a:noFill/>
          <a:ln/>
        </p:spPr>
        <p:txBody>
          <a:bodyPr wrap="square" rtlCol="0" anchor="ctr"/>
          <a:lstStyle/>
          <a:p>
            <a:pPr marL="0" indent="0">
              <a:buNone/>
            </a:pPr>
            <a:r>
              <a:rPr lang="en-US" b="1" dirty="0" err="1">
                <a:solidFill>
                  <a:srgbClr val="63A6D5"/>
                </a:solidFill>
                <a:latin typeface="Calibri" pitchFamily="34" charset="0"/>
                <a:ea typeface="Calibri" pitchFamily="34" charset="-122"/>
                <a:cs typeface="Calibri" pitchFamily="34" charset="-120"/>
              </a:rPr>
              <a:t>Lỗi</a:t>
            </a:r>
            <a:r>
              <a:rPr lang="en-US" b="1" dirty="0">
                <a:solidFill>
                  <a:srgbClr val="63A6D5"/>
                </a:solidFill>
                <a:latin typeface="Calibri" pitchFamily="34" charset="0"/>
                <a:ea typeface="Calibri" pitchFamily="34" charset="-122"/>
                <a:cs typeface="Calibri" pitchFamily="34" charset="-120"/>
              </a:rPr>
              <a:t> </a:t>
            </a:r>
            <a:r>
              <a:rPr lang="en-US" b="1" dirty="0" err="1">
                <a:solidFill>
                  <a:srgbClr val="63A6D5"/>
                </a:solidFill>
                <a:latin typeface="Calibri" pitchFamily="34" charset="0"/>
                <a:ea typeface="Calibri" pitchFamily="34" charset="-122"/>
                <a:cs typeface="Calibri" pitchFamily="34" charset="-120"/>
              </a:rPr>
              <a:t>vòng</a:t>
            </a:r>
            <a:r>
              <a:rPr lang="en-US" b="1" dirty="0">
                <a:solidFill>
                  <a:srgbClr val="63A6D5"/>
                </a:solidFill>
                <a:latin typeface="Calibri" pitchFamily="34" charset="0"/>
                <a:ea typeface="Calibri" pitchFamily="34" charset="-122"/>
                <a:cs typeface="Calibri" pitchFamily="34" charset="-120"/>
              </a:rPr>
              <a:t> </a:t>
            </a:r>
            <a:r>
              <a:rPr lang="en-US" b="1" dirty="0" err="1">
                <a:solidFill>
                  <a:srgbClr val="63A6D5"/>
                </a:solidFill>
                <a:latin typeface="Calibri" pitchFamily="34" charset="0"/>
                <a:ea typeface="Calibri" pitchFamily="34" charset="-122"/>
                <a:cs typeface="Calibri" pitchFamily="34" charset="-120"/>
              </a:rPr>
              <a:t>trong</a:t>
            </a:r>
            <a:r>
              <a:rPr lang="en-US" b="1" dirty="0">
                <a:solidFill>
                  <a:srgbClr val="63A6D5"/>
                </a:solidFill>
                <a:latin typeface="Calibri" pitchFamily="34" charset="0"/>
                <a:ea typeface="Calibri" pitchFamily="34" charset="-122"/>
                <a:cs typeface="Calibri" pitchFamily="34" charset="-120"/>
              </a:rPr>
              <a:t> (IR)</a:t>
            </a:r>
            <a:endParaRPr lang="en-US" dirty="0">
              <a:solidFill>
                <a:srgbClr val="63A6D5"/>
              </a:solidFill>
            </a:endParaRPr>
          </a:p>
        </p:txBody>
      </p:sp>
      <p:sp>
        <p:nvSpPr>
          <p:cNvPr id="16" name="Text 8">
            <a:extLst>
              <a:ext uri="{FF2B5EF4-FFF2-40B4-BE49-F238E27FC236}">
                <a16:creationId xmlns:a16="http://schemas.microsoft.com/office/drawing/2014/main" id="{09F55884-EB50-3CC0-C903-FB62517A517A}"/>
              </a:ext>
            </a:extLst>
          </p:cNvPr>
          <p:cNvSpPr/>
          <p:nvPr/>
        </p:nvSpPr>
        <p:spPr>
          <a:xfrm>
            <a:off x="220318" y="3377942"/>
            <a:ext cx="5977282" cy="474455"/>
          </a:xfrm>
          <a:prstGeom prst="rect">
            <a:avLst/>
          </a:prstGeom>
          <a:noFill/>
          <a:ln/>
        </p:spPr>
        <p:txBody>
          <a:bodyPr wrap="square" rtlCol="0" anchor="ctr"/>
          <a:lstStyle/>
          <a:p>
            <a:pPr marL="0" indent="0">
              <a:buNone/>
            </a:pPr>
            <a:r>
              <a:rPr lang="en-US" dirty="0" err="1">
                <a:latin typeface="Calibri" pitchFamily="34" charset="0"/>
                <a:ea typeface="Calibri" pitchFamily="34" charset="-122"/>
                <a:cs typeface="Calibri" pitchFamily="34" charset="-120"/>
              </a:rPr>
              <a:t>Vết</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nứt</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nằm</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trên</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đường</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lăn</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rãnh</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trong</a:t>
            </a:r>
            <a:r>
              <a:rPr lang="en-US" dirty="0">
                <a:latin typeface="Calibri" pitchFamily="34" charset="0"/>
                <a:ea typeface="Calibri" pitchFamily="34" charset="-122"/>
                <a:cs typeface="Calibri" pitchFamily="34" charset="-120"/>
              </a:rPr>
              <a:t> quay </a:t>
            </a:r>
            <a:r>
              <a:rPr lang="en-US" dirty="0" err="1">
                <a:latin typeface="Calibri" pitchFamily="34" charset="0"/>
                <a:ea typeface="Calibri" pitchFamily="34" charset="-122"/>
                <a:cs typeface="Calibri" pitchFamily="34" charset="-120"/>
              </a:rPr>
              <a:t>cùng</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trục</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Xung</a:t>
            </a:r>
            <a:r>
              <a:rPr lang="en-US" dirty="0">
                <a:latin typeface="Calibri" pitchFamily="34" charset="0"/>
                <a:ea typeface="Calibri" pitchFamily="34" charset="-122"/>
                <a:cs typeface="Calibri" pitchFamily="34" charset="-120"/>
              </a:rPr>
              <a:t> va đập mạnh, </a:t>
            </a:r>
            <a:r>
              <a:rPr lang="en-US" dirty="0" err="1">
                <a:latin typeface="Calibri" pitchFamily="34" charset="0"/>
                <a:ea typeface="Calibri" pitchFamily="34" charset="-122"/>
                <a:cs typeface="Calibri" pitchFamily="34" charset="-120"/>
              </a:rPr>
              <a:t>không</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đều</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và</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biên</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độ</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bị</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điều</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biến</a:t>
            </a:r>
            <a:r>
              <a:rPr lang="en-US" dirty="0">
                <a:latin typeface="Calibri" pitchFamily="34" charset="0"/>
                <a:ea typeface="Calibri" pitchFamily="34" charset="-122"/>
                <a:cs typeface="Calibri" pitchFamily="34" charset="-120"/>
              </a:rPr>
              <a:t>.</a:t>
            </a:r>
            <a:endParaRPr lang="en-US" dirty="0"/>
          </a:p>
        </p:txBody>
      </p:sp>
      <p:sp>
        <p:nvSpPr>
          <p:cNvPr id="18" name="Text 10">
            <a:extLst>
              <a:ext uri="{FF2B5EF4-FFF2-40B4-BE49-F238E27FC236}">
                <a16:creationId xmlns:a16="http://schemas.microsoft.com/office/drawing/2014/main" id="{2F5D1185-0853-5C25-A75D-1F3009C0097B}"/>
              </a:ext>
            </a:extLst>
          </p:cNvPr>
          <p:cNvSpPr/>
          <p:nvPr/>
        </p:nvSpPr>
        <p:spPr>
          <a:xfrm>
            <a:off x="220318" y="4069091"/>
            <a:ext cx="5977282" cy="303651"/>
          </a:xfrm>
          <a:prstGeom prst="rect">
            <a:avLst/>
          </a:prstGeom>
          <a:noFill/>
          <a:ln/>
        </p:spPr>
        <p:txBody>
          <a:bodyPr wrap="square" rtlCol="0" anchor="ctr"/>
          <a:lstStyle/>
          <a:p>
            <a:pPr marL="0" indent="0">
              <a:buNone/>
            </a:pPr>
            <a:r>
              <a:rPr lang="en-US" b="1" dirty="0" err="1">
                <a:solidFill>
                  <a:srgbClr val="D55043"/>
                </a:solidFill>
                <a:latin typeface="Calibri" pitchFamily="34" charset="0"/>
                <a:ea typeface="Calibri" pitchFamily="34" charset="-122"/>
                <a:cs typeface="Calibri" pitchFamily="34" charset="-120"/>
              </a:rPr>
              <a:t>Lỗi</a:t>
            </a:r>
            <a:r>
              <a:rPr lang="en-US" b="1" dirty="0">
                <a:solidFill>
                  <a:srgbClr val="D55043"/>
                </a:solidFill>
                <a:latin typeface="Calibri" pitchFamily="34" charset="0"/>
                <a:ea typeface="Calibri" pitchFamily="34" charset="-122"/>
                <a:cs typeface="Calibri" pitchFamily="34" charset="-120"/>
              </a:rPr>
              <a:t> rãnh trong (IR)</a:t>
            </a:r>
            <a:endParaRPr lang="en-US" dirty="0">
              <a:solidFill>
                <a:srgbClr val="D55043"/>
              </a:solidFill>
            </a:endParaRPr>
          </a:p>
        </p:txBody>
      </p:sp>
      <p:sp>
        <p:nvSpPr>
          <p:cNvPr id="19" name="Text 11">
            <a:extLst>
              <a:ext uri="{FF2B5EF4-FFF2-40B4-BE49-F238E27FC236}">
                <a16:creationId xmlns:a16="http://schemas.microsoft.com/office/drawing/2014/main" id="{77E0A2CE-24B4-392C-57D0-01B6A516CA4F}"/>
              </a:ext>
            </a:extLst>
          </p:cNvPr>
          <p:cNvSpPr/>
          <p:nvPr/>
        </p:nvSpPr>
        <p:spPr>
          <a:xfrm>
            <a:off x="220318" y="4419579"/>
            <a:ext cx="5977282" cy="474455"/>
          </a:xfrm>
          <a:prstGeom prst="rect">
            <a:avLst/>
          </a:prstGeom>
          <a:noFill/>
          <a:ln/>
        </p:spPr>
        <p:txBody>
          <a:bodyPr wrap="square" rtlCol="0" anchor="ctr"/>
          <a:lstStyle/>
          <a:p>
            <a:r>
              <a:rPr lang="en-US" dirty="0" err="1">
                <a:latin typeface="Calibri" pitchFamily="34" charset="0"/>
                <a:ea typeface="Calibri" pitchFamily="34" charset="-122"/>
                <a:cs typeface="Calibri" pitchFamily="34" charset="-120"/>
              </a:rPr>
              <a:t>Vết</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nứt</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nằm</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trong</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đương</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lẵn</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rãnh</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ngoài</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cố</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đinh</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Xung</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va</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đập</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mạnh</a:t>
            </a:r>
            <a:r>
              <a:rPr lang="en-US" dirty="0">
                <a:latin typeface="Calibri" pitchFamily="34" charset="0"/>
                <a:ea typeface="Calibri" pitchFamily="34" charset="-122"/>
                <a:cs typeface="Calibri" pitchFamily="34" charset="-120"/>
              </a:rPr>
              <a:t>, chu </a:t>
            </a:r>
            <a:r>
              <a:rPr lang="en-US" dirty="0" err="1">
                <a:latin typeface="Calibri" pitchFamily="34" charset="0"/>
                <a:ea typeface="Calibri" pitchFamily="34" charset="-122"/>
                <a:cs typeface="Calibri" pitchFamily="34" charset="-120"/>
              </a:rPr>
              <a:t>kỳ</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và</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biên</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độ</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ổn</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định</a:t>
            </a:r>
            <a:r>
              <a:rPr lang="en-US" dirty="0">
                <a:latin typeface="Calibri" pitchFamily="34" charset="0"/>
                <a:ea typeface="Calibri" pitchFamily="34" charset="-122"/>
                <a:cs typeface="Calibri" pitchFamily="34" charset="-120"/>
              </a:rPr>
              <a:t>.</a:t>
            </a:r>
            <a:endParaRPr lang="en-US" dirty="0"/>
          </a:p>
        </p:txBody>
      </p:sp>
      <p:sp>
        <p:nvSpPr>
          <p:cNvPr id="21" name="Text 13">
            <a:extLst>
              <a:ext uri="{FF2B5EF4-FFF2-40B4-BE49-F238E27FC236}">
                <a16:creationId xmlns:a16="http://schemas.microsoft.com/office/drawing/2014/main" id="{EE5A043D-050F-7268-1357-445FE372519A}"/>
              </a:ext>
            </a:extLst>
          </p:cNvPr>
          <p:cNvSpPr/>
          <p:nvPr/>
        </p:nvSpPr>
        <p:spPr>
          <a:xfrm>
            <a:off x="220317" y="5079971"/>
            <a:ext cx="5977283" cy="303651"/>
          </a:xfrm>
          <a:prstGeom prst="rect">
            <a:avLst/>
          </a:prstGeom>
          <a:noFill/>
          <a:ln/>
        </p:spPr>
        <p:txBody>
          <a:bodyPr wrap="square" rtlCol="0" anchor="ctr"/>
          <a:lstStyle/>
          <a:p>
            <a:pPr marL="0" indent="0">
              <a:buNone/>
            </a:pPr>
            <a:r>
              <a:rPr lang="en-US" b="1" dirty="0" err="1">
                <a:solidFill>
                  <a:srgbClr val="E9BF73"/>
                </a:solidFill>
                <a:latin typeface="Calibri" pitchFamily="34" charset="0"/>
                <a:ea typeface="Calibri" pitchFamily="34" charset="-122"/>
                <a:cs typeface="Calibri" pitchFamily="34" charset="-120"/>
              </a:rPr>
              <a:t>Lỗi</a:t>
            </a:r>
            <a:r>
              <a:rPr lang="en-US" b="1" dirty="0">
                <a:solidFill>
                  <a:srgbClr val="E9BF73"/>
                </a:solidFill>
                <a:latin typeface="Calibri" pitchFamily="34" charset="0"/>
                <a:ea typeface="Calibri" pitchFamily="34" charset="-122"/>
                <a:cs typeface="Calibri" pitchFamily="34" charset="-120"/>
              </a:rPr>
              <a:t> viên bi (Ball)</a:t>
            </a:r>
            <a:endParaRPr lang="en-US" dirty="0">
              <a:solidFill>
                <a:srgbClr val="E9BF73"/>
              </a:solidFill>
            </a:endParaRPr>
          </a:p>
        </p:txBody>
      </p:sp>
      <p:sp>
        <p:nvSpPr>
          <p:cNvPr id="22" name="Text 14">
            <a:extLst>
              <a:ext uri="{FF2B5EF4-FFF2-40B4-BE49-F238E27FC236}">
                <a16:creationId xmlns:a16="http://schemas.microsoft.com/office/drawing/2014/main" id="{C580D33B-7928-ADE3-02EA-4D7706CF5E89}"/>
              </a:ext>
            </a:extLst>
          </p:cNvPr>
          <p:cNvSpPr/>
          <p:nvPr/>
        </p:nvSpPr>
        <p:spPr>
          <a:xfrm>
            <a:off x="220317" y="5486147"/>
            <a:ext cx="5977283" cy="474455"/>
          </a:xfrm>
          <a:prstGeom prst="rect">
            <a:avLst/>
          </a:prstGeom>
          <a:noFill/>
          <a:ln/>
        </p:spPr>
        <p:txBody>
          <a:bodyPr wrap="square" rtlCol="0" anchor="ctr"/>
          <a:lstStyle/>
          <a:p>
            <a:pPr marL="0" indent="0">
              <a:buNone/>
            </a:pPr>
            <a:r>
              <a:rPr lang="en-US" dirty="0" err="1">
                <a:latin typeface="Calibri" pitchFamily="34" charset="0"/>
                <a:ea typeface="Calibri" pitchFamily="34" charset="-122"/>
                <a:cs typeface="Calibri" pitchFamily="34" charset="-120"/>
              </a:rPr>
              <a:t>Khuyết</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tật</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nằm</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trên</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bề</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mặt</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viên</a:t>
            </a:r>
            <a:r>
              <a:rPr lang="en-US" dirty="0">
                <a:latin typeface="Calibri" pitchFamily="34" charset="0"/>
                <a:ea typeface="Calibri" pitchFamily="34" charset="-122"/>
                <a:cs typeface="Calibri" pitchFamily="34" charset="-120"/>
              </a:rPr>
              <a:t> bi. Va </a:t>
            </a:r>
            <a:r>
              <a:rPr lang="en-US" dirty="0" err="1">
                <a:latin typeface="Calibri" pitchFamily="34" charset="0"/>
                <a:ea typeface="Calibri" pitchFamily="34" charset="-122"/>
                <a:cs typeface="Calibri" pitchFamily="34" charset="-120"/>
              </a:rPr>
              <a:t>đập</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đa</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hướng</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phức</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tạp</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khó</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nhận</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biết</a:t>
            </a:r>
            <a:r>
              <a:rPr lang="en-US" dirty="0">
                <a:latin typeface="Calibri" pitchFamily="34" charset="0"/>
                <a:ea typeface="Calibri" pitchFamily="34" charset="-122"/>
                <a:cs typeface="Calibri" pitchFamily="34" charset="-120"/>
              </a:rPr>
              <a:t> </a:t>
            </a:r>
            <a:r>
              <a:rPr lang="en-US" dirty="0" err="1">
                <a:latin typeface="Calibri" pitchFamily="34" charset="0"/>
                <a:ea typeface="Calibri" pitchFamily="34" charset="-122"/>
                <a:cs typeface="Calibri" pitchFamily="34" charset="-120"/>
              </a:rPr>
              <a:t>nhất</a:t>
            </a:r>
            <a:r>
              <a:rPr lang="en-US" dirty="0">
                <a:latin typeface="Calibri" pitchFamily="34" charset="0"/>
                <a:ea typeface="Calibri" pitchFamily="34" charset="-122"/>
                <a:cs typeface="Calibri" pitchFamily="34" charset="-120"/>
              </a:rPr>
              <a:t>.</a:t>
            </a:r>
            <a:endParaRPr lang="en-US" dirty="0"/>
          </a:p>
        </p:txBody>
      </p:sp>
    </p:spTree>
    <p:extLst>
      <p:ext uri="{BB962C8B-B14F-4D97-AF65-F5344CB8AC3E}">
        <p14:creationId xmlns:p14="http://schemas.microsoft.com/office/powerpoint/2010/main" val="35945983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B1920-4595-C18D-5B9A-CB36FDFA57C1}"/>
              </a:ext>
            </a:extLst>
          </p:cNvPr>
          <p:cNvSpPr>
            <a:spLocks noGrp="1"/>
          </p:cNvSpPr>
          <p:nvPr>
            <p:ph type="title"/>
          </p:nvPr>
        </p:nvSpPr>
        <p:spPr/>
        <p:txBody>
          <a:bodyPr/>
          <a:lstStyle/>
          <a:p>
            <a:r>
              <a:rPr lang="en-US" dirty="0"/>
              <a:t>Định </a:t>
            </a:r>
            <a:r>
              <a:rPr lang="en-US" dirty="0" err="1"/>
              <a:t>lượng</a:t>
            </a:r>
            <a:r>
              <a:rPr lang="en-US" dirty="0"/>
              <a:t> </a:t>
            </a:r>
            <a:r>
              <a:rPr lang="en-US" dirty="0" err="1"/>
              <a:t>mức</a:t>
            </a:r>
            <a:r>
              <a:rPr lang="en-US" dirty="0"/>
              <a:t> </a:t>
            </a:r>
            <a:r>
              <a:rPr lang="en-US" dirty="0" err="1"/>
              <a:t>độ</a:t>
            </a:r>
            <a:r>
              <a:rPr lang="en-US" dirty="0"/>
              <a:t> rung</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009DB75D-D8C6-75EC-808F-F3142C0A78E8}"/>
                  </a:ext>
                </a:extLst>
              </p:cNvPr>
              <p:cNvSpPr>
                <a:spLocks noGrp="1"/>
              </p:cNvSpPr>
              <p:nvPr>
                <p:ph type="body" sz="quarter" idx="13"/>
              </p:nvPr>
            </p:nvSpPr>
            <p:spPr>
              <a:xfrm>
                <a:off x="338736" y="908843"/>
                <a:ext cx="5541264" cy="1417797"/>
              </a:xfrm>
            </p:spPr>
            <p:txBody>
              <a:bodyPr/>
              <a:lstStyle/>
              <a:p>
                <a:pPr>
                  <a:buFont typeface="Wingdings" panose="05000000000000000000" pitchFamily="2" charset="2"/>
                  <a:buChar char="q"/>
                </a:pPr>
                <a:r>
                  <a:rPr lang="en-US" sz="1800" dirty="0">
                    <a:latin typeface="+mn-lt"/>
                  </a:rPr>
                  <a:t>RMS (</a:t>
                </a:r>
                <a:r>
                  <a:rPr lang="en-US" sz="1800" dirty="0" err="1">
                    <a:latin typeface="+mn-lt"/>
                  </a:rPr>
                  <a:t>Trị</a:t>
                </a:r>
                <a:r>
                  <a:rPr lang="en-US" sz="1800" dirty="0">
                    <a:latin typeface="+mn-lt"/>
                  </a:rPr>
                  <a:t> </a:t>
                </a:r>
                <a:r>
                  <a:rPr lang="en-US" sz="1800" dirty="0" err="1">
                    <a:latin typeface="+mn-lt"/>
                  </a:rPr>
                  <a:t>hiệu</a:t>
                </a:r>
                <a:r>
                  <a:rPr lang="en-US" sz="1800" dirty="0">
                    <a:latin typeface="+mn-lt"/>
                  </a:rPr>
                  <a:t> </a:t>
                </a:r>
                <a:r>
                  <a:rPr lang="en-US" sz="1800" dirty="0" err="1">
                    <a:latin typeface="+mn-lt"/>
                  </a:rPr>
                  <a:t>dụng</a:t>
                </a:r>
                <a:r>
                  <a:rPr lang="en-US" sz="1800" dirty="0">
                    <a:latin typeface="+mn-lt"/>
                  </a:rPr>
                  <a:t>):</a:t>
                </a:r>
              </a:p>
              <a:p>
                <a:pPr marL="0" indent="0">
                  <a:spcBef>
                    <a:spcPts val="0"/>
                  </a:spcBef>
                  <a:buNone/>
                </a:pPr>
                <a:endParaRPr lang="en-US" sz="1800" dirty="0">
                  <a:latin typeface="+mn-lt"/>
                </a:endParaRPr>
              </a:p>
              <a:p>
                <a:pPr marL="0" indent="0">
                  <a:buNone/>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𝑅𝑀𝑆</m:t>
                      </m:r>
                      <m:r>
                        <a:rPr lang="en-US" sz="1600" b="0" i="1" smtClean="0">
                          <a:latin typeface="Cambria Math" panose="02040503050406030204" pitchFamily="18" charset="0"/>
                        </a:rPr>
                        <m:t>=</m:t>
                      </m:r>
                      <m:rad>
                        <m:radPr>
                          <m:degHide m:val="on"/>
                          <m:ctrlPr>
                            <a:rPr lang="en-US" sz="1600" b="0" i="1" smtClean="0">
                              <a:latin typeface="Cambria Math" panose="02040503050406030204" pitchFamily="18" charset="0"/>
                            </a:rPr>
                          </m:ctrlPr>
                        </m:radPr>
                        <m:deg/>
                        <m:e>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1</m:t>
                              </m:r>
                            </m:num>
                            <m:den>
                              <m:r>
                                <a:rPr lang="en-US" sz="1600" b="0" i="1" smtClean="0">
                                  <a:latin typeface="Cambria Math" panose="02040503050406030204" pitchFamily="18" charset="0"/>
                                </a:rPr>
                                <m:t>𝑛</m:t>
                              </m:r>
                            </m:den>
                          </m:f>
                          <m:r>
                            <a:rPr lang="en-US" sz="1600" i="1">
                              <a:latin typeface="Cambria Math" panose="02040503050406030204" pitchFamily="18" charset="0"/>
                              <a:ea typeface="Cambria Math" panose="02040503050406030204" pitchFamily="18" charset="0"/>
                            </a:rPr>
                            <m:t>∙</m:t>
                          </m:r>
                          <m:nary>
                            <m:naryPr>
                              <m:chr m:val="∑"/>
                              <m:supHide m:val="on"/>
                              <m:ctrlPr>
                                <a:rPr lang="en-US" sz="1600" i="1">
                                  <a:latin typeface="Cambria Math" panose="02040503050406030204" pitchFamily="18" charset="0"/>
                                </a:rPr>
                              </m:ctrlPr>
                            </m:naryPr>
                            <m:sub>
                              <m:r>
                                <m:rPr>
                                  <m:brk m:alnAt="7"/>
                                </m:rPr>
                                <a:rPr lang="en-US" sz="1600" b="0" i="1" smtClean="0">
                                  <a:latin typeface="Cambria Math" panose="02040503050406030204" pitchFamily="18" charset="0"/>
                                </a:rPr>
                                <m:t>𝑖</m:t>
                              </m:r>
                              <m:r>
                                <a:rPr lang="en-US" sz="1600" b="0" i="1" smtClean="0">
                                  <a:latin typeface="Cambria Math" panose="02040503050406030204" pitchFamily="18" charset="0"/>
                                </a:rPr>
                                <m:t>=1,…,</m:t>
                              </m:r>
                              <m:r>
                                <a:rPr lang="en-US" sz="1600" b="0" i="1" smtClean="0">
                                  <a:latin typeface="Cambria Math" panose="02040503050406030204" pitchFamily="18" charset="0"/>
                                </a:rPr>
                                <m:t>𝑛</m:t>
                              </m:r>
                            </m:sub>
                            <m:sup/>
                            <m:e>
                              <m:sSubSup>
                                <m:sSubSupPr>
                                  <m:ctrlPr>
                                    <a:rPr lang="en-US" sz="1600" i="1" smtClean="0">
                                      <a:latin typeface="Cambria Math" panose="02040503050406030204" pitchFamily="18" charset="0"/>
                                    </a:rPr>
                                  </m:ctrlPr>
                                </m:sSubSupPr>
                                <m:e>
                                  <m:r>
                                    <a:rPr lang="en-US" sz="1600" b="0" i="1" smtClean="0">
                                      <a:latin typeface="Cambria Math" panose="02040503050406030204" pitchFamily="18" charset="0"/>
                                    </a:rPr>
                                    <m:t>𝑥</m:t>
                                  </m:r>
                                </m:e>
                                <m:sub>
                                  <m:r>
                                    <a:rPr lang="en-US" sz="1600" b="0" i="1" smtClean="0">
                                      <a:latin typeface="Cambria Math" panose="02040503050406030204" pitchFamily="18" charset="0"/>
                                    </a:rPr>
                                    <m:t>𝑖</m:t>
                                  </m:r>
                                </m:sub>
                                <m:sup>
                                  <m:r>
                                    <a:rPr lang="en-US" sz="1600" b="0" i="1" smtClean="0">
                                      <a:latin typeface="Cambria Math" panose="02040503050406030204" pitchFamily="18" charset="0"/>
                                    </a:rPr>
                                    <m:t>2</m:t>
                                  </m:r>
                                </m:sup>
                              </m:sSubSup>
                            </m:e>
                          </m:nary>
                        </m:e>
                      </m:rad>
                    </m:oMath>
                  </m:oMathPara>
                </a14:m>
                <a:endParaRPr lang="en-US" sz="1600" dirty="0">
                  <a:latin typeface="+mn-lt"/>
                </a:endParaRPr>
              </a:p>
              <a:p>
                <a:pPr marL="0" indent="0">
                  <a:spcBef>
                    <a:spcPts val="0"/>
                  </a:spcBef>
                  <a:buNone/>
                </a:pPr>
                <a:endParaRPr lang="en-US" sz="1600" dirty="0">
                  <a:latin typeface="+mn-lt"/>
                </a:endParaRPr>
              </a:p>
              <a:p>
                <a:pPr>
                  <a:buFont typeface="Wingdings" panose="05000000000000000000" pitchFamily="2" charset="2"/>
                  <a:buChar char="q"/>
                </a:pPr>
                <a:endParaRPr lang="en-US" sz="1800" dirty="0">
                  <a:latin typeface="+mn-lt"/>
                </a:endParaRPr>
              </a:p>
              <a:p>
                <a:pPr marL="0" indent="0">
                  <a:spcBef>
                    <a:spcPts val="0"/>
                  </a:spcBef>
                  <a:buNone/>
                </a:pPr>
                <a:endParaRPr lang="en-US" sz="1800" dirty="0">
                  <a:latin typeface="+mn-lt"/>
                </a:endParaRPr>
              </a:p>
            </p:txBody>
          </p:sp>
        </mc:Choice>
        <mc:Fallback xmlns="">
          <p:sp>
            <p:nvSpPr>
              <p:cNvPr id="3" name="Text Placeholder 2">
                <a:extLst>
                  <a:ext uri="{FF2B5EF4-FFF2-40B4-BE49-F238E27FC236}">
                    <a16:creationId xmlns:a16="http://schemas.microsoft.com/office/drawing/2014/main" id="{009DB75D-D8C6-75EC-808F-F3142C0A78E8}"/>
                  </a:ext>
                </a:extLst>
              </p:cNvPr>
              <p:cNvSpPr>
                <a:spLocks noGrp="1" noRot="1" noChangeAspect="1" noMove="1" noResize="1" noEditPoints="1" noAdjustHandles="1" noChangeArrowheads="1" noChangeShapeType="1" noTextEdit="1"/>
              </p:cNvSpPr>
              <p:nvPr>
                <p:ph type="body" sz="quarter" idx="13"/>
              </p:nvPr>
            </p:nvSpPr>
            <p:spPr>
              <a:xfrm>
                <a:off x="338736" y="908843"/>
                <a:ext cx="5541264" cy="1417797"/>
              </a:xfrm>
              <a:blipFill>
                <a:blip r:embed="rId2"/>
                <a:stretch>
                  <a:fillRect l="-770" t="-3863"/>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CA86FA57-B775-9A88-C9B1-A274CD1CB6EA}"/>
              </a:ext>
            </a:extLst>
          </p:cNvPr>
          <p:cNvSpPr>
            <a:spLocks noGrp="1"/>
          </p:cNvSpPr>
          <p:nvPr>
            <p:ph type="sldNum" sz="quarter" idx="12"/>
          </p:nvPr>
        </p:nvSpPr>
        <p:spPr/>
        <p:txBody>
          <a:bodyPr/>
          <a:lstStyle/>
          <a:p>
            <a:fld id="{9EA0BE3B-158A-4EDF-80DC-E394A0D1600F}" type="slidenum">
              <a:rPr lang="en-US" smtClean="0"/>
              <a:pPr/>
              <a:t>11</a:t>
            </a:fld>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0DD2A36A-968D-19BC-9AF1-B00767AAD78F}"/>
                  </a:ext>
                </a:extLst>
              </p:cNvPr>
              <p:cNvSpPr txBox="1"/>
              <p:nvPr/>
            </p:nvSpPr>
            <p:spPr>
              <a:xfrm>
                <a:off x="6360160" y="908843"/>
                <a:ext cx="5539549" cy="1726306"/>
              </a:xfrm>
              <a:prstGeom prst="rect">
                <a:avLst/>
              </a:prstGeom>
              <a:noFill/>
            </p:spPr>
            <p:txBody>
              <a:bodyPr wrap="square" rtlCol="0">
                <a:spAutoFit/>
              </a:bodyPr>
              <a:lstStyle/>
              <a:p>
                <a:pPr>
                  <a:buFont typeface="Wingdings" panose="05000000000000000000" pitchFamily="2" charset="2"/>
                  <a:buChar char="q"/>
                </a:pPr>
                <a:r>
                  <a:rPr lang="en-US" dirty="0"/>
                  <a:t>Crest Factor (</a:t>
                </a:r>
                <a:r>
                  <a:rPr lang="en-US" dirty="0" err="1"/>
                  <a:t>Hệ</a:t>
                </a:r>
                <a:r>
                  <a:rPr lang="en-US" dirty="0"/>
                  <a:t> </a:t>
                </a:r>
                <a:r>
                  <a:rPr lang="en-US" dirty="0" err="1"/>
                  <a:t>số</a:t>
                </a:r>
                <a:r>
                  <a:rPr lang="en-US" dirty="0"/>
                  <a:t> </a:t>
                </a:r>
                <a:r>
                  <a:rPr lang="en-US" dirty="0" err="1"/>
                  <a:t>đỉnh</a:t>
                </a:r>
                <a:r>
                  <a:rPr lang="en-US" dirty="0"/>
                  <a:t>):</a:t>
                </a:r>
              </a:p>
              <a:p>
                <a:endParaRPr lang="en-US" dirty="0"/>
              </a:p>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𝐶𝐹</m:t>
                      </m:r>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𝑃𝑒𝑎𝑘</m:t>
                          </m:r>
                        </m:num>
                        <m:den>
                          <m:r>
                            <a:rPr lang="en-US" i="1">
                              <a:latin typeface="Cambria Math" panose="02040503050406030204" pitchFamily="18" charset="0"/>
                            </a:rPr>
                            <m:t>𝑅𝑀𝑆</m:t>
                          </m:r>
                        </m:den>
                      </m:f>
                    </m:oMath>
                  </m:oMathPara>
                </a14:m>
                <a:endParaRPr lang="en-US" dirty="0"/>
              </a:p>
              <a:p>
                <a:endParaRPr lang="en-US" dirty="0"/>
              </a:p>
              <a:p>
                <a:endParaRPr lang="en-US" dirty="0"/>
              </a:p>
            </p:txBody>
          </p:sp>
        </mc:Choice>
        <mc:Fallback xmlns="">
          <p:sp>
            <p:nvSpPr>
              <p:cNvPr id="5" name="TextBox 4">
                <a:extLst>
                  <a:ext uri="{FF2B5EF4-FFF2-40B4-BE49-F238E27FC236}">
                    <a16:creationId xmlns:a16="http://schemas.microsoft.com/office/drawing/2014/main" id="{0DD2A36A-968D-19BC-9AF1-B00767AAD78F}"/>
                  </a:ext>
                </a:extLst>
              </p:cNvPr>
              <p:cNvSpPr txBox="1">
                <a:spLocks noRot="1" noChangeAspect="1" noMove="1" noResize="1" noEditPoints="1" noAdjustHandles="1" noChangeArrowheads="1" noChangeShapeType="1" noTextEdit="1"/>
              </p:cNvSpPr>
              <p:nvPr/>
            </p:nvSpPr>
            <p:spPr>
              <a:xfrm>
                <a:off x="6360160" y="908843"/>
                <a:ext cx="5539549" cy="1726306"/>
              </a:xfrm>
              <a:prstGeom prst="rect">
                <a:avLst/>
              </a:prstGeom>
              <a:blipFill>
                <a:blip r:embed="rId3"/>
                <a:stretch>
                  <a:fillRect l="-660" t="-17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9693228D-86DA-50E8-FF6D-F9E1ABC007DA}"/>
                  </a:ext>
                </a:extLst>
              </p:cNvPr>
              <p:cNvSpPr txBox="1"/>
              <p:nvPr/>
            </p:nvSpPr>
            <p:spPr>
              <a:xfrm>
                <a:off x="193040" y="2819815"/>
                <a:ext cx="5686960" cy="923330"/>
              </a:xfrm>
              <a:prstGeom prst="rect">
                <a:avLst/>
              </a:prstGeom>
              <a:noFill/>
            </p:spPr>
            <p:txBody>
              <a:bodyPr wrap="square">
                <a:spAutoFit/>
              </a:bodyPr>
              <a:lstStyle/>
              <a:p>
                <a:pPr>
                  <a:buFont typeface="Wingdings" panose="05000000000000000000" pitchFamily="2" charset="2"/>
                  <a:buChar char="q"/>
                </a:pPr>
                <a:r>
                  <a:rPr lang="en-US" sz="1800" dirty="0">
                    <a:latin typeface="+mn-lt"/>
                  </a:rPr>
                  <a:t>Peak (</a:t>
                </a:r>
                <a:r>
                  <a:rPr lang="en-US" sz="1800" dirty="0" err="1">
                    <a:latin typeface="+mn-lt"/>
                  </a:rPr>
                  <a:t>Biên</a:t>
                </a:r>
                <a:r>
                  <a:rPr lang="en-US" sz="1800" dirty="0">
                    <a:latin typeface="+mn-lt"/>
                  </a:rPr>
                  <a:t> </a:t>
                </a:r>
                <a:r>
                  <a:rPr lang="en-US" sz="1800" dirty="0" err="1">
                    <a:latin typeface="+mn-lt"/>
                  </a:rPr>
                  <a:t>độ</a:t>
                </a:r>
                <a:r>
                  <a:rPr lang="en-US" sz="1800" dirty="0">
                    <a:latin typeface="+mn-lt"/>
                  </a:rPr>
                  <a:t> </a:t>
                </a:r>
                <a:r>
                  <a:rPr lang="en-US" sz="1800" dirty="0" err="1">
                    <a:latin typeface="+mn-lt"/>
                  </a:rPr>
                  <a:t>đỉnh</a:t>
                </a:r>
                <a:r>
                  <a:rPr lang="en-US" sz="1800" dirty="0">
                    <a:latin typeface="+mn-lt"/>
                  </a:rPr>
                  <a:t>):</a:t>
                </a:r>
              </a:p>
              <a:p>
                <a:endParaRPr lang="en-US" sz="1800" dirty="0">
                  <a:latin typeface="+mn-lt"/>
                </a:endParaRPr>
              </a:p>
              <a:p>
                <a:pPr marL="0" indent="0">
                  <a:buNone/>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𝑃𝑒𝑎𝑘</m:t>
                      </m:r>
                      <m:r>
                        <a:rPr lang="en-US" sz="1800" b="0" i="1" smtClean="0">
                          <a:latin typeface="Cambria Math" panose="02040503050406030204" pitchFamily="18" charset="0"/>
                        </a:rPr>
                        <m:t>=</m:t>
                      </m:r>
                      <m:r>
                        <a:rPr lang="en-US" sz="1800" b="0" i="1" smtClean="0">
                          <a:latin typeface="Cambria Math" panose="02040503050406030204" pitchFamily="18" charset="0"/>
                        </a:rPr>
                        <m:t>𝑀𝑎𝑥</m:t>
                      </m:r>
                      <m:d>
                        <m:dPr>
                          <m:begChr m:val="|"/>
                          <m:endChr m:val="|"/>
                          <m:ctrlPr>
                            <a:rPr lang="en-US" sz="1800" b="0" i="1" smtClean="0">
                              <a:latin typeface="Cambria Math" panose="02040503050406030204" pitchFamily="18" charset="0"/>
                            </a:rPr>
                          </m:ctrlPr>
                        </m:d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𝑖</m:t>
                              </m:r>
                            </m:sub>
                          </m:sSub>
                        </m:e>
                      </m:d>
                    </m:oMath>
                  </m:oMathPara>
                </a14:m>
                <a:endParaRPr lang="en-US" dirty="0"/>
              </a:p>
            </p:txBody>
          </p:sp>
        </mc:Choice>
        <mc:Fallback xmlns="">
          <p:sp>
            <p:nvSpPr>
              <p:cNvPr id="8" name="TextBox 7">
                <a:extLst>
                  <a:ext uri="{FF2B5EF4-FFF2-40B4-BE49-F238E27FC236}">
                    <a16:creationId xmlns:a16="http://schemas.microsoft.com/office/drawing/2014/main" id="{9693228D-86DA-50E8-FF6D-F9E1ABC007DA}"/>
                  </a:ext>
                </a:extLst>
              </p:cNvPr>
              <p:cNvSpPr txBox="1">
                <a:spLocks noRot="1" noChangeAspect="1" noMove="1" noResize="1" noEditPoints="1" noAdjustHandles="1" noChangeArrowheads="1" noChangeShapeType="1" noTextEdit="1"/>
              </p:cNvSpPr>
              <p:nvPr/>
            </p:nvSpPr>
            <p:spPr>
              <a:xfrm>
                <a:off x="193040" y="2819815"/>
                <a:ext cx="5686960" cy="923330"/>
              </a:xfrm>
              <a:prstGeom prst="rect">
                <a:avLst/>
              </a:prstGeom>
              <a:blipFill>
                <a:blip r:embed="rId4"/>
                <a:stretch>
                  <a:fillRect l="-750" t="-3974"/>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0B9A3B98-D9BA-7E87-0709-74A5C549EE62}"/>
              </a:ext>
            </a:extLst>
          </p:cNvPr>
          <p:cNvSpPr txBox="1"/>
          <p:nvPr/>
        </p:nvSpPr>
        <p:spPr>
          <a:xfrm>
            <a:off x="6360160" y="3180017"/>
            <a:ext cx="5493104" cy="369332"/>
          </a:xfrm>
          <a:prstGeom prst="rect">
            <a:avLst/>
          </a:prstGeom>
          <a:noFill/>
        </p:spPr>
        <p:txBody>
          <a:bodyPr wrap="square">
            <a:spAutoFit/>
          </a:bodyPr>
          <a:lstStyle/>
          <a:p>
            <a:pPr marL="285750" indent="-285750">
              <a:buFont typeface="Wingdings" panose="05000000000000000000" pitchFamily="2" charset="2"/>
              <a:buChar char="q"/>
            </a:pPr>
            <a:r>
              <a:rPr lang="en-US" dirty="0"/>
              <a:t>Kurtosis (</a:t>
            </a:r>
            <a:r>
              <a:rPr lang="en-US" dirty="0" err="1"/>
              <a:t>Độ</a:t>
            </a:r>
            <a:r>
              <a:rPr lang="en-US" dirty="0"/>
              <a:t> </a:t>
            </a:r>
            <a:r>
              <a:rPr lang="en-US" dirty="0" err="1"/>
              <a:t>nhọn</a:t>
            </a:r>
            <a:r>
              <a:rPr lang="en-US" dirty="0"/>
              <a:t>):</a:t>
            </a:r>
          </a:p>
        </p:txBody>
      </p:sp>
    </p:spTree>
    <p:extLst>
      <p:ext uri="{BB962C8B-B14F-4D97-AF65-F5344CB8AC3E}">
        <p14:creationId xmlns:p14="http://schemas.microsoft.com/office/powerpoint/2010/main" val="1563142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sz="3600" b="1">
                <a:solidFill>
                  <a:srgbClr val="111827"/>
                </a:solidFill>
                <a:latin typeface="Calibri"/>
              </a:rPr>
              <a:t>Phân tích tần số</a:t>
            </a:r>
          </a:p>
        </p:txBody>
      </p:sp>
      <p:sp>
        <p:nvSpPr>
          <p:cNvPr id="3" name="Content Placeholder 2"/>
          <p:cNvSpPr>
            <a:spLocks noGrp="1"/>
          </p:cNvSpPr>
          <p:nvPr>
            <p:ph sz="quarter" idx="13"/>
          </p:nvPr>
        </p:nvSpPr>
        <p:spPr/>
        <p:txBody>
          <a:bodyPr/>
          <a:lstStyle/>
          <a:p>
            <a:pPr algn="ctr"/>
            <a:r>
              <a:rPr sz="1400" i="1">
                <a:solidFill>
                  <a:srgbClr val="4B5563"/>
                </a:solidFill>
                <a:latin typeface="Calibri"/>
              </a:rPr>
              <a:t>FFT · Envelope Analysis</a:t>
            </a:r>
          </a:p>
        </p:txBody>
      </p:sp>
      <p:sp>
        <p:nvSpPr>
          <p:cNvPr id="4" name="TextBox 3"/>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Calibri"/>
              </a:rPr>
              <a:t>12 / 40</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2200" b="1">
                <a:solidFill>
                  <a:srgbClr val="FFFFFF"/>
                </a:solidFill>
                <a:latin typeface="Calibri"/>
              </a:rPr>
              <a:t>FFT: từ thời gian → tần số (CWRU Context)</a:t>
            </a:r>
          </a:p>
        </p:txBody>
      </p:sp>
      <p:sp>
        <p:nvSpPr>
          <p:cNvPr id="3" name="Text Placeholder 2"/>
          <p:cNvSpPr>
            <a:spLocks noGrp="1"/>
          </p:cNvSpPr>
          <p:nvPr>
            <p:ph type="body" sz="quarter" idx="13"/>
          </p:nvPr>
        </p:nvSpPr>
        <p:spPr/>
        <p:txBody>
          <a:bodyPr/>
          <a:lstStyle/>
          <a:p>
            <a:endParaRPr/>
          </a:p>
        </p:txBody>
      </p:sp>
      <p:sp>
        <p:nvSpPr>
          <p:cNvPr id="4" name="TextBox 3"/>
          <p:cNvSpPr txBox="1"/>
          <p:nvPr/>
        </p:nvSpPr>
        <p:spPr>
          <a:xfrm>
            <a:off x="502920" y="137160"/>
            <a:ext cx="5029200" cy="292608"/>
          </a:xfrm>
          <a:prstGeom prst="rect">
            <a:avLst/>
          </a:prstGeom>
          <a:noFill/>
        </p:spPr>
        <p:txBody>
          <a:bodyPr wrap="none">
            <a:spAutoFit/>
          </a:bodyPr>
          <a:lstStyle/>
          <a:p>
            <a:r>
              <a:rPr sz="1100" b="1">
                <a:solidFill>
                  <a:srgbClr val="2DD4BF"/>
                </a:solidFill>
                <a:latin typeface="Calibri"/>
              </a:rPr>
              <a:t>Tutorial 02 · FFT</a:t>
            </a:r>
          </a:p>
        </p:txBody>
      </p:sp>
      <p:sp>
        <p:nvSpPr>
          <p:cNvPr id="5" name="Rectangle 4"/>
          <p:cNvSpPr/>
          <p:nvPr/>
        </p:nvSpPr>
        <p:spPr>
          <a:xfrm>
            <a:off x="502920" y="1261872"/>
            <a:ext cx="11183112" cy="502920"/>
          </a:xfrm>
          <a:prstGeom prst="rect">
            <a:avLst/>
          </a:prstGeom>
          <a:solidFill>
            <a:srgbClr val="0B2220"/>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335024"/>
            <a:ext cx="10908792" cy="393192"/>
          </a:xfrm>
          <a:prstGeom prst="rect">
            <a:avLst/>
          </a:prstGeom>
          <a:noFill/>
        </p:spPr>
        <p:txBody>
          <a:bodyPr wrap="square">
            <a:spAutoFit/>
          </a:bodyPr>
          <a:lstStyle/>
          <a:p>
            <a:r>
              <a:rPr sz="1300" b="0">
                <a:solidFill>
                  <a:srgbClr val="EAF0F7"/>
                </a:solidFill>
                <a:latin typeface="Calibri"/>
              </a:rPr>
              <a:t>Mọi tín hiệu là tổng các sóng sin; FFT tách xem có những sóng nào — nhìn theo thời gian thì rối, theo tần số thì lộ cấu trúc.</a:t>
            </a:r>
          </a:p>
        </p:txBody>
      </p:sp>
      <p:pic>
        <p:nvPicPr>
          <p:cNvPr id="7" name="Picture 6" descr="image.png"/>
          <p:cNvPicPr>
            <a:picLocks noChangeAspect="1"/>
          </p:cNvPicPr>
          <p:nvPr/>
        </p:nvPicPr>
        <p:blipFill>
          <a:blip r:embed="rId3"/>
          <a:stretch>
            <a:fillRect/>
          </a:stretch>
        </p:blipFill>
        <p:spPr>
          <a:xfrm>
            <a:off x="502920" y="1874520"/>
            <a:ext cx="4754880" cy="4617720"/>
          </a:xfrm>
          <a:prstGeom prst="rect">
            <a:avLst/>
          </a:prstGeom>
        </p:spPr>
      </p:pic>
      <p:sp>
        <p:nvSpPr>
          <p:cNvPr id="8" name="TextBox 7"/>
          <p:cNvSpPr txBox="1"/>
          <p:nvPr/>
        </p:nvSpPr>
        <p:spPr>
          <a:xfrm>
            <a:off x="5532120" y="1874520"/>
            <a:ext cx="6153912" cy="4617720"/>
          </a:xfrm>
          <a:prstGeom prst="rect">
            <a:avLst/>
          </a:prstGeom>
          <a:noFill/>
        </p:spPr>
        <p:txBody>
          <a:bodyPr wrap="square">
            <a:spAutoFit/>
          </a:bodyPr>
          <a:lstStyle/>
          <a:p>
            <a:endParaRPr/>
          </a:p>
        </p:txBody>
      </p:sp>
      <p:sp>
        <p:nvSpPr>
          <p:cNvPr id="9" name="TextBox 8"/>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Calibri"/>
              </a:rPr>
              <a:t>13 / 40</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2200" b="1">
                <a:solidFill>
                  <a:srgbClr val="FFFFFF"/>
                </a:solidFill>
                <a:latin typeface="Calibri"/>
              </a:rPr>
              <a:t>Cơ sở chẩn đoán: Tần số "chữ ký" lỗi ổ lăn CWRU</a:t>
            </a:r>
          </a:p>
        </p:txBody>
      </p:sp>
      <p:sp>
        <p:nvSpPr>
          <p:cNvPr id="3" name="Text Placeholder 2"/>
          <p:cNvSpPr>
            <a:spLocks noGrp="1"/>
          </p:cNvSpPr>
          <p:nvPr>
            <p:ph type="body" sz="quarter" idx="13"/>
          </p:nvPr>
        </p:nvSpPr>
        <p:spPr/>
        <p:txBody>
          <a:bodyPr/>
          <a:lstStyle/>
          <a:p>
            <a:endParaRPr/>
          </a:p>
        </p:txBody>
      </p:sp>
      <p:sp>
        <p:nvSpPr>
          <p:cNvPr id="4" name="TextBox 3"/>
          <p:cNvSpPr txBox="1"/>
          <p:nvPr/>
        </p:nvSpPr>
        <p:spPr>
          <a:xfrm>
            <a:off x="502920" y="137160"/>
            <a:ext cx="5029200" cy="292608"/>
          </a:xfrm>
          <a:prstGeom prst="rect">
            <a:avLst/>
          </a:prstGeom>
          <a:noFill/>
        </p:spPr>
        <p:txBody>
          <a:bodyPr wrap="none">
            <a:spAutoFit/>
          </a:bodyPr>
          <a:lstStyle/>
          <a:p>
            <a:r>
              <a:rPr sz="1100" b="1">
                <a:solidFill>
                  <a:srgbClr val="2DD4BF"/>
                </a:solidFill>
                <a:latin typeface="Calibri"/>
              </a:rPr>
              <a:t>Tutorial 02 · Tần số lỗi</a:t>
            </a:r>
          </a:p>
        </p:txBody>
      </p:sp>
      <p:sp>
        <p:nvSpPr>
          <p:cNvPr id="5" name="Rectangle 4"/>
          <p:cNvSpPr/>
          <p:nvPr/>
        </p:nvSpPr>
        <p:spPr>
          <a:xfrm>
            <a:off x="502920" y="1261872"/>
            <a:ext cx="11183112" cy="502920"/>
          </a:xfrm>
          <a:prstGeom prst="rect">
            <a:avLst/>
          </a:prstGeom>
          <a:solidFill>
            <a:srgbClr val="0B2220"/>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335024"/>
            <a:ext cx="10908792" cy="393192"/>
          </a:xfrm>
          <a:prstGeom prst="rect">
            <a:avLst/>
          </a:prstGeom>
          <a:noFill/>
        </p:spPr>
        <p:txBody>
          <a:bodyPr wrap="square">
            <a:spAutoFit/>
          </a:bodyPr>
          <a:lstStyle/>
          <a:p>
            <a:r>
              <a:rPr sz="1300" b="0">
                <a:solidFill>
                  <a:srgbClr val="EAF0F7"/>
                </a:solidFill>
                <a:latin typeface="Calibri"/>
              </a:rPr>
              <a:t>Khi ổ lăn phát sinh khuyết tật, mỗi cú va chạm cơ học sẽ tạo ra dao động tuần hoàn ở tần số khuyết tật lý thuyết đặc trưng.</a:t>
            </a:r>
          </a:p>
        </p:txBody>
      </p:sp>
      <p:pic>
        <p:nvPicPr>
          <p:cNvPr id="7" name="Picture 6" descr="image.jpg"/>
          <p:cNvPicPr>
            <a:picLocks noChangeAspect="1"/>
          </p:cNvPicPr>
          <p:nvPr/>
        </p:nvPicPr>
        <p:blipFill>
          <a:blip r:embed="rId3"/>
          <a:stretch>
            <a:fillRect/>
          </a:stretch>
        </p:blipFill>
        <p:spPr>
          <a:xfrm>
            <a:off x="502920" y="1874520"/>
            <a:ext cx="4754880" cy="4617720"/>
          </a:xfrm>
          <a:prstGeom prst="rect">
            <a:avLst/>
          </a:prstGeom>
        </p:spPr>
      </p:pic>
      <p:sp>
        <p:nvSpPr>
          <p:cNvPr id="8" name="TextBox 7"/>
          <p:cNvSpPr txBox="1"/>
          <p:nvPr/>
        </p:nvSpPr>
        <p:spPr>
          <a:xfrm>
            <a:off x="5532120" y="1874520"/>
            <a:ext cx="6153912" cy="4617720"/>
          </a:xfrm>
          <a:prstGeom prst="rect">
            <a:avLst/>
          </a:prstGeom>
          <a:noFill/>
        </p:spPr>
        <p:txBody>
          <a:bodyPr wrap="square">
            <a:spAutoFit/>
          </a:bodyPr>
          <a:lstStyle/>
          <a:p>
            <a:endParaRPr/>
          </a:p>
        </p:txBody>
      </p:sp>
      <p:sp>
        <p:nvSpPr>
          <p:cNvPr id="9" name="TextBox 8"/>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Calibri"/>
              </a:rPr>
              <a:t>14 / 40</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2200" b="1">
                <a:solidFill>
                  <a:srgbClr val="FFFFFF"/>
                </a:solidFill>
                <a:latin typeface="Calibri"/>
              </a:rPr>
              <a:t>Cộng hưởng &amp; hệ số Q — vì sao xung "khuếch đại"</a:t>
            </a:r>
          </a:p>
        </p:txBody>
      </p:sp>
      <p:sp>
        <p:nvSpPr>
          <p:cNvPr id="3" name="Text Placeholder 2"/>
          <p:cNvSpPr>
            <a:spLocks noGrp="1"/>
          </p:cNvSpPr>
          <p:nvPr>
            <p:ph type="body" sz="quarter" idx="13"/>
          </p:nvPr>
        </p:nvSpPr>
        <p:spPr/>
        <p:txBody>
          <a:bodyPr/>
          <a:lstStyle/>
          <a:p>
            <a:endParaRPr/>
          </a:p>
        </p:txBody>
      </p:sp>
      <p:sp>
        <p:nvSpPr>
          <p:cNvPr id="4" name="TextBox 3"/>
          <p:cNvSpPr txBox="1"/>
          <p:nvPr/>
        </p:nvSpPr>
        <p:spPr>
          <a:xfrm>
            <a:off x="502920" y="137160"/>
            <a:ext cx="5029200" cy="292608"/>
          </a:xfrm>
          <a:prstGeom prst="rect">
            <a:avLst/>
          </a:prstGeom>
          <a:noFill/>
        </p:spPr>
        <p:txBody>
          <a:bodyPr wrap="none">
            <a:spAutoFit/>
          </a:bodyPr>
          <a:lstStyle/>
          <a:p>
            <a:r>
              <a:rPr sz="1100" b="1">
                <a:solidFill>
                  <a:srgbClr val="2DD4BF"/>
                </a:solidFill>
                <a:latin typeface="Calibri"/>
              </a:rPr>
              <a:t>Tutorial 02 · Cộng hưởng &amp; hệ số Q</a:t>
            </a:r>
          </a:p>
        </p:txBody>
      </p:sp>
      <p:sp>
        <p:nvSpPr>
          <p:cNvPr id="5" name="Rectangle 4"/>
          <p:cNvSpPr/>
          <p:nvPr/>
        </p:nvSpPr>
        <p:spPr>
          <a:xfrm>
            <a:off x="502920" y="1261872"/>
            <a:ext cx="11183112" cy="502920"/>
          </a:xfrm>
          <a:prstGeom prst="rect">
            <a:avLst/>
          </a:prstGeom>
          <a:solidFill>
            <a:srgbClr val="0B2220"/>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335024"/>
            <a:ext cx="10908792" cy="393192"/>
          </a:xfrm>
          <a:prstGeom prst="rect">
            <a:avLst/>
          </a:prstGeom>
          <a:noFill/>
        </p:spPr>
        <p:txBody>
          <a:bodyPr wrap="square">
            <a:spAutoFit/>
          </a:bodyPr>
          <a:lstStyle/>
          <a:p>
            <a:r>
              <a:rPr sz="1300" b="0">
                <a:solidFill>
                  <a:srgbClr val="EAF0F7"/>
                </a:solidFill>
                <a:latin typeface="Calibri"/>
              </a:rPr>
              <a:t>Cú va dải rộng đánh thức tần số cộng hưởng của kết cấu; cản nhỏ thì đỉnh đó cao &amp; nhọn (Q lớn) — chính nó là "sóng mang".</a:t>
            </a:r>
          </a:p>
        </p:txBody>
      </p:sp>
      <p:sp>
        <p:nvSpPr>
          <p:cNvPr id="7" name="Rectangle 6"/>
          <p:cNvSpPr/>
          <p:nvPr/>
        </p:nvSpPr>
        <p:spPr>
          <a:xfrm>
            <a:off x="502920" y="1874520"/>
            <a:ext cx="3605784" cy="4617720"/>
          </a:xfrm>
          <a:prstGeom prst="rect">
            <a:avLst/>
          </a:prstGeom>
          <a:solidFill>
            <a:srgbClr val="152133"/>
          </a:solidFill>
          <a:ln w="9525">
            <a:solidFill>
              <a:srgbClr val="2A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1984248"/>
            <a:ext cx="3331464" cy="329184"/>
          </a:xfrm>
          <a:prstGeom prst="rect">
            <a:avLst/>
          </a:prstGeom>
          <a:noFill/>
        </p:spPr>
        <p:txBody>
          <a:bodyPr wrap="none">
            <a:spAutoFit/>
          </a:bodyPr>
          <a:lstStyle/>
          <a:p>
            <a:r>
              <a:rPr sz="1300" b="1">
                <a:solidFill>
                  <a:srgbClr val="38BDF8"/>
                </a:solidFill>
                <a:latin typeface="Calibri"/>
              </a:rPr>
              <a:t>🔊 Hệ dao động 1 bậc tự do (Lò xo - Giảm chấn)</a:t>
            </a:r>
          </a:p>
        </p:txBody>
      </p:sp>
      <p:sp>
        <p:nvSpPr>
          <p:cNvPr id="9" name="TextBox 8"/>
          <p:cNvSpPr txBox="1"/>
          <p:nvPr/>
        </p:nvSpPr>
        <p:spPr>
          <a:xfrm>
            <a:off x="640080" y="2331720"/>
            <a:ext cx="3331464" cy="4069080"/>
          </a:xfrm>
          <a:prstGeom prst="rect">
            <a:avLst/>
          </a:prstGeom>
          <a:noFill/>
        </p:spPr>
        <p:txBody>
          <a:bodyPr wrap="square">
            <a:spAutoFit/>
          </a:bodyPr>
          <a:lstStyle/>
          <a:p>
            <a:r>
              <a:rPr sz="1200">
                <a:solidFill>
                  <a:srgbClr val="EAF0F7"/>
                </a:solidFill>
                <a:latin typeface="Calibri"/>
              </a:rPr>
              <a:t>Phương trình chuyển động của kết cấu khi chịu xung va đập F(t):
Tần số dao động tự nhiên (riêng) ωn và hệ số cản tắt dần ζ:
🔬 Khuếch đại biên độ động (Q-Factor): Tại tần số cộng hưởng (tần số kích thích bằng tần số riêng, r = ω/ωn = 1): Biên độ khuếch đại tỉ lệ nghịch với cản: Q = 1 / (2ζ).</a:t>
            </a:r>
          </a:p>
        </p:txBody>
      </p:sp>
      <p:sp>
        <p:nvSpPr>
          <p:cNvPr id="10" name="Rectangle 9"/>
          <p:cNvSpPr/>
          <p:nvPr/>
        </p:nvSpPr>
        <p:spPr>
          <a:xfrm>
            <a:off x="4291584" y="1874520"/>
            <a:ext cx="3605784" cy="4617720"/>
          </a:xfrm>
          <a:prstGeom prst="rect">
            <a:avLst/>
          </a:prstGeom>
          <a:solidFill>
            <a:srgbClr val="152133"/>
          </a:solidFill>
          <a:ln w="9525">
            <a:solidFill>
              <a:srgbClr val="2A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428744" y="1984248"/>
            <a:ext cx="3331464" cy="4416552"/>
          </a:xfrm>
          <a:prstGeom prst="rect">
            <a:avLst/>
          </a:prstGeom>
          <a:noFill/>
        </p:spPr>
        <p:txBody>
          <a:bodyPr wrap="square">
            <a:spAutoFit/>
          </a:bodyPr>
          <a:lstStyle/>
          <a:p>
            <a:r>
              <a:rPr sz="1200">
                <a:solidFill>
                  <a:srgbClr val="EAF0F7"/>
                </a:solidFill>
                <a:latin typeface="Calibri"/>
              </a:rPr>
              <a:t>🔬 Khuếch đại biên độ động (Q-Factor): Tại tần số cộng hưởng (tần số kích thích bằng tần số riêng, r = ω/ωn = 1): Biên độ khuếch đại tỉ lệ nghịch với cản: Q = 1 / (2ζ).</a:t>
            </a:r>
          </a:p>
        </p:txBody>
      </p:sp>
      <p:sp>
        <p:nvSpPr>
          <p:cNvPr id="12" name="Rectangle 11"/>
          <p:cNvSpPr/>
          <p:nvPr/>
        </p:nvSpPr>
        <p:spPr>
          <a:xfrm>
            <a:off x="8080248" y="1874520"/>
            <a:ext cx="3605784" cy="4617720"/>
          </a:xfrm>
          <a:prstGeom prst="rect">
            <a:avLst/>
          </a:prstGeom>
          <a:solidFill>
            <a:srgbClr val="152133"/>
          </a:solidFill>
          <a:ln w="9525">
            <a:solidFill>
              <a:srgbClr val="2A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17408" y="1984248"/>
            <a:ext cx="3331464" cy="4416552"/>
          </a:xfrm>
          <a:prstGeom prst="rect">
            <a:avLst/>
          </a:prstGeom>
          <a:noFill/>
        </p:spPr>
        <p:txBody>
          <a:bodyPr wrap="square">
            <a:spAutoFit/>
          </a:bodyPr>
          <a:lstStyle/>
          <a:p>
            <a:r>
              <a:rPr sz="1200">
                <a:solidFill>
                  <a:srgbClr val="EAF0F7"/>
                </a:solidFill>
                <a:latin typeface="Calibri"/>
              </a:rPr>
              <a:t>Khi gõ nhẹ vào cái chuông, một xung lực cực kỳ ngắn (dải tần rộng) sẽ kích thích và làm chuông ngân vang lâu dài tại đúng tần số riêng cộng hưởng của nó. Kết cấu vỏ máy/gối đỡ ổ lăn tương tự như một chiếc chuông, có tần số riêng dao động (vài kHz).</a:t>
            </a:r>
          </a:p>
        </p:txBody>
      </p:sp>
      <p:sp>
        <p:nvSpPr>
          <p:cNvPr id="14" name="TextBox 13"/>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Calibri"/>
              </a:rPr>
              <a:t>15 / 40</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2200" b="1">
                <a:solidFill>
                  <a:srgbClr val="FFFFFF"/>
                </a:solidFill>
                <a:latin typeface="Calibri"/>
              </a:rPr>
              <a:t>Vì sao FFT thô "mù" — mô hình điều biên</a:t>
            </a:r>
          </a:p>
        </p:txBody>
      </p:sp>
      <p:sp>
        <p:nvSpPr>
          <p:cNvPr id="3" name="Text Placeholder 2"/>
          <p:cNvSpPr>
            <a:spLocks noGrp="1"/>
          </p:cNvSpPr>
          <p:nvPr>
            <p:ph type="body" sz="quarter" idx="13"/>
          </p:nvPr>
        </p:nvSpPr>
        <p:spPr/>
        <p:txBody>
          <a:bodyPr/>
          <a:lstStyle/>
          <a:p>
            <a:endParaRPr/>
          </a:p>
        </p:txBody>
      </p:sp>
      <p:sp>
        <p:nvSpPr>
          <p:cNvPr id="4" name="TextBox 3"/>
          <p:cNvSpPr txBox="1"/>
          <p:nvPr/>
        </p:nvSpPr>
        <p:spPr>
          <a:xfrm>
            <a:off x="502920" y="137160"/>
            <a:ext cx="5029200" cy="292608"/>
          </a:xfrm>
          <a:prstGeom prst="rect">
            <a:avLst/>
          </a:prstGeom>
          <a:noFill/>
        </p:spPr>
        <p:txBody>
          <a:bodyPr wrap="none">
            <a:spAutoFit/>
          </a:bodyPr>
          <a:lstStyle/>
          <a:p>
            <a:r>
              <a:rPr sz="1100" b="1">
                <a:solidFill>
                  <a:srgbClr val="2DD4BF"/>
                </a:solidFill>
                <a:latin typeface="Calibri"/>
              </a:rPr>
              <a:t>Tutorial 02 · Cơ sở lý thuyết</a:t>
            </a:r>
          </a:p>
        </p:txBody>
      </p:sp>
      <p:sp>
        <p:nvSpPr>
          <p:cNvPr id="5" name="Rectangle 4"/>
          <p:cNvSpPr/>
          <p:nvPr/>
        </p:nvSpPr>
        <p:spPr>
          <a:xfrm>
            <a:off x="502920" y="1261872"/>
            <a:ext cx="11183112" cy="502920"/>
          </a:xfrm>
          <a:prstGeom prst="rect">
            <a:avLst/>
          </a:prstGeom>
          <a:solidFill>
            <a:srgbClr val="0B2220"/>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335024"/>
            <a:ext cx="10908792" cy="393192"/>
          </a:xfrm>
          <a:prstGeom prst="rect">
            <a:avLst/>
          </a:prstGeom>
          <a:noFill/>
        </p:spPr>
        <p:txBody>
          <a:bodyPr wrap="square">
            <a:spAutoFit/>
          </a:bodyPr>
          <a:lstStyle/>
          <a:p>
            <a:r>
              <a:rPr sz="1300" b="0">
                <a:solidFill>
                  <a:srgbClr val="EAF0F7"/>
                </a:solidFill>
                <a:latin typeface="Calibri"/>
              </a:rPr>
              <a:t>Nhịp lỗi không đổi cao độ, nó điều khiển biên độ của tiếng cộng hưởng — FFT đi tìm cao độ nên "điếc" với nhịp.</a:t>
            </a:r>
          </a:p>
        </p:txBody>
      </p:sp>
      <p:sp>
        <p:nvSpPr>
          <p:cNvPr id="7" name="Rectangle 6"/>
          <p:cNvSpPr/>
          <p:nvPr/>
        </p:nvSpPr>
        <p:spPr>
          <a:xfrm>
            <a:off x="502920" y="1874520"/>
            <a:ext cx="3605784" cy="4617720"/>
          </a:xfrm>
          <a:prstGeom prst="rect">
            <a:avLst/>
          </a:prstGeom>
          <a:solidFill>
            <a:srgbClr val="152133"/>
          </a:solidFill>
          <a:ln w="9525">
            <a:solidFill>
              <a:srgbClr val="2A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1984248"/>
            <a:ext cx="3331464" cy="329184"/>
          </a:xfrm>
          <a:prstGeom prst="rect">
            <a:avLst/>
          </a:prstGeom>
          <a:noFill/>
        </p:spPr>
        <p:txBody>
          <a:bodyPr wrap="none">
            <a:spAutoFit/>
          </a:bodyPr>
          <a:lstStyle/>
          <a:p>
            <a:r>
              <a:rPr sz="1300" b="1">
                <a:solidFill>
                  <a:srgbClr val="38BDF8"/>
                </a:solidFill>
                <a:latin typeface="Calibri"/>
              </a:rPr>
              <a:t>📈 Mô hình toán học điều biên (AM Modulation)</a:t>
            </a:r>
          </a:p>
        </p:txBody>
      </p:sp>
      <p:sp>
        <p:nvSpPr>
          <p:cNvPr id="9" name="TextBox 8"/>
          <p:cNvSpPr txBox="1"/>
          <p:nvPr/>
        </p:nvSpPr>
        <p:spPr>
          <a:xfrm>
            <a:off x="640080" y="2331720"/>
            <a:ext cx="3331464" cy="4069080"/>
          </a:xfrm>
          <a:prstGeom prst="rect">
            <a:avLst/>
          </a:prstGeom>
          <a:noFill/>
        </p:spPr>
        <p:txBody>
          <a:bodyPr wrap="square">
            <a:spAutoFit/>
          </a:bodyPr>
          <a:lstStyle/>
          <a:p>
            <a:r>
              <a:rPr sz="1200">
                <a:solidFill>
                  <a:srgbClr val="EAF0F7"/>
                </a:solidFill>
                <a:latin typeface="Calibri"/>
              </a:rPr>
              <a:t>• fc (Tần số mang): Tần số cộng hưởng kết cấu máy, có năng lượng dao động mạnh nhất (vài kHz).</a:t>
            </a:r>
          </a:p>
          <a:p>
            <a:r>
              <a:rPr sz="1200">
                <a:solidFill>
                  <a:srgbClr val="EAF0F7"/>
                </a:solidFill>
                <a:latin typeface="Calibri"/>
              </a:rPr>
              <a:t>• a(t) (Đường bao tức thời): Dạng sóng chuỗi xung lỗi vật lý tuần hoàn với chu kỳ gõ va chạm T₀ = 1/fdefect.</a:t>
            </a:r>
          </a:p>
        </p:txBody>
      </p:sp>
      <p:sp>
        <p:nvSpPr>
          <p:cNvPr id="10" name="Rectangle 9"/>
          <p:cNvSpPr/>
          <p:nvPr/>
        </p:nvSpPr>
        <p:spPr>
          <a:xfrm>
            <a:off x="4291584" y="1874520"/>
            <a:ext cx="3605784" cy="4617720"/>
          </a:xfrm>
          <a:prstGeom prst="rect">
            <a:avLst/>
          </a:prstGeom>
          <a:solidFill>
            <a:srgbClr val="152133"/>
          </a:solidFill>
          <a:ln w="9525">
            <a:solidFill>
              <a:srgbClr val="2A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428744" y="1984248"/>
            <a:ext cx="3331464" cy="4416552"/>
          </a:xfrm>
          <a:prstGeom prst="rect">
            <a:avLst/>
          </a:prstGeom>
          <a:noFill/>
        </p:spPr>
        <p:txBody>
          <a:bodyPr wrap="square">
            <a:spAutoFit/>
          </a:bodyPr>
          <a:lstStyle/>
          <a:p>
            <a:r>
              <a:rPr sz="1200">
                <a:solidFill>
                  <a:srgbClr val="EAF0F7"/>
                </a:solidFill>
                <a:latin typeface="Calibri"/>
              </a:rPr>
              <a:t>• fc (Tần số mang): Tần số cộng hưởng kết cấu máy, có năng lượng dao động mạnh nhất (vài kHz).</a:t>
            </a:r>
          </a:p>
          <a:p>
            <a:r>
              <a:rPr sz="1200">
                <a:solidFill>
                  <a:srgbClr val="EAF0F7"/>
                </a:solidFill>
                <a:latin typeface="Calibri"/>
              </a:rPr>
              <a:t>• a(t) (Đường bao tức thời): Dạng sóng chuỗi xung lỗi vật lý tuần hoàn với chu kỳ gõ va chạm T₀ = 1/fdefect.</a:t>
            </a:r>
          </a:p>
        </p:txBody>
      </p:sp>
      <p:sp>
        <p:nvSpPr>
          <p:cNvPr id="12" name="Rectangle 11"/>
          <p:cNvSpPr/>
          <p:nvPr/>
        </p:nvSpPr>
        <p:spPr>
          <a:xfrm>
            <a:off x="8080248" y="1874520"/>
            <a:ext cx="3605784" cy="4617720"/>
          </a:xfrm>
          <a:prstGeom prst="rect">
            <a:avLst/>
          </a:prstGeom>
          <a:solidFill>
            <a:srgbClr val="152133"/>
          </a:solidFill>
          <a:ln w="9525">
            <a:solidFill>
              <a:srgbClr val="2A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17408" y="1984248"/>
            <a:ext cx="3331464" cy="329184"/>
          </a:xfrm>
          <a:prstGeom prst="rect">
            <a:avLst/>
          </a:prstGeom>
          <a:noFill/>
        </p:spPr>
        <p:txBody>
          <a:bodyPr wrap="none">
            <a:spAutoFit/>
          </a:bodyPr>
          <a:lstStyle/>
          <a:p>
            <a:r>
              <a:rPr sz="1300" b="1">
                <a:solidFill>
                  <a:srgbClr val="38BDF8"/>
                </a:solidFill>
                <a:latin typeface="Calibri"/>
              </a:rPr>
              <a:t>🍊 Thuật toán Hilbert bóc tách vỏ cam</a:t>
            </a:r>
          </a:p>
        </p:txBody>
      </p:sp>
      <p:sp>
        <p:nvSpPr>
          <p:cNvPr id="14" name="TextBox 13"/>
          <p:cNvSpPr txBox="1"/>
          <p:nvPr/>
        </p:nvSpPr>
        <p:spPr>
          <a:xfrm>
            <a:off x="8217408" y="2331720"/>
            <a:ext cx="3331464" cy="4069080"/>
          </a:xfrm>
          <a:prstGeom prst="rect">
            <a:avLst/>
          </a:prstGeom>
          <a:noFill/>
        </p:spPr>
        <p:txBody>
          <a:bodyPr wrap="square">
            <a:spAutoFit/>
          </a:bodyPr>
          <a:lstStyle/>
          <a:p>
            <a:r>
              <a:rPr sz="1200">
                <a:solidFill>
                  <a:srgbClr val="EAF0F7"/>
                </a:solidFill>
                <a:latin typeface="Calibri"/>
              </a:rPr>
              <a:t>Để giải điều chế tín hiệu AM, ta áp dụng phép biến đổi Hilbert $\mathcal{H}$ tạo tín hiệu giải tích và lấy trị tuyệt đối để khôi phục đường bao a(t):</a:t>
            </a:r>
          </a:p>
        </p:txBody>
      </p:sp>
      <p:sp>
        <p:nvSpPr>
          <p:cNvPr id="15" name="TextBox 14"/>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Calibri"/>
              </a:rPr>
              <a:t>16 / 40</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2200" b="1">
                <a:solidFill>
                  <a:srgbClr val="FFFFFF"/>
                </a:solidFill>
                <a:latin typeface="Calibri"/>
              </a:rPr>
              <a:t>4 bước "bóc" tần số lỗi — minh chứng thực tế</a:t>
            </a:r>
          </a:p>
        </p:txBody>
      </p:sp>
      <p:sp>
        <p:nvSpPr>
          <p:cNvPr id="3" name="Text Placeholder 2"/>
          <p:cNvSpPr>
            <a:spLocks noGrp="1"/>
          </p:cNvSpPr>
          <p:nvPr>
            <p:ph type="body" sz="quarter" idx="13"/>
          </p:nvPr>
        </p:nvSpPr>
        <p:spPr/>
        <p:txBody>
          <a:bodyPr/>
          <a:lstStyle/>
          <a:p>
            <a:endParaRPr/>
          </a:p>
        </p:txBody>
      </p:sp>
      <p:sp>
        <p:nvSpPr>
          <p:cNvPr id="4" name="TextBox 3"/>
          <p:cNvSpPr txBox="1"/>
          <p:nvPr/>
        </p:nvSpPr>
        <p:spPr>
          <a:xfrm>
            <a:off x="502920" y="137160"/>
            <a:ext cx="5029200" cy="292608"/>
          </a:xfrm>
          <a:prstGeom prst="rect">
            <a:avLst/>
          </a:prstGeom>
          <a:noFill/>
        </p:spPr>
        <p:txBody>
          <a:bodyPr wrap="none">
            <a:spAutoFit/>
          </a:bodyPr>
          <a:lstStyle/>
          <a:p>
            <a:r>
              <a:rPr sz="1100" b="1">
                <a:solidFill>
                  <a:srgbClr val="2DD4BF"/>
                </a:solidFill>
                <a:latin typeface="Calibri"/>
              </a:rPr>
              <a:t>Tutorial 02 · Envelope Analysis</a:t>
            </a:r>
          </a:p>
        </p:txBody>
      </p:sp>
      <p:sp>
        <p:nvSpPr>
          <p:cNvPr id="5" name="Rectangle 4"/>
          <p:cNvSpPr/>
          <p:nvPr/>
        </p:nvSpPr>
        <p:spPr>
          <a:xfrm>
            <a:off x="502920" y="1261872"/>
            <a:ext cx="11183112" cy="502920"/>
          </a:xfrm>
          <a:prstGeom prst="rect">
            <a:avLst/>
          </a:prstGeom>
          <a:solidFill>
            <a:srgbClr val="0B2220"/>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335024"/>
            <a:ext cx="10908792" cy="393192"/>
          </a:xfrm>
          <a:prstGeom prst="rect">
            <a:avLst/>
          </a:prstGeom>
          <a:noFill/>
        </p:spPr>
        <p:txBody>
          <a:bodyPr wrap="square">
            <a:spAutoFit/>
          </a:bodyPr>
          <a:lstStyle/>
          <a:p>
            <a:r>
              <a:rPr sz="1300" b="0">
                <a:solidFill>
                  <a:srgbClr val="EAF0F7"/>
                </a:solidFill>
                <a:latin typeface="Calibri"/>
              </a:rPr>
              <a:t>Bốn bước: lọc quanh cộng hưởng → Hilbert lấy đường bao → FFT đường bao → đọc vạch — và đây là minh chứng trên dữ liệu thật.</a:t>
            </a:r>
          </a:p>
        </p:txBody>
      </p:sp>
      <p:pic>
        <p:nvPicPr>
          <p:cNvPr id="7" name="Picture 6" descr="image.png"/>
          <p:cNvPicPr>
            <a:picLocks noChangeAspect="1"/>
          </p:cNvPicPr>
          <p:nvPr/>
        </p:nvPicPr>
        <p:blipFill>
          <a:blip r:embed="rId3"/>
          <a:stretch>
            <a:fillRect/>
          </a:stretch>
        </p:blipFill>
        <p:spPr>
          <a:xfrm>
            <a:off x="502920" y="1874520"/>
            <a:ext cx="4754880" cy="4617720"/>
          </a:xfrm>
          <a:prstGeom prst="rect">
            <a:avLst/>
          </a:prstGeom>
        </p:spPr>
      </p:pic>
      <p:sp>
        <p:nvSpPr>
          <p:cNvPr id="8" name="TextBox 7"/>
          <p:cNvSpPr txBox="1"/>
          <p:nvPr/>
        </p:nvSpPr>
        <p:spPr>
          <a:xfrm>
            <a:off x="5532120" y="1874520"/>
            <a:ext cx="6153912" cy="4617720"/>
          </a:xfrm>
          <a:prstGeom prst="rect">
            <a:avLst/>
          </a:prstGeom>
          <a:noFill/>
        </p:spPr>
        <p:txBody>
          <a:bodyPr wrap="square">
            <a:spAutoFit/>
          </a:bodyPr>
          <a:lstStyle/>
          <a:p>
            <a:endParaRPr/>
          </a:p>
        </p:txBody>
      </p:sp>
      <p:sp>
        <p:nvSpPr>
          <p:cNvPr id="9" name="TextBox 8"/>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Calibri"/>
              </a:rPr>
              <a:t>17 / 40</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2200" b="1">
                <a:solidFill>
                  <a:srgbClr val="FFFFFF"/>
                </a:solidFill>
                <a:latin typeface="Calibri"/>
              </a:rPr>
              <a:t>Spectrogram — bản đồ thời gian × tần số</a:t>
            </a:r>
          </a:p>
        </p:txBody>
      </p:sp>
      <p:sp>
        <p:nvSpPr>
          <p:cNvPr id="3" name="Text Placeholder 2"/>
          <p:cNvSpPr>
            <a:spLocks noGrp="1"/>
          </p:cNvSpPr>
          <p:nvPr>
            <p:ph type="body" sz="quarter" idx="13"/>
          </p:nvPr>
        </p:nvSpPr>
        <p:spPr/>
        <p:txBody>
          <a:bodyPr/>
          <a:lstStyle/>
          <a:p>
            <a:endParaRPr/>
          </a:p>
        </p:txBody>
      </p:sp>
      <p:sp>
        <p:nvSpPr>
          <p:cNvPr id="4" name="TextBox 3"/>
          <p:cNvSpPr txBox="1"/>
          <p:nvPr/>
        </p:nvSpPr>
        <p:spPr>
          <a:xfrm>
            <a:off x="502920" y="137160"/>
            <a:ext cx="5029200" cy="292608"/>
          </a:xfrm>
          <a:prstGeom prst="rect">
            <a:avLst/>
          </a:prstGeom>
          <a:noFill/>
        </p:spPr>
        <p:txBody>
          <a:bodyPr wrap="none">
            <a:spAutoFit/>
          </a:bodyPr>
          <a:lstStyle/>
          <a:p>
            <a:r>
              <a:rPr sz="1100" b="1">
                <a:solidFill>
                  <a:srgbClr val="2DD4BF"/>
                </a:solidFill>
                <a:latin typeface="Calibri"/>
              </a:rPr>
              <a:t>Tutorial 02 · Spectrogram</a:t>
            </a:r>
          </a:p>
        </p:txBody>
      </p:sp>
      <p:sp>
        <p:nvSpPr>
          <p:cNvPr id="5" name="Rectangle 4"/>
          <p:cNvSpPr/>
          <p:nvPr/>
        </p:nvSpPr>
        <p:spPr>
          <a:xfrm>
            <a:off x="502920" y="1261872"/>
            <a:ext cx="11183112" cy="502920"/>
          </a:xfrm>
          <a:prstGeom prst="rect">
            <a:avLst/>
          </a:prstGeom>
          <a:solidFill>
            <a:srgbClr val="0B2220"/>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335024"/>
            <a:ext cx="10908792" cy="393192"/>
          </a:xfrm>
          <a:prstGeom prst="rect">
            <a:avLst/>
          </a:prstGeom>
          <a:noFill/>
        </p:spPr>
        <p:txBody>
          <a:bodyPr wrap="square">
            <a:spAutoFit/>
          </a:bodyPr>
          <a:lstStyle/>
          <a:p>
            <a:r>
              <a:rPr sz="1300" b="0">
                <a:solidFill>
                  <a:srgbClr val="EAF0F7"/>
                </a:solidFill>
                <a:latin typeface="Calibri"/>
              </a:rPr>
              <a:t>Spectrogram = phim quay chậm của phổ theo thời gian; xung tuần hoàn hiện thành "sọc dọc" sáng lặp đều.</a:t>
            </a:r>
          </a:p>
        </p:txBody>
      </p:sp>
      <p:pic>
        <p:nvPicPr>
          <p:cNvPr id="7" name="Picture 6" descr="image.png"/>
          <p:cNvPicPr>
            <a:picLocks noChangeAspect="1"/>
          </p:cNvPicPr>
          <p:nvPr/>
        </p:nvPicPr>
        <p:blipFill>
          <a:blip r:embed="rId3"/>
          <a:stretch>
            <a:fillRect/>
          </a:stretch>
        </p:blipFill>
        <p:spPr>
          <a:xfrm>
            <a:off x="502920" y="1874520"/>
            <a:ext cx="4754880" cy="4617720"/>
          </a:xfrm>
          <a:prstGeom prst="rect">
            <a:avLst/>
          </a:prstGeom>
        </p:spPr>
      </p:pic>
      <p:sp>
        <p:nvSpPr>
          <p:cNvPr id="8" name="TextBox 7"/>
          <p:cNvSpPr txBox="1"/>
          <p:nvPr/>
        </p:nvSpPr>
        <p:spPr>
          <a:xfrm>
            <a:off x="5532120" y="1874520"/>
            <a:ext cx="6153912" cy="4617720"/>
          </a:xfrm>
          <a:prstGeom prst="rect">
            <a:avLst/>
          </a:prstGeom>
          <a:noFill/>
        </p:spPr>
        <p:txBody>
          <a:bodyPr wrap="square">
            <a:spAutoFit/>
          </a:bodyPr>
          <a:lstStyle/>
          <a:p>
            <a:endParaRPr/>
          </a:p>
        </p:txBody>
      </p:sp>
      <p:sp>
        <p:nvSpPr>
          <p:cNvPr id="9" name="TextBox 8"/>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Calibri"/>
              </a:rPr>
              <a:t>18 / 40</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2200" b="1">
                <a:solidFill>
                  <a:srgbClr val="FFFFFF"/>
                </a:solidFill>
                <a:latin typeface="Calibri"/>
              </a:rPr>
              <a:t>Spectrogram 4 trạng thái — dữ liệu CWRU thật</a:t>
            </a:r>
          </a:p>
        </p:txBody>
      </p:sp>
      <p:sp>
        <p:nvSpPr>
          <p:cNvPr id="3" name="Text Placeholder 2"/>
          <p:cNvSpPr>
            <a:spLocks noGrp="1"/>
          </p:cNvSpPr>
          <p:nvPr>
            <p:ph type="body" sz="quarter" idx="13"/>
          </p:nvPr>
        </p:nvSpPr>
        <p:spPr/>
        <p:txBody>
          <a:bodyPr/>
          <a:lstStyle/>
          <a:p>
            <a:endParaRPr/>
          </a:p>
        </p:txBody>
      </p:sp>
      <p:sp>
        <p:nvSpPr>
          <p:cNvPr id="4" name="TextBox 3"/>
          <p:cNvSpPr txBox="1"/>
          <p:nvPr/>
        </p:nvSpPr>
        <p:spPr>
          <a:xfrm>
            <a:off x="502920" y="137160"/>
            <a:ext cx="5029200" cy="292608"/>
          </a:xfrm>
          <a:prstGeom prst="rect">
            <a:avLst/>
          </a:prstGeom>
          <a:noFill/>
        </p:spPr>
        <p:txBody>
          <a:bodyPr wrap="none">
            <a:spAutoFit/>
          </a:bodyPr>
          <a:lstStyle/>
          <a:p>
            <a:r>
              <a:rPr sz="1100" b="1">
                <a:solidFill>
                  <a:srgbClr val="2DD4BF"/>
                </a:solidFill>
                <a:latin typeface="Calibri"/>
              </a:rPr>
              <a:t>Tutorial 02 · Spectrogram thực tế</a:t>
            </a:r>
          </a:p>
        </p:txBody>
      </p:sp>
      <p:sp>
        <p:nvSpPr>
          <p:cNvPr id="5" name="Rectangle 4"/>
          <p:cNvSpPr/>
          <p:nvPr/>
        </p:nvSpPr>
        <p:spPr>
          <a:xfrm>
            <a:off x="502920" y="1261872"/>
            <a:ext cx="11183112" cy="502920"/>
          </a:xfrm>
          <a:prstGeom prst="rect">
            <a:avLst/>
          </a:prstGeom>
          <a:solidFill>
            <a:srgbClr val="0B2220"/>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335024"/>
            <a:ext cx="10908792" cy="393192"/>
          </a:xfrm>
          <a:prstGeom prst="rect">
            <a:avLst/>
          </a:prstGeom>
          <a:noFill/>
        </p:spPr>
        <p:txBody>
          <a:bodyPr wrap="square">
            <a:spAutoFit/>
          </a:bodyPr>
          <a:lstStyle/>
          <a:p>
            <a:r>
              <a:rPr sz="1300" b="0">
                <a:solidFill>
                  <a:srgbClr val="EAF0F7"/>
                </a:solidFill>
                <a:latin typeface="Calibri"/>
              </a:rPr>
              <a:t>Trên dữ liệu CWRU thật: OR đậm "sọc dọc" nhất, Ball mờ nhất — đúng như lý thuyết tiên đoán.</a:t>
            </a:r>
          </a:p>
        </p:txBody>
      </p:sp>
      <p:pic>
        <p:nvPicPr>
          <p:cNvPr id="7" name="Picture 6" descr="image.jpg"/>
          <p:cNvPicPr>
            <a:picLocks noChangeAspect="1"/>
          </p:cNvPicPr>
          <p:nvPr/>
        </p:nvPicPr>
        <p:blipFill>
          <a:blip r:embed="rId3"/>
          <a:stretch>
            <a:fillRect/>
          </a:stretch>
        </p:blipFill>
        <p:spPr>
          <a:xfrm>
            <a:off x="502920" y="1874520"/>
            <a:ext cx="4754880" cy="4617720"/>
          </a:xfrm>
          <a:prstGeom prst="rect">
            <a:avLst/>
          </a:prstGeom>
        </p:spPr>
      </p:pic>
      <p:sp>
        <p:nvSpPr>
          <p:cNvPr id="8" name="TextBox 7"/>
          <p:cNvSpPr txBox="1"/>
          <p:nvPr/>
        </p:nvSpPr>
        <p:spPr>
          <a:xfrm>
            <a:off x="5532120" y="1874520"/>
            <a:ext cx="6153912" cy="4617720"/>
          </a:xfrm>
          <a:prstGeom prst="rect">
            <a:avLst/>
          </a:prstGeom>
          <a:noFill/>
        </p:spPr>
        <p:txBody>
          <a:bodyPr wrap="square">
            <a:spAutoFit/>
          </a:bodyPr>
          <a:lstStyle/>
          <a:p>
            <a:endParaRPr/>
          </a:p>
        </p:txBody>
      </p:sp>
      <p:sp>
        <p:nvSpPr>
          <p:cNvPr id="9" name="TextBox 8"/>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Calibri"/>
              </a:rPr>
              <a:t>19 / 40</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sz="3600" b="1">
                <a:solidFill>
                  <a:srgbClr val="111827"/>
                </a:solidFill>
                <a:latin typeface="Calibri"/>
              </a:rPr>
              <a:t>Phần C · Trích đặc trưng &amp; EDA</a:t>
            </a:r>
          </a:p>
        </p:txBody>
      </p:sp>
      <p:sp>
        <p:nvSpPr>
          <p:cNvPr id="3" name="Content Placeholder 2"/>
          <p:cNvSpPr>
            <a:spLocks noGrp="1"/>
          </p:cNvSpPr>
          <p:nvPr>
            <p:ph sz="quarter" idx="13"/>
          </p:nvPr>
        </p:nvSpPr>
        <p:spPr/>
        <p:txBody>
          <a:bodyPr/>
          <a:lstStyle/>
          <a:p>
            <a:pPr algn="ctr"/>
            <a:r>
              <a:rPr sz="1400" i="1">
                <a:solidFill>
                  <a:srgbClr val="4B5563"/>
                </a:solidFill>
                <a:latin typeface="Calibri"/>
              </a:rPr>
              <a:t>Feature Engineering &amp; EDA</a:t>
            </a:r>
          </a:p>
        </p:txBody>
      </p:sp>
      <p:sp>
        <p:nvSpPr>
          <p:cNvPr id="4" name="TextBox 3"/>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Calibri"/>
              </a:rPr>
              <a:t>20 / 40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2200" b="1">
                <a:solidFill>
                  <a:srgbClr val="FFFFFF"/>
                </a:solidFill>
                <a:latin typeface="Calibri"/>
              </a:rPr>
              <a:t>Nén 2048 chiều → 19 con số</a:t>
            </a:r>
          </a:p>
        </p:txBody>
      </p:sp>
      <p:sp>
        <p:nvSpPr>
          <p:cNvPr id="3" name="Text Placeholder 2"/>
          <p:cNvSpPr>
            <a:spLocks noGrp="1"/>
          </p:cNvSpPr>
          <p:nvPr>
            <p:ph type="body" sz="quarter" idx="13"/>
          </p:nvPr>
        </p:nvSpPr>
        <p:spPr/>
        <p:txBody>
          <a:bodyPr/>
          <a:lstStyle/>
          <a:p>
            <a:endParaRPr/>
          </a:p>
        </p:txBody>
      </p:sp>
      <p:sp>
        <p:nvSpPr>
          <p:cNvPr id="4" name="TextBox 3"/>
          <p:cNvSpPr txBox="1"/>
          <p:nvPr/>
        </p:nvSpPr>
        <p:spPr>
          <a:xfrm>
            <a:off x="502920" y="137160"/>
            <a:ext cx="5029200" cy="292608"/>
          </a:xfrm>
          <a:prstGeom prst="rect">
            <a:avLst/>
          </a:prstGeom>
          <a:noFill/>
        </p:spPr>
        <p:txBody>
          <a:bodyPr wrap="none">
            <a:spAutoFit/>
          </a:bodyPr>
          <a:lstStyle/>
          <a:p>
            <a:r>
              <a:rPr sz="1100" b="1">
                <a:solidFill>
                  <a:srgbClr val="2DD4BF"/>
                </a:solidFill>
                <a:latin typeface="Calibri"/>
              </a:rPr>
              <a:t>Tutorial 03 · 19 đặc trưng</a:t>
            </a:r>
          </a:p>
        </p:txBody>
      </p:sp>
      <p:sp>
        <p:nvSpPr>
          <p:cNvPr id="5" name="Rectangle 4"/>
          <p:cNvSpPr/>
          <p:nvPr/>
        </p:nvSpPr>
        <p:spPr>
          <a:xfrm>
            <a:off x="502920" y="1261872"/>
            <a:ext cx="11183112" cy="502920"/>
          </a:xfrm>
          <a:prstGeom prst="rect">
            <a:avLst/>
          </a:prstGeom>
          <a:solidFill>
            <a:srgbClr val="0B2220"/>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335024"/>
            <a:ext cx="10908792" cy="393192"/>
          </a:xfrm>
          <a:prstGeom prst="rect">
            <a:avLst/>
          </a:prstGeom>
          <a:noFill/>
        </p:spPr>
        <p:txBody>
          <a:bodyPr wrap="square">
            <a:spAutoFit/>
          </a:bodyPr>
          <a:lstStyle/>
          <a:p>
            <a:r>
              <a:rPr sz="1300" b="0">
                <a:solidFill>
                  <a:srgbClr val="EAF0F7"/>
                </a:solidFill>
                <a:latin typeface="Calibri"/>
              </a:rPr>
              <a:t>Giảm chiều dữ liệu hiệu quả: Nén phân đoạn 2048 mẫu thô thành 19 đặc trưng cô đọng mang ý nghĩa vật lý — bao gồm các chỉ số thống kê miền thời gian, tham số miền tần số và năng lượng các dải tần trọng yếu.</a:t>
            </a:r>
          </a:p>
        </p:txBody>
      </p:sp>
      <p:pic>
        <p:nvPicPr>
          <p:cNvPr id="7" name="Picture 6" descr="image.png"/>
          <p:cNvPicPr>
            <a:picLocks noChangeAspect="1"/>
          </p:cNvPicPr>
          <p:nvPr/>
        </p:nvPicPr>
        <p:blipFill>
          <a:blip r:embed="rId3"/>
          <a:stretch>
            <a:fillRect/>
          </a:stretch>
        </p:blipFill>
        <p:spPr>
          <a:xfrm>
            <a:off x="502920" y="1874520"/>
            <a:ext cx="4754880" cy="4617720"/>
          </a:xfrm>
          <a:prstGeom prst="rect">
            <a:avLst/>
          </a:prstGeom>
        </p:spPr>
      </p:pic>
      <p:sp>
        <p:nvSpPr>
          <p:cNvPr id="8" name="TextBox 7"/>
          <p:cNvSpPr txBox="1"/>
          <p:nvPr/>
        </p:nvSpPr>
        <p:spPr>
          <a:xfrm>
            <a:off x="5532120" y="1874520"/>
            <a:ext cx="6153912" cy="4617720"/>
          </a:xfrm>
          <a:prstGeom prst="rect">
            <a:avLst/>
          </a:prstGeom>
          <a:noFill/>
        </p:spPr>
        <p:txBody>
          <a:bodyPr wrap="square">
            <a:spAutoFit/>
          </a:bodyPr>
          <a:lstStyle/>
          <a:p>
            <a:endParaRPr/>
          </a:p>
        </p:txBody>
      </p:sp>
      <p:sp>
        <p:nvSpPr>
          <p:cNvPr id="9" name="TextBox 8"/>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Calibri"/>
              </a:rPr>
              <a:t>21 / 40</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2200" b="1">
                <a:solidFill>
                  <a:srgbClr val="FFFFFF"/>
                </a:solidFill>
                <a:latin typeface="Calibri"/>
              </a:rPr>
              <a:t>Kurtosis — "chuông báo sớm" (lưu ý định nghĩa!)</a:t>
            </a:r>
          </a:p>
        </p:txBody>
      </p:sp>
      <p:sp>
        <p:nvSpPr>
          <p:cNvPr id="3" name="Text Placeholder 2"/>
          <p:cNvSpPr>
            <a:spLocks noGrp="1"/>
          </p:cNvSpPr>
          <p:nvPr>
            <p:ph type="body" sz="quarter" idx="13"/>
          </p:nvPr>
        </p:nvSpPr>
        <p:spPr/>
        <p:txBody>
          <a:bodyPr/>
          <a:lstStyle/>
          <a:p>
            <a:endParaRPr/>
          </a:p>
        </p:txBody>
      </p:sp>
      <p:sp>
        <p:nvSpPr>
          <p:cNvPr id="4" name="TextBox 3"/>
          <p:cNvSpPr txBox="1"/>
          <p:nvPr/>
        </p:nvSpPr>
        <p:spPr>
          <a:xfrm>
            <a:off x="502920" y="137160"/>
            <a:ext cx="5029200" cy="292608"/>
          </a:xfrm>
          <a:prstGeom prst="rect">
            <a:avLst/>
          </a:prstGeom>
          <a:noFill/>
        </p:spPr>
        <p:txBody>
          <a:bodyPr wrap="none">
            <a:spAutoFit/>
          </a:bodyPr>
          <a:lstStyle/>
          <a:p>
            <a:r>
              <a:rPr sz="1100" b="1">
                <a:solidFill>
                  <a:srgbClr val="2DD4BF"/>
                </a:solidFill>
                <a:latin typeface="Calibri"/>
              </a:rPr>
              <a:t>Tutorial 03 · Kurtosis</a:t>
            </a:r>
          </a:p>
        </p:txBody>
      </p:sp>
      <p:sp>
        <p:nvSpPr>
          <p:cNvPr id="5" name="Rectangle 4"/>
          <p:cNvSpPr/>
          <p:nvPr/>
        </p:nvSpPr>
        <p:spPr>
          <a:xfrm>
            <a:off x="502920" y="1261872"/>
            <a:ext cx="11183112" cy="502920"/>
          </a:xfrm>
          <a:prstGeom prst="rect">
            <a:avLst/>
          </a:prstGeom>
          <a:solidFill>
            <a:srgbClr val="0B2220"/>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335024"/>
            <a:ext cx="10908792" cy="393192"/>
          </a:xfrm>
          <a:prstGeom prst="rect">
            <a:avLst/>
          </a:prstGeom>
          <a:noFill/>
        </p:spPr>
        <p:txBody>
          <a:bodyPr wrap="square">
            <a:spAutoFit/>
          </a:bodyPr>
          <a:lstStyle/>
          <a:p>
            <a:r>
              <a:rPr sz="1300" b="0">
                <a:solidFill>
                  <a:srgbClr val="EAF0F7"/>
                </a:solidFill>
                <a:latin typeface="Calibri"/>
              </a:rPr>
              <a:t>Hệ số nhọn Kurtosis đóng vai trò "chuông cảnh báo sớm": Đo lường độ dày phần đuôi của phân bố xác suất tín hiệu — các xung va đập cơ học sẽ đẩy chỉ số này tăng vọt; tuy nhiên cần chuẩn hóa định nghĩa toán học (Pearson với phân bố chuẩn Normal ≈ 3).</a:t>
            </a:r>
          </a:p>
        </p:txBody>
      </p:sp>
      <p:sp>
        <p:nvSpPr>
          <p:cNvPr id="7" name="Rectangle 6"/>
          <p:cNvSpPr/>
          <p:nvPr/>
        </p:nvSpPr>
        <p:spPr>
          <a:xfrm>
            <a:off x="502920" y="1874520"/>
            <a:ext cx="5500116" cy="4617720"/>
          </a:xfrm>
          <a:prstGeom prst="rect">
            <a:avLst/>
          </a:prstGeom>
          <a:solidFill>
            <a:srgbClr val="152133"/>
          </a:solidFill>
          <a:ln w="9525">
            <a:solidFill>
              <a:srgbClr val="2A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1984248"/>
            <a:ext cx="5225796" cy="329184"/>
          </a:xfrm>
          <a:prstGeom prst="rect">
            <a:avLst/>
          </a:prstGeom>
          <a:noFill/>
        </p:spPr>
        <p:txBody>
          <a:bodyPr wrap="none">
            <a:spAutoFit/>
          </a:bodyPr>
          <a:lstStyle/>
          <a:p>
            <a:r>
              <a:rPr sz="1300" b="1">
                <a:solidFill>
                  <a:srgbClr val="38BDF8"/>
                </a:solidFill>
                <a:latin typeface="Calibri"/>
              </a:rPr>
              <a:t>Hai định nghĩa dễ gây nhầm lẫn</a:t>
            </a:r>
          </a:p>
        </p:txBody>
      </p:sp>
      <p:sp>
        <p:nvSpPr>
          <p:cNvPr id="9" name="TextBox 8"/>
          <p:cNvSpPr txBox="1"/>
          <p:nvPr/>
        </p:nvSpPr>
        <p:spPr>
          <a:xfrm>
            <a:off x="640080" y="2331720"/>
            <a:ext cx="5225796" cy="4069080"/>
          </a:xfrm>
          <a:prstGeom prst="rect">
            <a:avLst/>
          </a:prstGeom>
          <a:noFill/>
        </p:spPr>
        <p:txBody>
          <a:bodyPr wrap="square">
            <a:spAutoFit/>
          </a:bodyPr>
          <a:lstStyle/>
          <a:p>
            <a:r>
              <a:rPr sz="1200">
                <a:solidFill>
                  <a:srgbClr val="EAF0F7"/>
                </a:solidFill>
                <a:latin typeface="Calibri"/>
              </a:rPr>
              <a:t>Trong mã nguồn thực tế, chúng ta cấu hình tham số kurtosis(x, fisher=False) để phân bố chuẩn có giá trị tiệm cận 3, đồng bộ hoàn toàn với tài liệu kỹ thuật.</a:t>
            </a:r>
          </a:p>
        </p:txBody>
      </p:sp>
      <p:sp>
        <p:nvSpPr>
          <p:cNvPr id="10" name="Rectangle 9"/>
          <p:cNvSpPr/>
          <p:nvPr/>
        </p:nvSpPr>
        <p:spPr>
          <a:xfrm>
            <a:off x="6185916" y="1874520"/>
            <a:ext cx="5500116" cy="4617720"/>
          </a:xfrm>
          <a:prstGeom prst="rect">
            <a:avLst/>
          </a:prstGeom>
          <a:solidFill>
            <a:srgbClr val="152133"/>
          </a:solidFill>
          <a:ln w="9525">
            <a:solidFill>
              <a:srgbClr val="2A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23076" y="1984248"/>
            <a:ext cx="5225796" cy="329184"/>
          </a:xfrm>
          <a:prstGeom prst="rect">
            <a:avLst/>
          </a:prstGeom>
          <a:noFill/>
        </p:spPr>
        <p:txBody>
          <a:bodyPr wrap="none">
            <a:spAutoFit/>
          </a:bodyPr>
          <a:lstStyle/>
          <a:p>
            <a:r>
              <a:rPr sz="1300" b="1">
                <a:solidFill>
                  <a:srgbClr val="38BDF8"/>
                </a:solidFill>
                <a:latin typeface="Calibri"/>
              </a:rPr>
              <a:t>Ngưỡng khuyến cáo hành động</a:t>
            </a:r>
          </a:p>
        </p:txBody>
      </p:sp>
      <p:sp>
        <p:nvSpPr>
          <p:cNvPr id="12" name="TextBox 11"/>
          <p:cNvSpPr txBox="1"/>
          <p:nvPr/>
        </p:nvSpPr>
        <p:spPr>
          <a:xfrm>
            <a:off x="6323076" y="2331720"/>
            <a:ext cx="5225796" cy="4069080"/>
          </a:xfrm>
          <a:prstGeom prst="rect">
            <a:avLst/>
          </a:prstGeom>
          <a:noFill/>
        </p:spPr>
        <p:txBody>
          <a:bodyPr wrap="square">
            <a:spAutoFit/>
          </a:bodyPr>
          <a:lstStyle/>
          <a:p>
            <a:r>
              <a:rPr sz="1200">
                <a:solidFill>
                  <a:srgbClr val="EAF0F7"/>
                </a:solidFill>
                <a:latin typeface="Calibri"/>
              </a:rPr>
              <a:t>• Vượt ngưỡng 3.5: Đưa thiết bị vào danh sách giám sát đặc biệt</a:t>
            </a:r>
          </a:p>
          <a:p>
            <a:r>
              <a:rPr sz="1200">
                <a:solidFill>
                  <a:srgbClr val="EAF0F7"/>
                </a:solidFill>
                <a:latin typeface="Calibri"/>
              </a:rPr>
              <a:t>• Vượt ngưỡng 6.0: Lên kế hoạch chủ động thay thế ổ lăn</a:t>
            </a:r>
          </a:p>
          <a:p>
            <a:r>
              <a:rPr sz="1200">
                <a:solidFill>
                  <a:srgbClr val="EAF0F7"/>
                </a:solidFill>
                <a:latin typeface="Calibri"/>
              </a:rPr>
              <a:t>• Vượt ngưỡng 10.0: Dừng máy để can thiệp kỹ thuật khẩn cấp</a:t>
            </a:r>
          </a:p>
        </p:txBody>
      </p:sp>
      <p:sp>
        <p:nvSpPr>
          <p:cNvPr id="13" name="TextBox 12"/>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Calibri"/>
              </a:rPr>
              <a:t>22 / 40</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lstStyle/>
          <a:p>
            <a:endParaRPr/>
          </a:p>
        </p:txBody>
      </p:sp>
      <p:sp>
        <p:nvSpPr>
          <p:cNvPr id="3" name="Title 2"/>
          <p:cNvSpPr>
            <a:spLocks noGrp="1"/>
          </p:cNvSpPr>
          <p:nvPr>
            <p:ph type="title"/>
          </p:nvPr>
        </p:nvSpPr>
        <p:spPr/>
        <p:txBody>
          <a:bodyPr/>
          <a:lstStyle/>
          <a:p>
            <a:pPr algn="l"/>
            <a:r>
              <a:rPr sz="2200" b="1">
                <a:solidFill>
                  <a:srgbClr val="FFFFFF"/>
                </a:solidFill>
                <a:latin typeface="Calibri"/>
              </a:rPr>
              <a:t>Cắt segment &amp; bẫy rò rỉ dữ liệu</a:t>
            </a:r>
          </a:p>
        </p:txBody>
      </p:sp>
      <p:sp>
        <p:nvSpPr>
          <p:cNvPr id="4" name="TextBox 3"/>
          <p:cNvSpPr txBox="1"/>
          <p:nvPr/>
        </p:nvSpPr>
        <p:spPr>
          <a:xfrm>
            <a:off x="502920" y="137160"/>
            <a:ext cx="5029200" cy="292608"/>
          </a:xfrm>
          <a:prstGeom prst="rect">
            <a:avLst/>
          </a:prstGeom>
          <a:noFill/>
        </p:spPr>
        <p:txBody>
          <a:bodyPr wrap="none">
            <a:spAutoFit/>
          </a:bodyPr>
          <a:lstStyle/>
          <a:p>
            <a:r>
              <a:rPr sz="1100" b="1">
                <a:solidFill>
                  <a:srgbClr val="2DD4BF"/>
                </a:solidFill>
                <a:latin typeface="Calibri"/>
              </a:rPr>
              <a:t>Tutorial 03 · Windowing</a:t>
            </a:r>
          </a:p>
        </p:txBody>
      </p:sp>
      <p:sp>
        <p:nvSpPr>
          <p:cNvPr id="5" name="Rectangle 4"/>
          <p:cNvSpPr/>
          <p:nvPr/>
        </p:nvSpPr>
        <p:spPr>
          <a:xfrm>
            <a:off x="502920" y="1261872"/>
            <a:ext cx="11183112" cy="502920"/>
          </a:xfrm>
          <a:prstGeom prst="rect">
            <a:avLst/>
          </a:prstGeom>
          <a:solidFill>
            <a:srgbClr val="0B2220"/>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335024"/>
            <a:ext cx="10908792" cy="393192"/>
          </a:xfrm>
          <a:prstGeom prst="rect">
            <a:avLst/>
          </a:prstGeom>
          <a:noFill/>
        </p:spPr>
        <p:txBody>
          <a:bodyPr wrap="square">
            <a:spAutoFit/>
          </a:bodyPr>
          <a:lstStyle/>
          <a:p>
            <a:r>
              <a:rPr sz="1300" b="0">
                <a:solidFill>
                  <a:srgbClr val="EAF0F7"/>
                </a:solidFill>
                <a:latin typeface="Calibri"/>
              </a:rPr>
              <a:t>Kỹ thuật phân đoạn tín hiệu: Sử dụng cửa sổ thời gian chồng lấp 50% giúp gia tăng số lượng mẫu huấn luyện mô hình — tuy nhiên phương pháp này ẩn chứa bẫy rò rỉ dữ liệu (Data Leakage) cực kỳ nghiêm trọng nếu chia tập Train/Test theo cách thông thường.</a:t>
            </a:r>
          </a:p>
        </p:txBody>
      </p:sp>
      <p:sp>
        <p:nvSpPr>
          <p:cNvPr id="7" name="TextBox 6"/>
          <p:cNvSpPr txBox="1"/>
          <p:nvPr/>
        </p:nvSpPr>
        <p:spPr>
          <a:xfrm>
            <a:off x="502920" y="1874520"/>
            <a:ext cx="11183112" cy="4617720"/>
          </a:xfrm>
          <a:prstGeom prst="rect">
            <a:avLst/>
          </a:prstGeom>
          <a:noFill/>
        </p:spPr>
        <p:txBody>
          <a:bodyPr wrap="square">
            <a:spAutoFit/>
          </a:bodyPr>
          <a:lstStyle/>
          <a:p>
            <a:r>
              <a:rPr sz="1400" b="0" i="0">
                <a:solidFill>
                  <a:srgbClr val="EAF0F7"/>
                </a:solidFill>
                <a:latin typeface="Calibri"/>
              </a:rPr>
              <a:t>Phân đoạn tín hiệu bằng cửa sổ thời gian gồm 2048 mẫu (~0.17 giây, tương đương ~5 chu kỳ quay của trục), trượt với độ chồng lấp (overlap) 50% để tối ưu hóa số lượng mẫu huấn luyện.</a:t>
            </a:r>
          </a:p>
          <a:p>
            <a:r>
              <a:rPr sz="1300" b="0" i="0">
                <a:solidFill>
                  <a:srgbClr val="EF4444"/>
                </a:solidFill>
                <a:latin typeface="Calibri"/>
              </a:rPr>
              <a:t>✗ ⚠️ Hệ quả kỹ thuật: Hai phân đoạn nằm kề nhau sẽ dùng chung 1024 mẫu tín hiệu cơ sở, khiến chúng có nội dung gần như tương đồng hoàn toàn. Nếu chia tập Train/Test ngẫu nhiên theo từng mẫu đơn lẻ, các "bản sao" này sẽ lọt vào cả hai tập, dẫn đến hiện tượng học vẹt và báo cáo độ chính xác cao ảo (Overestimation).</a:t>
            </a:r>
          </a:p>
          <a:p>
            <a:r>
              <a:rPr sz="1300" b="0" i="0">
                <a:solidFill>
                  <a:srgbClr val="34D399"/>
                </a:solidFill>
                <a:latin typeface="Calibri"/>
              </a:rPr>
              <a:t>✓ → Giải pháp khắc phục: Gán nhãn mã định danh tệp nguồn file_id cho mỗi phân đoạn (ghi nhận trong file cấu hình groups.csv), làm cơ sở để thực hiện chia tập dữ liệu độc lập theo File nguồn ở các bước sau.</a:t>
            </a:r>
          </a:p>
        </p:txBody>
      </p:sp>
      <p:sp>
        <p:nvSpPr>
          <p:cNvPr id="8" name="TextBox 7"/>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Calibri"/>
              </a:rPr>
              <a:t>23 / 40</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sz="3600" b="1">
                <a:solidFill>
                  <a:srgbClr val="111827"/>
                </a:solidFill>
                <a:latin typeface="Calibri"/>
              </a:rPr>
              <a:t>SVM &amp; Random Forest</a:t>
            </a:r>
          </a:p>
        </p:txBody>
      </p:sp>
      <p:sp>
        <p:nvSpPr>
          <p:cNvPr id="3" name="Content Placeholder 2"/>
          <p:cNvSpPr>
            <a:spLocks noGrp="1"/>
          </p:cNvSpPr>
          <p:nvPr>
            <p:ph sz="quarter" idx="13"/>
          </p:nvPr>
        </p:nvSpPr>
        <p:spPr/>
        <p:txBody>
          <a:bodyPr/>
          <a:lstStyle/>
          <a:p>
            <a:pPr algn="ctr"/>
            <a:r>
              <a:rPr sz="1400" i="1">
                <a:solidFill>
                  <a:srgbClr val="4B5563"/>
                </a:solidFill>
                <a:latin typeface="Calibri"/>
              </a:rPr>
              <a:t>SVM &amp; Random Forest</a:t>
            </a:r>
          </a:p>
        </p:txBody>
      </p:sp>
      <p:sp>
        <p:nvSpPr>
          <p:cNvPr id="4" name="TextBox 3"/>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Calibri"/>
              </a:rPr>
              <a:t>24 / 40</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2200" b="1">
                <a:solidFill>
                  <a:srgbClr val="FFFFFF"/>
                </a:solidFill>
                <a:latin typeface="Calibri"/>
              </a:rPr>
              <a:t>SVM — "đường biên an toàn nhất"</a:t>
            </a:r>
          </a:p>
        </p:txBody>
      </p:sp>
      <p:sp>
        <p:nvSpPr>
          <p:cNvPr id="3" name="Text Placeholder 2"/>
          <p:cNvSpPr>
            <a:spLocks noGrp="1"/>
          </p:cNvSpPr>
          <p:nvPr>
            <p:ph type="body" sz="quarter" idx="13"/>
          </p:nvPr>
        </p:nvSpPr>
        <p:spPr/>
        <p:txBody>
          <a:bodyPr/>
          <a:lstStyle/>
          <a:p>
            <a:endParaRPr/>
          </a:p>
        </p:txBody>
      </p:sp>
      <p:sp>
        <p:nvSpPr>
          <p:cNvPr id="4" name="TextBox 3"/>
          <p:cNvSpPr txBox="1"/>
          <p:nvPr/>
        </p:nvSpPr>
        <p:spPr>
          <a:xfrm>
            <a:off x="502920" y="137160"/>
            <a:ext cx="5029200" cy="292608"/>
          </a:xfrm>
          <a:prstGeom prst="rect">
            <a:avLst/>
          </a:prstGeom>
          <a:noFill/>
        </p:spPr>
        <p:txBody>
          <a:bodyPr wrap="none">
            <a:spAutoFit/>
          </a:bodyPr>
          <a:lstStyle/>
          <a:p>
            <a:r>
              <a:rPr sz="1100" b="1">
                <a:solidFill>
                  <a:srgbClr val="2DD4BF"/>
                </a:solidFill>
                <a:latin typeface="Calibri"/>
              </a:rPr>
              <a:t>Phần B · SVM</a:t>
            </a:r>
          </a:p>
        </p:txBody>
      </p:sp>
      <p:sp>
        <p:nvSpPr>
          <p:cNvPr id="5" name="Rectangle 4"/>
          <p:cNvSpPr/>
          <p:nvPr/>
        </p:nvSpPr>
        <p:spPr>
          <a:xfrm>
            <a:off x="502920" y="1261872"/>
            <a:ext cx="11183112" cy="502920"/>
          </a:xfrm>
          <a:prstGeom prst="rect">
            <a:avLst/>
          </a:prstGeom>
          <a:solidFill>
            <a:srgbClr val="0B2220"/>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335024"/>
            <a:ext cx="10908792" cy="393192"/>
          </a:xfrm>
          <a:prstGeom prst="rect">
            <a:avLst/>
          </a:prstGeom>
          <a:noFill/>
        </p:spPr>
        <p:txBody>
          <a:bodyPr wrap="square">
            <a:spAutoFit/>
          </a:bodyPr>
          <a:lstStyle/>
          <a:p>
            <a:r>
              <a:rPr sz="1300" b="0">
                <a:solidFill>
                  <a:srgbClr val="EAF0F7"/>
                </a:solidFill>
                <a:latin typeface="Calibri"/>
              </a:rPr>
              <a:t>Thuật toán SVM xác định siêu phẳng phân tách có khoảng cách lề (Margin) lớn nhất giữa các lớp dữ liệu; sử dụng hàm nhân Kernel RBF để "chiếu" dữ liệu lên không gian cao chiều, giúp phân tách hiệu quả các biên quyết định phi tuyến phức tạp.</a:t>
            </a:r>
          </a:p>
        </p:txBody>
      </p:sp>
      <p:pic>
        <p:nvPicPr>
          <p:cNvPr id="7" name="Picture 6" descr="image.png"/>
          <p:cNvPicPr>
            <a:picLocks noChangeAspect="1"/>
          </p:cNvPicPr>
          <p:nvPr/>
        </p:nvPicPr>
        <p:blipFill>
          <a:blip r:embed="rId3"/>
          <a:stretch>
            <a:fillRect/>
          </a:stretch>
        </p:blipFill>
        <p:spPr>
          <a:xfrm>
            <a:off x="502920" y="1874520"/>
            <a:ext cx="4754880" cy="4617720"/>
          </a:xfrm>
          <a:prstGeom prst="rect">
            <a:avLst/>
          </a:prstGeom>
        </p:spPr>
      </p:pic>
      <p:sp>
        <p:nvSpPr>
          <p:cNvPr id="8" name="TextBox 7"/>
          <p:cNvSpPr txBox="1"/>
          <p:nvPr/>
        </p:nvSpPr>
        <p:spPr>
          <a:xfrm>
            <a:off x="5532120" y="1874520"/>
            <a:ext cx="6153912" cy="4617720"/>
          </a:xfrm>
          <a:prstGeom prst="rect">
            <a:avLst/>
          </a:prstGeom>
          <a:noFill/>
        </p:spPr>
        <p:txBody>
          <a:bodyPr wrap="square">
            <a:spAutoFit/>
          </a:bodyPr>
          <a:lstStyle/>
          <a:p>
            <a:endParaRPr/>
          </a:p>
        </p:txBody>
      </p:sp>
      <p:sp>
        <p:nvSpPr>
          <p:cNvPr id="9" name="TextBox 8"/>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Calibri"/>
              </a:rPr>
              <a:t>25 / 40</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2200" b="1">
                <a:solidFill>
                  <a:srgbClr val="FFFFFF"/>
                </a:solidFill>
                <a:latin typeface="Calibri"/>
              </a:rPr>
              <a:t>Random Forest — "hội đồng nhiều cây"</a:t>
            </a:r>
          </a:p>
        </p:txBody>
      </p:sp>
      <p:sp>
        <p:nvSpPr>
          <p:cNvPr id="3" name="Text Placeholder 2"/>
          <p:cNvSpPr>
            <a:spLocks noGrp="1"/>
          </p:cNvSpPr>
          <p:nvPr>
            <p:ph type="body" sz="quarter" idx="13"/>
          </p:nvPr>
        </p:nvSpPr>
        <p:spPr/>
        <p:txBody>
          <a:bodyPr/>
          <a:lstStyle/>
          <a:p>
            <a:endParaRPr/>
          </a:p>
        </p:txBody>
      </p:sp>
      <p:sp>
        <p:nvSpPr>
          <p:cNvPr id="4" name="TextBox 3"/>
          <p:cNvSpPr txBox="1"/>
          <p:nvPr/>
        </p:nvSpPr>
        <p:spPr>
          <a:xfrm>
            <a:off x="502920" y="137160"/>
            <a:ext cx="5029200" cy="292608"/>
          </a:xfrm>
          <a:prstGeom prst="rect">
            <a:avLst/>
          </a:prstGeom>
          <a:noFill/>
        </p:spPr>
        <p:txBody>
          <a:bodyPr wrap="none">
            <a:spAutoFit/>
          </a:bodyPr>
          <a:lstStyle/>
          <a:p>
            <a:r>
              <a:rPr sz="1100" b="1">
                <a:solidFill>
                  <a:srgbClr val="2DD4BF"/>
                </a:solidFill>
                <a:latin typeface="Calibri"/>
              </a:rPr>
              <a:t>Phần B · Random Forest</a:t>
            </a:r>
          </a:p>
        </p:txBody>
      </p:sp>
      <p:sp>
        <p:nvSpPr>
          <p:cNvPr id="5" name="Rectangle 4"/>
          <p:cNvSpPr/>
          <p:nvPr/>
        </p:nvSpPr>
        <p:spPr>
          <a:xfrm>
            <a:off x="502920" y="1261872"/>
            <a:ext cx="11183112" cy="502920"/>
          </a:xfrm>
          <a:prstGeom prst="rect">
            <a:avLst/>
          </a:prstGeom>
          <a:solidFill>
            <a:srgbClr val="0B2220"/>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335024"/>
            <a:ext cx="10908792" cy="393192"/>
          </a:xfrm>
          <a:prstGeom prst="rect">
            <a:avLst/>
          </a:prstGeom>
          <a:noFill/>
        </p:spPr>
        <p:txBody>
          <a:bodyPr wrap="square">
            <a:spAutoFit/>
          </a:bodyPr>
          <a:lstStyle/>
          <a:p>
            <a:r>
              <a:rPr sz="1300" b="0">
                <a:solidFill>
                  <a:srgbClr val="EAF0F7"/>
                </a:solidFill>
                <a:latin typeface="Calibri"/>
              </a:rPr>
              <a:t>Thuật toán Random Forest hoạt động như hội đồng gồm nhiều cây quyết định độc lập; bằng cách tổng hợp ý kiến thông qua biểu quyết đa số, các sai số cá biệt của từng cây sẽ được triệt tiêu hoàn toàn, mang lại kết quả dự báo có độ ổn định cực cao.</a:t>
            </a:r>
          </a:p>
        </p:txBody>
      </p:sp>
      <p:pic>
        <p:nvPicPr>
          <p:cNvPr id="7" name="Picture 6" descr="image.png"/>
          <p:cNvPicPr>
            <a:picLocks noChangeAspect="1"/>
          </p:cNvPicPr>
          <p:nvPr/>
        </p:nvPicPr>
        <p:blipFill>
          <a:blip r:embed="rId3"/>
          <a:stretch>
            <a:fillRect/>
          </a:stretch>
        </p:blipFill>
        <p:spPr>
          <a:xfrm>
            <a:off x="502920" y="1874520"/>
            <a:ext cx="4754880" cy="4617720"/>
          </a:xfrm>
          <a:prstGeom prst="rect">
            <a:avLst/>
          </a:prstGeom>
        </p:spPr>
      </p:pic>
      <p:sp>
        <p:nvSpPr>
          <p:cNvPr id="8" name="TextBox 7"/>
          <p:cNvSpPr txBox="1"/>
          <p:nvPr/>
        </p:nvSpPr>
        <p:spPr>
          <a:xfrm>
            <a:off x="5532120" y="1874520"/>
            <a:ext cx="6153912" cy="4617720"/>
          </a:xfrm>
          <a:prstGeom prst="rect">
            <a:avLst/>
          </a:prstGeom>
          <a:noFill/>
        </p:spPr>
        <p:txBody>
          <a:bodyPr wrap="square">
            <a:spAutoFit/>
          </a:bodyPr>
          <a:lstStyle/>
          <a:p>
            <a:endParaRPr/>
          </a:p>
        </p:txBody>
      </p:sp>
      <p:sp>
        <p:nvSpPr>
          <p:cNvPr id="9" name="TextBox 8"/>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Calibri"/>
              </a:rPr>
              <a:t>26 / 40</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2200" b="1">
                <a:solidFill>
                  <a:srgbClr val="FFFFFF"/>
                </a:solidFill>
                <a:latin typeface="Calibri"/>
              </a:rPr>
              <a:t>RF chỉ ra đặc trưng nào quan trọng</a:t>
            </a:r>
          </a:p>
        </p:txBody>
      </p:sp>
      <p:sp>
        <p:nvSpPr>
          <p:cNvPr id="3" name="Text Placeholder 2"/>
          <p:cNvSpPr>
            <a:spLocks noGrp="1"/>
          </p:cNvSpPr>
          <p:nvPr>
            <p:ph type="body" sz="quarter" idx="13"/>
          </p:nvPr>
        </p:nvSpPr>
        <p:spPr/>
        <p:txBody>
          <a:bodyPr/>
          <a:lstStyle/>
          <a:p>
            <a:endParaRPr/>
          </a:p>
        </p:txBody>
      </p:sp>
      <p:sp>
        <p:nvSpPr>
          <p:cNvPr id="4" name="TextBox 3"/>
          <p:cNvSpPr txBox="1"/>
          <p:nvPr/>
        </p:nvSpPr>
        <p:spPr>
          <a:xfrm>
            <a:off x="502920" y="137160"/>
            <a:ext cx="5029200" cy="292608"/>
          </a:xfrm>
          <a:prstGeom prst="rect">
            <a:avLst/>
          </a:prstGeom>
          <a:noFill/>
        </p:spPr>
        <p:txBody>
          <a:bodyPr wrap="none">
            <a:spAutoFit/>
          </a:bodyPr>
          <a:lstStyle/>
          <a:p>
            <a:r>
              <a:rPr sz="1100" b="1">
                <a:solidFill>
                  <a:srgbClr val="2DD4BF"/>
                </a:solidFill>
                <a:latin typeface="Calibri"/>
              </a:rPr>
              <a:t>Phần B · Feature Importance</a:t>
            </a:r>
          </a:p>
        </p:txBody>
      </p:sp>
      <p:sp>
        <p:nvSpPr>
          <p:cNvPr id="5" name="Rectangle 4"/>
          <p:cNvSpPr/>
          <p:nvPr/>
        </p:nvSpPr>
        <p:spPr>
          <a:xfrm>
            <a:off x="502920" y="1261872"/>
            <a:ext cx="11183112" cy="502920"/>
          </a:xfrm>
          <a:prstGeom prst="rect">
            <a:avLst/>
          </a:prstGeom>
          <a:solidFill>
            <a:srgbClr val="0B2220"/>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335024"/>
            <a:ext cx="10908792" cy="393192"/>
          </a:xfrm>
          <a:prstGeom prst="rect">
            <a:avLst/>
          </a:prstGeom>
          <a:noFill/>
        </p:spPr>
        <p:txBody>
          <a:bodyPr wrap="square">
            <a:spAutoFit/>
          </a:bodyPr>
          <a:lstStyle/>
          <a:p>
            <a:r>
              <a:rPr sz="1300" b="0">
                <a:solidFill>
                  <a:srgbClr val="EAF0F7"/>
                </a:solidFill>
                <a:latin typeface="Calibri"/>
              </a:rPr>
              <a:t>Random Forest tự động xếp hạng tầm quan trọng của các đặc trưng toán học — đây chính là danh sách các chỉ số sức khỏe cốt lõi cần ưu tiên giám sát trực tuyến và thiết lập ngưỡng cảnh báo sớm.</a:t>
            </a:r>
          </a:p>
        </p:txBody>
      </p:sp>
      <p:pic>
        <p:nvPicPr>
          <p:cNvPr id="7" name="Picture 6" descr="image.png"/>
          <p:cNvPicPr>
            <a:picLocks noChangeAspect="1"/>
          </p:cNvPicPr>
          <p:nvPr/>
        </p:nvPicPr>
        <p:blipFill>
          <a:blip r:embed="rId3"/>
          <a:stretch>
            <a:fillRect/>
          </a:stretch>
        </p:blipFill>
        <p:spPr>
          <a:xfrm>
            <a:off x="502920" y="1874520"/>
            <a:ext cx="4754880" cy="4617720"/>
          </a:xfrm>
          <a:prstGeom prst="rect">
            <a:avLst/>
          </a:prstGeom>
        </p:spPr>
      </p:pic>
      <p:sp>
        <p:nvSpPr>
          <p:cNvPr id="8" name="TextBox 7"/>
          <p:cNvSpPr txBox="1"/>
          <p:nvPr/>
        </p:nvSpPr>
        <p:spPr>
          <a:xfrm>
            <a:off x="5532120" y="1874520"/>
            <a:ext cx="6153912" cy="4617720"/>
          </a:xfrm>
          <a:prstGeom prst="rect">
            <a:avLst/>
          </a:prstGeom>
          <a:noFill/>
        </p:spPr>
        <p:txBody>
          <a:bodyPr wrap="square">
            <a:spAutoFit/>
          </a:bodyPr>
          <a:lstStyle/>
          <a:p>
            <a:endParaRPr/>
          </a:p>
        </p:txBody>
      </p:sp>
      <p:sp>
        <p:nvSpPr>
          <p:cNvPr id="9" name="TextBox 8"/>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Calibri"/>
              </a:rPr>
              <a:t>27 / 40</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sz="3600" b="1">
                <a:solidFill>
                  <a:srgbClr val="111827"/>
                </a:solidFill>
                <a:latin typeface="Calibri"/>
              </a:rPr>
              <a:t>Huấn luyện &amp; Đánh giá</a:t>
            </a:r>
          </a:p>
        </p:txBody>
      </p:sp>
      <p:sp>
        <p:nvSpPr>
          <p:cNvPr id="3" name="Content Placeholder 2"/>
          <p:cNvSpPr>
            <a:spLocks noGrp="1"/>
          </p:cNvSpPr>
          <p:nvPr>
            <p:ph sz="quarter" idx="13"/>
          </p:nvPr>
        </p:nvSpPr>
        <p:spPr/>
        <p:txBody>
          <a:bodyPr/>
          <a:lstStyle/>
          <a:p>
            <a:pPr algn="ctr"/>
            <a:r>
              <a:rPr sz="1400" i="1">
                <a:solidFill>
                  <a:srgbClr val="4B5563"/>
                </a:solidFill>
                <a:latin typeface="Calibri"/>
              </a:rPr>
              <a:t>Model Training &amp; Evaluation</a:t>
            </a:r>
          </a:p>
        </p:txBody>
      </p:sp>
      <p:sp>
        <p:nvSpPr>
          <p:cNvPr id="4" name="TextBox 3"/>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Calibri"/>
              </a:rPr>
              <a:t>28 / 40</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2200" b="1">
                <a:solidFill>
                  <a:srgbClr val="FFFFFF"/>
                </a:solidFill>
                <a:latin typeface="Calibri"/>
              </a:rPr>
              <a:t>Chia theo FILE, không theo segment</a:t>
            </a:r>
          </a:p>
        </p:txBody>
      </p:sp>
      <p:sp>
        <p:nvSpPr>
          <p:cNvPr id="3" name="Text Placeholder 2"/>
          <p:cNvSpPr>
            <a:spLocks noGrp="1"/>
          </p:cNvSpPr>
          <p:nvPr>
            <p:ph type="body" sz="quarter" idx="13"/>
          </p:nvPr>
        </p:nvSpPr>
        <p:spPr/>
        <p:txBody>
          <a:bodyPr/>
          <a:lstStyle/>
          <a:p>
            <a:endParaRPr/>
          </a:p>
        </p:txBody>
      </p:sp>
      <p:sp>
        <p:nvSpPr>
          <p:cNvPr id="4" name="TextBox 3"/>
          <p:cNvSpPr txBox="1"/>
          <p:nvPr/>
        </p:nvSpPr>
        <p:spPr>
          <a:xfrm>
            <a:off x="502920" y="137160"/>
            <a:ext cx="5029200" cy="292608"/>
          </a:xfrm>
          <a:prstGeom prst="rect">
            <a:avLst/>
          </a:prstGeom>
          <a:noFill/>
        </p:spPr>
        <p:txBody>
          <a:bodyPr wrap="none">
            <a:spAutoFit/>
          </a:bodyPr>
          <a:lstStyle/>
          <a:p>
            <a:r>
              <a:rPr sz="1100" b="1">
                <a:solidFill>
                  <a:srgbClr val="2DD4BF"/>
                </a:solidFill>
                <a:latin typeface="Calibri"/>
              </a:rPr>
              <a:t>Tutorial 04 · Chống rò rỉ</a:t>
            </a:r>
          </a:p>
        </p:txBody>
      </p:sp>
      <p:sp>
        <p:nvSpPr>
          <p:cNvPr id="5" name="Rectangle 4"/>
          <p:cNvSpPr/>
          <p:nvPr/>
        </p:nvSpPr>
        <p:spPr>
          <a:xfrm>
            <a:off x="502920" y="1261872"/>
            <a:ext cx="11183112" cy="502920"/>
          </a:xfrm>
          <a:prstGeom prst="rect">
            <a:avLst/>
          </a:prstGeom>
          <a:solidFill>
            <a:srgbClr val="0B2220"/>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335024"/>
            <a:ext cx="10908792" cy="393192"/>
          </a:xfrm>
          <a:prstGeom prst="rect">
            <a:avLst/>
          </a:prstGeom>
          <a:noFill/>
        </p:spPr>
        <p:txBody>
          <a:bodyPr wrap="square">
            <a:spAutoFit/>
          </a:bodyPr>
          <a:lstStyle/>
          <a:p>
            <a:r>
              <a:rPr sz="1300" b="0">
                <a:solidFill>
                  <a:srgbClr val="EAF0F7"/>
                </a:solidFill>
                <a:latin typeface="Calibri"/>
              </a:rPr>
              <a:t>Quy tắc phân chia tập dữ liệu: Thực hiện phân chia nghiêm ngặt theo tệp tin dữ liệu gốc (File-based splitting) thay vì phân đoạn ngẫu nhiên — bởi vì một thiết bị thực tế cần chẩn đoán ngoài đời hoạt động tương đương với một tệp tin dữ liệu hoàn toàn mới, mô hình cần được kiểm chứng trong điều kiện thực tế như vậy.</a:t>
            </a:r>
          </a:p>
        </p:txBody>
      </p:sp>
      <p:sp>
        <p:nvSpPr>
          <p:cNvPr id="7" name="Rectangle 6"/>
          <p:cNvSpPr/>
          <p:nvPr/>
        </p:nvSpPr>
        <p:spPr>
          <a:xfrm>
            <a:off x="502920" y="1874520"/>
            <a:ext cx="3605784" cy="4617720"/>
          </a:xfrm>
          <a:prstGeom prst="rect">
            <a:avLst/>
          </a:prstGeom>
          <a:solidFill>
            <a:srgbClr val="152133"/>
          </a:solidFill>
          <a:ln w="9525">
            <a:solidFill>
              <a:srgbClr val="2A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1984248"/>
            <a:ext cx="3331464" cy="329184"/>
          </a:xfrm>
          <a:prstGeom prst="rect">
            <a:avLst/>
          </a:prstGeom>
          <a:noFill/>
        </p:spPr>
        <p:txBody>
          <a:bodyPr wrap="none">
            <a:spAutoFit/>
          </a:bodyPr>
          <a:lstStyle/>
          <a:p>
            <a:r>
              <a:rPr sz="1300" b="1">
                <a:solidFill>
                  <a:srgbClr val="38BDF8"/>
                </a:solidFill>
                <a:latin typeface="Calibri"/>
              </a:rPr>
              <a:t>❌ Phân chia ngẫu nhiên (Bị rò rỉ dữ liệu)</a:t>
            </a:r>
          </a:p>
        </p:txBody>
      </p:sp>
      <p:sp>
        <p:nvSpPr>
          <p:cNvPr id="9" name="Rectangle 8"/>
          <p:cNvSpPr/>
          <p:nvPr/>
        </p:nvSpPr>
        <p:spPr>
          <a:xfrm>
            <a:off x="4291584" y="1874520"/>
            <a:ext cx="3605784" cy="4617720"/>
          </a:xfrm>
          <a:prstGeom prst="rect">
            <a:avLst/>
          </a:prstGeom>
          <a:solidFill>
            <a:srgbClr val="152133"/>
          </a:solidFill>
          <a:ln w="9525">
            <a:solidFill>
              <a:srgbClr val="2A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428744" y="1984248"/>
            <a:ext cx="3331464" cy="329184"/>
          </a:xfrm>
          <a:prstGeom prst="rect">
            <a:avLst/>
          </a:prstGeom>
          <a:noFill/>
        </p:spPr>
        <p:txBody>
          <a:bodyPr wrap="none">
            <a:spAutoFit/>
          </a:bodyPr>
          <a:lstStyle/>
          <a:p>
            <a:r>
              <a:rPr sz="1300" b="1">
                <a:solidFill>
                  <a:srgbClr val="38BDF8"/>
                </a:solidFill>
                <a:latin typeface="Calibri"/>
              </a:rPr>
              <a:t>✅ Phân chia theo File nguồn (Đảm bảo khách quan)</a:t>
            </a:r>
          </a:p>
        </p:txBody>
      </p:sp>
      <p:sp>
        <p:nvSpPr>
          <p:cNvPr id="11" name="Rectangle 10"/>
          <p:cNvSpPr/>
          <p:nvPr/>
        </p:nvSpPr>
        <p:spPr>
          <a:xfrm>
            <a:off x="8080248" y="1874520"/>
            <a:ext cx="3605784" cy="4617720"/>
          </a:xfrm>
          <a:prstGeom prst="rect">
            <a:avLst/>
          </a:prstGeom>
          <a:solidFill>
            <a:srgbClr val="152133"/>
          </a:solidFill>
          <a:ln w="9525">
            <a:solidFill>
              <a:srgbClr val="2A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Calibri"/>
              </a:rPr>
              <a:t>29 / 40</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2200" b="1">
                <a:solidFill>
                  <a:srgbClr val="FFFFFF"/>
                </a:solidFill>
                <a:latin typeface="Calibri"/>
              </a:rPr>
              <a:t>Độ chính xác: Ảo ảnh rò rỉ và Thực tế khách quan</a:t>
            </a:r>
          </a:p>
        </p:txBody>
      </p:sp>
      <p:sp>
        <p:nvSpPr>
          <p:cNvPr id="3" name="Text Placeholder 2"/>
          <p:cNvSpPr>
            <a:spLocks noGrp="1"/>
          </p:cNvSpPr>
          <p:nvPr>
            <p:ph type="body" sz="quarter" idx="13"/>
          </p:nvPr>
        </p:nvSpPr>
        <p:spPr/>
        <p:txBody>
          <a:bodyPr/>
          <a:lstStyle/>
          <a:p>
            <a:endParaRPr/>
          </a:p>
        </p:txBody>
      </p:sp>
      <p:sp>
        <p:nvSpPr>
          <p:cNvPr id="4" name="TextBox 3"/>
          <p:cNvSpPr txBox="1"/>
          <p:nvPr/>
        </p:nvSpPr>
        <p:spPr>
          <a:xfrm>
            <a:off x="502920" y="137160"/>
            <a:ext cx="5029200" cy="292608"/>
          </a:xfrm>
          <a:prstGeom prst="rect">
            <a:avLst/>
          </a:prstGeom>
          <a:noFill/>
        </p:spPr>
        <p:txBody>
          <a:bodyPr wrap="none">
            <a:spAutoFit/>
          </a:bodyPr>
          <a:lstStyle/>
          <a:p>
            <a:r>
              <a:rPr sz="1100" b="1">
                <a:solidFill>
                  <a:srgbClr val="2DD4BF"/>
                </a:solidFill>
                <a:latin typeface="Calibri"/>
              </a:rPr>
              <a:t>Tutorial 04 · Kết quả thật</a:t>
            </a:r>
          </a:p>
        </p:txBody>
      </p:sp>
      <p:sp>
        <p:nvSpPr>
          <p:cNvPr id="5" name="Rectangle 4"/>
          <p:cNvSpPr/>
          <p:nvPr/>
        </p:nvSpPr>
        <p:spPr>
          <a:xfrm>
            <a:off x="502920" y="1261872"/>
            <a:ext cx="11183112" cy="502920"/>
          </a:xfrm>
          <a:prstGeom prst="rect">
            <a:avLst/>
          </a:prstGeom>
          <a:solidFill>
            <a:srgbClr val="0B2220"/>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335024"/>
            <a:ext cx="10908792" cy="393192"/>
          </a:xfrm>
          <a:prstGeom prst="rect">
            <a:avLst/>
          </a:prstGeom>
          <a:noFill/>
        </p:spPr>
        <p:txBody>
          <a:bodyPr wrap="square">
            <a:spAutoFit/>
          </a:bodyPr>
          <a:lstStyle/>
          <a:p>
            <a:r>
              <a:rPr sz="1300" b="0">
                <a:solidFill>
                  <a:srgbClr val="EAF0F7"/>
                </a:solidFill>
                <a:latin typeface="Calibri"/>
              </a:rPr>
              <a:t>Độ chính xác mô hình: Ảo ảnh rò rỉ dữ liệu và Thực tế khách quan — Phân chia dữ liệu sai phương pháp mang lại độ chính xác ảo cực cao 94–98%; phân chia độc lập theo File đo phản ánh năng lực thực tế chỉ đạt ~75–79%. Sự sụt giảm chỉ số này là một tín hiệu kỹ thuật tích cực, khẳng định độ tin cậy thực tế của hệ thống.</a:t>
            </a:r>
          </a:p>
        </p:txBody>
      </p:sp>
      <p:sp>
        <p:nvSpPr>
          <p:cNvPr id="7" name="Rectangle 6"/>
          <p:cNvSpPr/>
          <p:nvPr/>
        </p:nvSpPr>
        <p:spPr>
          <a:xfrm>
            <a:off x="502920" y="1874520"/>
            <a:ext cx="5500116" cy="4617720"/>
          </a:xfrm>
          <a:prstGeom prst="rect">
            <a:avLst/>
          </a:prstGeom>
          <a:solidFill>
            <a:srgbClr val="152133"/>
          </a:solidFill>
          <a:ln w="9525">
            <a:solidFill>
              <a:srgbClr val="2A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1984248"/>
            <a:ext cx="5225796" cy="4416552"/>
          </a:xfrm>
          <a:prstGeom prst="rect">
            <a:avLst/>
          </a:prstGeom>
          <a:noFill/>
        </p:spPr>
        <p:txBody>
          <a:bodyPr wrap="square">
            <a:spAutoFit/>
          </a:bodyPr>
          <a:lstStyle/>
          <a:p>
            <a:r>
              <a:rPr sz="1200">
                <a:solidFill>
                  <a:srgbClr val="EAF0F7"/>
                </a:solidFill>
                <a:latin typeface="Calibri"/>
              </a:rPr>
              <a:t>Phân chia ngẫu nhiên (Bị rò rỉ dữ liệu)
94–98%
SVM đạt ~94% · Random Forest đạt ~98% — Hoàn toàn vô giá trị trong thực tế</a:t>
            </a:r>
          </a:p>
        </p:txBody>
      </p:sp>
      <p:sp>
        <p:nvSpPr>
          <p:cNvPr id="9" name="Rectangle 8"/>
          <p:cNvSpPr/>
          <p:nvPr/>
        </p:nvSpPr>
        <p:spPr>
          <a:xfrm>
            <a:off x="6185916" y="1874520"/>
            <a:ext cx="5500116" cy="4617720"/>
          </a:xfrm>
          <a:prstGeom prst="rect">
            <a:avLst/>
          </a:prstGeom>
          <a:solidFill>
            <a:srgbClr val="152133"/>
          </a:solidFill>
          <a:ln w="9525">
            <a:solidFill>
              <a:srgbClr val="2A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23076" y="1984248"/>
            <a:ext cx="5225796" cy="4416552"/>
          </a:xfrm>
          <a:prstGeom prst="rect">
            <a:avLst/>
          </a:prstGeom>
          <a:noFill/>
        </p:spPr>
        <p:txBody>
          <a:bodyPr wrap="square">
            <a:spAutoFit/>
          </a:bodyPr>
          <a:lstStyle/>
          <a:p>
            <a:r>
              <a:rPr sz="1200">
                <a:solidFill>
                  <a:srgbClr val="EAF0F7"/>
                </a:solidFill>
                <a:latin typeface="Calibri"/>
              </a:rPr>
              <a:t>Phân chia theo File nguồn (Đảm bảo khách quan)
~75–79%
SVM đạt 74.6% · Random Forest đạt ~78% — Giá trị đo kiểm thực nghiệm</a:t>
            </a:r>
          </a:p>
        </p:txBody>
      </p:sp>
      <p:sp>
        <p:nvSpPr>
          <p:cNvPr id="11" name="TextBox 10"/>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Calibri"/>
              </a:rPr>
              <a:t>30 / 40</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2200" b="1">
                <a:solidFill>
                  <a:srgbClr val="FFFFFF"/>
                </a:solidFill>
                <a:latin typeface="Calibri"/>
              </a:rPr>
              <a:t>Confusion Matrix thực nghiệm (chia theo file)</a:t>
            </a:r>
          </a:p>
        </p:txBody>
      </p:sp>
      <p:sp>
        <p:nvSpPr>
          <p:cNvPr id="3" name="Text Placeholder 2"/>
          <p:cNvSpPr>
            <a:spLocks noGrp="1"/>
          </p:cNvSpPr>
          <p:nvPr>
            <p:ph type="body" sz="quarter" idx="13"/>
          </p:nvPr>
        </p:nvSpPr>
        <p:spPr/>
        <p:txBody>
          <a:bodyPr/>
          <a:lstStyle/>
          <a:p>
            <a:endParaRPr/>
          </a:p>
        </p:txBody>
      </p:sp>
      <p:sp>
        <p:nvSpPr>
          <p:cNvPr id="4" name="TextBox 3"/>
          <p:cNvSpPr txBox="1"/>
          <p:nvPr/>
        </p:nvSpPr>
        <p:spPr>
          <a:xfrm>
            <a:off x="502920" y="137160"/>
            <a:ext cx="5029200" cy="292608"/>
          </a:xfrm>
          <a:prstGeom prst="rect">
            <a:avLst/>
          </a:prstGeom>
          <a:noFill/>
        </p:spPr>
        <p:txBody>
          <a:bodyPr wrap="none">
            <a:spAutoFit/>
          </a:bodyPr>
          <a:lstStyle/>
          <a:p>
            <a:r>
              <a:rPr sz="1100" b="1">
                <a:solidFill>
                  <a:srgbClr val="2DD4BF"/>
                </a:solidFill>
                <a:latin typeface="Calibri"/>
              </a:rPr>
              <a:t>Tutorial 04 · Confusion Matrix thực nghiệm</a:t>
            </a:r>
          </a:p>
        </p:txBody>
      </p:sp>
      <p:sp>
        <p:nvSpPr>
          <p:cNvPr id="5" name="Rectangle 4"/>
          <p:cNvSpPr/>
          <p:nvPr/>
        </p:nvSpPr>
        <p:spPr>
          <a:xfrm>
            <a:off x="502920" y="1261872"/>
            <a:ext cx="11183112" cy="502920"/>
          </a:xfrm>
          <a:prstGeom prst="rect">
            <a:avLst/>
          </a:prstGeom>
          <a:solidFill>
            <a:srgbClr val="0B2220"/>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335024"/>
            <a:ext cx="10908792" cy="393192"/>
          </a:xfrm>
          <a:prstGeom prst="rect">
            <a:avLst/>
          </a:prstGeom>
          <a:noFill/>
        </p:spPr>
        <p:txBody>
          <a:bodyPr wrap="square">
            <a:spAutoFit/>
          </a:bodyPr>
          <a:lstStyle/>
          <a:p>
            <a:r>
              <a:rPr sz="1300" b="0">
                <a:solidFill>
                  <a:srgbClr val="EAF0F7"/>
                </a:solidFill>
                <a:latin typeface="Calibri"/>
              </a:rPr>
              <a:t>Phân tích sâu Ma trận nhầm lẫn Confusion Matrix thực nghiệm (phân chia theo File): Đừng đánh giá hời hợt qua chỉ số Accuracy tổng thể; hãy tập trung kiểm soát ô Lỗi thực tế bị dự báo thành Bình thường (Normal) — đây chính là lỗi bỏ sót sự cố, một kịch bản sai sót nguy hiểm nhất trong vận hành nhà máy.</a:t>
            </a:r>
          </a:p>
        </p:txBody>
      </p:sp>
      <p:pic>
        <p:nvPicPr>
          <p:cNvPr id="7" name="Picture 6" descr="image.png"/>
          <p:cNvPicPr>
            <a:picLocks noChangeAspect="1"/>
          </p:cNvPicPr>
          <p:nvPr/>
        </p:nvPicPr>
        <p:blipFill>
          <a:blip r:embed="rId3"/>
          <a:stretch>
            <a:fillRect/>
          </a:stretch>
        </p:blipFill>
        <p:spPr>
          <a:xfrm>
            <a:off x="502920" y="1874520"/>
            <a:ext cx="4754880" cy="4617720"/>
          </a:xfrm>
          <a:prstGeom prst="rect">
            <a:avLst/>
          </a:prstGeom>
        </p:spPr>
      </p:pic>
      <p:sp>
        <p:nvSpPr>
          <p:cNvPr id="8" name="TextBox 7"/>
          <p:cNvSpPr txBox="1"/>
          <p:nvPr/>
        </p:nvSpPr>
        <p:spPr>
          <a:xfrm>
            <a:off x="5532120" y="1874520"/>
            <a:ext cx="6153912" cy="4617720"/>
          </a:xfrm>
          <a:prstGeom prst="rect">
            <a:avLst/>
          </a:prstGeom>
          <a:noFill/>
        </p:spPr>
        <p:txBody>
          <a:bodyPr wrap="square">
            <a:spAutoFit/>
          </a:bodyPr>
          <a:lstStyle/>
          <a:p>
            <a:endParaRPr/>
          </a:p>
        </p:txBody>
      </p:sp>
      <p:sp>
        <p:nvSpPr>
          <p:cNvPr id="9" name="TextBox 8"/>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Calibri"/>
              </a:rPr>
              <a:t>31 / 40</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2200" b="1">
                <a:solidFill>
                  <a:srgbClr val="FFFFFF"/>
                </a:solidFill>
                <a:latin typeface="Calibri"/>
              </a:rPr>
              <a:t>Đọc lỗi theo hậu quả</a:t>
            </a:r>
          </a:p>
        </p:txBody>
      </p:sp>
      <p:sp>
        <p:nvSpPr>
          <p:cNvPr id="3" name="Text Placeholder 2"/>
          <p:cNvSpPr>
            <a:spLocks noGrp="1"/>
          </p:cNvSpPr>
          <p:nvPr>
            <p:ph type="body" sz="quarter" idx="13"/>
          </p:nvPr>
        </p:nvSpPr>
        <p:spPr/>
        <p:txBody>
          <a:bodyPr/>
          <a:lstStyle/>
          <a:p>
            <a:endParaRPr/>
          </a:p>
        </p:txBody>
      </p:sp>
      <p:sp>
        <p:nvSpPr>
          <p:cNvPr id="4" name="TextBox 3"/>
          <p:cNvSpPr txBox="1"/>
          <p:nvPr/>
        </p:nvSpPr>
        <p:spPr>
          <a:xfrm>
            <a:off x="502920" y="137160"/>
            <a:ext cx="5029200" cy="292608"/>
          </a:xfrm>
          <a:prstGeom prst="rect">
            <a:avLst/>
          </a:prstGeom>
          <a:noFill/>
        </p:spPr>
        <p:txBody>
          <a:bodyPr wrap="none">
            <a:spAutoFit/>
          </a:bodyPr>
          <a:lstStyle/>
          <a:p>
            <a:r>
              <a:rPr sz="1100" b="1">
                <a:solidFill>
                  <a:srgbClr val="2DD4BF"/>
                </a:solidFill>
                <a:latin typeface="Calibri"/>
              </a:rPr>
              <a:t>Tutorial 04 · Confusion Matrix</a:t>
            </a:r>
          </a:p>
        </p:txBody>
      </p:sp>
      <p:sp>
        <p:nvSpPr>
          <p:cNvPr id="5" name="Rectangle 4"/>
          <p:cNvSpPr/>
          <p:nvPr/>
        </p:nvSpPr>
        <p:spPr>
          <a:xfrm>
            <a:off x="502920" y="1261872"/>
            <a:ext cx="11183112" cy="502920"/>
          </a:xfrm>
          <a:prstGeom prst="rect">
            <a:avLst/>
          </a:prstGeom>
          <a:solidFill>
            <a:srgbClr val="0B2220"/>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335024"/>
            <a:ext cx="10908792" cy="393192"/>
          </a:xfrm>
          <a:prstGeom prst="rect">
            <a:avLst/>
          </a:prstGeom>
          <a:noFill/>
        </p:spPr>
        <p:txBody>
          <a:bodyPr wrap="square">
            <a:spAutoFit/>
          </a:bodyPr>
          <a:lstStyle/>
          <a:p>
            <a:r>
              <a:rPr sz="1300" b="0">
                <a:solidFill>
                  <a:srgbClr val="EAF0F7"/>
                </a:solidFill>
                <a:latin typeface="Calibri"/>
              </a:rPr>
              <a:t>Đánh giá sai lệch dựa trên hậu quả vận hành cơ khí: Lỗi bỏ sót sự cố (Khuyết tật dự báo thành Bình thường) mang tính chất đặc biệt nguy hiểm; lỗi báo giả (Bình thường dự báo thành Lỗi) chỉ gây phát sinh chi phí khảo sát dư thừa; việc chẩn đoán nhầm loại khuyết tật dẫn đến chuẩn bị sai phụ tùng thay thế.</a:t>
            </a:r>
          </a:p>
        </p:txBody>
      </p:sp>
      <p:graphicFrame>
        <p:nvGraphicFramePr>
          <p:cNvPr id="7" name="Table 6"/>
          <p:cNvGraphicFramePr>
            <a:graphicFrameLocks noGrp="1"/>
          </p:cNvGraphicFramePr>
          <p:nvPr/>
        </p:nvGraphicFramePr>
        <p:xfrm>
          <a:off x="502920" y="1874520"/>
          <a:ext cx="11183112" cy="4617720"/>
        </p:xfrm>
        <a:graphic>
          <a:graphicData uri="http://schemas.openxmlformats.org/drawingml/2006/table">
            <a:tbl>
              <a:tblPr firstRow="1" bandRow="1">
                <a:tableStyleId>{5C22544A-7EE6-4342-B048-85BDC9FD1C3A}</a:tableStyleId>
              </a:tblPr>
              <a:tblGrid>
                <a:gridCol w="3727704">
                  <a:extLst>
                    <a:ext uri="{9D8B030D-6E8A-4147-A177-3AD203B41FA5}">
                      <a16:colId xmlns:a16="http://schemas.microsoft.com/office/drawing/2014/main" val="20000"/>
                    </a:ext>
                  </a:extLst>
                </a:gridCol>
                <a:gridCol w="3727704">
                  <a:extLst>
                    <a:ext uri="{9D8B030D-6E8A-4147-A177-3AD203B41FA5}">
                      <a16:colId xmlns:a16="http://schemas.microsoft.com/office/drawing/2014/main" val="20001"/>
                    </a:ext>
                  </a:extLst>
                </a:gridCol>
                <a:gridCol w="3727704">
                  <a:extLst>
                    <a:ext uri="{9D8B030D-6E8A-4147-A177-3AD203B41FA5}">
                      <a16:colId xmlns:a16="http://schemas.microsoft.com/office/drawing/2014/main" val="20002"/>
                    </a:ext>
                  </a:extLst>
                </a:gridCol>
              </a:tblGrid>
              <a:tr h="1154430">
                <a:tc>
                  <a:txBody>
                    <a:bodyPr/>
                    <a:lstStyle/>
                    <a:p>
                      <a:r>
                        <a:rPr sz="1200" b="1">
                          <a:solidFill>
                            <a:srgbClr val="FFFFFF"/>
                          </a:solidFill>
                          <a:latin typeface="Calibri"/>
                        </a:rPr>
                        <a:t>Dạng sai lệch chẩn đoán</a:t>
                      </a:r>
                    </a:p>
                  </a:txBody>
                  <a:tcPr>
                    <a:solidFill>
                      <a:srgbClr val="1C2C44"/>
                    </a:solidFill>
                  </a:tcPr>
                </a:tc>
                <a:tc>
                  <a:txBody>
                    <a:bodyPr/>
                    <a:lstStyle/>
                    <a:p>
                      <a:r>
                        <a:rPr sz="1200" b="1">
                          <a:solidFill>
                            <a:srgbClr val="FFFFFF"/>
                          </a:solidFill>
                          <a:latin typeface="Calibri"/>
                        </a:rPr>
                        <a:t>Hậu quả thực tế đối với vận hành</a:t>
                      </a:r>
                    </a:p>
                  </a:txBody>
                  <a:tcPr>
                    <a:solidFill>
                      <a:srgbClr val="1C2C44"/>
                    </a:solidFill>
                  </a:tcPr>
                </a:tc>
                <a:tc>
                  <a:txBody>
                    <a:bodyPr/>
                    <a:lstStyle/>
                    <a:p>
                      <a:r>
                        <a:rPr sz="1200" b="1">
                          <a:solidFill>
                            <a:srgbClr val="FFFFFF"/>
                          </a:solidFill>
                          <a:latin typeface="Calibri"/>
                        </a:rPr>
                        <a:t>Phân cấp mức rủi ro</a:t>
                      </a:r>
                    </a:p>
                  </a:txBody>
                  <a:tcPr>
                    <a:solidFill>
                      <a:srgbClr val="1C2C44"/>
                    </a:solidFill>
                  </a:tcPr>
                </a:tc>
                <a:extLst>
                  <a:ext uri="{0D108BD9-81ED-4DB2-BD59-A6C34878D82A}">
                    <a16:rowId xmlns:a16="http://schemas.microsoft.com/office/drawing/2014/main" val="10000"/>
                  </a:ext>
                </a:extLst>
              </a:tr>
              <a:tr h="1154430">
                <a:tc>
                  <a:txBody>
                    <a:bodyPr/>
                    <a:lstStyle/>
                    <a:p>
                      <a:r>
                        <a:rPr sz="1200">
                          <a:solidFill>
                            <a:srgbClr val="EAF0F7"/>
                          </a:solidFill>
                          <a:latin typeface="Calibri"/>
                        </a:rPr>
                        <a:t>Khuyết tật thực tế → Dự báo Bình thường (Lỗi bỏ sót - False Negative)</a:t>
                      </a:r>
                    </a:p>
                  </a:txBody>
                  <a:tcPr>
                    <a:solidFill>
                      <a:srgbClr val="0E1726"/>
                    </a:solidFill>
                  </a:tcPr>
                </a:tc>
                <a:tc>
                  <a:txBody>
                    <a:bodyPr/>
                    <a:lstStyle/>
                    <a:p>
                      <a:r>
                        <a:rPr sz="1200">
                          <a:solidFill>
                            <a:srgbClr val="EAF0F7"/>
                          </a:solidFill>
                          <a:latin typeface="Calibri"/>
                        </a:rPr>
                        <a:t>Thiết bị phát sinh sự cố nghiêm trọng không được cảnh báo trước, dẫn đến dừng máy đột ngột và phá hủy dây chuyền</a:t>
                      </a:r>
                    </a:p>
                  </a:txBody>
                  <a:tcPr>
                    <a:solidFill>
                      <a:srgbClr val="0E1726"/>
                    </a:solidFill>
                  </a:tcPr>
                </a:tc>
                <a:tc>
                  <a:txBody>
                    <a:bodyPr/>
                    <a:lstStyle/>
                    <a:p>
                      <a:r>
                        <a:rPr sz="1200">
                          <a:solidFill>
                            <a:srgbClr val="EAF0F7"/>
                          </a:solidFill>
                          <a:latin typeface="Calibri"/>
                        </a:rPr>
                        <a:t>🔴 Nguy hiểm cực độ</a:t>
                      </a:r>
                    </a:p>
                  </a:txBody>
                  <a:tcPr>
                    <a:solidFill>
                      <a:srgbClr val="0E1726"/>
                    </a:solidFill>
                  </a:tcPr>
                </a:tc>
                <a:extLst>
                  <a:ext uri="{0D108BD9-81ED-4DB2-BD59-A6C34878D82A}">
                    <a16:rowId xmlns:a16="http://schemas.microsoft.com/office/drawing/2014/main" val="10001"/>
                  </a:ext>
                </a:extLst>
              </a:tr>
              <a:tr h="1154430">
                <a:tc>
                  <a:txBody>
                    <a:bodyPr/>
                    <a:lstStyle/>
                    <a:p>
                      <a:r>
                        <a:rPr sz="1200">
                          <a:solidFill>
                            <a:srgbClr val="EAF0F7"/>
                          </a:solidFill>
                          <a:latin typeface="Calibri"/>
                        </a:rPr>
                        <a:t>Bình thường → Dự báo Khuyết tật (Lỗi báo giả - False Positive)</a:t>
                      </a:r>
                    </a:p>
                  </a:txBody>
                  <a:tcPr>
                    <a:solidFill>
                      <a:srgbClr val="152133"/>
                    </a:solidFill>
                  </a:tcPr>
                </a:tc>
                <a:tc>
                  <a:txBody>
                    <a:bodyPr/>
                    <a:lstStyle/>
                    <a:p>
                      <a:r>
                        <a:rPr sz="1200">
                          <a:solidFill>
                            <a:srgbClr val="EAF0F7"/>
                          </a:solidFill>
                          <a:latin typeface="Calibri"/>
                        </a:rPr>
                        <a:t>Phát sinh hoạt động kiểm tra thực địa dư thừa, gây tốn thời gian và nhân lực khảo sát</a:t>
                      </a:r>
                    </a:p>
                  </a:txBody>
                  <a:tcPr>
                    <a:solidFill>
                      <a:srgbClr val="152133"/>
                    </a:solidFill>
                  </a:tcPr>
                </a:tc>
                <a:tc>
                  <a:txBody>
                    <a:bodyPr/>
                    <a:lstStyle/>
                    <a:p>
                      <a:r>
                        <a:rPr sz="1200">
                          <a:solidFill>
                            <a:srgbClr val="EAF0F7"/>
                          </a:solidFill>
                          <a:latin typeface="Calibri"/>
                        </a:rPr>
                        <a:t>🟡 Mức độ an toàn</a:t>
                      </a:r>
                    </a:p>
                  </a:txBody>
                  <a:tcPr>
                    <a:solidFill>
                      <a:srgbClr val="152133"/>
                    </a:solidFill>
                  </a:tcPr>
                </a:tc>
                <a:extLst>
                  <a:ext uri="{0D108BD9-81ED-4DB2-BD59-A6C34878D82A}">
                    <a16:rowId xmlns:a16="http://schemas.microsoft.com/office/drawing/2014/main" val="10002"/>
                  </a:ext>
                </a:extLst>
              </a:tr>
              <a:tr h="1154430">
                <a:tc>
                  <a:txBody>
                    <a:bodyPr/>
                    <a:lstStyle/>
                    <a:p>
                      <a:r>
                        <a:rPr sz="1200">
                          <a:solidFill>
                            <a:srgbClr val="EAF0F7"/>
                          </a:solidFill>
                          <a:latin typeface="Calibri"/>
                        </a:rPr>
                        <a:t>Lỗi rãnh trong ↔ Lỗi rãnh ngoài (Nhầm loại khuyết tật)</a:t>
                      </a:r>
                    </a:p>
                  </a:txBody>
                  <a:tcPr>
                    <a:solidFill>
                      <a:srgbClr val="0E1726"/>
                    </a:solidFill>
                  </a:tcPr>
                </a:tc>
                <a:tc>
                  <a:txBody>
                    <a:bodyPr/>
                    <a:lstStyle/>
                    <a:p>
                      <a:r>
                        <a:rPr sz="1200">
                          <a:solidFill>
                            <a:srgbClr val="EAF0F7"/>
                          </a:solidFill>
                          <a:latin typeface="Calibri"/>
                        </a:rPr>
                        <a:t>Lập phương án bảo dưỡng sai lệch, yêu cầu cung ứng và chuẩn bị sai chủng loại vật tư thay thế</a:t>
                      </a:r>
                    </a:p>
                  </a:txBody>
                  <a:tcPr>
                    <a:solidFill>
                      <a:srgbClr val="0E1726"/>
                    </a:solidFill>
                  </a:tcPr>
                </a:tc>
                <a:tc>
                  <a:txBody>
                    <a:bodyPr/>
                    <a:lstStyle/>
                    <a:p>
                      <a:r>
                        <a:rPr sz="1200">
                          <a:solidFill>
                            <a:srgbClr val="EAF0F7"/>
                          </a:solidFill>
                          <a:latin typeface="Calibri"/>
                        </a:rPr>
                        <a:t>🟠 Lưu ý quản lý</a:t>
                      </a:r>
                    </a:p>
                  </a:txBody>
                  <a:tcPr>
                    <a:solidFill>
                      <a:srgbClr val="0E1726"/>
                    </a:solidFill>
                  </a:tcPr>
                </a:tc>
                <a:extLst>
                  <a:ext uri="{0D108BD9-81ED-4DB2-BD59-A6C34878D82A}">
                    <a16:rowId xmlns:a16="http://schemas.microsoft.com/office/drawing/2014/main" val="10003"/>
                  </a:ext>
                </a:extLst>
              </a:tr>
            </a:tbl>
          </a:graphicData>
        </a:graphic>
      </p:graphicFrame>
      <p:sp>
        <p:nvSpPr>
          <p:cNvPr id="8" name="TextBox 7"/>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Calibri"/>
              </a:rPr>
              <a:t>32 / 40</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sz="3600" b="1">
                <a:solidFill>
                  <a:srgbClr val="111827"/>
                </a:solidFill>
                <a:latin typeface="Calibri"/>
              </a:rPr>
              <a:t>SHAP — Giải thích mô hình</a:t>
            </a:r>
          </a:p>
        </p:txBody>
      </p:sp>
      <p:sp>
        <p:nvSpPr>
          <p:cNvPr id="3" name="Content Placeholder 2"/>
          <p:cNvSpPr>
            <a:spLocks noGrp="1"/>
          </p:cNvSpPr>
          <p:nvPr>
            <p:ph sz="quarter" idx="13"/>
          </p:nvPr>
        </p:nvSpPr>
        <p:spPr/>
        <p:txBody>
          <a:bodyPr/>
          <a:lstStyle/>
          <a:p>
            <a:pPr algn="ctr"/>
            <a:r>
              <a:rPr sz="1400" i="1">
                <a:solidFill>
                  <a:srgbClr val="4B5563"/>
                </a:solidFill>
                <a:latin typeface="Calibri"/>
              </a:rPr>
              <a:t>SHAP · Explainable AI</a:t>
            </a:r>
          </a:p>
        </p:txBody>
      </p:sp>
      <p:sp>
        <p:nvSpPr>
          <p:cNvPr id="4" name="TextBox 3"/>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Calibri"/>
              </a:rPr>
              <a:t>33 / 40</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2200" b="1">
                <a:solidFill>
                  <a:srgbClr val="FFFFFF"/>
                </a:solidFill>
                <a:latin typeface="Calibri"/>
              </a:rPr>
              <a:t>Shapley value — "chia công công bằng"</a:t>
            </a:r>
          </a:p>
        </p:txBody>
      </p:sp>
      <p:sp>
        <p:nvSpPr>
          <p:cNvPr id="3" name="Text Placeholder 2"/>
          <p:cNvSpPr>
            <a:spLocks noGrp="1"/>
          </p:cNvSpPr>
          <p:nvPr>
            <p:ph type="body" sz="quarter" idx="13"/>
          </p:nvPr>
        </p:nvSpPr>
        <p:spPr/>
        <p:txBody>
          <a:bodyPr/>
          <a:lstStyle/>
          <a:p>
            <a:endParaRPr/>
          </a:p>
        </p:txBody>
      </p:sp>
      <p:sp>
        <p:nvSpPr>
          <p:cNvPr id="4" name="TextBox 3"/>
          <p:cNvSpPr txBox="1"/>
          <p:nvPr/>
        </p:nvSpPr>
        <p:spPr>
          <a:xfrm>
            <a:off x="502920" y="137160"/>
            <a:ext cx="5029200" cy="292608"/>
          </a:xfrm>
          <a:prstGeom prst="rect">
            <a:avLst/>
          </a:prstGeom>
          <a:noFill/>
        </p:spPr>
        <p:txBody>
          <a:bodyPr wrap="none">
            <a:spAutoFit/>
          </a:bodyPr>
          <a:lstStyle/>
          <a:p>
            <a:r>
              <a:rPr sz="1100" b="1">
                <a:solidFill>
                  <a:srgbClr val="2DD4BF"/>
                </a:solidFill>
                <a:latin typeface="Calibri"/>
              </a:rPr>
              <a:t>Tutorial 05 · Trực giác</a:t>
            </a:r>
          </a:p>
        </p:txBody>
      </p:sp>
      <p:sp>
        <p:nvSpPr>
          <p:cNvPr id="5" name="Rectangle 4"/>
          <p:cNvSpPr/>
          <p:nvPr/>
        </p:nvSpPr>
        <p:spPr>
          <a:xfrm>
            <a:off x="502920" y="1261872"/>
            <a:ext cx="11183112" cy="502920"/>
          </a:xfrm>
          <a:prstGeom prst="rect">
            <a:avLst/>
          </a:prstGeom>
          <a:solidFill>
            <a:srgbClr val="0B2220"/>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335024"/>
            <a:ext cx="10908792" cy="393192"/>
          </a:xfrm>
          <a:prstGeom prst="rect">
            <a:avLst/>
          </a:prstGeom>
          <a:noFill/>
        </p:spPr>
        <p:txBody>
          <a:bodyPr wrap="square">
            <a:spAutoFit/>
          </a:bodyPr>
          <a:lstStyle/>
          <a:p>
            <a:r>
              <a:rPr sz="1300" b="0">
                <a:solidFill>
                  <a:srgbClr val="EAF0F7"/>
                </a:solidFill>
                <a:latin typeface="Calibri"/>
              </a:rPr>
              <a:t>Giá trị Shapley: Phân phối mức độ đóng góp ("công trạng") của từng đặc trưng đầu vào một cách công bằng và độc lập bằng cách tính toán đóng góp biên trung bình trên toàn bộ các tổ hợp ghép nhóm — một ý tưởng đột phá trích xuất từ Lý thuyết trò chơi (Game Theory).</a:t>
            </a:r>
          </a:p>
        </p:txBody>
      </p:sp>
      <p:pic>
        <p:nvPicPr>
          <p:cNvPr id="7" name="Picture 6" descr="image.png"/>
          <p:cNvPicPr>
            <a:picLocks noChangeAspect="1"/>
          </p:cNvPicPr>
          <p:nvPr/>
        </p:nvPicPr>
        <p:blipFill>
          <a:blip r:embed="rId3"/>
          <a:stretch>
            <a:fillRect/>
          </a:stretch>
        </p:blipFill>
        <p:spPr>
          <a:xfrm>
            <a:off x="502920" y="1874520"/>
            <a:ext cx="4754880" cy="4617720"/>
          </a:xfrm>
          <a:prstGeom prst="rect">
            <a:avLst/>
          </a:prstGeom>
        </p:spPr>
      </p:pic>
      <p:sp>
        <p:nvSpPr>
          <p:cNvPr id="8" name="TextBox 7"/>
          <p:cNvSpPr txBox="1"/>
          <p:nvPr/>
        </p:nvSpPr>
        <p:spPr>
          <a:xfrm>
            <a:off x="5532120" y="1874520"/>
            <a:ext cx="6153912" cy="4617720"/>
          </a:xfrm>
          <a:prstGeom prst="rect">
            <a:avLst/>
          </a:prstGeom>
          <a:noFill/>
        </p:spPr>
        <p:txBody>
          <a:bodyPr wrap="square">
            <a:spAutoFit/>
          </a:bodyPr>
          <a:lstStyle/>
          <a:p>
            <a:endParaRPr/>
          </a:p>
        </p:txBody>
      </p:sp>
      <p:sp>
        <p:nvSpPr>
          <p:cNvPr id="9" name="TextBox 8"/>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Calibri"/>
              </a:rPr>
              <a:t>34 / 40</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2200" b="1">
                <a:solidFill>
                  <a:srgbClr val="FFFFFF"/>
                </a:solidFill>
                <a:latin typeface="Calibri"/>
              </a:rPr>
              <a:t>Summary &amp; Waterfall</a:t>
            </a:r>
          </a:p>
        </p:txBody>
      </p:sp>
      <p:sp>
        <p:nvSpPr>
          <p:cNvPr id="3" name="Text Placeholder 2"/>
          <p:cNvSpPr>
            <a:spLocks noGrp="1"/>
          </p:cNvSpPr>
          <p:nvPr>
            <p:ph type="body" sz="quarter" idx="13"/>
          </p:nvPr>
        </p:nvSpPr>
        <p:spPr/>
        <p:txBody>
          <a:bodyPr/>
          <a:lstStyle/>
          <a:p>
            <a:endParaRPr/>
          </a:p>
        </p:txBody>
      </p:sp>
      <p:sp>
        <p:nvSpPr>
          <p:cNvPr id="4" name="TextBox 3"/>
          <p:cNvSpPr txBox="1"/>
          <p:nvPr/>
        </p:nvSpPr>
        <p:spPr>
          <a:xfrm>
            <a:off x="502920" y="137160"/>
            <a:ext cx="5029200" cy="292608"/>
          </a:xfrm>
          <a:prstGeom prst="rect">
            <a:avLst/>
          </a:prstGeom>
          <a:noFill/>
        </p:spPr>
        <p:txBody>
          <a:bodyPr wrap="none">
            <a:spAutoFit/>
          </a:bodyPr>
          <a:lstStyle/>
          <a:p>
            <a:r>
              <a:rPr sz="1100" b="1">
                <a:solidFill>
                  <a:srgbClr val="2DD4BF"/>
                </a:solidFill>
                <a:latin typeface="Calibri"/>
              </a:rPr>
              <a:t>Tutorial 05 · Đọc biểu đồ</a:t>
            </a:r>
          </a:p>
        </p:txBody>
      </p:sp>
      <p:sp>
        <p:nvSpPr>
          <p:cNvPr id="5" name="Rectangle 4"/>
          <p:cNvSpPr/>
          <p:nvPr/>
        </p:nvSpPr>
        <p:spPr>
          <a:xfrm>
            <a:off x="502920" y="1261872"/>
            <a:ext cx="11183112" cy="502920"/>
          </a:xfrm>
          <a:prstGeom prst="rect">
            <a:avLst/>
          </a:prstGeom>
          <a:solidFill>
            <a:srgbClr val="0B2220"/>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335024"/>
            <a:ext cx="10908792" cy="393192"/>
          </a:xfrm>
          <a:prstGeom prst="rect">
            <a:avLst/>
          </a:prstGeom>
          <a:noFill/>
        </p:spPr>
        <p:txBody>
          <a:bodyPr wrap="square">
            <a:spAutoFit/>
          </a:bodyPr>
          <a:lstStyle/>
          <a:p>
            <a:r>
              <a:rPr sz="1300" b="0">
                <a:solidFill>
                  <a:srgbClr val="EAF0F7"/>
                </a:solidFill>
                <a:latin typeface="Calibri"/>
              </a:rPr>
              <a:t>Phân tích trực quan dải biểu đồ SHAP: Summary Plot phác họa bức tranh toàn cục về tầm quan trọng của các đặc trưng; Waterfall Plot phơi bày công thức chẩn đoán cho một trường hợp sự cố cụ thể, thể hiện trực tiếp các trị số vật lý giúp kỹ sư dễ dàng ra quyết định.</a:t>
            </a:r>
          </a:p>
        </p:txBody>
      </p:sp>
      <p:pic>
        <p:nvPicPr>
          <p:cNvPr id="7" name="Picture 6" descr="image.png"/>
          <p:cNvPicPr>
            <a:picLocks noChangeAspect="1"/>
          </p:cNvPicPr>
          <p:nvPr/>
        </p:nvPicPr>
        <p:blipFill>
          <a:blip r:embed="rId3"/>
          <a:stretch>
            <a:fillRect/>
          </a:stretch>
        </p:blipFill>
        <p:spPr>
          <a:xfrm>
            <a:off x="502920" y="1874520"/>
            <a:ext cx="4754880" cy="4617720"/>
          </a:xfrm>
          <a:prstGeom prst="rect">
            <a:avLst/>
          </a:prstGeom>
        </p:spPr>
      </p:pic>
      <p:sp>
        <p:nvSpPr>
          <p:cNvPr id="8" name="TextBox 7"/>
          <p:cNvSpPr txBox="1"/>
          <p:nvPr/>
        </p:nvSpPr>
        <p:spPr>
          <a:xfrm>
            <a:off x="5532120" y="1874520"/>
            <a:ext cx="6153912" cy="4617720"/>
          </a:xfrm>
          <a:prstGeom prst="rect">
            <a:avLst/>
          </a:prstGeom>
          <a:noFill/>
        </p:spPr>
        <p:txBody>
          <a:bodyPr wrap="square">
            <a:spAutoFit/>
          </a:bodyPr>
          <a:lstStyle/>
          <a:p>
            <a:endParaRPr/>
          </a:p>
        </p:txBody>
      </p:sp>
      <p:sp>
        <p:nvSpPr>
          <p:cNvPr id="9" name="TextBox 8"/>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Calibri"/>
              </a:rPr>
              <a:t>35 / 40</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2200" b="1">
                <a:solidFill>
                  <a:srgbClr val="FFFFFF"/>
                </a:solidFill>
                <a:latin typeface="Calibri"/>
              </a:rPr>
              <a:t>Từ SHAP → quyết định bảo trì</a:t>
            </a:r>
          </a:p>
        </p:txBody>
      </p:sp>
      <p:sp>
        <p:nvSpPr>
          <p:cNvPr id="3" name="Text Placeholder 2"/>
          <p:cNvSpPr>
            <a:spLocks noGrp="1"/>
          </p:cNvSpPr>
          <p:nvPr>
            <p:ph type="body" sz="quarter" idx="13"/>
          </p:nvPr>
        </p:nvSpPr>
        <p:spPr/>
        <p:txBody>
          <a:bodyPr/>
          <a:lstStyle/>
          <a:p>
            <a:endParaRPr/>
          </a:p>
        </p:txBody>
      </p:sp>
      <p:sp>
        <p:nvSpPr>
          <p:cNvPr id="4" name="TextBox 3"/>
          <p:cNvSpPr txBox="1"/>
          <p:nvPr/>
        </p:nvSpPr>
        <p:spPr>
          <a:xfrm>
            <a:off x="502920" y="137160"/>
            <a:ext cx="5029200" cy="292608"/>
          </a:xfrm>
          <a:prstGeom prst="rect">
            <a:avLst/>
          </a:prstGeom>
          <a:noFill/>
        </p:spPr>
        <p:txBody>
          <a:bodyPr wrap="none">
            <a:spAutoFit/>
          </a:bodyPr>
          <a:lstStyle/>
          <a:p>
            <a:r>
              <a:rPr sz="1100" b="1">
                <a:solidFill>
                  <a:srgbClr val="2DD4BF"/>
                </a:solidFill>
                <a:latin typeface="Calibri"/>
              </a:rPr>
              <a:t>Tutorial 05 · Hành động</a:t>
            </a:r>
          </a:p>
        </p:txBody>
      </p:sp>
      <p:sp>
        <p:nvSpPr>
          <p:cNvPr id="5" name="Rectangle 4"/>
          <p:cNvSpPr/>
          <p:nvPr/>
        </p:nvSpPr>
        <p:spPr>
          <a:xfrm>
            <a:off x="502920" y="1261872"/>
            <a:ext cx="11183112" cy="502920"/>
          </a:xfrm>
          <a:prstGeom prst="rect">
            <a:avLst/>
          </a:prstGeom>
          <a:solidFill>
            <a:srgbClr val="0B2220"/>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335024"/>
            <a:ext cx="10908792" cy="393192"/>
          </a:xfrm>
          <a:prstGeom prst="rect">
            <a:avLst/>
          </a:prstGeom>
          <a:noFill/>
        </p:spPr>
        <p:txBody>
          <a:bodyPr wrap="square">
            <a:spAutoFit/>
          </a:bodyPr>
          <a:lstStyle/>
          <a:p>
            <a:r>
              <a:rPr sz="1300" b="0">
                <a:solidFill>
                  <a:srgbClr val="EAF0F7"/>
                </a:solidFill>
                <a:latin typeface="Calibri"/>
              </a:rPr>
              <a:t>Chuyển hóa tri thức SHAP thành hành động kỹ thuật thực địa: Giá trị giải thích SHAP không chỉ dừng lại ở câu hỏi lý thuyết "vì sao" — nó định hình trực tiếp phương án bảo trì thực tế; mỗi cấu trúc đặc trưng SHAP tương ứng với một quy trình xử lý cơ khí cụ thể.</a:t>
            </a:r>
          </a:p>
        </p:txBody>
      </p:sp>
      <p:graphicFrame>
        <p:nvGraphicFramePr>
          <p:cNvPr id="7" name="Table 6"/>
          <p:cNvGraphicFramePr>
            <a:graphicFrameLocks noGrp="1"/>
          </p:cNvGraphicFramePr>
          <p:nvPr/>
        </p:nvGraphicFramePr>
        <p:xfrm>
          <a:off x="502920" y="1874520"/>
          <a:ext cx="11183112" cy="4617720"/>
        </p:xfrm>
        <a:graphic>
          <a:graphicData uri="http://schemas.openxmlformats.org/drawingml/2006/table">
            <a:tbl>
              <a:tblPr firstRow="1" bandRow="1">
                <a:tableStyleId>{5C22544A-7EE6-4342-B048-85BDC9FD1C3A}</a:tableStyleId>
              </a:tblPr>
              <a:tblGrid>
                <a:gridCol w="3727704">
                  <a:extLst>
                    <a:ext uri="{9D8B030D-6E8A-4147-A177-3AD203B41FA5}">
                      <a16:colId xmlns:a16="http://schemas.microsoft.com/office/drawing/2014/main" val="20000"/>
                    </a:ext>
                  </a:extLst>
                </a:gridCol>
                <a:gridCol w="3727704">
                  <a:extLst>
                    <a:ext uri="{9D8B030D-6E8A-4147-A177-3AD203B41FA5}">
                      <a16:colId xmlns:a16="http://schemas.microsoft.com/office/drawing/2014/main" val="20001"/>
                    </a:ext>
                  </a:extLst>
                </a:gridCol>
                <a:gridCol w="3727704">
                  <a:extLst>
                    <a:ext uri="{9D8B030D-6E8A-4147-A177-3AD203B41FA5}">
                      <a16:colId xmlns:a16="http://schemas.microsoft.com/office/drawing/2014/main" val="20002"/>
                    </a:ext>
                  </a:extLst>
                </a:gridCol>
              </a:tblGrid>
              <a:tr h="923544">
                <a:tc>
                  <a:txBody>
                    <a:bodyPr/>
                    <a:lstStyle/>
                    <a:p>
                      <a:r>
                        <a:rPr sz="1200" b="1">
                          <a:solidFill>
                            <a:srgbClr val="FFFFFF"/>
                          </a:solidFill>
                          <a:latin typeface="Calibri"/>
                        </a:rPr>
                        <a:t>Phân tích đặc tính SHAP</a:t>
                      </a:r>
                    </a:p>
                  </a:txBody>
                  <a:tcPr>
                    <a:solidFill>
                      <a:srgbClr val="1C2C44"/>
                    </a:solidFill>
                  </a:tcPr>
                </a:tc>
                <a:tc>
                  <a:txBody>
                    <a:bodyPr/>
                    <a:lstStyle/>
                    <a:p>
                      <a:r>
                        <a:rPr sz="1200" b="1">
                          <a:solidFill>
                            <a:srgbClr val="FFFFFF"/>
                          </a:solidFill>
                          <a:latin typeface="Calibri"/>
                        </a:rPr>
                        <a:t>Đánh giá trạng thái thiết bị</a:t>
                      </a:r>
                    </a:p>
                  </a:txBody>
                  <a:tcPr>
                    <a:solidFill>
                      <a:srgbClr val="1C2C44"/>
                    </a:solidFill>
                  </a:tcPr>
                </a:tc>
                <a:tc>
                  <a:txBody>
                    <a:bodyPr/>
                    <a:lstStyle/>
                    <a:p>
                      <a:r>
                        <a:rPr sz="1200" b="1">
                          <a:solidFill>
                            <a:srgbClr val="FFFFFF"/>
                          </a:solidFill>
                          <a:latin typeface="Calibri"/>
                        </a:rPr>
                        <a:t>Phương án xử lý kỹ thuật khuyến nghị</a:t>
                      </a:r>
                    </a:p>
                  </a:txBody>
                  <a:tcPr>
                    <a:solidFill>
                      <a:srgbClr val="1C2C44"/>
                    </a:solidFill>
                  </a:tcPr>
                </a:tc>
                <a:extLst>
                  <a:ext uri="{0D108BD9-81ED-4DB2-BD59-A6C34878D82A}">
                    <a16:rowId xmlns:a16="http://schemas.microsoft.com/office/drawing/2014/main" val="10000"/>
                  </a:ext>
                </a:extLst>
              </a:tr>
              <a:tr h="923544">
                <a:tc>
                  <a:txBody>
                    <a:bodyPr/>
                    <a:lstStyle/>
                    <a:p>
                      <a:r>
                        <a:rPr sz="1200">
                          <a:solidFill>
                            <a:srgbClr val="EAF0F7"/>
                          </a:solidFill>
                          <a:latin typeface="Calibri"/>
                        </a:rPr>
                        <a:t>Năng lượng dao động RMS tăng cao, hệ số nhọn Kurtosis duy trì ở mức bình thường (~3.0)</a:t>
                      </a:r>
                    </a:p>
                  </a:txBody>
                  <a:tcPr>
                    <a:solidFill>
                      <a:srgbClr val="0E1726"/>
                    </a:solidFill>
                  </a:tcPr>
                </a:tc>
                <a:tc>
                  <a:txBody>
                    <a:bodyPr/>
                    <a:lstStyle/>
                    <a:p>
                      <a:r>
                        <a:rPr sz="1200">
                          <a:solidFill>
                            <a:srgbClr val="EAF0F7"/>
                          </a:solidFill>
                          <a:latin typeface="Calibri"/>
                        </a:rPr>
                        <a:t>Năng lượng dao động cơ khí tăng đều nhưng chưa xuất hiện các va đập dạng xung nhọn sắc nét</a:t>
                      </a:r>
                    </a:p>
                  </a:txBody>
                  <a:tcPr>
                    <a:solidFill>
                      <a:srgbClr val="0E1726"/>
                    </a:solidFill>
                  </a:tcPr>
                </a:tc>
                <a:tc>
                  <a:txBody>
                    <a:bodyPr/>
                    <a:lstStyle/>
                    <a:p>
                      <a:r>
                        <a:rPr sz="1200">
                          <a:solidFill>
                            <a:srgbClr val="EAF0F7"/>
                          </a:solidFill>
                          <a:latin typeface="Calibri"/>
                        </a:rPr>
                        <a:t>Tiến hành hoạt động bảo dưỡng định kỳ: kiểm tra và bổ sung mỡ bôi trơn, siết chặt các bu-lông liên kết.</a:t>
                      </a:r>
                    </a:p>
                  </a:txBody>
                  <a:tcPr>
                    <a:solidFill>
                      <a:srgbClr val="0E1726"/>
                    </a:solidFill>
                  </a:tcPr>
                </a:tc>
                <a:extLst>
                  <a:ext uri="{0D108BD9-81ED-4DB2-BD59-A6C34878D82A}">
                    <a16:rowId xmlns:a16="http://schemas.microsoft.com/office/drawing/2014/main" val="10001"/>
                  </a:ext>
                </a:extLst>
              </a:tr>
              <a:tr h="923544">
                <a:tc>
                  <a:txBody>
                    <a:bodyPr/>
                    <a:lstStyle/>
                    <a:p>
                      <a:r>
                        <a:rPr sz="1200">
                          <a:solidFill>
                            <a:srgbClr val="EAF0F7"/>
                          </a:solidFill>
                          <a:latin typeface="Calibri"/>
                        </a:rPr>
                        <a:t>Hệ số nhọn Kurtosis và biên độ đỉnh Peak đồng thời vượt ngưỡng cảnh báo</a:t>
                      </a:r>
                    </a:p>
                  </a:txBody>
                  <a:tcPr>
                    <a:solidFill>
                      <a:srgbClr val="152133"/>
                    </a:solidFill>
                  </a:tcPr>
                </a:tc>
                <a:tc>
                  <a:txBody>
                    <a:bodyPr/>
                    <a:lstStyle/>
                    <a:p>
                      <a:r>
                        <a:rPr sz="1200">
                          <a:solidFill>
                            <a:srgbClr val="EAF0F7"/>
                          </a:solidFill>
                          <a:latin typeface="Calibri"/>
                        </a:rPr>
                        <a:t>Các xung va đập cơ học biên độ lớn xuất hiện liên tục, báo hiệu khuyết tật rỗ hoặc nứt bề mặt đã hình thành</a:t>
                      </a:r>
                    </a:p>
                  </a:txBody>
                  <a:tcPr>
                    <a:solidFill>
                      <a:srgbClr val="152133"/>
                    </a:solidFill>
                  </a:tcPr>
                </a:tc>
                <a:tc>
                  <a:txBody>
                    <a:bodyPr/>
                    <a:lstStyle/>
                    <a:p>
                      <a:r>
                        <a:rPr sz="1200">
                          <a:solidFill>
                            <a:srgbClr val="EAF0F7"/>
                          </a:solidFill>
                          <a:latin typeface="Calibri"/>
                        </a:rPr>
                        <a:t>🟡 Đưa thiết bị vào chế độ giám sát đặc biệt và lên kế hoạch chủ động thay thế ổ lăn trong thời gian ngắn.</a:t>
                      </a:r>
                    </a:p>
                  </a:txBody>
                  <a:tcPr>
                    <a:solidFill>
                      <a:srgbClr val="152133"/>
                    </a:solidFill>
                  </a:tcPr>
                </a:tc>
                <a:extLst>
                  <a:ext uri="{0D108BD9-81ED-4DB2-BD59-A6C34878D82A}">
                    <a16:rowId xmlns:a16="http://schemas.microsoft.com/office/drawing/2014/main" val="10002"/>
                  </a:ext>
                </a:extLst>
              </a:tr>
              <a:tr h="923544">
                <a:tc>
                  <a:txBody>
                    <a:bodyPr/>
                    <a:lstStyle/>
                    <a:p>
                      <a:r>
                        <a:rPr sz="1200">
                          <a:solidFill>
                            <a:srgbClr val="EAF0F7"/>
                          </a:solidFill>
                          <a:latin typeface="Calibri"/>
                        </a:rPr>
                        <a:t>Năng lượng tích lũy trong dải tần số khuyết tật tăng vượt ngưỡng cho phép</a:t>
                      </a:r>
                    </a:p>
                  </a:txBody>
                  <a:tcPr>
                    <a:solidFill>
                      <a:srgbClr val="0E1726"/>
                    </a:solidFill>
                  </a:tcPr>
                </a:tc>
                <a:tc>
                  <a:txBody>
                    <a:bodyPr/>
                    <a:lstStyle/>
                    <a:p>
                      <a:r>
                        <a:rPr sz="1200">
                          <a:solidFill>
                            <a:srgbClr val="EAF0F7"/>
                          </a:solidFill>
                          <a:latin typeface="Calibri"/>
                        </a:rPr>
                        <a:t>Mô hình đưa ra dự báo chẩn đoán khuyết tật rãnh trong/rãnh ngoài với độ tin cậy cực cao</a:t>
                      </a:r>
                    </a:p>
                  </a:txBody>
                  <a:tcPr>
                    <a:solidFill>
                      <a:srgbClr val="0E1726"/>
                    </a:solidFill>
                  </a:tcPr>
                </a:tc>
                <a:tc>
                  <a:txBody>
                    <a:bodyPr/>
                    <a:lstStyle/>
                    <a:p>
                      <a:r>
                        <a:rPr sz="1200">
                          <a:solidFill>
                            <a:srgbClr val="EAF0F7"/>
                          </a:solidFill>
                          <a:latin typeface="Calibri"/>
                        </a:rPr>
                        <a:t>🔴 Phát lệnh chuẩn bị vật tư dự phòng, thực hiện thay thế ổ lăn ở lần dừng máy kế hoạch gần nhất.</a:t>
                      </a:r>
                    </a:p>
                  </a:txBody>
                  <a:tcPr>
                    <a:solidFill>
                      <a:srgbClr val="0E1726"/>
                    </a:solidFill>
                  </a:tcPr>
                </a:tc>
                <a:extLst>
                  <a:ext uri="{0D108BD9-81ED-4DB2-BD59-A6C34878D82A}">
                    <a16:rowId xmlns:a16="http://schemas.microsoft.com/office/drawing/2014/main" val="10003"/>
                  </a:ext>
                </a:extLst>
              </a:tr>
              <a:tr h="923544">
                <a:tc>
                  <a:txBody>
                    <a:bodyPr/>
                    <a:lstStyle/>
                    <a:p>
                      <a:r>
                        <a:rPr sz="1200">
                          <a:solidFill>
                            <a:srgbClr val="EAF0F7"/>
                          </a:solidFill>
                          <a:latin typeface="Calibri"/>
                        </a:rPr>
                        <a:t>Các đặc trưng miền thời gian phi tiêu chuẩn (như giá trị trung bình mean, độ lệch...) chiếm vai trò quyết định</a:t>
                      </a:r>
                    </a:p>
                  </a:txBody>
                  <a:tcPr>
                    <a:solidFill>
                      <a:srgbClr val="152133"/>
                    </a:solidFill>
                  </a:tcPr>
                </a:tc>
                <a:tc>
                  <a:txBody>
                    <a:bodyPr/>
                    <a:lstStyle/>
                    <a:p>
                      <a:r>
                        <a:rPr sz="1200">
                          <a:solidFill>
                            <a:srgbClr val="EAF0F7"/>
                          </a:solidFill>
                          <a:latin typeface="Calibri"/>
                        </a:rPr>
                        <a:t>Dấu hiệu dao động bất thường không mang đặc tính của khuyết tật ổ lăn thông thường</a:t>
                      </a:r>
                    </a:p>
                  </a:txBody>
                  <a:tcPr>
                    <a:solidFill>
                      <a:srgbClr val="152133"/>
                    </a:solidFill>
                  </a:tcPr>
                </a:tc>
                <a:tc>
                  <a:txBody>
                    <a:bodyPr/>
                    <a:lstStyle/>
                    <a:p>
                      <a:r>
                        <a:rPr sz="1200">
                          <a:solidFill>
                            <a:srgbClr val="EAF0F7"/>
                          </a:solidFill>
                          <a:latin typeface="Calibri"/>
                        </a:rPr>
                        <a:t>Mở rộng phạm vi khảo sát sang các lỗi hệ thống khác như lệch tâm trục, mất cân bằng động hoặc lỏng mối liên kết vỏ máy.</a:t>
                      </a:r>
                    </a:p>
                  </a:txBody>
                  <a:tcPr>
                    <a:solidFill>
                      <a:srgbClr val="152133"/>
                    </a:solidFill>
                  </a:tcPr>
                </a:tc>
                <a:extLst>
                  <a:ext uri="{0D108BD9-81ED-4DB2-BD59-A6C34878D82A}">
                    <a16:rowId xmlns:a16="http://schemas.microsoft.com/office/drawing/2014/main" val="10004"/>
                  </a:ext>
                </a:extLst>
              </a:tr>
            </a:tbl>
          </a:graphicData>
        </a:graphic>
      </p:graphicFrame>
      <p:sp>
        <p:nvSpPr>
          <p:cNvPr id="8" name="TextBox 7"/>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Calibri"/>
              </a:rPr>
              <a:t>36 / 40</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lstStyle/>
          <a:p>
            <a:endParaRPr/>
          </a:p>
        </p:txBody>
      </p:sp>
      <p:sp>
        <p:nvSpPr>
          <p:cNvPr id="3" name="Title 2"/>
          <p:cNvSpPr>
            <a:spLocks noGrp="1"/>
          </p:cNvSpPr>
          <p:nvPr>
            <p:ph type="title"/>
          </p:nvPr>
        </p:nvSpPr>
        <p:spPr/>
        <p:txBody>
          <a:bodyPr/>
          <a:lstStyle/>
          <a:p>
            <a:pPr algn="l"/>
            <a:r>
              <a:rPr sz="2200" b="1">
                <a:solidFill>
                  <a:srgbClr val="FFFFFF"/>
                </a:solidFill>
                <a:latin typeface="Calibri"/>
              </a:rPr>
              <a:t>⚠️ Accuracy cao ≠ dùng được ngay</a:t>
            </a:r>
          </a:p>
        </p:txBody>
      </p:sp>
      <p:sp>
        <p:nvSpPr>
          <p:cNvPr id="4" name="TextBox 3"/>
          <p:cNvSpPr txBox="1"/>
          <p:nvPr/>
        </p:nvSpPr>
        <p:spPr>
          <a:xfrm>
            <a:off x="502920" y="137160"/>
            <a:ext cx="5029200" cy="292608"/>
          </a:xfrm>
          <a:prstGeom prst="rect">
            <a:avLst/>
          </a:prstGeom>
          <a:noFill/>
        </p:spPr>
        <p:txBody>
          <a:bodyPr wrap="none">
            <a:spAutoFit/>
          </a:bodyPr>
          <a:lstStyle/>
          <a:p>
            <a:r>
              <a:rPr sz="1100" b="1">
                <a:solidFill>
                  <a:srgbClr val="2DD4BF"/>
                </a:solidFill>
                <a:latin typeface="Calibri"/>
              </a:rPr>
              <a:t>Hạn chế</a:t>
            </a:r>
          </a:p>
        </p:txBody>
      </p:sp>
      <p:sp>
        <p:nvSpPr>
          <p:cNvPr id="5" name="Rectangle 4"/>
          <p:cNvSpPr/>
          <p:nvPr/>
        </p:nvSpPr>
        <p:spPr>
          <a:xfrm>
            <a:off x="502920" y="1261872"/>
            <a:ext cx="11183112" cy="502920"/>
          </a:xfrm>
          <a:prstGeom prst="rect">
            <a:avLst/>
          </a:prstGeom>
          <a:solidFill>
            <a:srgbClr val="0B2220"/>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335024"/>
            <a:ext cx="10908792" cy="393192"/>
          </a:xfrm>
          <a:prstGeom prst="rect">
            <a:avLst/>
          </a:prstGeom>
          <a:noFill/>
        </p:spPr>
        <p:txBody>
          <a:bodyPr wrap="square">
            <a:spAutoFit/>
          </a:bodyPr>
          <a:lstStyle/>
          <a:p>
            <a:r>
              <a:rPr sz="1300" b="0">
                <a:solidFill>
                  <a:srgbClr val="EAF0F7"/>
                </a:solidFill>
                <a:latin typeface="Calibri"/>
              </a:rPr>
              <a:t>⚠️ Độ chính xác cao trên bệ thử phòng thí nghiệm không tương đồng với hiệu năng ngoài thực địa — Bắt buộc phải thực hiện hiệu chuẩn và tinh chỉnh mô hình trên dữ liệu thiết bị thực tế tại nhà máy trước khi đưa ra quyết định dừng máy.</a:t>
            </a:r>
          </a:p>
        </p:txBody>
      </p:sp>
      <p:sp>
        <p:nvSpPr>
          <p:cNvPr id="7" name="TextBox 6"/>
          <p:cNvSpPr txBox="1"/>
          <p:nvPr/>
        </p:nvSpPr>
        <p:spPr>
          <a:xfrm>
            <a:off x="502920" y="1874520"/>
            <a:ext cx="11183112" cy="4617720"/>
          </a:xfrm>
          <a:prstGeom prst="rect">
            <a:avLst/>
          </a:prstGeom>
          <a:noFill/>
        </p:spPr>
        <p:txBody>
          <a:bodyPr wrap="square">
            <a:spAutoFit/>
          </a:bodyPr>
          <a:lstStyle/>
          <a:p>
            <a:r>
              <a:rPr sz="1400" b="0" i="0">
                <a:solidFill>
                  <a:srgbClr val="EAF0F7"/>
                </a:solidFill>
                <a:latin typeface="Calibri"/>
              </a:rPr>
              <a:t>• Sự khác biệt lớn về miền dữ liệu (Domain Shift): Bệ thử CWRU (sử dụng ổ lăn SKF 6205, cấy lỗi nhân tạo EDM sạch, vận hành trong phòng thí nghiệm không tiếng ồn) có đặc tính dao động rất khác biệt so với các thiết bị vận hành tại nhà máy thực tế (ổ lăn đa dạng chủng loại, khuyết tật mài mòn tự nhiên, nhiễu môi trường sản xuất cực lớn).</a:t>
            </a:r>
          </a:p>
          <a:p>
            <a:r>
              <a:rPr sz="1400" b="0" i="0">
                <a:solidFill>
                  <a:srgbClr val="EAF0F7"/>
                </a:solidFill>
                <a:latin typeface="Calibri"/>
              </a:rPr>
              <a:t>• Mô hình đạt độ chính xác 78% trên dữ liệu CWRU hoàn toàn có thể bị suy giảm hiệu năng nghiêm trọng khi chuyển sang ứng dụng trực tiếp ngoài thực địa.</a:t>
            </a:r>
          </a:p>
          <a:p>
            <a:r>
              <a:rPr sz="1400" b="0" i="0">
                <a:solidFill>
                  <a:srgbClr val="EAF0F7"/>
                </a:solidFill>
                <a:latin typeface="Calibri"/>
              </a:rPr>
              <a:t>• Yêu cầu bắt buộc: Kỹ sư cần tiến hành thu thập dữ liệu dao động từ chính thiết bị thực tế tại nhà máy để thực hiện hiệu chuẩn (Calibration) hoặc tái huấn luyện (Re-training) mô hình trước khi tin tưởng cấu hình dừng máy tự động.</a:t>
            </a:r>
          </a:p>
          <a:p>
            <a:r>
              <a:rPr sz="1300" b="0" i="0">
                <a:solidFill>
                  <a:srgbClr val="FBBF24"/>
                </a:solidFill>
                <a:latin typeface="Calibri"/>
              </a:rPr>
              <a:t>⚠ Bộ dữ liệu CWRU đóng vai trò là môi trường chuẩn để học tập và hoàn thiện phương pháp luận chẩn đoán, không phải là một mô hình "chìa khóa trao tay" có thể áp dụng rập khuôn cho mọi nhà máy.</a:t>
            </a:r>
          </a:p>
        </p:txBody>
      </p:sp>
      <p:sp>
        <p:nvSpPr>
          <p:cNvPr id="8" name="TextBox 7"/>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Calibri"/>
              </a:rPr>
              <a:t>37 / 40</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2200" b="1">
                <a:solidFill>
                  <a:srgbClr val="FFFFFF"/>
                </a:solidFill>
                <a:latin typeface="Calibri"/>
              </a:rPr>
              <a:t>Từ chẩn đoán → mức khẩn cấp (ISO 10816/20816)</a:t>
            </a:r>
          </a:p>
        </p:txBody>
      </p:sp>
      <p:sp>
        <p:nvSpPr>
          <p:cNvPr id="3" name="Text Placeholder 2"/>
          <p:cNvSpPr>
            <a:spLocks noGrp="1"/>
          </p:cNvSpPr>
          <p:nvPr>
            <p:ph type="body" sz="quarter" idx="13"/>
          </p:nvPr>
        </p:nvSpPr>
        <p:spPr/>
        <p:txBody>
          <a:bodyPr/>
          <a:lstStyle/>
          <a:p>
            <a:endParaRPr/>
          </a:p>
        </p:txBody>
      </p:sp>
      <p:sp>
        <p:nvSpPr>
          <p:cNvPr id="4" name="TextBox 3"/>
          <p:cNvSpPr txBox="1"/>
          <p:nvPr/>
        </p:nvSpPr>
        <p:spPr>
          <a:xfrm>
            <a:off x="502920" y="137160"/>
            <a:ext cx="5029200" cy="292608"/>
          </a:xfrm>
          <a:prstGeom prst="rect">
            <a:avLst/>
          </a:prstGeom>
          <a:noFill/>
        </p:spPr>
        <p:txBody>
          <a:bodyPr wrap="none">
            <a:spAutoFit/>
          </a:bodyPr>
          <a:lstStyle/>
          <a:p>
            <a:r>
              <a:rPr sz="1100" b="1">
                <a:solidFill>
                  <a:srgbClr val="2DD4BF"/>
                </a:solidFill>
                <a:latin typeface="Calibri"/>
              </a:rPr>
              <a:t>Tiêu chuẩn · Phân cấp mức nghiêm trọng</a:t>
            </a:r>
          </a:p>
        </p:txBody>
      </p:sp>
      <p:sp>
        <p:nvSpPr>
          <p:cNvPr id="5" name="Rectangle 4"/>
          <p:cNvSpPr/>
          <p:nvPr/>
        </p:nvSpPr>
        <p:spPr>
          <a:xfrm>
            <a:off x="502920" y="1261872"/>
            <a:ext cx="11183112" cy="502920"/>
          </a:xfrm>
          <a:prstGeom prst="rect">
            <a:avLst/>
          </a:prstGeom>
          <a:solidFill>
            <a:srgbClr val="0B2220"/>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335024"/>
            <a:ext cx="10908792" cy="393192"/>
          </a:xfrm>
          <a:prstGeom prst="rect">
            <a:avLst/>
          </a:prstGeom>
          <a:noFill/>
        </p:spPr>
        <p:txBody>
          <a:bodyPr wrap="square">
            <a:spAutoFit/>
          </a:bodyPr>
          <a:lstStyle/>
          <a:p>
            <a:r>
              <a:rPr sz="1300" b="0">
                <a:solidFill>
                  <a:srgbClr val="EAF0F7"/>
                </a:solidFill>
                <a:latin typeface="Calibri"/>
              </a:rPr>
              <a:t>Từ chẩn đoán đến đánh giá mức độ khẩn cấp (Tiêu chuẩn ISO 10816/20816): Thuật toán Machine Learning nhận diện chính xác chủng loại khuyết tật; trong khi biên độ dao động hiệu dụng, tiêu chuẩn ISO và xu hướng phát triển theo thời gian (Trend) quyết định mức độ khẩn cấp — bắt buộc phải kết hợp đồng thời cả hai khía cạnh.</a:t>
            </a:r>
          </a:p>
        </p:txBody>
      </p:sp>
      <p:graphicFrame>
        <p:nvGraphicFramePr>
          <p:cNvPr id="7" name="Table 6"/>
          <p:cNvGraphicFramePr>
            <a:graphicFrameLocks noGrp="1"/>
          </p:cNvGraphicFramePr>
          <p:nvPr/>
        </p:nvGraphicFramePr>
        <p:xfrm>
          <a:off x="502920" y="1874520"/>
          <a:ext cx="11183112" cy="4617720"/>
        </p:xfrm>
        <a:graphic>
          <a:graphicData uri="http://schemas.openxmlformats.org/drawingml/2006/table">
            <a:tbl>
              <a:tblPr firstRow="1" bandRow="1">
                <a:tableStyleId>{5C22544A-7EE6-4342-B048-85BDC9FD1C3A}</a:tableStyleId>
              </a:tblPr>
              <a:tblGrid>
                <a:gridCol w="3727704">
                  <a:extLst>
                    <a:ext uri="{9D8B030D-6E8A-4147-A177-3AD203B41FA5}">
                      <a16:colId xmlns:a16="http://schemas.microsoft.com/office/drawing/2014/main" val="20000"/>
                    </a:ext>
                  </a:extLst>
                </a:gridCol>
                <a:gridCol w="3727704">
                  <a:extLst>
                    <a:ext uri="{9D8B030D-6E8A-4147-A177-3AD203B41FA5}">
                      <a16:colId xmlns:a16="http://schemas.microsoft.com/office/drawing/2014/main" val="20001"/>
                    </a:ext>
                  </a:extLst>
                </a:gridCol>
                <a:gridCol w="3727704">
                  <a:extLst>
                    <a:ext uri="{9D8B030D-6E8A-4147-A177-3AD203B41FA5}">
                      <a16:colId xmlns:a16="http://schemas.microsoft.com/office/drawing/2014/main" val="20002"/>
                    </a:ext>
                  </a:extLst>
                </a:gridCol>
              </a:tblGrid>
              <a:tr h="923544">
                <a:tc>
                  <a:txBody>
                    <a:bodyPr/>
                    <a:lstStyle/>
                    <a:p>
                      <a:r>
                        <a:rPr sz="1200" b="1">
                          <a:solidFill>
                            <a:srgbClr val="FFFFFF"/>
                          </a:solidFill>
                          <a:latin typeface="Calibri"/>
                        </a:rPr>
                        <a:t>Phân cấp vùng chất lượng</a:t>
                      </a:r>
                    </a:p>
                  </a:txBody>
                  <a:tcPr>
                    <a:solidFill>
                      <a:srgbClr val="1C2C44"/>
                    </a:solidFill>
                  </a:tcPr>
                </a:tc>
                <a:tc>
                  <a:txBody>
                    <a:bodyPr/>
                    <a:lstStyle/>
                    <a:p>
                      <a:r>
                        <a:rPr sz="1200" b="1">
                          <a:solidFill>
                            <a:srgbClr val="FFFFFF"/>
                          </a:solidFill>
                          <a:latin typeface="Calibri"/>
                        </a:rPr>
                        <a:t>Trạng thái kỹ thuật tương ứng</a:t>
                      </a:r>
                    </a:p>
                  </a:txBody>
                  <a:tcPr>
                    <a:solidFill>
                      <a:srgbClr val="1C2C44"/>
                    </a:solidFill>
                  </a:tcPr>
                </a:tc>
                <a:tc>
                  <a:txBody>
                    <a:bodyPr/>
                    <a:lstStyle/>
                    <a:p>
                      <a:r>
                        <a:rPr sz="1200" b="1">
                          <a:solidFill>
                            <a:srgbClr val="FFFFFF"/>
                          </a:solidFill>
                          <a:latin typeface="Calibri"/>
                        </a:rPr>
                        <a:t>Hành động bảo trì tương ứng</a:t>
                      </a:r>
                    </a:p>
                  </a:txBody>
                  <a:tcPr>
                    <a:solidFill>
                      <a:srgbClr val="1C2C44"/>
                    </a:solidFill>
                  </a:tcPr>
                </a:tc>
                <a:extLst>
                  <a:ext uri="{0D108BD9-81ED-4DB2-BD59-A6C34878D82A}">
                    <a16:rowId xmlns:a16="http://schemas.microsoft.com/office/drawing/2014/main" val="10000"/>
                  </a:ext>
                </a:extLst>
              </a:tr>
              <a:tr h="923544">
                <a:tc>
                  <a:txBody>
                    <a:bodyPr/>
                    <a:lstStyle/>
                    <a:p>
                      <a:r>
                        <a:rPr sz="1200">
                          <a:solidFill>
                            <a:srgbClr val="EAF0F7"/>
                          </a:solidFill>
                          <a:latin typeface="Calibri"/>
                        </a:rPr>
                        <a:t>Vùng A 🟢</a:t>
                      </a:r>
                    </a:p>
                  </a:txBody>
                  <a:tcPr>
                    <a:solidFill>
                      <a:srgbClr val="0E1726"/>
                    </a:solidFill>
                  </a:tcPr>
                </a:tc>
                <a:tc>
                  <a:txBody>
                    <a:bodyPr/>
                    <a:lstStyle/>
                    <a:p>
                      <a:r>
                        <a:rPr sz="1200">
                          <a:solidFill>
                            <a:srgbClr val="EAF0F7"/>
                          </a:solidFill>
                          <a:latin typeface="Calibri"/>
                        </a:rPr>
                        <a:t>Trạng thái thiết bị hoàn hảo (máy mới lắp đặt hoặc sau đại tu)</a:t>
                      </a:r>
                    </a:p>
                  </a:txBody>
                  <a:tcPr>
                    <a:solidFill>
                      <a:srgbClr val="0E1726"/>
                    </a:solidFill>
                  </a:tcPr>
                </a:tc>
                <a:tc>
                  <a:txBody>
                    <a:bodyPr/>
                    <a:lstStyle/>
                    <a:p>
                      <a:r>
                        <a:rPr sz="1200">
                          <a:solidFill>
                            <a:srgbClr val="EAF0F7"/>
                          </a:solidFill>
                          <a:latin typeface="Calibri"/>
                        </a:rPr>
                        <a:t>Cho phép vận hành bình thường</a:t>
                      </a:r>
                    </a:p>
                  </a:txBody>
                  <a:tcPr>
                    <a:solidFill>
                      <a:srgbClr val="0E1726"/>
                    </a:solidFill>
                  </a:tcPr>
                </a:tc>
                <a:extLst>
                  <a:ext uri="{0D108BD9-81ED-4DB2-BD59-A6C34878D82A}">
                    <a16:rowId xmlns:a16="http://schemas.microsoft.com/office/drawing/2014/main" val="10001"/>
                  </a:ext>
                </a:extLst>
              </a:tr>
              <a:tr h="923544">
                <a:tc>
                  <a:txBody>
                    <a:bodyPr/>
                    <a:lstStyle/>
                    <a:p>
                      <a:r>
                        <a:rPr sz="1200">
                          <a:solidFill>
                            <a:srgbClr val="EAF0F7"/>
                          </a:solidFill>
                          <a:latin typeface="Calibri"/>
                        </a:rPr>
                        <a:t>Vùng B 🟦</a:t>
                      </a:r>
                    </a:p>
                  </a:txBody>
                  <a:tcPr>
                    <a:solidFill>
                      <a:srgbClr val="152133"/>
                    </a:solidFill>
                  </a:tcPr>
                </a:tc>
                <a:tc>
                  <a:txBody>
                    <a:bodyPr/>
                    <a:lstStyle/>
                    <a:p>
                      <a:r>
                        <a:rPr sz="1200">
                          <a:solidFill>
                            <a:srgbClr val="EAF0F7"/>
                          </a:solidFill>
                          <a:latin typeface="Calibri"/>
                        </a:rPr>
                        <a:t>Trạng thái thiết bị đạt yêu cầu, cho phép hoạt động dài hạn</a:t>
                      </a:r>
                    </a:p>
                  </a:txBody>
                  <a:tcPr>
                    <a:solidFill>
                      <a:srgbClr val="152133"/>
                    </a:solidFill>
                  </a:tcPr>
                </a:tc>
                <a:tc>
                  <a:txBody>
                    <a:bodyPr/>
                    <a:lstStyle/>
                    <a:p>
                      <a:r>
                        <a:rPr sz="1200">
                          <a:solidFill>
                            <a:srgbClr val="EAF0F7"/>
                          </a:solidFill>
                          <a:latin typeface="Calibri"/>
                        </a:rPr>
                        <a:t>Tiến hành theo dõi dao động định kỳ</a:t>
                      </a:r>
                    </a:p>
                  </a:txBody>
                  <a:tcPr>
                    <a:solidFill>
                      <a:srgbClr val="152133"/>
                    </a:solidFill>
                  </a:tcPr>
                </a:tc>
                <a:extLst>
                  <a:ext uri="{0D108BD9-81ED-4DB2-BD59-A6C34878D82A}">
                    <a16:rowId xmlns:a16="http://schemas.microsoft.com/office/drawing/2014/main" val="10002"/>
                  </a:ext>
                </a:extLst>
              </a:tr>
              <a:tr h="923544">
                <a:tc>
                  <a:txBody>
                    <a:bodyPr/>
                    <a:lstStyle/>
                    <a:p>
                      <a:r>
                        <a:rPr sz="1200">
                          <a:solidFill>
                            <a:srgbClr val="EAF0F7"/>
                          </a:solidFill>
                          <a:latin typeface="Calibri"/>
                        </a:rPr>
                        <a:t>Vùng C 🟡</a:t>
                      </a:r>
                    </a:p>
                  </a:txBody>
                  <a:tcPr>
                    <a:solidFill>
                      <a:srgbClr val="0E1726"/>
                    </a:solidFill>
                  </a:tcPr>
                </a:tc>
                <a:tc>
                  <a:txBody>
                    <a:bodyPr/>
                    <a:lstStyle/>
                    <a:p>
                      <a:r>
                        <a:rPr sz="1200">
                          <a:solidFill>
                            <a:srgbClr val="EAF0F7"/>
                          </a:solidFill>
                          <a:latin typeface="Calibri"/>
                        </a:rPr>
                        <a:t>Trạng thái thiết bị bắt đầu xuất hiện bất thường — không khuyến cáo vận hành lâu dài</a:t>
                      </a:r>
                    </a:p>
                  </a:txBody>
                  <a:tcPr>
                    <a:solidFill>
                      <a:srgbClr val="0E1726"/>
                    </a:solidFill>
                  </a:tcPr>
                </a:tc>
                <a:tc>
                  <a:txBody>
                    <a:bodyPr/>
                    <a:lstStyle/>
                    <a:p>
                      <a:r>
                        <a:rPr sz="1200">
                          <a:solidFill>
                            <a:srgbClr val="EAF0F7"/>
                          </a:solidFill>
                          <a:latin typeface="Calibri"/>
                        </a:rPr>
                        <a:t>Lên kế hoạch bảo trì chủ động và tăng tần suất đo kiểm giám sát</a:t>
                      </a:r>
                    </a:p>
                  </a:txBody>
                  <a:tcPr>
                    <a:solidFill>
                      <a:srgbClr val="0E1726"/>
                    </a:solidFill>
                  </a:tcPr>
                </a:tc>
                <a:extLst>
                  <a:ext uri="{0D108BD9-81ED-4DB2-BD59-A6C34878D82A}">
                    <a16:rowId xmlns:a16="http://schemas.microsoft.com/office/drawing/2014/main" val="10003"/>
                  </a:ext>
                </a:extLst>
              </a:tr>
              <a:tr h="923544">
                <a:tc>
                  <a:txBody>
                    <a:bodyPr/>
                    <a:lstStyle/>
                    <a:p>
                      <a:r>
                        <a:rPr sz="1200">
                          <a:solidFill>
                            <a:srgbClr val="EAF0F7"/>
                          </a:solidFill>
                          <a:latin typeface="Calibri"/>
                        </a:rPr>
                        <a:t>Vùng D 🔴</a:t>
                      </a:r>
                    </a:p>
                  </a:txBody>
                  <a:tcPr>
                    <a:solidFill>
                      <a:srgbClr val="152133"/>
                    </a:solidFill>
                  </a:tcPr>
                </a:tc>
                <a:tc>
                  <a:txBody>
                    <a:bodyPr/>
                    <a:lstStyle/>
                    <a:p>
                      <a:r>
                        <a:rPr sz="1200">
                          <a:solidFill>
                            <a:srgbClr val="EAF0F7"/>
                          </a:solidFill>
                          <a:latin typeface="Calibri"/>
                        </a:rPr>
                        <a:t>Trạng thái thiết bị cực kỳ nguy hiểm — nguy cơ xảy ra hư hại cơ khí nghiêm trọng</a:t>
                      </a:r>
                    </a:p>
                  </a:txBody>
                  <a:tcPr>
                    <a:solidFill>
                      <a:srgbClr val="152133"/>
                    </a:solidFill>
                  </a:tcPr>
                </a:tc>
                <a:tc>
                  <a:txBody>
                    <a:bodyPr/>
                    <a:lstStyle/>
                    <a:p>
                      <a:r>
                        <a:rPr sz="1200">
                          <a:solidFill>
                            <a:srgbClr val="EAF0F7"/>
                          </a:solidFill>
                          <a:latin typeface="Calibri"/>
                        </a:rPr>
                        <a:t>Phát lệnh dừng máy và tiến hành can thiệp kỹ thuật khẩn cấp ngay lập tức</a:t>
                      </a:r>
                    </a:p>
                  </a:txBody>
                  <a:tcPr>
                    <a:solidFill>
                      <a:srgbClr val="152133"/>
                    </a:solidFill>
                  </a:tcPr>
                </a:tc>
                <a:extLst>
                  <a:ext uri="{0D108BD9-81ED-4DB2-BD59-A6C34878D82A}">
                    <a16:rowId xmlns:a16="http://schemas.microsoft.com/office/drawing/2014/main" val="10004"/>
                  </a:ext>
                </a:extLst>
              </a:tr>
            </a:tbl>
          </a:graphicData>
        </a:graphic>
      </p:graphicFrame>
      <p:sp>
        <p:nvSpPr>
          <p:cNvPr id="8" name="TextBox 7"/>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Calibri"/>
              </a:rPr>
              <a:t>38 / 40</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2200" b="1">
                <a:solidFill>
                  <a:srgbClr val="FFFFFF"/>
                </a:solidFill>
                <a:latin typeface="Calibri"/>
              </a:rPr>
              <a:t>Key Takeaways</a:t>
            </a:r>
          </a:p>
        </p:txBody>
      </p:sp>
      <p:sp>
        <p:nvSpPr>
          <p:cNvPr id="3" name="Text Placeholder 2"/>
          <p:cNvSpPr>
            <a:spLocks noGrp="1"/>
          </p:cNvSpPr>
          <p:nvPr>
            <p:ph type="body" sz="quarter" idx="13"/>
          </p:nvPr>
        </p:nvSpPr>
        <p:spPr/>
        <p:txBody>
          <a:bodyPr/>
          <a:lstStyle/>
          <a:p>
            <a:endParaRPr/>
          </a:p>
        </p:txBody>
      </p:sp>
      <p:sp>
        <p:nvSpPr>
          <p:cNvPr id="4" name="TextBox 3"/>
          <p:cNvSpPr txBox="1"/>
          <p:nvPr/>
        </p:nvSpPr>
        <p:spPr>
          <a:xfrm>
            <a:off x="502920" y="137160"/>
            <a:ext cx="5029200" cy="292608"/>
          </a:xfrm>
          <a:prstGeom prst="rect">
            <a:avLst/>
          </a:prstGeom>
          <a:noFill/>
        </p:spPr>
        <p:txBody>
          <a:bodyPr wrap="none">
            <a:spAutoFit/>
          </a:bodyPr>
          <a:lstStyle/>
          <a:p>
            <a:r>
              <a:rPr sz="1100" b="1">
                <a:solidFill>
                  <a:srgbClr val="2DD4BF"/>
                </a:solidFill>
                <a:latin typeface="Calibri"/>
              </a:rPr>
              <a:t>Tổng kết</a:t>
            </a:r>
          </a:p>
        </p:txBody>
      </p:sp>
      <p:sp>
        <p:nvSpPr>
          <p:cNvPr id="5" name="Rectangle 4"/>
          <p:cNvSpPr/>
          <p:nvPr/>
        </p:nvSpPr>
        <p:spPr>
          <a:xfrm>
            <a:off x="502920" y="1261872"/>
            <a:ext cx="11183112" cy="502920"/>
          </a:xfrm>
          <a:prstGeom prst="rect">
            <a:avLst/>
          </a:prstGeom>
          <a:solidFill>
            <a:srgbClr val="0B2220"/>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335024"/>
            <a:ext cx="10908792" cy="393192"/>
          </a:xfrm>
          <a:prstGeom prst="rect">
            <a:avLst/>
          </a:prstGeom>
          <a:noFill/>
        </p:spPr>
        <p:txBody>
          <a:bodyPr wrap="square">
            <a:spAutoFit/>
          </a:bodyPr>
          <a:lstStyle/>
          <a:p>
            <a:r>
              <a:rPr sz="1300" b="0">
                <a:solidFill>
                  <a:srgbClr val="EAF0F7"/>
                </a:solidFill>
                <a:latin typeface="Calibri"/>
              </a:rPr>
              <a:t>Thông điệp cốt lõi của khóa đào tạo: Áp dụng phương pháp phân chia dữ liệu theo File đo nguồn để phản ánh chính xác năng lực thực tế của mô hình, đồng thời kết hợp bản chất vật lý lỗi và công cụ giải giải thích SHAP để xây dựng lòng tin vận hành đối với các chẩn đoán từ trí tuệ nhân tạo AI.</a:t>
            </a:r>
          </a:p>
        </p:txBody>
      </p:sp>
      <p:sp>
        <p:nvSpPr>
          <p:cNvPr id="7" name="Rectangle 6"/>
          <p:cNvSpPr/>
          <p:nvPr/>
        </p:nvSpPr>
        <p:spPr>
          <a:xfrm>
            <a:off x="502920" y="1874520"/>
            <a:ext cx="5500116" cy="4617720"/>
          </a:xfrm>
          <a:prstGeom prst="rect">
            <a:avLst/>
          </a:prstGeom>
          <a:solidFill>
            <a:srgbClr val="152133"/>
          </a:solidFill>
          <a:ln w="9525">
            <a:solidFill>
              <a:srgbClr val="2A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1984248"/>
            <a:ext cx="5225796" cy="329184"/>
          </a:xfrm>
          <a:prstGeom prst="rect">
            <a:avLst/>
          </a:prstGeom>
          <a:noFill/>
        </p:spPr>
        <p:txBody>
          <a:bodyPr wrap="none">
            <a:spAutoFit/>
          </a:bodyPr>
          <a:lstStyle/>
          <a:p>
            <a:r>
              <a:rPr sz="1300" b="1">
                <a:solidFill>
                  <a:srgbClr val="38BDF8"/>
                </a:solidFill>
                <a:latin typeface="Calibri"/>
              </a:rPr>
              <a:t>Tri thức kỹ thuật cốt lõi</a:t>
            </a:r>
          </a:p>
        </p:txBody>
      </p:sp>
      <p:sp>
        <p:nvSpPr>
          <p:cNvPr id="9" name="TextBox 8"/>
          <p:cNvSpPr txBox="1"/>
          <p:nvPr/>
        </p:nvSpPr>
        <p:spPr>
          <a:xfrm>
            <a:off x="640080" y="2331720"/>
            <a:ext cx="5225796" cy="4069080"/>
          </a:xfrm>
          <a:prstGeom prst="rect">
            <a:avLst/>
          </a:prstGeom>
          <a:noFill/>
        </p:spPr>
        <p:txBody>
          <a:bodyPr wrap="square">
            <a:spAutoFit/>
          </a:bodyPr>
          <a:lstStyle/>
          <a:p>
            <a:r>
              <a:rPr sz="1200">
                <a:solidFill>
                  <a:srgbClr val="EAF0F7"/>
                </a:solidFill>
                <a:latin typeface="Calibri"/>
              </a:rPr>
              <a:t>• Chữ ký tần số đặc trưng tại tốc độ 1797 RPM: Lỗi rãnh ngoài BPFO ~107 Hz, lỗi rãnh trong BPFI ~162 Hz, lỗi viên bi 2·BSF ~141 Hz</a:t>
            </a:r>
          </a:p>
          <a:p>
            <a:r>
              <a:rPr sz="1200">
                <a:solidFill>
                  <a:srgbClr val="EAF0F7"/>
                </a:solidFill>
                <a:latin typeface="Calibri"/>
              </a:rPr>
              <a:t>• Hệ số nhọn Kurtosis theo định nghĩa Pearson (phân bố chuẩn Normal ≈ 3) là chỉ báo nhạy bén bắt xung lỗi sớm nhất</a:t>
            </a:r>
          </a:p>
          <a:p>
            <a:r>
              <a:rPr sz="1200">
                <a:solidFill>
                  <a:srgbClr val="EAF0F7"/>
                </a:solidFill>
                <a:latin typeface="Calibri"/>
              </a:rPr>
              <a:t>• Kỹ thuật phân tích phổ bao (Envelope Analysis) vượt trội hoàn toàn so với phổ FFT thô trong việc nhận diện khuyết tật ổ lăn</a:t>
            </a:r>
          </a:p>
        </p:txBody>
      </p:sp>
      <p:sp>
        <p:nvSpPr>
          <p:cNvPr id="10" name="Rectangle 9"/>
          <p:cNvSpPr/>
          <p:nvPr/>
        </p:nvSpPr>
        <p:spPr>
          <a:xfrm>
            <a:off x="6185916" y="1874520"/>
            <a:ext cx="5500116" cy="4617720"/>
          </a:xfrm>
          <a:prstGeom prst="rect">
            <a:avLst/>
          </a:prstGeom>
          <a:solidFill>
            <a:srgbClr val="152133"/>
          </a:solidFill>
          <a:ln w="9525">
            <a:solidFill>
              <a:srgbClr val="2A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23076" y="1984248"/>
            <a:ext cx="5225796" cy="329184"/>
          </a:xfrm>
          <a:prstGeom prst="rect">
            <a:avLst/>
          </a:prstGeom>
          <a:noFill/>
        </p:spPr>
        <p:txBody>
          <a:bodyPr wrap="none">
            <a:spAutoFit/>
          </a:bodyPr>
          <a:lstStyle/>
          <a:p>
            <a:r>
              <a:rPr sz="1300" b="1">
                <a:solidFill>
                  <a:srgbClr val="38BDF8"/>
                </a:solidFill>
                <a:latin typeface="Calibri"/>
              </a:rPr>
              <a:t>Phương pháp luận khoa học</a:t>
            </a:r>
          </a:p>
        </p:txBody>
      </p:sp>
      <p:sp>
        <p:nvSpPr>
          <p:cNvPr id="12" name="TextBox 11"/>
          <p:cNvSpPr txBox="1"/>
          <p:nvPr/>
        </p:nvSpPr>
        <p:spPr>
          <a:xfrm>
            <a:off x="6323076" y="2331720"/>
            <a:ext cx="5225796" cy="4069080"/>
          </a:xfrm>
          <a:prstGeom prst="rect">
            <a:avLst/>
          </a:prstGeom>
          <a:noFill/>
        </p:spPr>
        <p:txBody>
          <a:bodyPr wrap="square">
            <a:spAutoFit/>
          </a:bodyPr>
          <a:lstStyle/>
          <a:p>
            <a:r>
              <a:rPr sz="1200">
                <a:solidFill>
                  <a:srgbClr val="EAF0F7"/>
                </a:solidFill>
                <a:latin typeface="Calibri"/>
              </a:rPr>
              <a:t>• Chia dữ liệu theo File đo nguồn để loại bỏ hoàn toàn bẫy độ chính xác ảo do rò rỉ dữ liệu</a:t>
            </a:r>
          </a:p>
          <a:p>
            <a:r>
              <a:rPr sz="1200">
                <a:solidFill>
                  <a:srgbClr val="EAF0F7"/>
                </a:solidFill>
                <a:latin typeface="Calibri"/>
              </a:rPr>
              <a:t>• Kết hợp thuật toán Random Forest và phương pháp SHAP cho tốc độ xử lý nhanh và tính giải giải thích rõ ràng</a:t>
            </a:r>
          </a:p>
          <a:p>
            <a:r>
              <a:rPr sz="1200">
                <a:solidFill>
                  <a:srgbClr val="EAF0F7"/>
                </a:solidFill>
                <a:latin typeface="Calibri"/>
              </a:rPr>
              <a:t>• Trình bày các chỉ số SHAP dưới dạng các trị số vật lý thực tế của phép đo để kỹ sư dễ dàng đối chiếu và phê duyệt</a:t>
            </a:r>
          </a:p>
          <a:p>
            <a:r>
              <a:rPr sz="1200">
                <a:solidFill>
                  <a:srgbClr val="EAF0F7"/>
                </a:solidFill>
                <a:latin typeface="Calibri"/>
              </a:rPr>
              <a:t>• Thực hiện hoạt động hiệu chuẩn (Calibration) chặt chẽ trên dữ liệu thực tế tại nhà máy trước khi vận hành thực tiễn</a:t>
            </a:r>
          </a:p>
        </p:txBody>
      </p:sp>
      <p:sp>
        <p:nvSpPr>
          <p:cNvPr id="13" name="TextBox 12"/>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Calibri"/>
              </a:rPr>
              <a:t>39 / 40</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sz="3600" b="1">
                <a:solidFill>
                  <a:srgbClr val="111827"/>
                </a:solidFill>
                <a:latin typeface="Calibri"/>
              </a:rPr>
              <a:t>Cảm ơn &amp; Hỏi đáp</a:t>
            </a:r>
          </a:p>
        </p:txBody>
      </p:sp>
      <p:sp>
        <p:nvSpPr>
          <p:cNvPr id="3" name="Content Placeholder 2"/>
          <p:cNvSpPr>
            <a:spLocks noGrp="1"/>
          </p:cNvSpPr>
          <p:nvPr>
            <p:ph sz="quarter" idx="13"/>
          </p:nvPr>
        </p:nvSpPr>
        <p:spPr/>
        <p:txBody>
          <a:bodyPr/>
          <a:lstStyle/>
          <a:p>
            <a:pPr algn="ctr"/>
            <a:r>
              <a:rPr sz="1400" i="1">
                <a:solidFill>
                  <a:srgbClr val="4B5563"/>
                </a:solidFill>
                <a:latin typeface="Calibri"/>
              </a:rPr>
              <a:t>Cảm ơn &amp; Hỏi đáp</a:t>
            </a:r>
          </a:p>
        </p:txBody>
      </p:sp>
      <p:sp>
        <p:nvSpPr>
          <p:cNvPr id="4" name="TextBox 3"/>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Calibri"/>
              </a:rPr>
              <a:t>40 / 40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2">
    <wetp:webextensionref xmlns:r="http://schemas.openxmlformats.org/officeDocument/2006/relationships" r:id="rId1"/>
  </wetp:taskpane>
  <wetp:taskpane dockstate="right" visibility="0" width="438" row="3">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E571A0A0-A2AD-4C3F-B4E4-0F6027CD71FB}">
  <we:reference id="wa200010001" version="1.0.0.1" store="en-US" storeType="OMEX"/>
  <we:alternateReferences>
    <we:reference id="wa200010001" version="1.0.0.1" store="wa200010001" storeType="OMEX"/>
  </we:alternateReferences>
  <we:properties>
    <we:property name="claude.fileId" value="&quot;8840d90e-12b1-40f9-850d-3db41e120927&quot;"/>
  </we:properties>
  <we:bindings/>
  <we:snapshot xmlns:r="http://schemas.openxmlformats.org/officeDocument/2006/relationships"/>
</we:webextension>
</file>

<file path=ppt/webextensions/webextension2.xml><?xml version="1.0" encoding="utf-8"?>
<we:webextension xmlns:we="http://schemas.microsoft.com/office/webextensions/webextension/2010/11" id="{1D370BC2-1149-4E5A-83BF-D4C0E5542D08}">
  <we:reference id="wa200005669" version="2.0.0.0" store="en-US" storeType="OMEX"/>
  <we:alternateReferences>
    <we:reference id="wa200005669" version="2.0.0.0" store="wa200005669"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1447</TotalTime>
  <Words>6407</Words>
  <Application>Microsoft Office PowerPoint</Application>
  <PresentationFormat>Widescreen</PresentationFormat>
  <Paragraphs>335</Paragraphs>
  <Slides>40</Slides>
  <Notes>28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40</vt:i4>
      </vt:variant>
    </vt:vector>
  </HeadingPairs>
  <TitlesOfParts>
    <vt:vector size="46" baseType="lpstr">
      <vt:lpstr>Arial</vt:lpstr>
      <vt:lpstr>Calibri</vt:lpstr>
      <vt:lpstr>Cambria Math</vt:lpstr>
      <vt:lpstr>Lato</vt:lpstr>
      <vt:lpstr>Wingdings</vt:lpstr>
      <vt:lpstr>Office Theme</vt:lpstr>
      <vt:lpstr>PowerPoint Presentation</vt:lpstr>
      <vt:lpstr>Ứng Dụng Machine Learning Trong Chẩn Đoán Hư Hỏng Ổ Lăn </vt:lpstr>
      <vt:lpstr>Mục tiêu khoá học </vt:lpstr>
      <vt:lpstr>Vì sao cần bảo trì dự đoán</vt:lpstr>
      <vt:lpstr>Quy Trình 7 Bước</vt:lpstr>
      <vt:lpstr>Dữ Liệu CWRU Hệ thí nghiệm, cảm biến, phân loại lỗi và tần số đặc trưng ổ lăn SKF 6205 </vt:lpstr>
      <vt:lpstr>CWRU Test Rig &amp; Cảm Biến</vt:lpstr>
      <vt:lpstr>Trạng Thái Ổ Lăn — Vị Trí Khuyết Tật Vật Lý</vt:lpstr>
      <vt:lpstr>Tần số hư hỏng đặc trưng</vt:lpstr>
      <vt:lpstr>Phân tích dạng sóng</vt:lpstr>
      <vt:lpstr>Định lượng mức độ rung</vt:lpstr>
      <vt:lpstr>Phân tích tần số</vt:lpstr>
      <vt:lpstr>FFT: từ thời gian → tần số (CWRU Context)</vt:lpstr>
      <vt:lpstr>Cơ sở chẩn đoán: Tần số "chữ ký" lỗi ổ lăn CWRU</vt:lpstr>
      <vt:lpstr>Cộng hưởng &amp; hệ số Q — vì sao xung "khuếch đại"</vt:lpstr>
      <vt:lpstr>Vì sao FFT thô "mù" — mô hình điều biên</vt:lpstr>
      <vt:lpstr>4 bước "bóc" tần số lỗi — minh chứng thực tế</vt:lpstr>
      <vt:lpstr>Spectrogram — bản đồ thời gian × tần số</vt:lpstr>
      <vt:lpstr>Spectrogram 4 trạng thái — dữ liệu CWRU thật</vt:lpstr>
      <vt:lpstr>Phần C · Trích đặc trưng &amp; EDA</vt:lpstr>
      <vt:lpstr>Nén 2048 chiều → 19 con số</vt:lpstr>
      <vt:lpstr>Kurtosis — "chuông báo sớm" (lưu ý định nghĩa!)</vt:lpstr>
      <vt:lpstr>Cắt segment &amp; bẫy rò rỉ dữ liệu</vt:lpstr>
      <vt:lpstr>SVM &amp; Random Forest</vt:lpstr>
      <vt:lpstr>SVM — "đường biên an toàn nhất"</vt:lpstr>
      <vt:lpstr>Random Forest — "hội đồng nhiều cây"</vt:lpstr>
      <vt:lpstr>RF chỉ ra đặc trưng nào quan trọng</vt:lpstr>
      <vt:lpstr>Huấn luyện &amp; Đánh giá</vt:lpstr>
      <vt:lpstr>Chia theo FILE, không theo segment</vt:lpstr>
      <vt:lpstr>Độ chính xác: Ảo ảnh rò rỉ và Thực tế khách quan</vt:lpstr>
      <vt:lpstr>Confusion Matrix thực nghiệm (chia theo file)</vt:lpstr>
      <vt:lpstr>Đọc lỗi theo hậu quả</vt:lpstr>
      <vt:lpstr>SHAP — Giải thích mô hình</vt:lpstr>
      <vt:lpstr>Shapley value — "chia công công bằng"</vt:lpstr>
      <vt:lpstr>Summary &amp; Waterfall</vt:lpstr>
      <vt:lpstr>Từ SHAP → quyết định bảo trì</vt:lpstr>
      <vt:lpstr>⚠️ Accuracy cao ≠ dùng được ngay</vt:lpstr>
      <vt:lpstr>Từ chẩn đoán → mức khẩn cấp (ISO 10816/20816)</vt:lpstr>
      <vt:lpstr>Key Takeaways</vt:lpstr>
      <vt:lpstr>Cảm ơn &amp; Hỏi đáp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Phong TT &amp; QTTH</dc:creator>
  <cp:lastModifiedBy>Binh Do</cp:lastModifiedBy>
  <cp:revision>12</cp:revision>
  <dcterms:created xsi:type="dcterms:W3CDTF">2021-05-28T04:32:29Z</dcterms:created>
  <dcterms:modified xsi:type="dcterms:W3CDTF">2026-06-04T09:01:41Z</dcterms:modified>
</cp:coreProperties>
</file>