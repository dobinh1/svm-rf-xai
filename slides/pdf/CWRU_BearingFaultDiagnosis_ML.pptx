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4D8"/>
          </a:solidFill>
          <a:ln w="12700">
            <a:solidFill>
              <a:srgbClr val="00B4D8"/>
            </a:solidFill>
            <a:prstDash val="solid"/>
          </a:ln>
        </p:spPr>
      </p:sp>
      <p:sp>
        <p:nvSpPr>
          <p:cNvPr id="3" name="Shape 1"/>
          <p:cNvSpPr/>
          <p:nvPr/>
        </p:nvSpPr>
        <p:spPr>
          <a:xfrm>
            <a:off x="0" y="5088636"/>
            <a:ext cx="9144000" cy="54864"/>
          </a:xfrm>
          <a:prstGeom prst="rect">
            <a:avLst/>
          </a:prstGeom>
          <a:solidFill>
            <a:srgbClr val="0077B6"/>
          </a:solidFill>
          <a:ln w="12700">
            <a:solidFill>
              <a:srgbClr val="0077B6"/>
            </a:solidFill>
            <a:prstDash val="solid"/>
          </a:ln>
        </p:spPr>
      </p:sp>
      <p:sp>
        <p:nvSpPr>
          <p:cNvPr id="4" name="Shape 2"/>
          <p:cNvSpPr/>
          <p:nvPr/>
        </p:nvSpPr>
        <p:spPr>
          <a:xfrm>
            <a:off x="502920" y="1371600"/>
            <a:ext cx="64008" cy="2468880"/>
          </a:xfrm>
          <a:prstGeom prst="rect">
            <a:avLst/>
          </a:prstGeom>
          <a:solidFill>
            <a:srgbClr val="00F5D4"/>
          </a:solidFill>
          <a:ln w="12700">
            <a:solidFill>
              <a:srgbClr val="00F5D4"/>
            </a:solidFill>
            <a:prstDash val="solid"/>
          </a:ln>
        </p:spPr>
      </p:sp>
      <p:sp>
        <p:nvSpPr>
          <p:cNvPr id="5" name="Text 3"/>
          <p:cNvSpPr/>
          <p:nvPr/>
        </p:nvSpPr>
        <p:spPr>
          <a:xfrm>
            <a:off x="713232" y="1280160"/>
            <a:ext cx="7772400" cy="1645920"/>
          </a:xfrm>
          <a:prstGeom prst="rect">
            <a:avLst/>
          </a:prstGeom>
          <a:noFill/>
          <a:ln/>
        </p:spPr>
        <p:txBody>
          <a:bodyPr wrap="square" rtlCol="0" anchor="ctr"/>
          <a:lstStyle/>
          <a:p>
            <a:pPr indent="0" marL="0">
              <a:buNone/>
            </a:pPr>
            <a:r>
              <a:rPr lang="en-US" sz="3800" b="1" dirty="0">
                <a:solidFill>
                  <a:srgbClr val="FFFFFF"/>
                </a:solidFill>
                <a:latin typeface="Calibri" pitchFamily="34" charset="0"/>
                <a:ea typeface="Calibri" pitchFamily="34" charset="-122"/>
                <a:cs typeface="Calibri" pitchFamily="34" charset="-120"/>
              </a:rPr>
              <a:t>Ứng Dụng Machine Learning</a:t>
            </a:r>
            <a:endParaRPr lang="en-US" sz="3800" dirty="0"/>
          </a:p>
          <a:p>
            <a:pPr indent="0" marL="0">
              <a:buNone/>
            </a:pPr>
            <a:r>
              <a:rPr lang="en-US" sz="3800" b="1" dirty="0">
                <a:solidFill>
                  <a:srgbClr val="FFFFFF"/>
                </a:solidFill>
                <a:latin typeface="Calibri" pitchFamily="34" charset="0"/>
                <a:ea typeface="Calibri" pitchFamily="34" charset="-122"/>
                <a:cs typeface="Calibri" pitchFamily="34" charset="-120"/>
              </a:rPr>
              <a:t>Chẩn Đoán Hư Hỏng Ổ Lăn</a:t>
            </a:r>
            <a:endParaRPr lang="en-US" sz="3800" dirty="0"/>
          </a:p>
        </p:txBody>
      </p:sp>
      <p:sp>
        <p:nvSpPr>
          <p:cNvPr id="6" name="Text 4"/>
          <p:cNvSpPr/>
          <p:nvPr/>
        </p:nvSpPr>
        <p:spPr>
          <a:xfrm>
            <a:off x="713232" y="2926080"/>
            <a:ext cx="7772400" cy="914400"/>
          </a:xfrm>
          <a:prstGeom prst="rect">
            <a:avLst/>
          </a:prstGeom>
          <a:noFill/>
          <a:ln/>
        </p:spPr>
        <p:txBody>
          <a:bodyPr wrap="square" rtlCol="0" anchor="ctr"/>
          <a:lstStyle/>
          <a:p>
            <a:pPr indent="0" marL="0">
              <a:buNone/>
            </a:pPr>
            <a:r>
              <a:rPr lang="en-US" sz="1600" i="1" dirty="0">
                <a:solidFill>
                  <a:srgbClr val="00B4D8"/>
                </a:solidFill>
                <a:latin typeface="Calibri" pitchFamily="34" charset="0"/>
                <a:ea typeface="Calibri" pitchFamily="34" charset="-122"/>
                <a:cs typeface="Calibri" pitchFamily="34" charset="-120"/>
              </a:rPr>
              <a:t>Bộ dữ liệu chuẩn quốc tế CWRU Bearing Dataset  ·  Khóa đào tạo: Bảo trì dự đoán bằng AI</a:t>
            </a:r>
            <a:endParaRPr lang="en-US" sz="1600" dirty="0"/>
          </a:p>
        </p:txBody>
      </p:sp>
      <p:sp>
        <p:nvSpPr>
          <p:cNvPr id="7" name="Text 5"/>
          <p:cNvSpPr/>
          <p:nvPr/>
        </p:nvSpPr>
        <p:spPr>
          <a:xfrm>
            <a:off x="713232" y="3931920"/>
            <a:ext cx="7772400" cy="548640"/>
          </a:xfrm>
          <a:prstGeom prst="rect">
            <a:avLst/>
          </a:prstGeom>
          <a:noFill/>
          <a:ln/>
        </p:spPr>
        <p:txBody>
          <a:bodyPr wrap="square" rtlCol="0" anchor="ctr"/>
          <a:lstStyle/>
          <a:p>
            <a:pPr indent="0" marL="0">
              <a:buNone/>
            </a:pPr>
            <a:r>
              <a:rPr lang="en-US" sz="1300" dirty="0">
                <a:solidFill>
                  <a:srgbClr val="00F5D4"/>
                </a:solidFill>
                <a:latin typeface="Calibri" pitchFamily="34" charset="0"/>
                <a:ea typeface="Calibri" pitchFamily="34" charset="-122"/>
                <a:cs typeface="Calibri" pitchFamily="34" charset="-120"/>
              </a:rPr>
              <a:t>Từ tín hiệu rung thô → Trích xuất đặc trưng → Huấn luyện ML → Giải thích SHAP → Ra quyết định bảo trì</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4D8"/>
          </a:solidFill>
          <a:ln w="12700">
            <a:solidFill>
              <a:srgbClr val="00B4D8"/>
            </a:solidFill>
            <a:prstDash val="solid"/>
          </a:ln>
        </p:spPr>
      </p:sp>
      <p:sp>
        <p:nvSpPr>
          <p:cNvPr id="3" name="Text 1"/>
          <p:cNvSpPr/>
          <p:nvPr/>
        </p:nvSpPr>
        <p:spPr>
          <a:xfrm>
            <a:off x="365760" y="137160"/>
            <a:ext cx="8412480" cy="50292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Mục Tiêu Khóa Học</a:t>
            </a:r>
            <a:endParaRPr lang="en-US" sz="2000" dirty="0"/>
          </a:p>
        </p:txBody>
      </p:sp>
      <p:sp>
        <p:nvSpPr>
          <p:cNvPr id="4" name="Shape 2"/>
          <p:cNvSpPr/>
          <p:nvPr/>
        </p:nvSpPr>
        <p:spPr>
          <a:xfrm>
            <a:off x="365760" y="658368"/>
            <a:ext cx="8412480" cy="27432"/>
          </a:xfrm>
          <a:prstGeom prst="rect">
            <a:avLst/>
          </a:prstGeom>
          <a:solidFill>
            <a:srgbClr val="0077B6"/>
          </a:solidFill>
          <a:ln w="12700">
            <a:solidFill>
              <a:srgbClr val="0077B6"/>
            </a:solidFill>
            <a:prstDash val="solid"/>
          </a:ln>
        </p:spPr>
      </p:sp>
      <p:sp>
        <p:nvSpPr>
          <p:cNvPr id="5" name="Shape 3"/>
          <p:cNvSpPr/>
          <p:nvPr/>
        </p:nvSpPr>
        <p:spPr>
          <a:xfrm>
            <a:off x="365760" y="914400"/>
            <a:ext cx="54864" cy="640080"/>
          </a:xfrm>
          <a:prstGeom prst="rect">
            <a:avLst/>
          </a:prstGeom>
          <a:solidFill>
            <a:srgbClr val="06D6A0"/>
          </a:solidFill>
          <a:ln w="12700">
            <a:solidFill>
              <a:srgbClr val="06D6A0"/>
            </a:solidFill>
            <a:prstDash val="solid"/>
          </a:ln>
        </p:spPr>
      </p:sp>
      <p:sp>
        <p:nvSpPr>
          <p:cNvPr id="6" name="Text 4"/>
          <p:cNvSpPr/>
          <p:nvPr/>
        </p:nvSpPr>
        <p:spPr>
          <a:xfrm>
            <a:off x="548640" y="960120"/>
            <a:ext cx="8046720" cy="548640"/>
          </a:xfrm>
          <a:prstGeom prst="rect">
            <a:avLst/>
          </a:prstGeom>
          <a:noFill/>
          <a:ln/>
        </p:spPr>
        <p:txBody>
          <a:bodyPr wrap="square" rtlCol="0" anchor="ctr"/>
          <a:lstStyle/>
          <a:p>
            <a:pPr indent="0" marL="0">
              <a:buNone/>
            </a:pPr>
            <a:r>
              <a:rPr lang="en-US" sz="1400" dirty="0">
                <a:solidFill>
                  <a:srgbClr val="E8F4FD"/>
                </a:solidFill>
                <a:latin typeface="Calibri" pitchFamily="34" charset="0"/>
                <a:ea typeface="Calibri" pitchFamily="34" charset="-122"/>
                <a:cs typeface="Calibri" pitchFamily="34" charset="-120"/>
              </a:rPr>
              <a:t>Nắm vững quy trình xử lý hoàn chỉnh (Pipeline): từ tín hiệu rung thô đến chẩn đoán lỗi</a:t>
            </a:r>
            <a:endParaRPr lang="en-US" sz="1400" dirty="0"/>
          </a:p>
        </p:txBody>
      </p:sp>
      <p:sp>
        <p:nvSpPr>
          <p:cNvPr id="7" name="Shape 5"/>
          <p:cNvSpPr/>
          <p:nvPr/>
        </p:nvSpPr>
        <p:spPr>
          <a:xfrm>
            <a:off x="365760" y="1828800"/>
            <a:ext cx="54864" cy="640080"/>
          </a:xfrm>
          <a:prstGeom prst="rect">
            <a:avLst/>
          </a:prstGeom>
          <a:solidFill>
            <a:srgbClr val="00B4D8"/>
          </a:solidFill>
          <a:ln w="12700">
            <a:solidFill>
              <a:srgbClr val="00B4D8"/>
            </a:solidFill>
            <a:prstDash val="solid"/>
          </a:ln>
        </p:spPr>
      </p:sp>
      <p:sp>
        <p:nvSpPr>
          <p:cNvPr id="8" name="Text 6"/>
          <p:cNvSpPr/>
          <p:nvPr/>
        </p:nvSpPr>
        <p:spPr>
          <a:xfrm>
            <a:off x="548640" y="1874520"/>
            <a:ext cx="8046720" cy="548640"/>
          </a:xfrm>
          <a:prstGeom prst="rect">
            <a:avLst/>
          </a:prstGeom>
          <a:noFill/>
          <a:ln/>
        </p:spPr>
        <p:txBody>
          <a:bodyPr wrap="square" rtlCol="0" anchor="ctr"/>
          <a:lstStyle/>
          <a:p>
            <a:pPr indent="0" marL="0">
              <a:buNone/>
            </a:pPr>
            <a:r>
              <a:rPr lang="en-US" sz="1400" dirty="0">
                <a:solidFill>
                  <a:srgbClr val="E8F4FD"/>
                </a:solidFill>
                <a:latin typeface="Calibri" pitchFamily="34" charset="0"/>
                <a:ea typeface="Calibri" pitchFamily="34" charset="-122"/>
                <a:cs typeface="Calibri" pitchFamily="34" charset="-120"/>
              </a:rPr>
              <a:t>Tự xây dựng và tối ưu hóa các mô hình SVM và Random Forest</a:t>
            </a:r>
            <a:endParaRPr lang="en-US" sz="1400" dirty="0"/>
          </a:p>
        </p:txBody>
      </p:sp>
      <p:sp>
        <p:nvSpPr>
          <p:cNvPr id="9" name="Shape 7"/>
          <p:cNvSpPr/>
          <p:nvPr/>
        </p:nvSpPr>
        <p:spPr>
          <a:xfrm>
            <a:off x="365760" y="2743200"/>
            <a:ext cx="54864" cy="640080"/>
          </a:xfrm>
          <a:prstGeom prst="rect">
            <a:avLst/>
          </a:prstGeom>
          <a:solidFill>
            <a:srgbClr val="FFD166"/>
          </a:solidFill>
          <a:ln w="12700">
            <a:solidFill>
              <a:srgbClr val="FFD166"/>
            </a:solidFill>
            <a:prstDash val="solid"/>
          </a:ln>
        </p:spPr>
      </p:sp>
      <p:sp>
        <p:nvSpPr>
          <p:cNvPr id="10" name="Text 8"/>
          <p:cNvSpPr/>
          <p:nvPr/>
        </p:nvSpPr>
        <p:spPr>
          <a:xfrm>
            <a:off x="548640" y="2788920"/>
            <a:ext cx="8046720" cy="548640"/>
          </a:xfrm>
          <a:prstGeom prst="rect">
            <a:avLst/>
          </a:prstGeom>
          <a:noFill/>
          <a:ln/>
        </p:spPr>
        <p:txBody>
          <a:bodyPr wrap="square" rtlCol="0" anchor="ctr"/>
          <a:lstStyle/>
          <a:p>
            <a:pPr indent="0" marL="0">
              <a:buNone/>
            </a:pPr>
            <a:r>
              <a:rPr lang="en-US" sz="1400" dirty="0">
                <a:solidFill>
                  <a:srgbClr val="E8F4FD"/>
                </a:solidFill>
                <a:latin typeface="Calibri" pitchFamily="34" charset="0"/>
                <a:ea typeface="Calibri" pitchFamily="34" charset="-122"/>
                <a:cs typeface="Calibri" pitchFamily="34" charset="-120"/>
              </a:rPr>
              <a:t>Đánh giá hiệu năng mô hình khách quan, tránh bẫy rò rỉ dữ liệu (data leakage)</a:t>
            </a:r>
            <a:endParaRPr lang="en-US" sz="1400" dirty="0"/>
          </a:p>
        </p:txBody>
      </p:sp>
      <p:sp>
        <p:nvSpPr>
          <p:cNvPr id="11" name="Shape 9"/>
          <p:cNvSpPr/>
          <p:nvPr/>
        </p:nvSpPr>
        <p:spPr>
          <a:xfrm>
            <a:off x="365760" y="3657600"/>
            <a:ext cx="54864" cy="640080"/>
          </a:xfrm>
          <a:prstGeom prst="rect">
            <a:avLst/>
          </a:prstGeom>
          <a:solidFill>
            <a:srgbClr val="00F5D4"/>
          </a:solidFill>
          <a:ln w="12700">
            <a:solidFill>
              <a:srgbClr val="00F5D4"/>
            </a:solidFill>
            <a:prstDash val="solid"/>
          </a:ln>
        </p:spPr>
      </p:sp>
      <p:sp>
        <p:nvSpPr>
          <p:cNvPr id="12" name="Text 10"/>
          <p:cNvSpPr/>
          <p:nvPr/>
        </p:nvSpPr>
        <p:spPr>
          <a:xfrm>
            <a:off x="548640" y="3703320"/>
            <a:ext cx="8046720" cy="548640"/>
          </a:xfrm>
          <a:prstGeom prst="rect">
            <a:avLst/>
          </a:prstGeom>
          <a:noFill/>
          <a:ln/>
        </p:spPr>
        <p:txBody>
          <a:bodyPr wrap="square" rtlCol="0" anchor="ctr"/>
          <a:lstStyle/>
          <a:p>
            <a:pPr indent="0" marL="0">
              <a:buNone/>
            </a:pPr>
            <a:r>
              <a:rPr lang="en-US" sz="1400" dirty="0">
                <a:solidFill>
                  <a:srgbClr val="E8F4FD"/>
                </a:solidFill>
                <a:latin typeface="Calibri" pitchFamily="34" charset="0"/>
                <a:ea typeface="Calibri" pitchFamily="34" charset="-122"/>
                <a:cs typeface="Calibri" pitchFamily="34" charset="-120"/>
              </a:rPr>
              <a:t>Ứng dụng SHAP để giải thích cơ chế đưa ra quyết định của mô hình</a:t>
            </a:r>
            <a:endParaRPr lang="en-US" sz="1400" dirty="0"/>
          </a:p>
        </p:txBody>
      </p:sp>
      <p:sp>
        <p:nvSpPr>
          <p:cNvPr id="13" name="Shape 11"/>
          <p:cNvSpPr/>
          <p:nvPr/>
        </p:nvSpPr>
        <p:spPr>
          <a:xfrm>
            <a:off x="0" y="4572000"/>
            <a:ext cx="9144000" cy="571500"/>
          </a:xfrm>
          <a:prstGeom prst="rect">
            <a:avLst/>
          </a:prstGeom>
          <a:solidFill>
            <a:srgbClr val="112233"/>
          </a:solidFill>
          <a:ln w="12700">
            <a:solidFill>
              <a:srgbClr val="112233"/>
            </a:solidFill>
            <a:prstDash val="solid"/>
          </a:ln>
        </p:spPr>
      </p:sp>
      <p:sp>
        <p:nvSpPr>
          <p:cNvPr id="14" name="Text 12"/>
          <p:cNvSpPr/>
          <p:nvPr/>
        </p:nvSpPr>
        <p:spPr>
          <a:xfrm>
            <a:off x="274320" y="4617720"/>
            <a:ext cx="8595360" cy="457200"/>
          </a:xfrm>
          <a:prstGeom prst="rect">
            <a:avLst/>
          </a:prstGeom>
          <a:noFill/>
          <a:ln/>
        </p:spPr>
        <p:txBody>
          <a:bodyPr wrap="square" rtlCol="0" anchor="ctr"/>
          <a:lstStyle/>
          <a:p>
            <a:pPr indent="0" marL="0">
              <a:buNone/>
            </a:pPr>
            <a:r>
              <a:rPr lang="en-US" sz="1100" i="1" dirty="0">
                <a:solidFill>
                  <a:srgbClr val="00B4D8"/>
                </a:solidFill>
                <a:latin typeface="Calibri" pitchFamily="34" charset="0"/>
                <a:ea typeface="Calibri" pitchFamily="34" charset="-122"/>
                <a:cs typeface="Calibri" pitchFamily="34" charset="-120"/>
              </a:rPr>
              <a:t>💡 Tư duy cốt lõi: Khi ổ lăn xuất hiện khuyết tật, mỗi vòng quay kích thích một xung va đập đặc trưng lặp lại tuần hoàn. Mọi công cụ FFT, Envelope, ML, SHAP chỉ là cách phát hiện cái nhịp đó.</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4D8"/>
          </a:solidFill>
          <a:ln w="12700">
            <a:solidFill>
              <a:srgbClr val="00B4D8"/>
            </a:solidFill>
            <a:prstDash val="solid"/>
          </a:ln>
        </p:spPr>
      </p:sp>
      <p:sp>
        <p:nvSpPr>
          <p:cNvPr id="3" name="Text 1"/>
          <p:cNvSpPr/>
          <p:nvPr/>
        </p:nvSpPr>
        <p:spPr>
          <a:xfrm>
            <a:off x="365760" y="137160"/>
            <a:ext cx="8412480" cy="50292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Vì Sao Cần Bảo Trì Dự Đoán?</a:t>
            </a:r>
            <a:endParaRPr lang="en-US" sz="2000" dirty="0"/>
          </a:p>
        </p:txBody>
      </p:sp>
      <p:sp>
        <p:nvSpPr>
          <p:cNvPr id="4" name="Shape 2"/>
          <p:cNvSpPr/>
          <p:nvPr/>
        </p:nvSpPr>
        <p:spPr>
          <a:xfrm>
            <a:off x="365760" y="658368"/>
            <a:ext cx="8412480" cy="27432"/>
          </a:xfrm>
          <a:prstGeom prst="rect">
            <a:avLst/>
          </a:prstGeom>
          <a:solidFill>
            <a:srgbClr val="0077B6"/>
          </a:solidFill>
          <a:ln w="12700">
            <a:solidFill>
              <a:srgbClr val="0077B6"/>
            </a:solidFill>
            <a:prstDash val="solid"/>
          </a:ln>
        </p:spPr>
      </p:sp>
      <p:sp>
        <p:nvSpPr>
          <p:cNvPr id="5" name="Shape 3"/>
          <p:cNvSpPr/>
          <p:nvPr/>
        </p:nvSpPr>
        <p:spPr>
          <a:xfrm>
            <a:off x="274320" y="777240"/>
            <a:ext cx="2743200" cy="4114800"/>
          </a:xfrm>
          <a:prstGeom prst="rect">
            <a:avLst/>
          </a:prstGeom>
          <a:solidFill>
            <a:srgbClr val="6B1A2B"/>
          </a:solidFill>
          <a:ln w="12700">
            <a:solidFill>
              <a:srgbClr val="0077B6"/>
            </a:solidFill>
            <a:prstDash val="solid"/>
          </a:ln>
        </p:spPr>
      </p:sp>
      <p:sp>
        <p:nvSpPr>
          <p:cNvPr id="6" name="Text 4"/>
          <p:cNvSpPr/>
          <p:nvPr/>
        </p:nvSpPr>
        <p:spPr>
          <a:xfrm>
            <a:off x="365760" y="841248"/>
            <a:ext cx="2560320" cy="41148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Bảo trì phản ứng</a:t>
            </a:r>
            <a:endParaRPr lang="en-US" sz="1300" dirty="0"/>
          </a:p>
        </p:txBody>
      </p:sp>
      <p:sp>
        <p:nvSpPr>
          <p:cNvPr id="7" name="Text 5"/>
          <p:cNvSpPr/>
          <p:nvPr/>
        </p:nvSpPr>
        <p:spPr>
          <a:xfrm>
            <a:off x="365760" y="1261872"/>
            <a:ext cx="2560320" cy="274320"/>
          </a:xfrm>
          <a:prstGeom prst="rect">
            <a:avLst/>
          </a:prstGeom>
          <a:noFill/>
          <a:ln/>
        </p:spPr>
        <p:txBody>
          <a:bodyPr wrap="square" rtlCol="0" anchor="ctr"/>
          <a:lstStyle/>
          <a:p>
            <a:pPr indent="0" marL="0">
              <a:buNone/>
            </a:pPr>
            <a:r>
              <a:rPr lang="en-US" sz="1100" i="1" dirty="0">
                <a:solidFill>
                  <a:srgbClr val="8BAFC7"/>
                </a:solidFill>
                <a:latin typeface="Calibri" pitchFamily="34" charset="0"/>
                <a:ea typeface="Calibri" pitchFamily="34" charset="-122"/>
                <a:cs typeface="Calibri" pitchFamily="34" charset="-120"/>
              </a:rPr>
              <a:t>Hỏng mới sửa</a:t>
            </a:r>
            <a:endParaRPr lang="en-US" sz="1100" dirty="0"/>
          </a:p>
        </p:txBody>
      </p:sp>
      <p:sp>
        <p:nvSpPr>
          <p:cNvPr id="8" name="Text 6"/>
          <p:cNvSpPr/>
          <p:nvPr/>
        </p:nvSpPr>
        <p:spPr>
          <a:xfrm>
            <a:off x="365760" y="1600200"/>
            <a:ext cx="2560320" cy="3108960"/>
          </a:xfrm>
          <a:prstGeom prst="rect">
            <a:avLst/>
          </a:prstGeom>
          <a:noFill/>
          <a:ln/>
        </p:spPr>
        <p:txBody>
          <a:bodyPr wrap="square" rtlCol="0" anchor="t"/>
          <a:lstStyle/>
          <a:p>
            <a:pPr marL="342900" indent="-342900">
              <a:buSzPct val="100000"/>
              <a:buChar char="•"/>
            </a:pPr>
            <a:r>
              <a:rPr lang="en-US" sz="1100" dirty="0">
                <a:solidFill>
                  <a:srgbClr val="E8F4FD"/>
                </a:solidFill>
                <a:latin typeface="Calibri" pitchFamily="34" charset="0"/>
                <a:ea typeface="Calibri" pitchFamily="34" charset="-122"/>
                <a:cs typeface="Calibri" pitchFamily="34" charset="-120"/>
              </a:rPr>
              <a:t>Dừng máy đột ngột</a:t>
            </a:r>
            <a:endParaRPr lang="en-US" sz="1100" dirty="0"/>
          </a:p>
          <a:p>
            <a:pPr marL="342900" indent="-342900">
              <a:buSzPct val="100000"/>
              <a:buChar char="•"/>
            </a:pPr>
            <a:r>
              <a:rPr lang="en-US" sz="1100" dirty="0">
                <a:solidFill>
                  <a:srgbClr val="E8F4FD"/>
                </a:solidFill>
                <a:latin typeface="Calibri" pitchFamily="34" charset="0"/>
                <a:ea typeface="Calibri" pitchFamily="34" charset="-122"/>
                <a:cs typeface="Calibri" pitchFamily="34" charset="-120"/>
              </a:rPr>
              <a:t>Chi phí khắc phục khẩn cấp cực lớn</a:t>
            </a:r>
            <a:endParaRPr lang="en-US" sz="1100" dirty="0"/>
          </a:p>
          <a:p>
            <a:pPr marL="342900" indent="-342900">
              <a:buSzPct val="100000"/>
              <a:buChar char="•"/>
            </a:pPr>
            <a:r>
              <a:rPr lang="en-US" sz="1100" dirty="0">
                <a:solidFill>
                  <a:srgbClr val="E8F4FD"/>
                </a:solidFill>
                <a:latin typeface="Calibri" pitchFamily="34" charset="0"/>
                <a:ea typeface="Calibri" pitchFamily="34" charset="-122"/>
                <a:cs typeface="Calibri" pitchFamily="34" charset="-120"/>
              </a:rPr>
              <a:t>Hư hại lan rộng sang chi tiết liên đới</a:t>
            </a:r>
            <a:endParaRPr lang="en-US" sz="1100" dirty="0"/>
          </a:p>
        </p:txBody>
      </p:sp>
      <p:sp>
        <p:nvSpPr>
          <p:cNvPr id="9" name="Shape 7"/>
          <p:cNvSpPr/>
          <p:nvPr/>
        </p:nvSpPr>
        <p:spPr>
          <a:xfrm>
            <a:off x="3200400" y="777240"/>
            <a:ext cx="2743200" cy="4114800"/>
          </a:xfrm>
          <a:prstGeom prst="rect">
            <a:avLst/>
          </a:prstGeom>
          <a:solidFill>
            <a:srgbClr val="5A4A00"/>
          </a:solidFill>
          <a:ln w="12700">
            <a:solidFill>
              <a:srgbClr val="0077B6"/>
            </a:solidFill>
            <a:prstDash val="solid"/>
          </a:ln>
        </p:spPr>
      </p:sp>
      <p:sp>
        <p:nvSpPr>
          <p:cNvPr id="10" name="Text 8"/>
          <p:cNvSpPr/>
          <p:nvPr/>
        </p:nvSpPr>
        <p:spPr>
          <a:xfrm>
            <a:off x="3291840" y="841248"/>
            <a:ext cx="2560320" cy="41148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Bảo trì phòng ngừa</a:t>
            </a:r>
            <a:endParaRPr lang="en-US" sz="1300" dirty="0"/>
          </a:p>
        </p:txBody>
      </p:sp>
      <p:sp>
        <p:nvSpPr>
          <p:cNvPr id="11" name="Text 9"/>
          <p:cNvSpPr/>
          <p:nvPr/>
        </p:nvSpPr>
        <p:spPr>
          <a:xfrm>
            <a:off x="3291840" y="1261872"/>
            <a:ext cx="2560320" cy="274320"/>
          </a:xfrm>
          <a:prstGeom prst="rect">
            <a:avLst/>
          </a:prstGeom>
          <a:noFill/>
          <a:ln/>
        </p:spPr>
        <p:txBody>
          <a:bodyPr wrap="square" rtlCol="0" anchor="ctr"/>
          <a:lstStyle/>
          <a:p>
            <a:pPr indent="0" marL="0">
              <a:buNone/>
            </a:pPr>
            <a:r>
              <a:rPr lang="en-US" sz="1100" i="1" dirty="0">
                <a:solidFill>
                  <a:srgbClr val="8BAFC7"/>
                </a:solidFill>
                <a:latin typeface="Calibri" pitchFamily="34" charset="0"/>
                <a:ea typeface="Calibri" pitchFamily="34" charset="-122"/>
                <a:cs typeface="Calibri" pitchFamily="34" charset="-120"/>
              </a:rPr>
              <a:t>Theo lịch định kỳ</a:t>
            </a:r>
            <a:endParaRPr lang="en-US" sz="1100" dirty="0"/>
          </a:p>
        </p:txBody>
      </p:sp>
      <p:sp>
        <p:nvSpPr>
          <p:cNvPr id="12" name="Text 10"/>
          <p:cNvSpPr/>
          <p:nvPr/>
        </p:nvSpPr>
        <p:spPr>
          <a:xfrm>
            <a:off x="3291840" y="1600200"/>
            <a:ext cx="2560320" cy="3108960"/>
          </a:xfrm>
          <a:prstGeom prst="rect">
            <a:avLst/>
          </a:prstGeom>
          <a:noFill/>
          <a:ln/>
        </p:spPr>
        <p:txBody>
          <a:bodyPr wrap="square" rtlCol="0" anchor="t"/>
          <a:lstStyle/>
          <a:p>
            <a:pPr marL="342900" indent="-342900">
              <a:buSzPct val="100000"/>
              <a:buChar char="•"/>
            </a:pPr>
            <a:r>
              <a:rPr lang="en-US" sz="1100" dirty="0">
                <a:solidFill>
                  <a:srgbClr val="E8F4FD"/>
                </a:solidFill>
                <a:latin typeface="Calibri" pitchFamily="34" charset="0"/>
                <a:ea typeface="Calibri" pitchFamily="34" charset="-122"/>
                <a:cs typeface="Calibri" pitchFamily="34" charset="-120"/>
              </a:rPr>
              <a:t>Thay thế linh kiện còn tốt → lãng phí</a:t>
            </a:r>
            <a:endParaRPr lang="en-US" sz="1100" dirty="0"/>
          </a:p>
          <a:p>
            <a:pPr marL="342900" indent="-342900">
              <a:buSzPct val="100000"/>
              <a:buChar char="•"/>
            </a:pPr>
            <a:r>
              <a:rPr lang="en-US" sz="1100" dirty="0">
                <a:solidFill>
                  <a:srgbClr val="E8F4FD"/>
                </a:solidFill>
                <a:latin typeface="Calibri" pitchFamily="34" charset="0"/>
                <a:ea typeface="Calibri" pitchFamily="34" charset="-122"/>
                <a:cs typeface="Calibri" pitchFamily="34" charset="-120"/>
              </a:rPr>
              <a:t>Vẫn có thể bỏ sót lỗi phát sinh sớm</a:t>
            </a:r>
            <a:endParaRPr lang="en-US" sz="1100" dirty="0"/>
          </a:p>
        </p:txBody>
      </p:sp>
      <p:sp>
        <p:nvSpPr>
          <p:cNvPr id="13" name="Shape 11"/>
          <p:cNvSpPr/>
          <p:nvPr/>
        </p:nvSpPr>
        <p:spPr>
          <a:xfrm>
            <a:off x="6126480" y="777240"/>
            <a:ext cx="2743200" cy="4114800"/>
          </a:xfrm>
          <a:prstGeom prst="rect">
            <a:avLst/>
          </a:prstGeom>
          <a:solidFill>
            <a:srgbClr val="0A3D2A"/>
          </a:solidFill>
          <a:ln w="12700">
            <a:solidFill>
              <a:srgbClr val="0077B6"/>
            </a:solidFill>
            <a:prstDash val="solid"/>
          </a:ln>
        </p:spPr>
      </p:sp>
      <p:sp>
        <p:nvSpPr>
          <p:cNvPr id="14" name="Text 12"/>
          <p:cNvSpPr/>
          <p:nvPr/>
        </p:nvSpPr>
        <p:spPr>
          <a:xfrm>
            <a:off x="6217920" y="841248"/>
            <a:ext cx="2560320" cy="41148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Bảo trì dự đoán</a:t>
            </a:r>
            <a:endParaRPr lang="en-US" sz="1300" dirty="0"/>
          </a:p>
        </p:txBody>
      </p:sp>
      <p:sp>
        <p:nvSpPr>
          <p:cNvPr id="15" name="Text 13"/>
          <p:cNvSpPr/>
          <p:nvPr/>
        </p:nvSpPr>
        <p:spPr>
          <a:xfrm>
            <a:off x="6217920" y="1261872"/>
            <a:ext cx="2560320" cy="274320"/>
          </a:xfrm>
          <a:prstGeom prst="rect">
            <a:avLst/>
          </a:prstGeom>
          <a:noFill/>
          <a:ln/>
        </p:spPr>
        <p:txBody>
          <a:bodyPr wrap="square" rtlCol="0" anchor="ctr"/>
          <a:lstStyle/>
          <a:p>
            <a:pPr indent="0" marL="0">
              <a:buNone/>
            </a:pPr>
            <a:r>
              <a:rPr lang="en-US" sz="1100" i="1" dirty="0">
                <a:solidFill>
                  <a:srgbClr val="8BAFC7"/>
                </a:solidFill>
                <a:latin typeface="Calibri" pitchFamily="34" charset="0"/>
                <a:ea typeface="Calibri" pitchFamily="34" charset="-122"/>
                <a:cs typeface="Calibri" pitchFamily="34" charset="-120"/>
              </a:rPr>
              <a:t>Theo tình trạng thực tế ✓</a:t>
            </a:r>
            <a:endParaRPr lang="en-US" sz="1100" dirty="0"/>
          </a:p>
        </p:txBody>
      </p:sp>
      <p:sp>
        <p:nvSpPr>
          <p:cNvPr id="16" name="Text 14"/>
          <p:cNvSpPr/>
          <p:nvPr/>
        </p:nvSpPr>
        <p:spPr>
          <a:xfrm>
            <a:off x="6217920" y="1600200"/>
            <a:ext cx="2560320" cy="3108960"/>
          </a:xfrm>
          <a:prstGeom prst="rect">
            <a:avLst/>
          </a:prstGeom>
          <a:noFill/>
          <a:ln/>
        </p:spPr>
        <p:txBody>
          <a:bodyPr wrap="square" rtlCol="0" anchor="t"/>
          <a:lstStyle/>
          <a:p>
            <a:pPr marL="342900" indent="-342900">
              <a:buSzPct val="100000"/>
              <a:buChar char="•"/>
            </a:pPr>
            <a:r>
              <a:rPr lang="en-US" sz="1100" dirty="0">
                <a:solidFill>
                  <a:srgbClr val="E8F4FD"/>
                </a:solidFill>
                <a:latin typeface="Calibri" pitchFamily="34" charset="0"/>
                <a:ea typeface="Calibri" pitchFamily="34" charset="-122"/>
                <a:cs typeface="Calibri" pitchFamily="34" charset="-120"/>
              </a:rPr>
              <a:t>Giám sát liên tục bằng cảm biến</a:t>
            </a:r>
            <a:endParaRPr lang="en-US" sz="1100" dirty="0"/>
          </a:p>
          <a:p>
            <a:pPr marL="342900" indent="-342900">
              <a:buSzPct val="100000"/>
              <a:buChar char="•"/>
            </a:pPr>
            <a:r>
              <a:rPr lang="en-US" sz="1100" dirty="0">
                <a:solidFill>
                  <a:srgbClr val="E8F4FD"/>
                </a:solidFill>
                <a:latin typeface="Calibri" pitchFamily="34" charset="0"/>
                <a:ea typeface="Calibri" pitchFamily="34" charset="-122"/>
                <a:cs typeface="Calibri" pitchFamily="34" charset="-120"/>
              </a:rPr>
              <a:t>Phát hiện sớm hư hỏng từ giai đoạn khởi phát</a:t>
            </a:r>
            <a:endParaRPr lang="en-US" sz="1100" dirty="0"/>
          </a:p>
          <a:p>
            <a:pPr marL="342900" indent="-342900">
              <a:buSzPct val="100000"/>
              <a:buChar char="•"/>
            </a:pPr>
            <a:r>
              <a:rPr lang="en-US" sz="1100" dirty="0">
                <a:solidFill>
                  <a:srgbClr val="E8F4FD"/>
                </a:solidFill>
                <a:latin typeface="Calibri" pitchFamily="34" charset="0"/>
                <a:ea typeface="Calibri" pitchFamily="34" charset="-122"/>
                <a:cs typeface="Calibri" pitchFamily="34" charset="-120"/>
              </a:rPr>
              <a:t>Lập lịch bảo trì chủ động, tối ưu chi phí</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4D8"/>
          </a:solidFill>
          <a:ln w="12700">
            <a:solidFill>
              <a:srgbClr val="00B4D8"/>
            </a:solidFill>
            <a:prstDash val="solid"/>
          </a:ln>
        </p:spPr>
      </p:sp>
      <p:sp>
        <p:nvSpPr>
          <p:cNvPr id="3" name="Text 1"/>
          <p:cNvSpPr/>
          <p:nvPr/>
        </p:nvSpPr>
        <p:spPr>
          <a:xfrm>
            <a:off x="365760" y="137160"/>
            <a:ext cx="8412480" cy="50292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Pipeline End-to-End — Quy Trình 7 Bước</a:t>
            </a:r>
            <a:endParaRPr lang="en-US" sz="2000" dirty="0"/>
          </a:p>
        </p:txBody>
      </p:sp>
      <p:sp>
        <p:nvSpPr>
          <p:cNvPr id="4" name="Shape 2"/>
          <p:cNvSpPr/>
          <p:nvPr/>
        </p:nvSpPr>
        <p:spPr>
          <a:xfrm>
            <a:off x="365760" y="658368"/>
            <a:ext cx="8412480" cy="27432"/>
          </a:xfrm>
          <a:prstGeom prst="rect">
            <a:avLst/>
          </a:prstGeom>
          <a:solidFill>
            <a:srgbClr val="0077B6"/>
          </a:solidFill>
          <a:ln w="12700">
            <a:solidFill>
              <a:srgbClr val="0077B6"/>
            </a:solidFill>
            <a:prstDash val="solid"/>
          </a:ln>
        </p:spPr>
      </p:sp>
      <p:sp>
        <p:nvSpPr>
          <p:cNvPr id="5" name="Shape 3"/>
          <p:cNvSpPr/>
          <p:nvPr/>
        </p:nvSpPr>
        <p:spPr>
          <a:xfrm>
            <a:off x="182880" y="914400"/>
            <a:ext cx="1097280" cy="1097280"/>
          </a:xfrm>
          <a:prstGeom prst="rect">
            <a:avLst/>
          </a:prstGeom>
          <a:solidFill>
            <a:srgbClr val="0077B6"/>
          </a:solidFill>
          <a:ln w="12700">
            <a:solidFill>
              <a:srgbClr val="0077B6"/>
            </a:solidFill>
            <a:prstDash val="solid"/>
          </a:ln>
        </p:spPr>
      </p:sp>
      <p:sp>
        <p:nvSpPr>
          <p:cNvPr id="6" name="Text 4"/>
          <p:cNvSpPr/>
          <p:nvPr/>
        </p:nvSpPr>
        <p:spPr>
          <a:xfrm>
            <a:off x="182880" y="960120"/>
            <a:ext cx="1097280" cy="45720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①</a:t>
            </a:r>
            <a:endParaRPr lang="en-US" sz="2200" dirty="0"/>
          </a:p>
        </p:txBody>
      </p:sp>
      <p:sp>
        <p:nvSpPr>
          <p:cNvPr id="7" name="Text 5"/>
          <p:cNvSpPr/>
          <p:nvPr/>
        </p:nvSpPr>
        <p:spPr>
          <a:xfrm>
            <a:off x="182880" y="1417320"/>
            <a:ext cx="1097280" cy="548640"/>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Thu thập</a:t>
            </a:r>
            <a:endParaRPr lang="en-US" sz="900" dirty="0"/>
          </a:p>
          <a:p>
            <a:pPr algn="ctr" indent="0" marL="0">
              <a:buNone/>
            </a:pPr>
            <a:r>
              <a:rPr lang="en-US" sz="900" dirty="0">
                <a:solidFill>
                  <a:srgbClr val="FFFFFF"/>
                </a:solidFill>
                <a:latin typeface="Calibri" pitchFamily="34" charset="0"/>
                <a:ea typeface="Calibri" pitchFamily="34" charset="-122"/>
                <a:cs typeface="Calibri" pitchFamily="34" charset="-120"/>
              </a:rPr>
              <a:t>tín hiệu</a:t>
            </a:r>
            <a:endParaRPr lang="en-US" sz="900" dirty="0"/>
          </a:p>
        </p:txBody>
      </p:sp>
      <p:sp>
        <p:nvSpPr>
          <p:cNvPr id="8" name="Shape 6"/>
          <p:cNvSpPr/>
          <p:nvPr/>
        </p:nvSpPr>
        <p:spPr>
          <a:xfrm>
            <a:off x="1280160" y="1417320"/>
            <a:ext cx="164592" cy="91440"/>
          </a:xfrm>
          <a:prstGeom prst="rect">
            <a:avLst/>
          </a:prstGeom>
          <a:solidFill>
            <a:srgbClr val="8BAFC7"/>
          </a:solidFill>
          <a:ln w="12700">
            <a:solidFill>
              <a:srgbClr val="8BAFC7"/>
            </a:solidFill>
            <a:prstDash val="solid"/>
          </a:ln>
        </p:spPr>
      </p:sp>
      <p:sp>
        <p:nvSpPr>
          <p:cNvPr id="9" name="Shape 7"/>
          <p:cNvSpPr/>
          <p:nvPr/>
        </p:nvSpPr>
        <p:spPr>
          <a:xfrm>
            <a:off x="1444752" y="914400"/>
            <a:ext cx="1097280" cy="1097280"/>
          </a:xfrm>
          <a:prstGeom prst="rect">
            <a:avLst/>
          </a:prstGeom>
          <a:solidFill>
            <a:srgbClr val="00B4D8"/>
          </a:solidFill>
          <a:ln w="12700">
            <a:solidFill>
              <a:srgbClr val="00B4D8"/>
            </a:solidFill>
            <a:prstDash val="solid"/>
          </a:ln>
        </p:spPr>
      </p:sp>
      <p:sp>
        <p:nvSpPr>
          <p:cNvPr id="10" name="Text 8"/>
          <p:cNvSpPr/>
          <p:nvPr/>
        </p:nvSpPr>
        <p:spPr>
          <a:xfrm>
            <a:off x="1444752" y="960120"/>
            <a:ext cx="1097280" cy="45720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②</a:t>
            </a:r>
            <a:endParaRPr lang="en-US" sz="2200" dirty="0"/>
          </a:p>
        </p:txBody>
      </p:sp>
      <p:sp>
        <p:nvSpPr>
          <p:cNvPr id="11" name="Text 9"/>
          <p:cNvSpPr/>
          <p:nvPr/>
        </p:nvSpPr>
        <p:spPr>
          <a:xfrm>
            <a:off x="1444752" y="1417320"/>
            <a:ext cx="1097280" cy="548640"/>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Phân đoạn</a:t>
            </a:r>
            <a:endParaRPr lang="en-US" sz="900" dirty="0"/>
          </a:p>
          <a:p>
            <a:pPr algn="ctr" indent="0" marL="0">
              <a:buNone/>
            </a:pPr>
            <a:r>
              <a:rPr lang="en-US" sz="900" dirty="0">
                <a:solidFill>
                  <a:srgbClr val="FFFFFF"/>
                </a:solidFill>
                <a:latin typeface="Calibri" pitchFamily="34" charset="0"/>
                <a:ea typeface="Calibri" pitchFamily="34" charset="-122"/>
                <a:cs typeface="Calibri" pitchFamily="34" charset="-120"/>
              </a:rPr>
              <a:t>dữ liệu</a:t>
            </a:r>
            <a:endParaRPr lang="en-US" sz="900" dirty="0"/>
          </a:p>
        </p:txBody>
      </p:sp>
      <p:sp>
        <p:nvSpPr>
          <p:cNvPr id="12" name="Shape 10"/>
          <p:cNvSpPr/>
          <p:nvPr/>
        </p:nvSpPr>
        <p:spPr>
          <a:xfrm>
            <a:off x="2542032" y="1417320"/>
            <a:ext cx="164592" cy="91440"/>
          </a:xfrm>
          <a:prstGeom prst="rect">
            <a:avLst/>
          </a:prstGeom>
          <a:solidFill>
            <a:srgbClr val="8BAFC7"/>
          </a:solidFill>
          <a:ln w="12700">
            <a:solidFill>
              <a:srgbClr val="8BAFC7"/>
            </a:solidFill>
            <a:prstDash val="solid"/>
          </a:ln>
        </p:spPr>
      </p:sp>
      <p:sp>
        <p:nvSpPr>
          <p:cNvPr id="13" name="Shape 11"/>
          <p:cNvSpPr/>
          <p:nvPr/>
        </p:nvSpPr>
        <p:spPr>
          <a:xfrm>
            <a:off x="2706624" y="914400"/>
            <a:ext cx="1097280" cy="1097280"/>
          </a:xfrm>
          <a:prstGeom prst="rect">
            <a:avLst/>
          </a:prstGeom>
          <a:solidFill>
            <a:srgbClr val="0096B0"/>
          </a:solidFill>
          <a:ln w="12700">
            <a:solidFill>
              <a:srgbClr val="0096B0"/>
            </a:solidFill>
            <a:prstDash val="solid"/>
          </a:ln>
        </p:spPr>
      </p:sp>
      <p:sp>
        <p:nvSpPr>
          <p:cNvPr id="14" name="Text 12"/>
          <p:cNvSpPr/>
          <p:nvPr/>
        </p:nvSpPr>
        <p:spPr>
          <a:xfrm>
            <a:off x="2706624" y="960120"/>
            <a:ext cx="1097280" cy="45720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③</a:t>
            </a:r>
            <a:endParaRPr lang="en-US" sz="2200" dirty="0"/>
          </a:p>
        </p:txBody>
      </p:sp>
      <p:sp>
        <p:nvSpPr>
          <p:cNvPr id="15" name="Text 13"/>
          <p:cNvSpPr/>
          <p:nvPr/>
        </p:nvSpPr>
        <p:spPr>
          <a:xfrm>
            <a:off x="2706624" y="1417320"/>
            <a:ext cx="1097280" cy="548640"/>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Trích xuất</a:t>
            </a:r>
            <a:endParaRPr lang="en-US" sz="900" dirty="0"/>
          </a:p>
          <a:p>
            <a:pPr algn="ctr" indent="0" marL="0">
              <a:buNone/>
            </a:pPr>
            <a:r>
              <a:rPr lang="en-US" sz="900" dirty="0">
                <a:solidFill>
                  <a:srgbClr val="FFFFFF"/>
                </a:solidFill>
                <a:latin typeface="Calibri" pitchFamily="34" charset="0"/>
                <a:ea typeface="Calibri" pitchFamily="34" charset="-122"/>
                <a:cs typeface="Calibri" pitchFamily="34" charset="-120"/>
              </a:rPr>
              <a:t>đặc trưng</a:t>
            </a:r>
            <a:endParaRPr lang="en-US" sz="900" dirty="0"/>
          </a:p>
        </p:txBody>
      </p:sp>
      <p:sp>
        <p:nvSpPr>
          <p:cNvPr id="16" name="Shape 14"/>
          <p:cNvSpPr/>
          <p:nvPr/>
        </p:nvSpPr>
        <p:spPr>
          <a:xfrm>
            <a:off x="3803904" y="1417320"/>
            <a:ext cx="164592" cy="91440"/>
          </a:xfrm>
          <a:prstGeom prst="rect">
            <a:avLst/>
          </a:prstGeom>
          <a:solidFill>
            <a:srgbClr val="8BAFC7"/>
          </a:solidFill>
          <a:ln w="12700">
            <a:solidFill>
              <a:srgbClr val="8BAFC7"/>
            </a:solidFill>
            <a:prstDash val="solid"/>
          </a:ln>
        </p:spPr>
      </p:sp>
      <p:sp>
        <p:nvSpPr>
          <p:cNvPr id="17" name="Shape 15"/>
          <p:cNvSpPr/>
          <p:nvPr/>
        </p:nvSpPr>
        <p:spPr>
          <a:xfrm>
            <a:off x="3968496" y="914400"/>
            <a:ext cx="1097280" cy="1097280"/>
          </a:xfrm>
          <a:prstGeom prst="rect">
            <a:avLst/>
          </a:prstGeom>
          <a:solidFill>
            <a:srgbClr val="06D6A0"/>
          </a:solidFill>
          <a:ln w="12700">
            <a:solidFill>
              <a:srgbClr val="06D6A0"/>
            </a:solidFill>
            <a:prstDash val="solid"/>
          </a:ln>
        </p:spPr>
      </p:sp>
      <p:sp>
        <p:nvSpPr>
          <p:cNvPr id="18" name="Text 16"/>
          <p:cNvSpPr/>
          <p:nvPr/>
        </p:nvSpPr>
        <p:spPr>
          <a:xfrm>
            <a:off x="3968496" y="960120"/>
            <a:ext cx="1097280" cy="45720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④</a:t>
            </a:r>
            <a:endParaRPr lang="en-US" sz="2200" dirty="0"/>
          </a:p>
        </p:txBody>
      </p:sp>
      <p:sp>
        <p:nvSpPr>
          <p:cNvPr id="19" name="Text 17"/>
          <p:cNvSpPr/>
          <p:nvPr/>
        </p:nvSpPr>
        <p:spPr>
          <a:xfrm>
            <a:off x="3968496" y="1417320"/>
            <a:ext cx="1097280" cy="548640"/>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Huấn luyện</a:t>
            </a:r>
            <a:endParaRPr lang="en-US" sz="900" dirty="0"/>
          </a:p>
          <a:p>
            <a:pPr algn="ctr" indent="0" marL="0">
              <a:buNone/>
            </a:pPr>
            <a:r>
              <a:rPr lang="en-US" sz="900" dirty="0">
                <a:solidFill>
                  <a:srgbClr val="FFFFFF"/>
                </a:solidFill>
                <a:latin typeface="Calibri" pitchFamily="34" charset="0"/>
                <a:ea typeface="Calibri" pitchFamily="34" charset="-122"/>
                <a:cs typeface="Calibri" pitchFamily="34" charset="-120"/>
              </a:rPr>
              <a:t>mô hình</a:t>
            </a:r>
            <a:endParaRPr lang="en-US" sz="900" dirty="0"/>
          </a:p>
        </p:txBody>
      </p:sp>
      <p:sp>
        <p:nvSpPr>
          <p:cNvPr id="20" name="Shape 18"/>
          <p:cNvSpPr/>
          <p:nvPr/>
        </p:nvSpPr>
        <p:spPr>
          <a:xfrm>
            <a:off x="5065776" y="1417320"/>
            <a:ext cx="164592" cy="91440"/>
          </a:xfrm>
          <a:prstGeom prst="rect">
            <a:avLst/>
          </a:prstGeom>
          <a:solidFill>
            <a:srgbClr val="8BAFC7"/>
          </a:solidFill>
          <a:ln w="12700">
            <a:solidFill>
              <a:srgbClr val="8BAFC7"/>
            </a:solidFill>
            <a:prstDash val="solid"/>
          </a:ln>
        </p:spPr>
      </p:sp>
      <p:sp>
        <p:nvSpPr>
          <p:cNvPr id="21" name="Shape 19"/>
          <p:cNvSpPr/>
          <p:nvPr/>
        </p:nvSpPr>
        <p:spPr>
          <a:xfrm>
            <a:off x="5230368" y="914400"/>
            <a:ext cx="1097280" cy="1097280"/>
          </a:xfrm>
          <a:prstGeom prst="rect">
            <a:avLst/>
          </a:prstGeom>
          <a:solidFill>
            <a:srgbClr val="00A878"/>
          </a:solidFill>
          <a:ln w="12700">
            <a:solidFill>
              <a:srgbClr val="00A878"/>
            </a:solidFill>
            <a:prstDash val="solid"/>
          </a:ln>
        </p:spPr>
      </p:sp>
      <p:sp>
        <p:nvSpPr>
          <p:cNvPr id="22" name="Text 20"/>
          <p:cNvSpPr/>
          <p:nvPr/>
        </p:nvSpPr>
        <p:spPr>
          <a:xfrm>
            <a:off x="5230368" y="960120"/>
            <a:ext cx="1097280" cy="45720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⑤</a:t>
            </a:r>
            <a:endParaRPr lang="en-US" sz="2200" dirty="0"/>
          </a:p>
        </p:txBody>
      </p:sp>
      <p:sp>
        <p:nvSpPr>
          <p:cNvPr id="23" name="Text 21"/>
          <p:cNvSpPr/>
          <p:nvPr/>
        </p:nvSpPr>
        <p:spPr>
          <a:xfrm>
            <a:off x="5230368" y="1417320"/>
            <a:ext cx="1097280" cy="548640"/>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Dự đoán</a:t>
            </a:r>
            <a:endParaRPr lang="en-US" sz="900" dirty="0"/>
          </a:p>
          <a:p>
            <a:pPr algn="ctr" indent="0" marL="0">
              <a:buNone/>
            </a:pPr>
            <a:r>
              <a:rPr lang="en-US" sz="900" dirty="0">
                <a:solidFill>
                  <a:srgbClr val="FFFFFF"/>
                </a:solidFill>
                <a:latin typeface="Calibri" pitchFamily="34" charset="0"/>
                <a:ea typeface="Calibri" pitchFamily="34" charset="-122"/>
                <a:cs typeface="Calibri" pitchFamily="34" charset="-120"/>
              </a:rPr>
              <a:t>phân loại</a:t>
            </a:r>
            <a:endParaRPr lang="en-US" sz="900" dirty="0"/>
          </a:p>
        </p:txBody>
      </p:sp>
      <p:sp>
        <p:nvSpPr>
          <p:cNvPr id="24" name="Shape 22"/>
          <p:cNvSpPr/>
          <p:nvPr/>
        </p:nvSpPr>
        <p:spPr>
          <a:xfrm>
            <a:off x="6327648" y="1417320"/>
            <a:ext cx="164592" cy="91440"/>
          </a:xfrm>
          <a:prstGeom prst="rect">
            <a:avLst/>
          </a:prstGeom>
          <a:solidFill>
            <a:srgbClr val="8BAFC7"/>
          </a:solidFill>
          <a:ln w="12700">
            <a:solidFill>
              <a:srgbClr val="8BAFC7"/>
            </a:solidFill>
            <a:prstDash val="solid"/>
          </a:ln>
        </p:spPr>
      </p:sp>
      <p:sp>
        <p:nvSpPr>
          <p:cNvPr id="25" name="Shape 23"/>
          <p:cNvSpPr/>
          <p:nvPr/>
        </p:nvSpPr>
        <p:spPr>
          <a:xfrm>
            <a:off x="6492240" y="914400"/>
            <a:ext cx="1097280" cy="1097280"/>
          </a:xfrm>
          <a:prstGeom prst="rect">
            <a:avLst/>
          </a:prstGeom>
          <a:solidFill>
            <a:srgbClr val="FFD166"/>
          </a:solidFill>
          <a:ln w="12700">
            <a:solidFill>
              <a:srgbClr val="FFD166"/>
            </a:solidFill>
            <a:prstDash val="solid"/>
          </a:ln>
        </p:spPr>
      </p:sp>
      <p:sp>
        <p:nvSpPr>
          <p:cNvPr id="26" name="Text 24"/>
          <p:cNvSpPr/>
          <p:nvPr/>
        </p:nvSpPr>
        <p:spPr>
          <a:xfrm>
            <a:off x="6492240" y="960120"/>
            <a:ext cx="1097280" cy="45720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⑥</a:t>
            </a:r>
            <a:endParaRPr lang="en-US" sz="2200" dirty="0"/>
          </a:p>
        </p:txBody>
      </p:sp>
      <p:sp>
        <p:nvSpPr>
          <p:cNvPr id="27" name="Text 25"/>
          <p:cNvSpPr/>
          <p:nvPr/>
        </p:nvSpPr>
        <p:spPr>
          <a:xfrm>
            <a:off x="6492240" y="1417320"/>
            <a:ext cx="1097280" cy="548640"/>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Giải thích</a:t>
            </a:r>
            <a:endParaRPr lang="en-US" sz="900" dirty="0"/>
          </a:p>
          <a:p>
            <a:pPr algn="ctr" indent="0" marL="0">
              <a:buNone/>
            </a:pPr>
            <a:r>
              <a:rPr lang="en-US" sz="900" dirty="0">
                <a:solidFill>
                  <a:srgbClr val="FFFFFF"/>
                </a:solidFill>
                <a:latin typeface="Calibri" pitchFamily="34" charset="0"/>
                <a:ea typeface="Calibri" pitchFamily="34" charset="-122"/>
                <a:cs typeface="Calibri" pitchFamily="34" charset="-120"/>
              </a:rPr>
              <a:t>SHAP</a:t>
            </a:r>
            <a:endParaRPr lang="en-US" sz="900" dirty="0"/>
          </a:p>
        </p:txBody>
      </p:sp>
      <p:sp>
        <p:nvSpPr>
          <p:cNvPr id="28" name="Shape 26"/>
          <p:cNvSpPr/>
          <p:nvPr/>
        </p:nvSpPr>
        <p:spPr>
          <a:xfrm>
            <a:off x="7589520" y="1417320"/>
            <a:ext cx="164592" cy="91440"/>
          </a:xfrm>
          <a:prstGeom prst="rect">
            <a:avLst/>
          </a:prstGeom>
          <a:solidFill>
            <a:srgbClr val="8BAFC7"/>
          </a:solidFill>
          <a:ln w="12700">
            <a:solidFill>
              <a:srgbClr val="8BAFC7"/>
            </a:solidFill>
            <a:prstDash val="solid"/>
          </a:ln>
        </p:spPr>
      </p:sp>
      <p:sp>
        <p:nvSpPr>
          <p:cNvPr id="29" name="Shape 27"/>
          <p:cNvSpPr/>
          <p:nvPr/>
        </p:nvSpPr>
        <p:spPr>
          <a:xfrm>
            <a:off x="7754112" y="914400"/>
            <a:ext cx="1097280" cy="1097280"/>
          </a:xfrm>
          <a:prstGeom prst="rect">
            <a:avLst/>
          </a:prstGeom>
          <a:solidFill>
            <a:srgbClr val="EF476F"/>
          </a:solidFill>
          <a:ln w="12700">
            <a:solidFill>
              <a:srgbClr val="EF476F"/>
            </a:solidFill>
            <a:prstDash val="solid"/>
          </a:ln>
        </p:spPr>
      </p:sp>
      <p:sp>
        <p:nvSpPr>
          <p:cNvPr id="30" name="Text 28"/>
          <p:cNvSpPr/>
          <p:nvPr/>
        </p:nvSpPr>
        <p:spPr>
          <a:xfrm>
            <a:off x="7754112" y="960120"/>
            <a:ext cx="1097280" cy="45720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⑦</a:t>
            </a:r>
            <a:endParaRPr lang="en-US" sz="2200" dirty="0"/>
          </a:p>
        </p:txBody>
      </p:sp>
      <p:sp>
        <p:nvSpPr>
          <p:cNvPr id="31" name="Text 29"/>
          <p:cNvSpPr/>
          <p:nvPr/>
        </p:nvSpPr>
        <p:spPr>
          <a:xfrm>
            <a:off x="7754112" y="1417320"/>
            <a:ext cx="1097280" cy="548640"/>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Quyết định</a:t>
            </a:r>
            <a:endParaRPr lang="en-US" sz="900" dirty="0"/>
          </a:p>
          <a:p>
            <a:pPr algn="ctr" indent="0" marL="0">
              <a:buNone/>
            </a:pPr>
            <a:r>
              <a:rPr lang="en-US" sz="900" dirty="0">
                <a:solidFill>
                  <a:srgbClr val="FFFFFF"/>
                </a:solidFill>
                <a:latin typeface="Calibri" pitchFamily="34" charset="0"/>
                <a:ea typeface="Calibri" pitchFamily="34" charset="-122"/>
                <a:cs typeface="Calibri" pitchFamily="34" charset="-120"/>
              </a:rPr>
              <a:t>bảo trì</a:t>
            </a:r>
            <a:endParaRPr lang="en-US" sz="900" dirty="0"/>
          </a:p>
        </p:txBody>
      </p:sp>
      <p:sp>
        <p:nvSpPr>
          <p:cNvPr id="32" name="Text 30"/>
          <p:cNvSpPr/>
          <p:nvPr/>
        </p:nvSpPr>
        <p:spPr>
          <a:xfrm>
            <a:off x="182880" y="2148840"/>
            <a:ext cx="1097280" cy="731520"/>
          </a:xfrm>
          <a:prstGeom prst="rect">
            <a:avLst/>
          </a:prstGeom>
          <a:noFill/>
          <a:ln/>
        </p:spPr>
        <p:txBody>
          <a:bodyPr wrap="square" rtlCol="0" anchor="ctr"/>
          <a:lstStyle/>
          <a:p>
            <a:pPr algn="ctr" indent="0" marL="0">
              <a:buNone/>
            </a:pPr>
            <a:r>
              <a:rPr lang="en-US" sz="900" dirty="0">
                <a:solidFill>
                  <a:srgbClr val="8BAFC7"/>
                </a:solidFill>
                <a:latin typeface="Calibri" pitchFamily="34" charset="0"/>
                <a:ea typeface="Calibri" pitchFamily="34" charset="-122"/>
                <a:cs typeface="Calibri" pitchFamily="34" charset="-120"/>
              </a:rPr>
              <a:t>Đọc tệp .npy</a:t>
            </a:r>
            <a:endParaRPr lang="en-US" sz="900" dirty="0"/>
          </a:p>
          <a:p>
            <a:pPr algn="ctr" indent="0" marL="0">
              <a:buNone/>
            </a:pPr>
            <a:r>
              <a:rPr lang="en-US" sz="900" dirty="0">
                <a:solidFill>
                  <a:srgbClr val="8BAFC7"/>
                </a:solidFill>
                <a:latin typeface="Calibri" pitchFamily="34" charset="0"/>
                <a:ea typeface="Calibri" pitchFamily="34" charset="-122"/>
                <a:cs typeface="Calibri" pitchFamily="34" charset="-120"/>
              </a:rPr>
              <a:t>12 kHz</a:t>
            </a:r>
            <a:endParaRPr lang="en-US" sz="900" dirty="0"/>
          </a:p>
        </p:txBody>
      </p:sp>
      <p:sp>
        <p:nvSpPr>
          <p:cNvPr id="33" name="Text 31"/>
          <p:cNvSpPr/>
          <p:nvPr/>
        </p:nvSpPr>
        <p:spPr>
          <a:xfrm>
            <a:off x="1444752" y="2148840"/>
            <a:ext cx="1097280" cy="731520"/>
          </a:xfrm>
          <a:prstGeom prst="rect">
            <a:avLst/>
          </a:prstGeom>
          <a:noFill/>
          <a:ln/>
        </p:spPr>
        <p:txBody>
          <a:bodyPr wrap="square" rtlCol="0" anchor="ctr"/>
          <a:lstStyle/>
          <a:p>
            <a:pPr algn="ctr" indent="0" marL="0">
              <a:buNone/>
            </a:pPr>
            <a:r>
              <a:rPr lang="en-US" sz="900" dirty="0">
                <a:solidFill>
                  <a:srgbClr val="8BAFC7"/>
                </a:solidFill>
                <a:latin typeface="Calibri" pitchFamily="34" charset="0"/>
                <a:ea typeface="Calibri" pitchFamily="34" charset="-122"/>
                <a:cs typeface="Calibri" pitchFamily="34" charset="-120"/>
              </a:rPr>
              <a:t>Cắt 2048 mẫu</a:t>
            </a:r>
            <a:endParaRPr lang="en-US" sz="900" dirty="0"/>
          </a:p>
          <a:p>
            <a:pPr algn="ctr" indent="0" marL="0">
              <a:buNone/>
            </a:pPr>
            <a:r>
              <a:rPr lang="en-US" sz="900" dirty="0">
                <a:solidFill>
                  <a:srgbClr val="8BAFC7"/>
                </a:solidFill>
                <a:latin typeface="Calibri" pitchFamily="34" charset="0"/>
                <a:ea typeface="Calibri" pitchFamily="34" charset="-122"/>
                <a:cs typeface="Calibri" pitchFamily="34" charset="-120"/>
              </a:rPr>
              <a:t>Overlap 50%</a:t>
            </a:r>
            <a:endParaRPr lang="en-US" sz="900" dirty="0"/>
          </a:p>
        </p:txBody>
      </p:sp>
      <p:sp>
        <p:nvSpPr>
          <p:cNvPr id="34" name="Text 32"/>
          <p:cNvSpPr/>
          <p:nvPr/>
        </p:nvSpPr>
        <p:spPr>
          <a:xfrm>
            <a:off x="2706624" y="2148840"/>
            <a:ext cx="1097280" cy="731520"/>
          </a:xfrm>
          <a:prstGeom prst="rect">
            <a:avLst/>
          </a:prstGeom>
          <a:noFill/>
          <a:ln/>
        </p:spPr>
        <p:txBody>
          <a:bodyPr wrap="square" rtlCol="0" anchor="ctr"/>
          <a:lstStyle/>
          <a:p>
            <a:pPr algn="ctr" indent="0" marL="0">
              <a:buNone/>
            </a:pPr>
            <a:r>
              <a:rPr lang="en-US" sz="900" dirty="0">
                <a:solidFill>
                  <a:srgbClr val="8BAFC7"/>
                </a:solidFill>
                <a:latin typeface="Calibri" pitchFamily="34" charset="0"/>
                <a:ea typeface="Calibri" pitchFamily="34" charset="-122"/>
                <a:cs typeface="Calibri" pitchFamily="34" charset="-120"/>
              </a:rPr>
              <a:t>Nén → 19</a:t>
            </a:r>
            <a:endParaRPr lang="en-US" sz="900" dirty="0"/>
          </a:p>
          <a:p>
            <a:pPr algn="ctr" indent="0" marL="0">
              <a:buNone/>
            </a:pPr>
            <a:r>
              <a:rPr lang="en-US" sz="900" dirty="0">
                <a:solidFill>
                  <a:srgbClr val="8BAFC7"/>
                </a:solidFill>
                <a:latin typeface="Calibri" pitchFamily="34" charset="0"/>
                <a:ea typeface="Calibri" pitchFamily="34" charset="-122"/>
                <a:cs typeface="Calibri" pitchFamily="34" charset="-120"/>
              </a:rPr>
              <a:t>đặc trưng</a:t>
            </a:r>
            <a:endParaRPr lang="en-US" sz="900" dirty="0"/>
          </a:p>
        </p:txBody>
      </p:sp>
      <p:sp>
        <p:nvSpPr>
          <p:cNvPr id="35" name="Text 33"/>
          <p:cNvSpPr/>
          <p:nvPr/>
        </p:nvSpPr>
        <p:spPr>
          <a:xfrm>
            <a:off x="3968496" y="2148840"/>
            <a:ext cx="1097280" cy="731520"/>
          </a:xfrm>
          <a:prstGeom prst="rect">
            <a:avLst/>
          </a:prstGeom>
          <a:noFill/>
          <a:ln/>
        </p:spPr>
        <p:txBody>
          <a:bodyPr wrap="square" rtlCol="0" anchor="ctr"/>
          <a:lstStyle/>
          <a:p>
            <a:pPr algn="ctr" indent="0" marL="0">
              <a:buNone/>
            </a:pPr>
            <a:r>
              <a:rPr lang="en-US" sz="900" dirty="0">
                <a:solidFill>
                  <a:srgbClr val="8BAFC7"/>
                </a:solidFill>
                <a:latin typeface="Calibri" pitchFamily="34" charset="0"/>
                <a:ea typeface="Calibri" pitchFamily="34" charset="-122"/>
                <a:cs typeface="Calibri" pitchFamily="34" charset="-120"/>
              </a:rPr>
              <a:t>SVM &amp;</a:t>
            </a:r>
            <a:endParaRPr lang="en-US" sz="900" dirty="0"/>
          </a:p>
          <a:p>
            <a:pPr algn="ctr" indent="0" marL="0">
              <a:buNone/>
            </a:pPr>
            <a:r>
              <a:rPr lang="en-US" sz="900" dirty="0">
                <a:solidFill>
                  <a:srgbClr val="8BAFC7"/>
                </a:solidFill>
                <a:latin typeface="Calibri" pitchFamily="34" charset="0"/>
                <a:ea typeface="Calibri" pitchFamily="34" charset="-122"/>
                <a:cs typeface="Calibri" pitchFamily="34" charset="-120"/>
              </a:rPr>
              <a:t>Random Forest</a:t>
            </a:r>
            <a:endParaRPr lang="en-US" sz="900" dirty="0"/>
          </a:p>
        </p:txBody>
      </p:sp>
      <p:sp>
        <p:nvSpPr>
          <p:cNvPr id="36" name="Text 34"/>
          <p:cNvSpPr/>
          <p:nvPr/>
        </p:nvSpPr>
        <p:spPr>
          <a:xfrm>
            <a:off x="5230368" y="2148840"/>
            <a:ext cx="1097280" cy="731520"/>
          </a:xfrm>
          <a:prstGeom prst="rect">
            <a:avLst/>
          </a:prstGeom>
          <a:noFill/>
          <a:ln/>
        </p:spPr>
        <p:txBody>
          <a:bodyPr wrap="square" rtlCol="0" anchor="ctr"/>
          <a:lstStyle/>
          <a:p>
            <a:pPr algn="ctr" indent="0" marL="0">
              <a:buNone/>
            </a:pPr>
            <a:r>
              <a:rPr lang="en-US" sz="900" dirty="0">
                <a:solidFill>
                  <a:srgbClr val="8BAFC7"/>
                </a:solidFill>
                <a:latin typeface="Calibri" pitchFamily="34" charset="0"/>
                <a:ea typeface="Calibri" pitchFamily="34" charset="-122"/>
                <a:cs typeface="Calibri" pitchFamily="34" charset="-120"/>
              </a:rPr>
              <a:t>4 lớp:</a:t>
            </a:r>
            <a:endParaRPr lang="en-US" sz="900" dirty="0"/>
          </a:p>
          <a:p>
            <a:pPr algn="ctr" indent="0" marL="0">
              <a:buNone/>
            </a:pPr>
            <a:r>
              <a:rPr lang="en-US" sz="900" dirty="0">
                <a:solidFill>
                  <a:srgbClr val="8BAFC7"/>
                </a:solidFill>
                <a:latin typeface="Calibri" pitchFamily="34" charset="0"/>
                <a:ea typeface="Calibri" pitchFamily="34" charset="-122"/>
                <a:cs typeface="Calibri" pitchFamily="34" charset="-120"/>
              </a:rPr>
              <a:t>Normal/IR/OR/Ball</a:t>
            </a:r>
            <a:endParaRPr lang="en-US" sz="900" dirty="0"/>
          </a:p>
        </p:txBody>
      </p:sp>
      <p:sp>
        <p:nvSpPr>
          <p:cNvPr id="37" name="Text 35"/>
          <p:cNvSpPr/>
          <p:nvPr/>
        </p:nvSpPr>
        <p:spPr>
          <a:xfrm>
            <a:off x="6492240" y="2148840"/>
            <a:ext cx="1097280" cy="731520"/>
          </a:xfrm>
          <a:prstGeom prst="rect">
            <a:avLst/>
          </a:prstGeom>
          <a:noFill/>
          <a:ln/>
        </p:spPr>
        <p:txBody>
          <a:bodyPr wrap="square" rtlCol="0" anchor="ctr"/>
          <a:lstStyle/>
          <a:p>
            <a:pPr algn="ctr" indent="0" marL="0">
              <a:buNone/>
            </a:pPr>
            <a:r>
              <a:rPr lang="en-US" sz="900" dirty="0">
                <a:solidFill>
                  <a:srgbClr val="8BAFC7"/>
                </a:solidFill>
                <a:latin typeface="Calibri" pitchFamily="34" charset="0"/>
                <a:ea typeface="Calibri" pitchFamily="34" charset="-122"/>
                <a:cs typeface="Calibri" pitchFamily="34" charset="-120"/>
              </a:rPr>
              <a:t>Shapley</a:t>
            </a:r>
            <a:endParaRPr lang="en-US" sz="900" dirty="0"/>
          </a:p>
          <a:p>
            <a:pPr algn="ctr" indent="0" marL="0">
              <a:buNone/>
            </a:pPr>
            <a:r>
              <a:rPr lang="en-US" sz="900" dirty="0">
                <a:solidFill>
                  <a:srgbClr val="8BAFC7"/>
                </a:solidFill>
                <a:latin typeface="Calibri" pitchFamily="34" charset="0"/>
                <a:ea typeface="Calibri" pitchFamily="34" charset="-122"/>
                <a:cs typeface="Calibri" pitchFamily="34" charset="-120"/>
              </a:rPr>
              <a:t>Values</a:t>
            </a:r>
            <a:endParaRPr lang="en-US" sz="900" dirty="0"/>
          </a:p>
        </p:txBody>
      </p:sp>
      <p:sp>
        <p:nvSpPr>
          <p:cNvPr id="38" name="Text 36"/>
          <p:cNvSpPr/>
          <p:nvPr/>
        </p:nvSpPr>
        <p:spPr>
          <a:xfrm>
            <a:off x="7754112" y="2148840"/>
            <a:ext cx="1097280" cy="731520"/>
          </a:xfrm>
          <a:prstGeom prst="rect">
            <a:avLst/>
          </a:prstGeom>
          <a:noFill/>
          <a:ln/>
        </p:spPr>
        <p:txBody>
          <a:bodyPr wrap="square" rtlCol="0" anchor="ctr"/>
          <a:lstStyle/>
          <a:p>
            <a:pPr algn="ctr" indent="0" marL="0">
              <a:buNone/>
            </a:pPr>
            <a:r>
              <a:rPr lang="en-US" sz="900" dirty="0">
                <a:solidFill>
                  <a:srgbClr val="8BAFC7"/>
                </a:solidFill>
                <a:latin typeface="Calibri" pitchFamily="34" charset="0"/>
                <a:ea typeface="Calibri" pitchFamily="34" charset="-122"/>
                <a:cs typeface="Calibri" pitchFamily="34" charset="-120"/>
              </a:rPr>
              <a:t>Lập kế hoạch</a:t>
            </a:r>
            <a:endParaRPr lang="en-US" sz="900" dirty="0"/>
          </a:p>
          <a:p>
            <a:pPr algn="ctr" indent="0" marL="0">
              <a:buNone/>
            </a:pPr>
            <a:r>
              <a:rPr lang="en-US" sz="900" dirty="0">
                <a:solidFill>
                  <a:srgbClr val="8BAFC7"/>
                </a:solidFill>
                <a:latin typeface="Calibri" pitchFamily="34" charset="0"/>
                <a:ea typeface="Calibri" pitchFamily="34" charset="-122"/>
                <a:cs typeface="Calibri" pitchFamily="34" charset="-120"/>
              </a:rPr>
              <a:t>bảo dưỡng</a:t>
            </a:r>
            <a:endParaRPr lang="en-US" sz="900" dirty="0"/>
          </a:p>
        </p:txBody>
      </p:sp>
      <p:sp>
        <p:nvSpPr>
          <p:cNvPr id="39" name="Shape 37"/>
          <p:cNvSpPr/>
          <p:nvPr/>
        </p:nvSpPr>
        <p:spPr>
          <a:xfrm>
            <a:off x="182880" y="3017520"/>
            <a:ext cx="8778240" cy="54864"/>
          </a:xfrm>
          <a:prstGeom prst="rect">
            <a:avLst/>
          </a:prstGeom>
          <a:solidFill>
            <a:srgbClr val="4A6278"/>
          </a:solidFill>
          <a:ln w="12700">
            <a:solidFill>
              <a:srgbClr val="4A6278"/>
            </a:solidFill>
            <a:prstDash val="solid"/>
          </a:ln>
        </p:spPr>
      </p:sp>
      <p:sp>
        <p:nvSpPr>
          <p:cNvPr id="40" name="Text 38"/>
          <p:cNvSpPr/>
          <p:nvPr/>
        </p:nvSpPr>
        <p:spPr>
          <a:xfrm>
            <a:off x="182880" y="3154680"/>
            <a:ext cx="8778240" cy="320040"/>
          </a:xfrm>
          <a:prstGeom prst="rect">
            <a:avLst/>
          </a:prstGeom>
          <a:noFill/>
          <a:ln/>
        </p:spPr>
        <p:txBody>
          <a:bodyPr wrap="square" rtlCol="0" anchor="ctr"/>
          <a:lstStyle/>
          <a:p>
            <a:pPr algn="ctr" indent="0" marL="0">
              <a:buNone/>
            </a:pPr>
            <a:r>
              <a:rPr lang="en-US" sz="1100" dirty="0">
                <a:solidFill>
                  <a:srgbClr val="8BAFC7"/>
                </a:solidFill>
                <a:latin typeface="Calibri" pitchFamily="34" charset="0"/>
                <a:ea typeface="Calibri" pitchFamily="34" charset="-122"/>
                <a:cs typeface="Calibri" pitchFamily="34" charset="-120"/>
              </a:rPr>
              <a:t>Tutorial 01–02 (Bước ①②) · Tutorial 03 (Bước ③) · Tutorial 04 (Bước ④⑤) · Tutorial 05 (Bước ⑥⑦)</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F35"/>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F5D4"/>
          </a:solidFill>
          <a:ln w="12700">
            <a:solidFill>
              <a:srgbClr val="00F5D4"/>
            </a:solidFill>
            <a:prstDash val="solid"/>
          </a:ln>
        </p:spPr>
      </p:sp>
      <p:sp>
        <p:nvSpPr>
          <p:cNvPr id="3" name="Shape 1"/>
          <p:cNvSpPr/>
          <p:nvPr/>
        </p:nvSpPr>
        <p:spPr>
          <a:xfrm>
            <a:off x="0" y="0"/>
            <a:ext cx="3200400" cy="5143500"/>
          </a:xfrm>
          <a:prstGeom prst="rect">
            <a:avLst/>
          </a:prstGeom>
          <a:solidFill>
            <a:srgbClr val="112233"/>
          </a:solidFill>
          <a:ln w="12700">
            <a:solidFill>
              <a:srgbClr val="112233"/>
            </a:solidFill>
            <a:prstDash val="solid"/>
          </a:ln>
        </p:spPr>
      </p:sp>
      <p:sp>
        <p:nvSpPr>
          <p:cNvPr id="4" name="Text 2"/>
          <p:cNvSpPr/>
          <p:nvPr/>
        </p:nvSpPr>
        <p:spPr>
          <a:xfrm>
            <a:off x="164592" y="914400"/>
            <a:ext cx="2834640" cy="457200"/>
          </a:xfrm>
          <a:prstGeom prst="rect">
            <a:avLst/>
          </a:prstGeom>
          <a:noFill/>
          <a:ln/>
        </p:spPr>
        <p:txBody>
          <a:bodyPr wrap="square" rtlCol="0" anchor="ctr"/>
          <a:lstStyle/>
          <a:p>
            <a:pPr indent="0" marL="0">
              <a:buNone/>
            </a:pPr>
            <a:r>
              <a:rPr lang="en-US" sz="1200" b="1" spc="400" kern="0" dirty="0">
                <a:solidFill>
                  <a:srgbClr val="00B4D8"/>
                </a:solidFill>
                <a:latin typeface="Calibri" pitchFamily="34" charset="0"/>
                <a:ea typeface="Calibri" pitchFamily="34" charset="-122"/>
                <a:cs typeface="Calibri" pitchFamily="34" charset="-120"/>
              </a:rPr>
              <a:t>PHẦN A</a:t>
            </a:r>
            <a:endParaRPr lang="en-US" sz="1200" dirty="0"/>
          </a:p>
        </p:txBody>
      </p:sp>
      <p:sp>
        <p:nvSpPr>
          <p:cNvPr id="5" name="Text 3"/>
          <p:cNvSpPr/>
          <p:nvPr/>
        </p:nvSpPr>
        <p:spPr>
          <a:xfrm>
            <a:off x="164592" y="1463040"/>
            <a:ext cx="2834640" cy="1645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Dữ Liệu CWRU</a:t>
            </a:r>
            <a:endParaRPr lang="en-US" sz="2200" dirty="0"/>
          </a:p>
        </p:txBody>
      </p:sp>
      <p:sp>
        <p:nvSpPr>
          <p:cNvPr id="6" name="Text 4"/>
          <p:cNvSpPr/>
          <p:nvPr/>
        </p:nvSpPr>
        <p:spPr>
          <a:xfrm>
            <a:off x="164592" y="3200400"/>
            <a:ext cx="2834640" cy="1371600"/>
          </a:xfrm>
          <a:prstGeom prst="rect">
            <a:avLst/>
          </a:prstGeom>
          <a:noFill/>
          <a:ln/>
        </p:spPr>
        <p:txBody>
          <a:bodyPr wrap="square" rtlCol="0" anchor="ctr"/>
          <a:lstStyle/>
          <a:p>
            <a:pPr indent="0" marL="0">
              <a:buNone/>
            </a:pPr>
            <a:r>
              <a:rPr lang="en-US" sz="1300" dirty="0">
                <a:solidFill>
                  <a:srgbClr val="8BAFC7"/>
                </a:solidFill>
                <a:latin typeface="Calibri" pitchFamily="34" charset="0"/>
                <a:ea typeface="Calibri" pitchFamily="34" charset="-122"/>
                <a:cs typeface="Calibri" pitchFamily="34" charset="-120"/>
              </a:rPr>
              <a:t>Hệ thí nghiệm, cảm biến, phân loại lỗi và tần số đặc trưng ổ lăn SKF 6205</a:t>
            </a:r>
            <a:endParaRPr lang="en-US" sz="1300" dirty="0"/>
          </a:p>
        </p:txBody>
      </p:sp>
      <p:sp>
        <p:nvSpPr>
          <p:cNvPr id="7" name="Text 5"/>
          <p:cNvSpPr/>
          <p:nvPr/>
        </p:nvSpPr>
        <p:spPr>
          <a:xfrm>
            <a:off x="3657600" y="1188720"/>
            <a:ext cx="5212080" cy="3200400"/>
          </a:xfrm>
          <a:prstGeom prst="rect">
            <a:avLst/>
          </a:prstGeom>
          <a:noFill/>
          <a:ln/>
        </p:spPr>
        <p:txBody>
          <a:bodyPr wrap="square" rtlCol="0" anchor="ctr"/>
          <a:lstStyle/>
          <a:p>
            <a:pPr indent="0" marL="0">
              <a:buNone/>
            </a:pPr>
            <a:r>
              <a:rPr lang="en-US" sz="1400" b="1" dirty="0">
                <a:solidFill>
                  <a:srgbClr val="06D6A0"/>
                </a:solidFill>
                <a:latin typeface="Calibri" pitchFamily="34" charset="0"/>
                <a:ea typeface="Calibri" pitchFamily="34" charset="-122"/>
                <a:cs typeface="Calibri" pitchFamily="34" charset="-120"/>
              </a:rPr>
              <a:t>✔ </a:t>
            </a:r>
            <a:pPr indent="0" marL="0">
              <a:buNone/>
            </a:pPr>
            <a:r>
              <a:rPr lang="en-US" sz="1400" dirty="0">
                <a:solidFill>
                  <a:srgbClr val="E8F4FD"/>
                </a:solidFill>
                <a:latin typeface="Calibri" pitchFamily="34" charset="0"/>
                <a:ea typeface="Calibri" pitchFamily="34" charset="-122"/>
                <a:cs typeface="Calibri" pitchFamily="34" charset="-120"/>
              </a:rPr>
              <a:t>Cấu tạo CWRU Test Rig &amp; vị trí cảm biến
</a:t>
            </a:r>
            <a:pPr indent="0" marL="0">
              <a:buNone/>
            </a:pPr>
            <a:r>
              <a:rPr lang="en-US" sz="1400" b="1" dirty="0">
                <a:solidFill>
                  <a:srgbClr val="06D6A0"/>
                </a:solidFill>
                <a:latin typeface="Calibri" pitchFamily="34" charset="0"/>
                <a:ea typeface="Calibri" pitchFamily="34" charset="-122"/>
                <a:cs typeface="Calibri" pitchFamily="34" charset="-120"/>
              </a:rPr>
              <a:t>✔ </a:t>
            </a:r>
            <a:pPr indent="0" marL="0">
              <a:buNone/>
            </a:pPr>
            <a:r>
              <a:rPr lang="en-US" sz="1400" dirty="0">
                <a:solidFill>
                  <a:srgbClr val="E8F4FD"/>
                </a:solidFill>
                <a:latin typeface="Calibri" pitchFamily="34" charset="0"/>
                <a:ea typeface="Calibri" pitchFamily="34" charset="-122"/>
                <a:cs typeface="Calibri" pitchFamily="34" charset="-120"/>
              </a:rPr>
              <a:t>Phân loại 4 trạng thái kỹ thuật của ổ lăn
</a:t>
            </a:r>
            <a:pPr indent="0" marL="0">
              <a:buNone/>
            </a:pPr>
            <a:r>
              <a:rPr lang="en-US" sz="1400" b="1" dirty="0">
                <a:solidFill>
                  <a:srgbClr val="06D6A0"/>
                </a:solidFill>
                <a:latin typeface="Calibri" pitchFamily="34" charset="0"/>
                <a:ea typeface="Calibri" pitchFamily="34" charset="-122"/>
                <a:cs typeface="Calibri" pitchFamily="34" charset="-120"/>
              </a:rPr>
              <a:t>✔ </a:t>
            </a:r>
            <a:pPr indent="0" marL="0">
              <a:buNone/>
            </a:pPr>
            <a:r>
              <a:rPr lang="en-US" sz="1400" dirty="0">
                <a:solidFill>
                  <a:srgbClr val="E8F4FD"/>
                </a:solidFill>
                <a:latin typeface="Calibri" pitchFamily="34" charset="0"/>
                <a:ea typeface="Calibri" pitchFamily="34" charset="-122"/>
                <a:cs typeface="Calibri" pitchFamily="34" charset="-120"/>
              </a:rPr>
              <a:t>Tần số lấy mẫu 12 kHz &amp; mức tải động cơ
</a:t>
            </a:r>
            <a:pPr indent="0" marL="0">
              <a:buNone/>
            </a:pPr>
            <a:r>
              <a:rPr lang="en-US" sz="1400" b="1" dirty="0">
                <a:solidFill>
                  <a:srgbClr val="06D6A0"/>
                </a:solidFill>
                <a:latin typeface="Calibri" pitchFamily="34" charset="0"/>
                <a:ea typeface="Calibri" pitchFamily="34" charset="-122"/>
                <a:cs typeface="Calibri" pitchFamily="34" charset="-120"/>
              </a:rPr>
              <a:t>✔ </a:t>
            </a:r>
            <a:pPr indent="0" marL="0">
              <a:buNone/>
            </a:pPr>
            <a:r>
              <a:rPr lang="en-US" sz="1400" dirty="0">
                <a:solidFill>
                  <a:srgbClr val="E8F4FD"/>
                </a:solidFill>
                <a:latin typeface="Calibri" pitchFamily="34" charset="0"/>
                <a:ea typeface="Calibri" pitchFamily="34" charset="-122"/>
                <a:cs typeface="Calibri" pitchFamily="34" charset="-120"/>
              </a:rPr>
              <a:t>Công thức &amp; tần số đặc trưng lỗi SKF 6205</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4D8"/>
          </a:solidFill>
          <a:ln w="12700">
            <a:solidFill>
              <a:srgbClr val="00B4D8"/>
            </a:solidFill>
            <a:prstDash val="solid"/>
          </a:ln>
        </p:spPr>
      </p:sp>
      <p:sp>
        <p:nvSpPr>
          <p:cNvPr id="3" name="Text 1"/>
          <p:cNvSpPr/>
          <p:nvPr/>
        </p:nvSpPr>
        <p:spPr>
          <a:xfrm>
            <a:off x="365760" y="137160"/>
            <a:ext cx="8412480" cy="50292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CWRU Test Rig &amp; Cảm Biến</a:t>
            </a:r>
            <a:endParaRPr lang="en-US" sz="2000" dirty="0"/>
          </a:p>
        </p:txBody>
      </p:sp>
      <p:sp>
        <p:nvSpPr>
          <p:cNvPr id="4" name="Shape 2"/>
          <p:cNvSpPr/>
          <p:nvPr/>
        </p:nvSpPr>
        <p:spPr>
          <a:xfrm>
            <a:off x="365760" y="658368"/>
            <a:ext cx="8412480" cy="27432"/>
          </a:xfrm>
          <a:prstGeom prst="rect">
            <a:avLst/>
          </a:prstGeom>
          <a:solidFill>
            <a:srgbClr val="0077B6"/>
          </a:solidFill>
          <a:ln w="12700">
            <a:solidFill>
              <a:srgbClr val="0077B6"/>
            </a:solidFill>
            <a:prstDash val="solid"/>
          </a:ln>
        </p:spPr>
      </p:sp>
      <p:pic>
        <p:nvPicPr>
          <p:cNvPr id="5" name="Image 0" descr="preencoded.png">    </p:cNvPr>
          <p:cNvPicPr>
            <a:picLocks noChangeAspect="1"/>
          </p:cNvPicPr>
          <p:nvPr/>
        </p:nvPicPr>
        <p:blipFill>
          <a:blip r:embed="rId1"/>
          <a:srcRect l="0" r="0" t="0" b="0"/>
          <a:stretch/>
        </p:blipFill>
        <p:spPr>
          <a:xfrm>
            <a:off x="365760" y="822960"/>
            <a:ext cx="4114800" cy="2926080"/>
          </a:xfrm>
          <a:prstGeom prst="rect">
            <a:avLst/>
          </a:prstGeom>
        </p:spPr>
      </p:pic>
      <p:sp>
        <p:nvSpPr>
          <p:cNvPr id="6" name="Shape 3"/>
          <p:cNvSpPr/>
          <p:nvPr/>
        </p:nvSpPr>
        <p:spPr>
          <a:xfrm>
            <a:off x="4663440" y="822960"/>
            <a:ext cx="4114800" cy="1280160"/>
          </a:xfrm>
          <a:prstGeom prst="rect">
            <a:avLst/>
          </a:prstGeom>
          <a:solidFill>
            <a:srgbClr val="112233"/>
          </a:solidFill>
          <a:ln w="12700">
            <a:solidFill>
              <a:srgbClr val="0077B6"/>
            </a:solidFill>
            <a:prstDash val="solid"/>
          </a:ln>
        </p:spPr>
      </p:sp>
      <p:sp>
        <p:nvSpPr>
          <p:cNvPr id="7" name="Text 4"/>
          <p:cNvSpPr/>
          <p:nvPr/>
        </p:nvSpPr>
        <p:spPr>
          <a:xfrm>
            <a:off x="4754880" y="841248"/>
            <a:ext cx="3931920" cy="274320"/>
          </a:xfrm>
          <a:prstGeom prst="rect">
            <a:avLst/>
          </a:prstGeom>
          <a:noFill/>
          <a:ln/>
        </p:spPr>
        <p:txBody>
          <a:bodyPr wrap="square" rtlCol="0" anchor="ctr"/>
          <a:lstStyle/>
          <a:p>
            <a:pPr indent="0" marL="0">
              <a:buNone/>
            </a:pPr>
            <a:r>
              <a:rPr lang="en-US" sz="1200" b="1" dirty="0">
                <a:solidFill>
                  <a:srgbClr val="00B4D8"/>
                </a:solidFill>
                <a:latin typeface="Calibri" pitchFamily="34" charset="0"/>
                <a:ea typeface="Calibri" pitchFamily="34" charset="-122"/>
                <a:cs typeface="Calibri" pitchFamily="34" charset="-120"/>
              </a:rPr>
              <a:t>🛠️  Cấu trúc bệ thử</a:t>
            </a:r>
            <a:endParaRPr lang="en-US" sz="1200" dirty="0"/>
          </a:p>
        </p:txBody>
      </p:sp>
      <p:sp>
        <p:nvSpPr>
          <p:cNvPr id="8" name="Text 5"/>
          <p:cNvSpPr/>
          <p:nvPr/>
        </p:nvSpPr>
        <p:spPr>
          <a:xfrm>
            <a:off x="4754880" y="1143000"/>
            <a:ext cx="3931920" cy="868680"/>
          </a:xfrm>
          <a:prstGeom prst="rect">
            <a:avLst/>
          </a:prstGeom>
          <a:noFill/>
          <a:ln/>
        </p:spPr>
        <p:txBody>
          <a:bodyPr wrap="square" rtlCol="0" anchor="ctr"/>
          <a:lstStyle/>
          <a:p>
            <a:pPr indent="0" marL="0">
              <a:buNone/>
            </a:pPr>
            <a:r>
              <a:rPr lang="en-US" sz="1100" dirty="0">
                <a:solidFill>
                  <a:srgbClr val="E8F4FD"/>
                </a:solidFill>
                <a:latin typeface="Calibri" pitchFamily="34" charset="0"/>
                <a:ea typeface="Calibri" pitchFamily="34" charset="-122"/>
                <a:cs typeface="Calibri" pitchFamily="34" charset="-120"/>
              </a:rPr>
              <a:t>• Động cơ 2 HP, tốc độ ~1720–1797 RPM
</a:t>
            </a:r>
            <a:pPr indent="0" marL="0">
              <a:buNone/>
            </a:pPr>
            <a:r>
              <a:rPr lang="en-US" sz="1100" dirty="0">
                <a:solidFill>
                  <a:srgbClr val="E8F4FD"/>
                </a:solidFill>
                <a:latin typeface="Calibri" pitchFamily="34" charset="0"/>
                <a:ea typeface="Calibri" pitchFamily="34" charset="-122"/>
                <a:cs typeface="Calibri" pitchFamily="34" charset="-120"/>
              </a:rPr>
              <a:t>• Ổ lăn thử SKF 6205-2RS (Drive End)
</a:t>
            </a:r>
            <a:pPr indent="0" marL="0">
              <a:buNone/>
            </a:pPr>
            <a:r>
              <a:rPr lang="en-US" sz="1100" dirty="0">
                <a:solidFill>
                  <a:srgbClr val="E8F4FD"/>
                </a:solidFill>
                <a:latin typeface="Calibri" pitchFamily="34" charset="0"/>
                <a:ea typeface="Calibri" pitchFamily="34" charset="-122"/>
                <a:cs typeface="Calibri" pitchFamily="34" charset="-120"/>
              </a:rPr>
              <a:t>• Khuyết tật nhân tạo EDM: 7, 14, 21 mils
</a:t>
            </a:r>
            <a:pPr indent="0" marL="0">
              <a:buNone/>
            </a:pPr>
            <a:r>
              <a:rPr lang="en-US" sz="1100" dirty="0">
                <a:solidFill>
                  <a:srgbClr val="E8F4FD"/>
                </a:solidFill>
                <a:latin typeface="Calibri" pitchFamily="34" charset="0"/>
                <a:ea typeface="Calibri" pitchFamily="34" charset="-122"/>
                <a:cs typeface="Calibri" pitchFamily="34" charset="-120"/>
              </a:rPr>
              <a:t>• Tải 0–3 HP qua Dynamometer</a:t>
            </a:r>
            <a:endParaRPr lang="en-US" sz="1100" dirty="0"/>
          </a:p>
        </p:txBody>
      </p:sp>
      <p:sp>
        <p:nvSpPr>
          <p:cNvPr id="9" name="Shape 6"/>
          <p:cNvSpPr/>
          <p:nvPr/>
        </p:nvSpPr>
        <p:spPr>
          <a:xfrm>
            <a:off x="4663440" y="2194560"/>
            <a:ext cx="4114800" cy="1463040"/>
          </a:xfrm>
          <a:prstGeom prst="rect">
            <a:avLst/>
          </a:prstGeom>
          <a:solidFill>
            <a:srgbClr val="112233"/>
          </a:solidFill>
          <a:ln w="12700">
            <a:solidFill>
              <a:srgbClr val="0077B6"/>
            </a:solidFill>
            <a:prstDash val="solid"/>
          </a:ln>
        </p:spPr>
      </p:sp>
      <p:sp>
        <p:nvSpPr>
          <p:cNvPr id="10" name="Shape 7"/>
          <p:cNvSpPr/>
          <p:nvPr/>
        </p:nvSpPr>
        <p:spPr>
          <a:xfrm>
            <a:off x="4663440" y="2194560"/>
            <a:ext cx="4114800" cy="320040"/>
          </a:xfrm>
          <a:prstGeom prst="rect">
            <a:avLst/>
          </a:prstGeom>
          <a:solidFill>
            <a:srgbClr val="0077B6"/>
          </a:solidFill>
          <a:ln w="12700">
            <a:solidFill>
              <a:srgbClr val="0077B6"/>
            </a:solidFill>
            <a:prstDash val="solid"/>
          </a:ln>
        </p:spPr>
      </p:sp>
      <p:sp>
        <p:nvSpPr>
          <p:cNvPr id="11" name="Text 8"/>
          <p:cNvSpPr/>
          <p:nvPr/>
        </p:nvSpPr>
        <p:spPr>
          <a:xfrm>
            <a:off x="4754880" y="2212848"/>
            <a:ext cx="3931920" cy="29260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Vị trí cảm biến</a:t>
            </a:r>
            <a:endParaRPr lang="en-US" sz="1100" dirty="0"/>
          </a:p>
        </p:txBody>
      </p:sp>
      <p:sp>
        <p:nvSpPr>
          <p:cNvPr id="12" name="Text 9"/>
          <p:cNvSpPr/>
          <p:nvPr/>
        </p:nvSpPr>
        <p:spPr>
          <a:xfrm>
            <a:off x="4736592" y="2578608"/>
            <a:ext cx="3968496" cy="1024128"/>
          </a:xfrm>
          <a:prstGeom prst="rect">
            <a:avLst/>
          </a:prstGeom>
          <a:noFill/>
          <a:ln/>
        </p:spPr>
        <p:txBody>
          <a:bodyPr wrap="square" rtlCol="0" anchor="t"/>
          <a:lstStyle/>
          <a:p>
            <a:pPr marL="342900" indent="-342900">
              <a:buSzPct val="100000"/>
              <a:buChar char="•"/>
            </a:pPr>
            <a:r>
              <a:rPr lang="en-US" sz="1100" dirty="0">
                <a:solidFill>
                  <a:srgbClr val="E8F4FD"/>
                </a:solidFill>
                <a:latin typeface="Calibri" pitchFamily="34" charset="0"/>
                <a:ea typeface="Calibri" pitchFamily="34" charset="-122"/>
                <a:cs typeface="Calibri" pitchFamily="34" charset="-120"/>
              </a:rPr>
              <a:t>DE (Drive End): Thu thập tín hiệu chính</a:t>
            </a:r>
            <a:endParaRPr lang="en-US" sz="1100" dirty="0"/>
          </a:p>
          <a:p>
            <a:pPr marL="342900" indent="-342900">
              <a:buSzPct val="100000"/>
              <a:buChar char="•"/>
            </a:pPr>
            <a:r>
              <a:rPr lang="en-US" sz="1100" dirty="0">
                <a:solidFill>
                  <a:srgbClr val="E8F4FD"/>
                </a:solidFill>
                <a:latin typeface="Calibri" pitchFamily="34" charset="0"/>
                <a:ea typeface="Calibri" pitchFamily="34" charset="-122"/>
                <a:cs typeface="Calibri" pitchFamily="34" charset="-120"/>
              </a:rPr>
              <a:t>FE (Fan End): Tín hiệu tham chiếu chéo</a:t>
            </a:r>
            <a:endParaRPr lang="en-US" sz="1100" dirty="0"/>
          </a:p>
          <a:p>
            <a:pPr marL="342900" indent="-342900">
              <a:buSzPct val="100000"/>
              <a:buChar char="•"/>
            </a:pPr>
            <a:r>
              <a:rPr lang="en-US" sz="1100" dirty="0">
                <a:solidFill>
                  <a:srgbClr val="E8F4FD"/>
                </a:solidFill>
                <a:latin typeface="Calibri" pitchFamily="34" charset="0"/>
                <a:ea typeface="Calibri" pitchFamily="34" charset="-122"/>
                <a:cs typeface="Calibri" pitchFamily="34" charset="-120"/>
              </a:rPr>
              <a:t>BA (Base): Giám sát dao động nền bệ đỡ</a:t>
            </a:r>
            <a:endParaRPr lang="en-US" sz="1100" dirty="0"/>
          </a:p>
        </p:txBody>
      </p:sp>
      <p:sp>
        <p:nvSpPr>
          <p:cNvPr id="13" name="Shape 10"/>
          <p:cNvSpPr/>
          <p:nvPr/>
        </p:nvSpPr>
        <p:spPr>
          <a:xfrm>
            <a:off x="365760" y="3794760"/>
            <a:ext cx="8412480" cy="548640"/>
          </a:xfrm>
          <a:prstGeom prst="rect">
            <a:avLst/>
          </a:prstGeom>
          <a:solidFill>
            <a:srgbClr val="112233"/>
          </a:solidFill>
          <a:ln w="12700">
            <a:solidFill>
              <a:srgbClr val="FFD166"/>
            </a:solidFill>
            <a:prstDash val="solid"/>
          </a:ln>
        </p:spPr>
      </p:sp>
      <p:sp>
        <p:nvSpPr>
          <p:cNvPr id="14" name="Text 11"/>
          <p:cNvSpPr/>
          <p:nvPr/>
        </p:nvSpPr>
        <p:spPr>
          <a:xfrm>
            <a:off x="502920" y="3822192"/>
            <a:ext cx="8229600" cy="493776"/>
          </a:xfrm>
          <a:prstGeom prst="rect">
            <a:avLst/>
          </a:prstGeom>
          <a:noFill/>
          <a:ln/>
        </p:spPr>
        <p:txBody>
          <a:bodyPr wrap="square" rtlCol="0" anchor="ctr"/>
          <a:lstStyle/>
          <a:p>
            <a:pPr indent="0" marL="0">
              <a:buNone/>
            </a:pPr>
            <a:r>
              <a:rPr lang="en-US" sz="1100" i="1" dirty="0">
                <a:solidFill>
                  <a:srgbClr val="FFD166"/>
                </a:solidFill>
                <a:latin typeface="Calibri" pitchFamily="34" charset="0"/>
                <a:ea typeface="Calibri" pitchFamily="34" charset="-122"/>
                <a:cs typeface="Calibri" pitchFamily="34" charset="-120"/>
              </a:rPr>
              <a:t>💡  Vị trí đặt cảm biến đúng kỹ thuật quan trọng hơn việc tinh chỉnh mô hình toán học. Cảm biến DE nằm trực tiếp trên đường truyền dao động → tỷ số SNR tối ưu.</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4D8"/>
          </a:solidFill>
          <a:ln w="12700">
            <a:solidFill>
              <a:srgbClr val="00B4D8"/>
            </a:solidFill>
            <a:prstDash val="solid"/>
          </a:ln>
        </p:spPr>
      </p:sp>
      <p:sp>
        <p:nvSpPr>
          <p:cNvPr id="3" name="Text 1"/>
          <p:cNvSpPr/>
          <p:nvPr/>
        </p:nvSpPr>
        <p:spPr>
          <a:xfrm>
            <a:off x="365760" y="137160"/>
            <a:ext cx="8412480" cy="50292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4 Trạng Thái Ổ Lăn — Vị Trí Khuyết Tật Vật Lý</a:t>
            </a:r>
            <a:endParaRPr lang="en-US" sz="2000" dirty="0"/>
          </a:p>
        </p:txBody>
      </p:sp>
      <p:sp>
        <p:nvSpPr>
          <p:cNvPr id="4" name="Shape 2"/>
          <p:cNvSpPr/>
          <p:nvPr/>
        </p:nvSpPr>
        <p:spPr>
          <a:xfrm>
            <a:off x="365760" y="658368"/>
            <a:ext cx="8412480" cy="27432"/>
          </a:xfrm>
          <a:prstGeom prst="rect">
            <a:avLst/>
          </a:prstGeom>
          <a:solidFill>
            <a:srgbClr val="0077B6"/>
          </a:solidFill>
          <a:ln w="12700">
            <a:solidFill>
              <a:srgbClr val="0077B6"/>
            </a:solidFill>
            <a:prstDash val="solid"/>
          </a:ln>
        </p:spPr>
      </p:sp>
      <p:pic>
        <p:nvPicPr>
          <p:cNvPr id="5" name="Image 0" descr="preencoded.png">    </p:cNvPr>
          <p:cNvPicPr>
            <a:picLocks noChangeAspect="1"/>
          </p:cNvPicPr>
          <p:nvPr/>
        </p:nvPicPr>
        <p:blipFill>
          <a:blip r:embed="rId1"/>
          <a:srcRect l="0" r="0" t="0" b="0"/>
          <a:stretch/>
        </p:blipFill>
        <p:spPr>
          <a:xfrm>
            <a:off x="274320" y="777240"/>
            <a:ext cx="2926080" cy="4023360"/>
          </a:xfrm>
          <a:prstGeom prst="rect">
            <a:avLst/>
          </a:prstGeom>
        </p:spPr>
      </p:pic>
      <p:sp>
        <p:nvSpPr>
          <p:cNvPr id="6" name="Shape 3"/>
          <p:cNvSpPr/>
          <p:nvPr/>
        </p:nvSpPr>
        <p:spPr>
          <a:xfrm>
            <a:off x="3337560" y="804672"/>
            <a:ext cx="5440680" cy="868680"/>
          </a:xfrm>
          <a:prstGeom prst="rect">
            <a:avLst/>
          </a:prstGeom>
          <a:solidFill>
            <a:srgbClr val="063D2A"/>
          </a:solidFill>
          <a:ln w="12700">
            <a:solidFill>
              <a:srgbClr val="0077B6"/>
            </a:solidFill>
            <a:prstDash val="solid"/>
          </a:ln>
        </p:spPr>
      </p:sp>
      <p:sp>
        <p:nvSpPr>
          <p:cNvPr id="7" name="Text 4"/>
          <p:cNvSpPr/>
          <p:nvPr/>
        </p:nvSpPr>
        <p:spPr>
          <a:xfrm>
            <a:off x="3429000" y="850392"/>
            <a:ext cx="5257800" cy="29260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Normal</a:t>
            </a:r>
            <a:endParaRPr lang="en-US" sz="1300" dirty="0"/>
          </a:p>
        </p:txBody>
      </p:sp>
      <p:sp>
        <p:nvSpPr>
          <p:cNvPr id="8" name="Text 5"/>
          <p:cNvSpPr/>
          <p:nvPr/>
        </p:nvSpPr>
        <p:spPr>
          <a:xfrm>
            <a:off x="3429000" y="1152144"/>
            <a:ext cx="5257800" cy="457200"/>
          </a:xfrm>
          <a:prstGeom prst="rect">
            <a:avLst/>
          </a:prstGeom>
          <a:noFill/>
          <a:ln/>
        </p:spPr>
        <p:txBody>
          <a:bodyPr wrap="square" rtlCol="0" anchor="ctr"/>
          <a:lstStyle/>
          <a:p>
            <a:pPr indent="0" marL="0">
              <a:buNone/>
            </a:pPr>
            <a:r>
              <a:rPr lang="en-US" sz="1100" dirty="0">
                <a:solidFill>
                  <a:srgbClr val="E8F4FD"/>
                </a:solidFill>
                <a:latin typeface="Calibri" pitchFamily="34" charset="0"/>
                <a:ea typeface="Calibri" pitchFamily="34" charset="-122"/>
                <a:cs typeface="Calibri" pitchFamily="34" charset="-120"/>
              </a:rPr>
              <a:t>Biên độ cực nhỏ (&lt;0.2g), tín hiệu phẳng, không có xung bất thường.</a:t>
            </a:r>
            <a:endParaRPr lang="en-US" sz="1100" dirty="0"/>
          </a:p>
        </p:txBody>
      </p:sp>
      <p:sp>
        <p:nvSpPr>
          <p:cNvPr id="9" name="Shape 6"/>
          <p:cNvSpPr/>
          <p:nvPr/>
        </p:nvSpPr>
        <p:spPr>
          <a:xfrm>
            <a:off x="3337560" y="1764792"/>
            <a:ext cx="5440680" cy="868680"/>
          </a:xfrm>
          <a:prstGeom prst="rect">
            <a:avLst/>
          </a:prstGeom>
          <a:solidFill>
            <a:srgbClr val="0A2A50"/>
          </a:solidFill>
          <a:ln w="12700">
            <a:solidFill>
              <a:srgbClr val="0077B6"/>
            </a:solidFill>
            <a:prstDash val="solid"/>
          </a:ln>
        </p:spPr>
      </p:sp>
      <p:sp>
        <p:nvSpPr>
          <p:cNvPr id="10" name="Text 7"/>
          <p:cNvSpPr/>
          <p:nvPr/>
        </p:nvSpPr>
        <p:spPr>
          <a:xfrm>
            <a:off x="3429000" y="1810512"/>
            <a:ext cx="5257800" cy="29260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Lỗi rãnh ngoài (OR)</a:t>
            </a:r>
            <a:endParaRPr lang="en-US" sz="1300" dirty="0"/>
          </a:p>
        </p:txBody>
      </p:sp>
      <p:sp>
        <p:nvSpPr>
          <p:cNvPr id="11" name="Text 8"/>
          <p:cNvSpPr/>
          <p:nvPr/>
        </p:nvSpPr>
        <p:spPr>
          <a:xfrm>
            <a:off x="3429000" y="2112264"/>
            <a:ext cx="5257800" cy="457200"/>
          </a:xfrm>
          <a:prstGeom prst="rect">
            <a:avLst/>
          </a:prstGeom>
          <a:noFill/>
          <a:ln/>
        </p:spPr>
        <p:txBody>
          <a:bodyPr wrap="square" rtlCol="0" anchor="ctr"/>
          <a:lstStyle/>
          <a:p>
            <a:pPr indent="0" marL="0">
              <a:buNone/>
            </a:pPr>
            <a:r>
              <a:rPr lang="en-US" sz="1100" dirty="0">
                <a:solidFill>
                  <a:srgbClr val="E8F4FD"/>
                </a:solidFill>
                <a:latin typeface="Calibri" pitchFamily="34" charset="0"/>
                <a:ea typeface="Calibri" pitchFamily="34" charset="-122"/>
                <a:cs typeface="Calibri" pitchFamily="34" charset="-120"/>
              </a:rPr>
              <a:t>Xung va đập mạnh, chu kỳ cực kỳ ổn định (vị trí cố định).</a:t>
            </a:r>
            <a:endParaRPr lang="en-US" sz="1100" dirty="0"/>
          </a:p>
        </p:txBody>
      </p:sp>
      <p:sp>
        <p:nvSpPr>
          <p:cNvPr id="12" name="Shape 9"/>
          <p:cNvSpPr/>
          <p:nvPr/>
        </p:nvSpPr>
        <p:spPr>
          <a:xfrm>
            <a:off x="3337560" y="2724912"/>
            <a:ext cx="5440680" cy="868680"/>
          </a:xfrm>
          <a:prstGeom prst="rect">
            <a:avLst/>
          </a:prstGeom>
          <a:solidFill>
            <a:srgbClr val="3D2A00"/>
          </a:solidFill>
          <a:ln w="12700">
            <a:solidFill>
              <a:srgbClr val="0077B6"/>
            </a:solidFill>
            <a:prstDash val="solid"/>
          </a:ln>
        </p:spPr>
      </p:sp>
      <p:sp>
        <p:nvSpPr>
          <p:cNvPr id="13" name="Text 10"/>
          <p:cNvSpPr/>
          <p:nvPr/>
        </p:nvSpPr>
        <p:spPr>
          <a:xfrm>
            <a:off x="3429000" y="2770632"/>
            <a:ext cx="5257800" cy="29260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Lỗi rãnh trong (IR)</a:t>
            </a:r>
            <a:endParaRPr lang="en-US" sz="1300" dirty="0"/>
          </a:p>
        </p:txBody>
      </p:sp>
      <p:sp>
        <p:nvSpPr>
          <p:cNvPr id="14" name="Text 11"/>
          <p:cNvSpPr/>
          <p:nvPr/>
        </p:nvSpPr>
        <p:spPr>
          <a:xfrm>
            <a:off x="3429000" y="3072384"/>
            <a:ext cx="5257800" cy="457200"/>
          </a:xfrm>
          <a:prstGeom prst="rect">
            <a:avLst/>
          </a:prstGeom>
          <a:noFill/>
          <a:ln/>
        </p:spPr>
        <p:txBody>
          <a:bodyPr wrap="square" rtlCol="0" anchor="ctr"/>
          <a:lstStyle/>
          <a:p>
            <a:pPr indent="0" marL="0">
              <a:buNone/>
            </a:pPr>
            <a:r>
              <a:rPr lang="en-US" sz="1100" dirty="0">
                <a:solidFill>
                  <a:srgbClr val="E8F4FD"/>
                </a:solidFill>
                <a:latin typeface="Calibri" pitchFamily="34" charset="0"/>
                <a:ea typeface="Calibri" pitchFamily="34" charset="-122"/>
                <a:cs typeface="Calibri" pitchFamily="34" charset="-120"/>
              </a:rPr>
              <a:t>Xung bị điều chế biên độ (phình to/nhỏ) theo chu kỳ quay trục.</a:t>
            </a:r>
            <a:endParaRPr lang="en-US" sz="1100" dirty="0"/>
          </a:p>
        </p:txBody>
      </p:sp>
      <p:sp>
        <p:nvSpPr>
          <p:cNvPr id="15" name="Shape 12"/>
          <p:cNvSpPr/>
          <p:nvPr/>
        </p:nvSpPr>
        <p:spPr>
          <a:xfrm>
            <a:off x="3337560" y="3685032"/>
            <a:ext cx="5440680" cy="868680"/>
          </a:xfrm>
          <a:prstGeom prst="rect">
            <a:avLst/>
          </a:prstGeom>
          <a:solidFill>
            <a:srgbClr val="3D0A1A"/>
          </a:solidFill>
          <a:ln w="12700">
            <a:solidFill>
              <a:srgbClr val="0077B6"/>
            </a:solidFill>
            <a:prstDash val="solid"/>
          </a:ln>
        </p:spPr>
      </p:sp>
      <p:sp>
        <p:nvSpPr>
          <p:cNvPr id="16" name="Text 13"/>
          <p:cNvSpPr/>
          <p:nvPr/>
        </p:nvSpPr>
        <p:spPr>
          <a:xfrm>
            <a:off x="3429000" y="3730752"/>
            <a:ext cx="5257800" cy="29260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Lỗi viên bi (Ball)</a:t>
            </a:r>
            <a:endParaRPr lang="en-US" sz="1300" dirty="0"/>
          </a:p>
        </p:txBody>
      </p:sp>
      <p:sp>
        <p:nvSpPr>
          <p:cNvPr id="17" name="Text 14"/>
          <p:cNvSpPr/>
          <p:nvPr/>
        </p:nvSpPr>
        <p:spPr>
          <a:xfrm>
            <a:off x="3429000" y="4032504"/>
            <a:ext cx="5257800" cy="457200"/>
          </a:xfrm>
          <a:prstGeom prst="rect">
            <a:avLst/>
          </a:prstGeom>
          <a:noFill/>
          <a:ln/>
        </p:spPr>
        <p:txBody>
          <a:bodyPr wrap="square" rtlCol="0" anchor="ctr"/>
          <a:lstStyle/>
          <a:p>
            <a:pPr indent="0" marL="0">
              <a:buNone/>
            </a:pPr>
            <a:r>
              <a:rPr lang="en-US" sz="1100" dirty="0">
                <a:solidFill>
                  <a:srgbClr val="E8F4FD"/>
                </a:solidFill>
                <a:latin typeface="Calibri" pitchFamily="34" charset="0"/>
                <a:ea typeface="Calibri" pitchFamily="34" charset="-122"/>
                <a:cs typeface="Calibri" pitchFamily="34" charset="-120"/>
              </a:rPr>
              <a:t>Va đập đa hướng, phức tạp, khó nhận biết nhất.</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4D8"/>
          </a:solidFill>
          <a:ln w="12700">
            <a:solidFill>
              <a:srgbClr val="00B4D8"/>
            </a:solidFill>
            <a:prstDash val="solid"/>
          </a:ln>
        </p:spPr>
      </p:sp>
      <p:sp>
        <p:nvSpPr>
          <p:cNvPr id="3" name="Text 1"/>
          <p:cNvSpPr/>
          <p:nvPr/>
        </p:nvSpPr>
        <p:spPr>
          <a:xfrm>
            <a:off x="365760" y="137160"/>
            <a:ext cx="8412480" cy="50292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Tần Số Đặc Trưng Lỗi — SKF 6205 (1797 RPM)</a:t>
            </a:r>
            <a:endParaRPr lang="en-US" sz="2000" dirty="0"/>
          </a:p>
        </p:txBody>
      </p:sp>
      <p:sp>
        <p:nvSpPr>
          <p:cNvPr id="4" name="Shape 2"/>
          <p:cNvSpPr/>
          <p:nvPr/>
        </p:nvSpPr>
        <p:spPr>
          <a:xfrm>
            <a:off x="365760" y="658368"/>
            <a:ext cx="8412480" cy="27432"/>
          </a:xfrm>
          <a:prstGeom prst="rect">
            <a:avLst/>
          </a:prstGeom>
          <a:solidFill>
            <a:srgbClr val="0077B6"/>
          </a:solidFill>
          <a:ln w="12700">
            <a:solidFill>
              <a:srgbClr val="0077B6"/>
            </a:solidFill>
            <a:prstDash val="solid"/>
          </a:ln>
        </p:spPr>
      </p:sp>
      <p:sp>
        <p:nvSpPr>
          <p:cNvPr id="5" name="Text 3"/>
          <p:cNvSpPr/>
          <p:nvPr/>
        </p:nvSpPr>
        <p:spPr>
          <a:xfrm>
            <a:off x="365760" y="749808"/>
            <a:ext cx="8412480" cy="320040"/>
          </a:xfrm>
          <a:prstGeom prst="rect">
            <a:avLst/>
          </a:prstGeom>
          <a:noFill/>
          <a:ln/>
        </p:spPr>
        <p:txBody>
          <a:bodyPr wrap="square" rtlCol="0" anchor="ctr"/>
          <a:lstStyle/>
          <a:p>
            <a:pPr indent="0" marL="0">
              <a:buNone/>
            </a:pPr>
            <a:r>
              <a:rPr lang="en-US" sz="1300" dirty="0">
                <a:solidFill>
                  <a:srgbClr val="8BAFC7"/>
                </a:solidFill>
                <a:latin typeface="Calibri" pitchFamily="34" charset="0"/>
                <a:ea typeface="Calibri" pitchFamily="34" charset="-122"/>
                <a:cs typeface="Calibri" pitchFamily="34" charset="-120"/>
              </a:rPr>
              <a:t>Mỗi dạng khuyết tật có một "dấu vân tay" tần số riêng, tính từ thông số hình học ổ lăn:</a:t>
            </a:r>
            <a:endParaRPr lang="en-US" sz="1300" dirty="0"/>
          </a:p>
        </p:txBody>
      </p:sp>
      <p:sp>
        <p:nvSpPr>
          <p:cNvPr id="6" name="Shape 4"/>
          <p:cNvSpPr/>
          <p:nvPr/>
        </p:nvSpPr>
        <p:spPr>
          <a:xfrm>
            <a:off x="274320" y="1188720"/>
            <a:ext cx="2011680" cy="2011680"/>
          </a:xfrm>
          <a:prstGeom prst="rect">
            <a:avLst/>
          </a:prstGeom>
          <a:solidFill>
            <a:srgbClr val="112233"/>
          </a:solidFill>
          <a:ln w="25400">
            <a:solidFill>
              <a:srgbClr val="EF476F"/>
            </a:solidFill>
            <a:prstDash val="solid"/>
          </a:ln>
        </p:spPr>
      </p:sp>
      <p:sp>
        <p:nvSpPr>
          <p:cNvPr id="7" name="Shape 5"/>
          <p:cNvSpPr/>
          <p:nvPr/>
        </p:nvSpPr>
        <p:spPr>
          <a:xfrm>
            <a:off x="274320" y="1188720"/>
            <a:ext cx="2011680" cy="384048"/>
          </a:xfrm>
          <a:prstGeom prst="rect">
            <a:avLst/>
          </a:prstGeom>
          <a:solidFill>
            <a:srgbClr val="EF476F"/>
          </a:solidFill>
          <a:ln w="12700">
            <a:solidFill>
              <a:srgbClr val="EF476F"/>
            </a:solidFill>
            <a:prstDash val="solid"/>
          </a:ln>
        </p:spPr>
      </p:sp>
      <p:sp>
        <p:nvSpPr>
          <p:cNvPr id="8" name="Text 6"/>
          <p:cNvSpPr/>
          <p:nvPr/>
        </p:nvSpPr>
        <p:spPr>
          <a:xfrm>
            <a:off x="320040" y="1207008"/>
            <a:ext cx="1920240" cy="347472"/>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BPFO</a:t>
            </a:r>
            <a:endParaRPr lang="en-US" sz="1600" dirty="0"/>
          </a:p>
        </p:txBody>
      </p:sp>
      <p:sp>
        <p:nvSpPr>
          <p:cNvPr id="9" name="Text 7"/>
          <p:cNvSpPr/>
          <p:nvPr/>
        </p:nvSpPr>
        <p:spPr>
          <a:xfrm>
            <a:off x="347472" y="1645920"/>
            <a:ext cx="1865376" cy="365760"/>
          </a:xfrm>
          <a:prstGeom prst="rect">
            <a:avLst/>
          </a:prstGeom>
          <a:noFill/>
          <a:ln/>
        </p:spPr>
        <p:txBody>
          <a:bodyPr wrap="square" rtlCol="0" anchor="ctr"/>
          <a:lstStyle/>
          <a:p>
            <a:pPr algn="ctr" indent="0" marL="0">
              <a:buNone/>
            </a:pPr>
            <a:r>
              <a:rPr lang="en-US" sz="1100" dirty="0">
                <a:solidFill>
                  <a:srgbClr val="E8F4FD"/>
                </a:solidFill>
                <a:latin typeface="Calibri" pitchFamily="34" charset="0"/>
                <a:ea typeface="Calibri" pitchFamily="34" charset="-122"/>
                <a:cs typeface="Calibri" pitchFamily="34" charset="-120"/>
              </a:rPr>
              <a:t>Lỗi rãnh ngoài</a:t>
            </a:r>
            <a:endParaRPr lang="en-US" sz="1100" dirty="0"/>
          </a:p>
        </p:txBody>
      </p:sp>
      <p:sp>
        <p:nvSpPr>
          <p:cNvPr id="10" name="Text 8"/>
          <p:cNvSpPr/>
          <p:nvPr/>
        </p:nvSpPr>
        <p:spPr>
          <a:xfrm>
            <a:off x="320040" y="2057400"/>
            <a:ext cx="1920240" cy="457200"/>
          </a:xfrm>
          <a:prstGeom prst="rect">
            <a:avLst/>
          </a:prstGeom>
          <a:noFill/>
          <a:ln/>
        </p:spPr>
        <p:txBody>
          <a:bodyPr wrap="square" rtlCol="0" anchor="ctr"/>
          <a:lstStyle/>
          <a:p>
            <a:pPr algn="ctr" indent="0" marL="0">
              <a:buNone/>
            </a:pPr>
            <a:r>
              <a:rPr lang="en-US" sz="2000" b="1" dirty="0">
                <a:solidFill>
                  <a:srgbClr val="EF476F"/>
                </a:solidFill>
                <a:latin typeface="Calibri" pitchFamily="34" charset="0"/>
                <a:ea typeface="Calibri" pitchFamily="34" charset="-122"/>
                <a:cs typeface="Calibri" pitchFamily="34" charset="-120"/>
              </a:rPr>
              <a:t>≈ 107 Hz</a:t>
            </a:r>
            <a:endParaRPr lang="en-US" sz="2000" dirty="0"/>
          </a:p>
        </p:txBody>
      </p:sp>
      <p:sp>
        <p:nvSpPr>
          <p:cNvPr id="11" name="Text 9"/>
          <p:cNvSpPr/>
          <p:nvPr/>
        </p:nvSpPr>
        <p:spPr>
          <a:xfrm>
            <a:off x="320040" y="2542032"/>
            <a:ext cx="1920240" cy="274320"/>
          </a:xfrm>
          <a:prstGeom prst="rect">
            <a:avLst/>
          </a:prstGeom>
          <a:noFill/>
          <a:ln/>
        </p:spPr>
        <p:txBody>
          <a:bodyPr wrap="square" rtlCol="0" anchor="ctr"/>
          <a:lstStyle/>
          <a:p>
            <a:pPr algn="ctr" indent="0" marL="0">
              <a:buNone/>
            </a:pPr>
            <a:r>
              <a:rPr lang="en-US" sz="1000" i="1" dirty="0">
                <a:solidFill>
                  <a:srgbClr val="8BAFC7"/>
                </a:solidFill>
                <a:latin typeface="Calibri" pitchFamily="34" charset="0"/>
                <a:ea typeface="Calibri" pitchFamily="34" charset="-122"/>
                <a:cs typeface="Calibri" pitchFamily="34" charset="-120"/>
              </a:rPr>
              <a:t>3.585 × fr</a:t>
            </a:r>
            <a:endParaRPr lang="en-US" sz="1000" dirty="0"/>
          </a:p>
        </p:txBody>
      </p:sp>
      <p:sp>
        <p:nvSpPr>
          <p:cNvPr id="12" name="Shape 10"/>
          <p:cNvSpPr/>
          <p:nvPr/>
        </p:nvSpPr>
        <p:spPr>
          <a:xfrm>
            <a:off x="2423160" y="1188720"/>
            <a:ext cx="2011680" cy="2011680"/>
          </a:xfrm>
          <a:prstGeom prst="rect">
            <a:avLst/>
          </a:prstGeom>
          <a:solidFill>
            <a:srgbClr val="112233"/>
          </a:solidFill>
          <a:ln w="25400">
            <a:solidFill>
              <a:srgbClr val="00B4D8"/>
            </a:solidFill>
            <a:prstDash val="solid"/>
          </a:ln>
        </p:spPr>
      </p:sp>
      <p:sp>
        <p:nvSpPr>
          <p:cNvPr id="13" name="Shape 11"/>
          <p:cNvSpPr/>
          <p:nvPr/>
        </p:nvSpPr>
        <p:spPr>
          <a:xfrm>
            <a:off x="2423160" y="1188720"/>
            <a:ext cx="2011680" cy="384048"/>
          </a:xfrm>
          <a:prstGeom prst="rect">
            <a:avLst/>
          </a:prstGeom>
          <a:solidFill>
            <a:srgbClr val="00B4D8"/>
          </a:solidFill>
          <a:ln w="12700">
            <a:solidFill>
              <a:srgbClr val="00B4D8"/>
            </a:solidFill>
            <a:prstDash val="solid"/>
          </a:ln>
        </p:spPr>
      </p:sp>
      <p:sp>
        <p:nvSpPr>
          <p:cNvPr id="14" name="Text 12"/>
          <p:cNvSpPr/>
          <p:nvPr/>
        </p:nvSpPr>
        <p:spPr>
          <a:xfrm>
            <a:off x="2468880" y="1207008"/>
            <a:ext cx="1920240" cy="347472"/>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BPFI</a:t>
            </a:r>
            <a:endParaRPr lang="en-US" sz="1600" dirty="0"/>
          </a:p>
        </p:txBody>
      </p:sp>
      <p:sp>
        <p:nvSpPr>
          <p:cNvPr id="15" name="Text 13"/>
          <p:cNvSpPr/>
          <p:nvPr/>
        </p:nvSpPr>
        <p:spPr>
          <a:xfrm>
            <a:off x="2496312" y="1645920"/>
            <a:ext cx="1865376" cy="365760"/>
          </a:xfrm>
          <a:prstGeom prst="rect">
            <a:avLst/>
          </a:prstGeom>
          <a:noFill/>
          <a:ln/>
        </p:spPr>
        <p:txBody>
          <a:bodyPr wrap="square" rtlCol="0" anchor="ctr"/>
          <a:lstStyle/>
          <a:p>
            <a:pPr algn="ctr" indent="0" marL="0">
              <a:buNone/>
            </a:pPr>
            <a:r>
              <a:rPr lang="en-US" sz="1100" dirty="0">
                <a:solidFill>
                  <a:srgbClr val="E8F4FD"/>
                </a:solidFill>
                <a:latin typeface="Calibri" pitchFamily="34" charset="0"/>
                <a:ea typeface="Calibri" pitchFamily="34" charset="-122"/>
                <a:cs typeface="Calibri" pitchFamily="34" charset="-120"/>
              </a:rPr>
              <a:t>Lỗi rãnh trong</a:t>
            </a:r>
            <a:endParaRPr lang="en-US" sz="1100" dirty="0"/>
          </a:p>
        </p:txBody>
      </p:sp>
      <p:sp>
        <p:nvSpPr>
          <p:cNvPr id="16" name="Text 14"/>
          <p:cNvSpPr/>
          <p:nvPr/>
        </p:nvSpPr>
        <p:spPr>
          <a:xfrm>
            <a:off x="2468880" y="2057400"/>
            <a:ext cx="1920240" cy="457200"/>
          </a:xfrm>
          <a:prstGeom prst="rect">
            <a:avLst/>
          </a:prstGeom>
          <a:noFill/>
          <a:ln/>
        </p:spPr>
        <p:txBody>
          <a:bodyPr wrap="square" rtlCol="0" anchor="ctr"/>
          <a:lstStyle/>
          <a:p>
            <a:pPr algn="ctr" indent="0" marL="0">
              <a:buNone/>
            </a:pPr>
            <a:r>
              <a:rPr lang="en-US" sz="2000" b="1" dirty="0">
                <a:solidFill>
                  <a:srgbClr val="00B4D8"/>
                </a:solidFill>
                <a:latin typeface="Calibri" pitchFamily="34" charset="0"/>
                <a:ea typeface="Calibri" pitchFamily="34" charset="-122"/>
                <a:cs typeface="Calibri" pitchFamily="34" charset="-120"/>
              </a:rPr>
              <a:t>≈ 162 Hz</a:t>
            </a:r>
            <a:endParaRPr lang="en-US" sz="2000" dirty="0"/>
          </a:p>
        </p:txBody>
      </p:sp>
      <p:sp>
        <p:nvSpPr>
          <p:cNvPr id="17" name="Text 15"/>
          <p:cNvSpPr/>
          <p:nvPr/>
        </p:nvSpPr>
        <p:spPr>
          <a:xfrm>
            <a:off x="2468880" y="2542032"/>
            <a:ext cx="1920240" cy="274320"/>
          </a:xfrm>
          <a:prstGeom prst="rect">
            <a:avLst/>
          </a:prstGeom>
          <a:noFill/>
          <a:ln/>
        </p:spPr>
        <p:txBody>
          <a:bodyPr wrap="square" rtlCol="0" anchor="ctr"/>
          <a:lstStyle/>
          <a:p>
            <a:pPr algn="ctr" indent="0" marL="0">
              <a:buNone/>
            </a:pPr>
            <a:r>
              <a:rPr lang="en-US" sz="1000" i="1" dirty="0">
                <a:solidFill>
                  <a:srgbClr val="8BAFC7"/>
                </a:solidFill>
                <a:latin typeface="Calibri" pitchFamily="34" charset="0"/>
                <a:ea typeface="Calibri" pitchFamily="34" charset="-122"/>
                <a:cs typeface="Calibri" pitchFamily="34" charset="-120"/>
              </a:rPr>
              <a:t>5.415 × fr</a:t>
            </a:r>
            <a:endParaRPr lang="en-US" sz="1000" dirty="0"/>
          </a:p>
        </p:txBody>
      </p:sp>
      <p:sp>
        <p:nvSpPr>
          <p:cNvPr id="18" name="Shape 16"/>
          <p:cNvSpPr/>
          <p:nvPr/>
        </p:nvSpPr>
        <p:spPr>
          <a:xfrm>
            <a:off x="4572000" y="1188720"/>
            <a:ext cx="2011680" cy="2011680"/>
          </a:xfrm>
          <a:prstGeom prst="rect">
            <a:avLst/>
          </a:prstGeom>
          <a:solidFill>
            <a:srgbClr val="112233"/>
          </a:solidFill>
          <a:ln w="25400">
            <a:solidFill>
              <a:srgbClr val="FFD166"/>
            </a:solidFill>
            <a:prstDash val="solid"/>
          </a:ln>
        </p:spPr>
      </p:sp>
      <p:sp>
        <p:nvSpPr>
          <p:cNvPr id="19" name="Shape 17"/>
          <p:cNvSpPr/>
          <p:nvPr/>
        </p:nvSpPr>
        <p:spPr>
          <a:xfrm>
            <a:off x="4572000" y="1188720"/>
            <a:ext cx="2011680" cy="384048"/>
          </a:xfrm>
          <a:prstGeom prst="rect">
            <a:avLst/>
          </a:prstGeom>
          <a:solidFill>
            <a:srgbClr val="FFD166"/>
          </a:solidFill>
          <a:ln w="12700">
            <a:solidFill>
              <a:srgbClr val="FFD166"/>
            </a:solidFill>
            <a:prstDash val="solid"/>
          </a:ln>
        </p:spPr>
      </p:sp>
      <p:sp>
        <p:nvSpPr>
          <p:cNvPr id="20" name="Text 18"/>
          <p:cNvSpPr/>
          <p:nvPr/>
        </p:nvSpPr>
        <p:spPr>
          <a:xfrm>
            <a:off x="4617720" y="1207008"/>
            <a:ext cx="1920240" cy="347472"/>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2·BSF</a:t>
            </a:r>
            <a:endParaRPr lang="en-US" sz="1600" dirty="0"/>
          </a:p>
        </p:txBody>
      </p:sp>
      <p:sp>
        <p:nvSpPr>
          <p:cNvPr id="21" name="Text 19"/>
          <p:cNvSpPr/>
          <p:nvPr/>
        </p:nvSpPr>
        <p:spPr>
          <a:xfrm>
            <a:off x="4645152" y="1645920"/>
            <a:ext cx="1865376" cy="365760"/>
          </a:xfrm>
          <a:prstGeom prst="rect">
            <a:avLst/>
          </a:prstGeom>
          <a:noFill/>
          <a:ln/>
        </p:spPr>
        <p:txBody>
          <a:bodyPr wrap="square" rtlCol="0" anchor="ctr"/>
          <a:lstStyle/>
          <a:p>
            <a:pPr algn="ctr" indent="0" marL="0">
              <a:buNone/>
            </a:pPr>
            <a:r>
              <a:rPr lang="en-US" sz="1100" dirty="0">
                <a:solidFill>
                  <a:srgbClr val="E8F4FD"/>
                </a:solidFill>
                <a:latin typeface="Calibri" pitchFamily="34" charset="0"/>
                <a:ea typeface="Calibri" pitchFamily="34" charset="-122"/>
                <a:cs typeface="Calibri" pitchFamily="34" charset="-120"/>
              </a:rPr>
              <a:t>Lỗi viên bi</a:t>
            </a:r>
            <a:endParaRPr lang="en-US" sz="1100" dirty="0"/>
          </a:p>
        </p:txBody>
      </p:sp>
      <p:sp>
        <p:nvSpPr>
          <p:cNvPr id="22" name="Text 20"/>
          <p:cNvSpPr/>
          <p:nvPr/>
        </p:nvSpPr>
        <p:spPr>
          <a:xfrm>
            <a:off x="4617720" y="2057400"/>
            <a:ext cx="1920240" cy="457200"/>
          </a:xfrm>
          <a:prstGeom prst="rect">
            <a:avLst/>
          </a:prstGeom>
          <a:noFill/>
          <a:ln/>
        </p:spPr>
        <p:txBody>
          <a:bodyPr wrap="square" rtlCol="0" anchor="ctr"/>
          <a:lstStyle/>
          <a:p>
            <a:pPr algn="ctr" indent="0" marL="0">
              <a:buNone/>
            </a:pPr>
            <a:r>
              <a:rPr lang="en-US" sz="2000" b="1" dirty="0">
                <a:solidFill>
                  <a:srgbClr val="FFD166"/>
                </a:solidFill>
                <a:latin typeface="Calibri" pitchFamily="34" charset="0"/>
                <a:ea typeface="Calibri" pitchFamily="34" charset="-122"/>
                <a:cs typeface="Calibri" pitchFamily="34" charset="-120"/>
              </a:rPr>
              <a:t>≈ 141 Hz</a:t>
            </a:r>
            <a:endParaRPr lang="en-US" sz="2000" dirty="0"/>
          </a:p>
        </p:txBody>
      </p:sp>
      <p:sp>
        <p:nvSpPr>
          <p:cNvPr id="23" name="Text 21"/>
          <p:cNvSpPr/>
          <p:nvPr/>
        </p:nvSpPr>
        <p:spPr>
          <a:xfrm>
            <a:off x="4617720" y="2542032"/>
            <a:ext cx="1920240" cy="274320"/>
          </a:xfrm>
          <a:prstGeom prst="rect">
            <a:avLst/>
          </a:prstGeom>
          <a:noFill/>
          <a:ln/>
        </p:spPr>
        <p:txBody>
          <a:bodyPr wrap="square" rtlCol="0" anchor="ctr"/>
          <a:lstStyle/>
          <a:p>
            <a:pPr algn="ctr" indent="0" marL="0">
              <a:buNone/>
            </a:pPr>
            <a:r>
              <a:rPr lang="en-US" sz="1000" i="1" dirty="0">
                <a:solidFill>
                  <a:srgbClr val="8BAFC7"/>
                </a:solidFill>
                <a:latin typeface="Calibri" pitchFamily="34" charset="0"/>
                <a:ea typeface="Calibri" pitchFamily="34" charset="-122"/>
                <a:cs typeface="Calibri" pitchFamily="34" charset="-120"/>
              </a:rPr>
              <a:t>2 × 2.357 × fr</a:t>
            </a:r>
            <a:endParaRPr lang="en-US" sz="1000" dirty="0"/>
          </a:p>
        </p:txBody>
      </p:sp>
      <p:sp>
        <p:nvSpPr>
          <p:cNvPr id="24" name="Shape 22"/>
          <p:cNvSpPr/>
          <p:nvPr/>
        </p:nvSpPr>
        <p:spPr>
          <a:xfrm>
            <a:off x="6720840" y="1188720"/>
            <a:ext cx="2011680" cy="2011680"/>
          </a:xfrm>
          <a:prstGeom prst="rect">
            <a:avLst/>
          </a:prstGeom>
          <a:solidFill>
            <a:srgbClr val="112233"/>
          </a:solidFill>
          <a:ln w="25400">
            <a:solidFill>
              <a:srgbClr val="8BAFC7"/>
            </a:solidFill>
            <a:prstDash val="solid"/>
          </a:ln>
        </p:spPr>
      </p:sp>
      <p:sp>
        <p:nvSpPr>
          <p:cNvPr id="25" name="Shape 23"/>
          <p:cNvSpPr/>
          <p:nvPr/>
        </p:nvSpPr>
        <p:spPr>
          <a:xfrm>
            <a:off x="6720840" y="1188720"/>
            <a:ext cx="2011680" cy="384048"/>
          </a:xfrm>
          <a:prstGeom prst="rect">
            <a:avLst/>
          </a:prstGeom>
          <a:solidFill>
            <a:srgbClr val="8BAFC7"/>
          </a:solidFill>
          <a:ln w="12700">
            <a:solidFill>
              <a:srgbClr val="8BAFC7"/>
            </a:solidFill>
            <a:prstDash val="solid"/>
          </a:ln>
        </p:spPr>
      </p:sp>
      <p:sp>
        <p:nvSpPr>
          <p:cNvPr id="26" name="Text 24"/>
          <p:cNvSpPr/>
          <p:nvPr/>
        </p:nvSpPr>
        <p:spPr>
          <a:xfrm>
            <a:off x="6766560" y="1207008"/>
            <a:ext cx="1920240" cy="347472"/>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FTF</a:t>
            </a:r>
            <a:endParaRPr lang="en-US" sz="1600" dirty="0"/>
          </a:p>
        </p:txBody>
      </p:sp>
      <p:sp>
        <p:nvSpPr>
          <p:cNvPr id="27" name="Text 25"/>
          <p:cNvSpPr/>
          <p:nvPr/>
        </p:nvSpPr>
        <p:spPr>
          <a:xfrm>
            <a:off x="6793992" y="1645920"/>
            <a:ext cx="1865376" cy="365760"/>
          </a:xfrm>
          <a:prstGeom prst="rect">
            <a:avLst/>
          </a:prstGeom>
          <a:noFill/>
          <a:ln/>
        </p:spPr>
        <p:txBody>
          <a:bodyPr wrap="square" rtlCol="0" anchor="ctr"/>
          <a:lstStyle/>
          <a:p>
            <a:pPr algn="ctr" indent="0" marL="0">
              <a:buNone/>
            </a:pPr>
            <a:r>
              <a:rPr lang="en-US" sz="1100" dirty="0">
                <a:solidFill>
                  <a:srgbClr val="E8F4FD"/>
                </a:solidFill>
                <a:latin typeface="Calibri" pitchFamily="34" charset="0"/>
                <a:ea typeface="Calibri" pitchFamily="34" charset="-122"/>
                <a:cs typeface="Calibri" pitchFamily="34" charset="-120"/>
              </a:rPr>
              <a:t>Tần số vòng cách</a:t>
            </a:r>
            <a:endParaRPr lang="en-US" sz="1100" dirty="0"/>
          </a:p>
        </p:txBody>
      </p:sp>
      <p:sp>
        <p:nvSpPr>
          <p:cNvPr id="28" name="Text 26"/>
          <p:cNvSpPr/>
          <p:nvPr/>
        </p:nvSpPr>
        <p:spPr>
          <a:xfrm>
            <a:off x="6766560" y="2057400"/>
            <a:ext cx="1920240" cy="457200"/>
          </a:xfrm>
          <a:prstGeom prst="rect">
            <a:avLst/>
          </a:prstGeom>
          <a:noFill/>
          <a:ln/>
        </p:spPr>
        <p:txBody>
          <a:bodyPr wrap="square" rtlCol="0" anchor="ctr"/>
          <a:lstStyle/>
          <a:p>
            <a:pPr algn="ctr" indent="0" marL="0">
              <a:buNone/>
            </a:pPr>
            <a:r>
              <a:rPr lang="en-US" sz="2000" b="1" dirty="0">
                <a:solidFill>
                  <a:srgbClr val="8BAFC7"/>
                </a:solidFill>
                <a:latin typeface="Calibri" pitchFamily="34" charset="0"/>
                <a:ea typeface="Calibri" pitchFamily="34" charset="-122"/>
                <a:cs typeface="Calibri" pitchFamily="34" charset="-120"/>
              </a:rPr>
              <a:t>≈ 12 Hz</a:t>
            </a:r>
            <a:endParaRPr lang="en-US" sz="2000" dirty="0"/>
          </a:p>
        </p:txBody>
      </p:sp>
      <p:sp>
        <p:nvSpPr>
          <p:cNvPr id="29" name="Text 27"/>
          <p:cNvSpPr/>
          <p:nvPr/>
        </p:nvSpPr>
        <p:spPr>
          <a:xfrm>
            <a:off x="6766560" y="2542032"/>
            <a:ext cx="1920240" cy="274320"/>
          </a:xfrm>
          <a:prstGeom prst="rect">
            <a:avLst/>
          </a:prstGeom>
          <a:noFill/>
          <a:ln/>
        </p:spPr>
        <p:txBody>
          <a:bodyPr wrap="square" rtlCol="0" anchor="ctr"/>
          <a:lstStyle/>
          <a:p>
            <a:pPr algn="ctr" indent="0" marL="0">
              <a:buNone/>
            </a:pPr>
            <a:r>
              <a:rPr lang="en-US" sz="1000" i="1" dirty="0">
                <a:solidFill>
                  <a:srgbClr val="8BAFC7"/>
                </a:solidFill>
                <a:latin typeface="Calibri" pitchFamily="34" charset="0"/>
                <a:ea typeface="Calibri" pitchFamily="34" charset="-122"/>
                <a:cs typeface="Calibri" pitchFamily="34" charset="-120"/>
              </a:rPr>
              <a:t>0.398 × fr</a:t>
            </a:r>
            <a:endParaRPr lang="en-US" sz="1000" dirty="0"/>
          </a:p>
        </p:txBody>
      </p:sp>
      <p:sp>
        <p:nvSpPr>
          <p:cNvPr id="30" name="Shape 28"/>
          <p:cNvSpPr/>
          <p:nvPr/>
        </p:nvSpPr>
        <p:spPr>
          <a:xfrm>
            <a:off x="274320" y="3337560"/>
            <a:ext cx="8595360" cy="1508760"/>
          </a:xfrm>
          <a:prstGeom prst="rect">
            <a:avLst/>
          </a:prstGeom>
          <a:solidFill>
            <a:srgbClr val="112233"/>
          </a:solidFill>
          <a:ln w="12700">
            <a:solidFill>
              <a:srgbClr val="4A6278"/>
            </a:solidFill>
            <a:prstDash val="solid"/>
          </a:ln>
        </p:spPr>
      </p:sp>
      <p:sp>
        <p:nvSpPr>
          <p:cNvPr id="31" name="Text 29"/>
          <p:cNvSpPr/>
          <p:nvPr/>
        </p:nvSpPr>
        <p:spPr>
          <a:xfrm>
            <a:off x="411480" y="3401568"/>
            <a:ext cx="8321040" cy="1371600"/>
          </a:xfrm>
          <a:prstGeom prst="rect">
            <a:avLst/>
          </a:prstGeom>
          <a:noFill/>
          <a:ln/>
        </p:spPr>
        <p:txBody>
          <a:bodyPr wrap="square" rtlCol="0" anchor="ctr"/>
          <a:lstStyle/>
          <a:p>
            <a:pPr indent="0" marL="0">
              <a:buNone/>
            </a:pPr>
            <a:r>
              <a:rPr lang="en-US" sz="1100" dirty="0">
                <a:solidFill>
                  <a:srgbClr val="8BAFC7"/>
                </a:solidFill>
                <a:latin typeface="Calibri" pitchFamily="34" charset="0"/>
                <a:ea typeface="Calibri" pitchFamily="34" charset="-122"/>
                <a:cs typeface="Calibri" pitchFamily="34" charset="-120"/>
              </a:rPr>
              <a:t>n = số viên bi · d = đường kính viên bi · D = đường kính vòng chia · φ = góc tiếp xúc · fr = tần số quay (Hz)</a:t>
            </a:r>
            <a:endParaRPr lang="en-US" sz="1100" dirty="0"/>
          </a:p>
          <a:p>
            <a:pPr indent="0" marL="0">
              <a:buNone/>
            </a:pPr>
            <a:r>
              <a:rPr lang="en-US" sz="1100" dirty="0">
                <a:solidFill>
                  <a:srgbClr val="8BAFC7"/>
                </a:solidFill>
                <a:latin typeface="Calibri" pitchFamily="34" charset="0"/>
                <a:ea typeface="Calibri" pitchFamily="34" charset="-122"/>
                <a:cs typeface="Calibri" pitchFamily="34" charset="-120"/>
              </a:rPr>
              <a:t>⚠️  Khi tải thay đổi → tốc độ quay thay đổi → tần số lỗi dịch chuyển (Domain Shift). Mô hình ML phải có tính bất biến với tải.</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F35"/>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F5D4"/>
          </a:solidFill>
          <a:ln w="12700">
            <a:solidFill>
              <a:srgbClr val="00F5D4"/>
            </a:solidFill>
            <a:prstDash val="solid"/>
          </a:ln>
        </p:spPr>
      </p:sp>
      <p:sp>
        <p:nvSpPr>
          <p:cNvPr id="3" name="Shape 1"/>
          <p:cNvSpPr/>
          <p:nvPr/>
        </p:nvSpPr>
        <p:spPr>
          <a:xfrm>
            <a:off x="0" y="0"/>
            <a:ext cx="3200400" cy="5143500"/>
          </a:xfrm>
          <a:prstGeom prst="rect">
            <a:avLst/>
          </a:prstGeom>
          <a:solidFill>
            <a:srgbClr val="112233"/>
          </a:solidFill>
          <a:ln w="12700">
            <a:solidFill>
              <a:srgbClr val="112233"/>
            </a:solidFill>
            <a:prstDash val="solid"/>
          </a:ln>
        </p:spPr>
      </p:sp>
      <p:sp>
        <p:nvSpPr>
          <p:cNvPr id="4" name="Text 2"/>
          <p:cNvSpPr/>
          <p:nvPr/>
        </p:nvSpPr>
        <p:spPr>
          <a:xfrm>
            <a:off x="164592" y="914400"/>
            <a:ext cx="2834640" cy="457200"/>
          </a:xfrm>
          <a:prstGeom prst="rect">
            <a:avLst/>
          </a:prstGeom>
          <a:noFill/>
          <a:ln/>
        </p:spPr>
        <p:txBody>
          <a:bodyPr wrap="square" rtlCol="0" anchor="ctr"/>
          <a:lstStyle/>
          <a:p>
            <a:pPr indent="0" marL="0">
              <a:buNone/>
            </a:pPr>
            <a:r>
              <a:rPr lang="en-US" sz="1200" b="1" spc="400" kern="0" dirty="0">
                <a:solidFill>
                  <a:srgbClr val="00B4D8"/>
                </a:solidFill>
                <a:latin typeface="Calibri" pitchFamily="34" charset="0"/>
                <a:ea typeface="Calibri" pitchFamily="34" charset="-122"/>
                <a:cs typeface="Calibri" pitchFamily="34" charset="-120"/>
              </a:rPr>
              <a:t>TUTORIAL 01</a:t>
            </a:r>
            <a:endParaRPr lang="en-US" sz="1200" dirty="0"/>
          </a:p>
        </p:txBody>
      </p:sp>
      <p:sp>
        <p:nvSpPr>
          <p:cNvPr id="5" name="Text 3"/>
          <p:cNvSpPr/>
          <p:nvPr/>
        </p:nvSpPr>
        <p:spPr>
          <a:xfrm>
            <a:off x="164592" y="1463040"/>
            <a:ext cx="2834640" cy="1645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Phân Tích Dạng Sóng (Waveform)</a:t>
            </a:r>
            <a:endParaRPr lang="en-US" sz="2200" dirty="0"/>
          </a:p>
        </p:txBody>
      </p:sp>
      <p:sp>
        <p:nvSpPr>
          <p:cNvPr id="6" name="Text 4"/>
          <p:cNvSpPr/>
          <p:nvPr/>
        </p:nvSpPr>
        <p:spPr>
          <a:xfrm>
            <a:off x="164592" y="3200400"/>
            <a:ext cx="2834640" cy="1371600"/>
          </a:xfrm>
          <a:prstGeom prst="rect">
            <a:avLst/>
          </a:prstGeom>
          <a:noFill/>
          <a:ln/>
        </p:spPr>
        <p:txBody>
          <a:bodyPr wrap="square" rtlCol="0" anchor="ctr"/>
          <a:lstStyle/>
          <a:p>
            <a:pPr indent="0" marL="0">
              <a:buNone/>
            </a:pPr>
            <a:r>
              <a:rPr lang="en-US" sz="1300" dirty="0">
                <a:solidFill>
                  <a:srgbClr val="8BAFC7"/>
                </a:solidFill>
                <a:latin typeface="Calibri" pitchFamily="34" charset="0"/>
                <a:ea typeface="Calibri" pitchFamily="34" charset="-122"/>
                <a:cs typeface="Calibri" pitchFamily="34" charset="-120"/>
              </a:rPr>
              <a:t>Nhận diện trực quan 4 chữ ký rung miền thời gian · Chỉ số RMS, Peak, Crest Factor</a:t>
            </a:r>
            <a:endParaRPr lang="en-US" sz="1300" dirty="0"/>
          </a:p>
        </p:txBody>
      </p:sp>
      <p:pic>
        <p:nvPicPr>
          <p:cNvPr id="7" name="Image 0" descr="preencoded.png">    </p:cNvPr>
          <p:cNvPicPr>
            <a:picLocks noChangeAspect="1"/>
          </p:cNvPicPr>
          <p:nvPr/>
        </p:nvPicPr>
        <p:blipFill>
          <a:blip r:embed="rId1"/>
          <a:srcRect l="0" r="0" t="0" b="0"/>
          <a:stretch/>
        </p:blipFill>
        <p:spPr>
          <a:xfrm>
            <a:off x="3383280" y="365760"/>
            <a:ext cx="5577840" cy="438912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4D8"/>
          </a:solidFill>
          <a:ln w="12700">
            <a:solidFill>
              <a:srgbClr val="00B4D8"/>
            </a:solidFill>
            <a:prstDash val="solid"/>
          </a:ln>
        </p:spPr>
      </p:sp>
      <p:sp>
        <p:nvSpPr>
          <p:cNvPr id="3" name="Text 1"/>
          <p:cNvSpPr/>
          <p:nvPr/>
        </p:nvSpPr>
        <p:spPr>
          <a:xfrm>
            <a:off x="365760" y="137160"/>
            <a:ext cx="8412480" cy="50292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Định Lượng "Mức Độ Rung" — Chỉ Số Miền Thời Gian</a:t>
            </a:r>
            <a:endParaRPr lang="en-US" sz="2000" dirty="0"/>
          </a:p>
        </p:txBody>
      </p:sp>
      <p:sp>
        <p:nvSpPr>
          <p:cNvPr id="4" name="Shape 2"/>
          <p:cNvSpPr/>
          <p:nvPr/>
        </p:nvSpPr>
        <p:spPr>
          <a:xfrm>
            <a:off x="365760" y="658368"/>
            <a:ext cx="8412480" cy="27432"/>
          </a:xfrm>
          <a:prstGeom prst="rect">
            <a:avLst/>
          </a:prstGeom>
          <a:solidFill>
            <a:srgbClr val="0077B6"/>
          </a:solidFill>
          <a:ln w="12700">
            <a:solidFill>
              <a:srgbClr val="0077B6"/>
            </a:solidFill>
            <a:prstDash val="solid"/>
          </a:ln>
        </p:spPr>
      </p:sp>
      <p:sp>
        <p:nvSpPr>
          <p:cNvPr id="5" name="Shape 3"/>
          <p:cNvSpPr/>
          <p:nvPr/>
        </p:nvSpPr>
        <p:spPr>
          <a:xfrm>
            <a:off x="274320" y="914400"/>
            <a:ext cx="4069080" cy="1737360"/>
          </a:xfrm>
          <a:prstGeom prst="rect">
            <a:avLst/>
          </a:prstGeom>
          <a:solidFill>
            <a:srgbClr val="112233"/>
          </a:solidFill>
          <a:ln w="12700">
            <a:solidFill>
              <a:srgbClr val="00B4D8"/>
            </a:solidFill>
            <a:prstDash val="solid"/>
          </a:ln>
        </p:spPr>
      </p:sp>
      <p:sp>
        <p:nvSpPr>
          <p:cNvPr id="6" name="Shape 4"/>
          <p:cNvSpPr/>
          <p:nvPr/>
        </p:nvSpPr>
        <p:spPr>
          <a:xfrm>
            <a:off x="274320" y="914400"/>
            <a:ext cx="64008" cy="1737360"/>
          </a:xfrm>
          <a:prstGeom prst="rect">
            <a:avLst/>
          </a:prstGeom>
          <a:solidFill>
            <a:srgbClr val="00B4D8"/>
          </a:solidFill>
          <a:ln w="12700">
            <a:solidFill>
              <a:srgbClr val="00B4D8"/>
            </a:solidFill>
            <a:prstDash val="solid"/>
          </a:ln>
        </p:spPr>
      </p:sp>
      <p:sp>
        <p:nvSpPr>
          <p:cNvPr id="7" name="Text 5"/>
          <p:cNvSpPr/>
          <p:nvPr/>
        </p:nvSpPr>
        <p:spPr>
          <a:xfrm>
            <a:off x="457200" y="987552"/>
            <a:ext cx="3749040" cy="347472"/>
          </a:xfrm>
          <a:prstGeom prst="rect">
            <a:avLst/>
          </a:prstGeom>
          <a:noFill/>
          <a:ln/>
        </p:spPr>
        <p:txBody>
          <a:bodyPr wrap="square" rtlCol="0" anchor="ctr"/>
          <a:lstStyle/>
          <a:p>
            <a:pPr indent="0" marL="0">
              <a:buNone/>
            </a:pPr>
            <a:r>
              <a:rPr lang="en-US" sz="1500" b="1" dirty="0">
                <a:solidFill>
                  <a:srgbClr val="00B4D8"/>
                </a:solidFill>
                <a:latin typeface="Calibri" pitchFamily="34" charset="0"/>
                <a:ea typeface="Calibri" pitchFamily="34" charset="-122"/>
                <a:cs typeface="Calibri" pitchFamily="34" charset="-120"/>
              </a:rPr>
              <a:t>RMS</a:t>
            </a:r>
            <a:endParaRPr lang="en-US" sz="1500" dirty="0"/>
          </a:p>
        </p:txBody>
      </p:sp>
      <p:sp>
        <p:nvSpPr>
          <p:cNvPr id="8" name="Text 6"/>
          <p:cNvSpPr/>
          <p:nvPr/>
        </p:nvSpPr>
        <p:spPr>
          <a:xfrm>
            <a:off x="457200" y="1371600"/>
            <a:ext cx="3749040" cy="292608"/>
          </a:xfrm>
          <a:prstGeom prst="rect">
            <a:avLst/>
          </a:prstGeom>
          <a:noFill/>
          <a:ln/>
        </p:spPr>
        <p:txBody>
          <a:bodyPr wrap="square" rtlCol="0" anchor="ctr"/>
          <a:lstStyle/>
          <a:p>
            <a:pPr indent="0" marL="0">
              <a:buNone/>
            </a:pPr>
            <a:r>
              <a:rPr lang="en-US" sz="1200" i="1" dirty="0">
                <a:solidFill>
                  <a:srgbClr val="8BAFC7"/>
                </a:solidFill>
                <a:latin typeface="Calibri" pitchFamily="34" charset="0"/>
                <a:ea typeface="Calibri" pitchFamily="34" charset="-122"/>
                <a:cs typeface="Calibri" pitchFamily="34" charset="-120"/>
              </a:rPr>
              <a:t>√(1/N · Σxᵢ²)</a:t>
            </a:r>
            <a:endParaRPr lang="en-US" sz="1200" dirty="0"/>
          </a:p>
        </p:txBody>
      </p:sp>
      <p:sp>
        <p:nvSpPr>
          <p:cNvPr id="9" name="Text 7"/>
          <p:cNvSpPr/>
          <p:nvPr/>
        </p:nvSpPr>
        <p:spPr>
          <a:xfrm>
            <a:off x="457200" y="1719072"/>
            <a:ext cx="3794760" cy="822960"/>
          </a:xfrm>
          <a:prstGeom prst="rect">
            <a:avLst/>
          </a:prstGeom>
          <a:noFill/>
          <a:ln/>
        </p:spPr>
        <p:txBody>
          <a:bodyPr wrap="square" rtlCol="0" anchor="ctr"/>
          <a:lstStyle/>
          <a:p>
            <a:pPr indent="0" marL="0">
              <a:buNone/>
            </a:pPr>
            <a:r>
              <a:rPr lang="en-US" sz="1100" dirty="0">
                <a:solidFill>
                  <a:srgbClr val="E8F4FD"/>
                </a:solidFill>
                <a:latin typeface="Calibri" pitchFamily="34" charset="0"/>
                <a:ea typeface="Calibri" pitchFamily="34" charset="-122"/>
                <a:cs typeface="Calibri" pitchFamily="34" charset="-120"/>
              </a:rPr>
              <a:t>Năng lượng dao động tổng thể. Phản ánh mức độ tàn phá kết cấu cơ khí.</a:t>
            </a:r>
            <a:endParaRPr lang="en-US" sz="1100" dirty="0"/>
          </a:p>
        </p:txBody>
      </p:sp>
      <p:sp>
        <p:nvSpPr>
          <p:cNvPr id="10" name="Shape 8"/>
          <p:cNvSpPr/>
          <p:nvPr/>
        </p:nvSpPr>
        <p:spPr>
          <a:xfrm>
            <a:off x="4617720" y="914400"/>
            <a:ext cx="4069080" cy="1737360"/>
          </a:xfrm>
          <a:prstGeom prst="rect">
            <a:avLst/>
          </a:prstGeom>
          <a:solidFill>
            <a:srgbClr val="112233"/>
          </a:solidFill>
          <a:ln w="12700">
            <a:solidFill>
              <a:srgbClr val="FFD166"/>
            </a:solidFill>
            <a:prstDash val="solid"/>
          </a:ln>
        </p:spPr>
      </p:sp>
      <p:sp>
        <p:nvSpPr>
          <p:cNvPr id="11" name="Shape 9"/>
          <p:cNvSpPr/>
          <p:nvPr/>
        </p:nvSpPr>
        <p:spPr>
          <a:xfrm>
            <a:off x="4617720" y="914400"/>
            <a:ext cx="64008" cy="1737360"/>
          </a:xfrm>
          <a:prstGeom prst="rect">
            <a:avLst/>
          </a:prstGeom>
          <a:solidFill>
            <a:srgbClr val="FFD166"/>
          </a:solidFill>
          <a:ln w="12700">
            <a:solidFill>
              <a:srgbClr val="FFD166"/>
            </a:solidFill>
            <a:prstDash val="solid"/>
          </a:ln>
        </p:spPr>
      </p:sp>
      <p:sp>
        <p:nvSpPr>
          <p:cNvPr id="12" name="Text 10"/>
          <p:cNvSpPr/>
          <p:nvPr/>
        </p:nvSpPr>
        <p:spPr>
          <a:xfrm>
            <a:off x="4800600" y="987552"/>
            <a:ext cx="3749040" cy="347472"/>
          </a:xfrm>
          <a:prstGeom prst="rect">
            <a:avLst/>
          </a:prstGeom>
          <a:noFill/>
          <a:ln/>
        </p:spPr>
        <p:txBody>
          <a:bodyPr wrap="square" rtlCol="0" anchor="ctr"/>
          <a:lstStyle/>
          <a:p>
            <a:pPr indent="0" marL="0">
              <a:buNone/>
            </a:pPr>
            <a:r>
              <a:rPr lang="en-US" sz="1500" b="1" dirty="0">
                <a:solidFill>
                  <a:srgbClr val="FFD166"/>
                </a:solidFill>
                <a:latin typeface="Calibri" pitchFamily="34" charset="0"/>
                <a:ea typeface="Calibri" pitchFamily="34" charset="-122"/>
                <a:cs typeface="Calibri" pitchFamily="34" charset="-120"/>
              </a:rPr>
              <a:t>Peak</a:t>
            </a:r>
            <a:endParaRPr lang="en-US" sz="1500" dirty="0"/>
          </a:p>
        </p:txBody>
      </p:sp>
      <p:sp>
        <p:nvSpPr>
          <p:cNvPr id="13" name="Text 11"/>
          <p:cNvSpPr/>
          <p:nvPr/>
        </p:nvSpPr>
        <p:spPr>
          <a:xfrm>
            <a:off x="4800600" y="1371600"/>
            <a:ext cx="3749040" cy="292608"/>
          </a:xfrm>
          <a:prstGeom prst="rect">
            <a:avLst/>
          </a:prstGeom>
          <a:noFill/>
          <a:ln/>
        </p:spPr>
        <p:txBody>
          <a:bodyPr wrap="square" rtlCol="0" anchor="ctr"/>
          <a:lstStyle/>
          <a:p>
            <a:pPr indent="0" marL="0">
              <a:buNone/>
            </a:pPr>
            <a:r>
              <a:rPr lang="en-US" sz="1200" i="1" dirty="0">
                <a:solidFill>
                  <a:srgbClr val="8BAFC7"/>
                </a:solidFill>
                <a:latin typeface="Calibri" pitchFamily="34" charset="0"/>
                <a:ea typeface="Calibri" pitchFamily="34" charset="-122"/>
                <a:cs typeface="Calibri" pitchFamily="34" charset="-120"/>
              </a:rPr>
              <a:t>max |xᵢ|</a:t>
            </a:r>
            <a:endParaRPr lang="en-US" sz="1200" dirty="0"/>
          </a:p>
        </p:txBody>
      </p:sp>
      <p:sp>
        <p:nvSpPr>
          <p:cNvPr id="14" name="Text 12"/>
          <p:cNvSpPr/>
          <p:nvPr/>
        </p:nvSpPr>
        <p:spPr>
          <a:xfrm>
            <a:off x="4800600" y="1719072"/>
            <a:ext cx="3794760" cy="822960"/>
          </a:xfrm>
          <a:prstGeom prst="rect">
            <a:avLst/>
          </a:prstGeom>
          <a:noFill/>
          <a:ln/>
        </p:spPr>
        <p:txBody>
          <a:bodyPr wrap="square" rtlCol="0" anchor="ctr"/>
          <a:lstStyle/>
          <a:p>
            <a:pPr indent="0" marL="0">
              <a:buNone/>
            </a:pPr>
            <a:r>
              <a:rPr lang="en-US" sz="1100" dirty="0">
                <a:solidFill>
                  <a:srgbClr val="E8F4FD"/>
                </a:solidFill>
                <a:latin typeface="Calibri" pitchFamily="34" charset="0"/>
                <a:ea typeface="Calibri" pitchFamily="34" charset="-122"/>
                <a:cs typeface="Calibri" pitchFamily="34" charset="-120"/>
              </a:rPr>
              <a:t>Biên độ tức thời lớn nhất. Nhạy bén với va đập mạnh / kẹt dị vật.</a:t>
            </a:r>
            <a:endParaRPr lang="en-US" sz="1100" dirty="0"/>
          </a:p>
        </p:txBody>
      </p:sp>
      <p:sp>
        <p:nvSpPr>
          <p:cNvPr id="15" name="Shape 13"/>
          <p:cNvSpPr/>
          <p:nvPr/>
        </p:nvSpPr>
        <p:spPr>
          <a:xfrm>
            <a:off x="274320" y="2880360"/>
            <a:ext cx="4069080" cy="1737360"/>
          </a:xfrm>
          <a:prstGeom prst="rect">
            <a:avLst/>
          </a:prstGeom>
          <a:solidFill>
            <a:srgbClr val="112233"/>
          </a:solidFill>
          <a:ln w="12700">
            <a:solidFill>
              <a:srgbClr val="00F5D4"/>
            </a:solidFill>
            <a:prstDash val="solid"/>
          </a:ln>
        </p:spPr>
      </p:sp>
      <p:sp>
        <p:nvSpPr>
          <p:cNvPr id="16" name="Shape 14"/>
          <p:cNvSpPr/>
          <p:nvPr/>
        </p:nvSpPr>
        <p:spPr>
          <a:xfrm>
            <a:off x="274320" y="2880360"/>
            <a:ext cx="64008" cy="1737360"/>
          </a:xfrm>
          <a:prstGeom prst="rect">
            <a:avLst/>
          </a:prstGeom>
          <a:solidFill>
            <a:srgbClr val="00F5D4"/>
          </a:solidFill>
          <a:ln w="12700">
            <a:solidFill>
              <a:srgbClr val="00F5D4"/>
            </a:solidFill>
            <a:prstDash val="solid"/>
          </a:ln>
        </p:spPr>
      </p:sp>
      <p:sp>
        <p:nvSpPr>
          <p:cNvPr id="17" name="Text 15"/>
          <p:cNvSpPr/>
          <p:nvPr/>
        </p:nvSpPr>
        <p:spPr>
          <a:xfrm>
            <a:off x="457200" y="2953512"/>
            <a:ext cx="3749040" cy="347472"/>
          </a:xfrm>
          <a:prstGeom prst="rect">
            <a:avLst/>
          </a:prstGeom>
          <a:noFill/>
          <a:ln/>
        </p:spPr>
        <p:txBody>
          <a:bodyPr wrap="square" rtlCol="0" anchor="ctr"/>
          <a:lstStyle/>
          <a:p>
            <a:pPr indent="0" marL="0">
              <a:buNone/>
            </a:pPr>
            <a:r>
              <a:rPr lang="en-US" sz="1500" b="1" dirty="0">
                <a:solidFill>
                  <a:srgbClr val="00F5D4"/>
                </a:solidFill>
                <a:latin typeface="Calibri" pitchFamily="34" charset="0"/>
                <a:ea typeface="Calibri" pitchFamily="34" charset="-122"/>
                <a:cs typeface="Calibri" pitchFamily="34" charset="-120"/>
              </a:rPr>
              <a:t>Crest Factor</a:t>
            </a:r>
            <a:endParaRPr lang="en-US" sz="1500" dirty="0"/>
          </a:p>
        </p:txBody>
      </p:sp>
      <p:sp>
        <p:nvSpPr>
          <p:cNvPr id="18" name="Text 16"/>
          <p:cNvSpPr/>
          <p:nvPr/>
        </p:nvSpPr>
        <p:spPr>
          <a:xfrm>
            <a:off x="457200" y="3337560"/>
            <a:ext cx="3749040" cy="292608"/>
          </a:xfrm>
          <a:prstGeom prst="rect">
            <a:avLst/>
          </a:prstGeom>
          <a:noFill/>
          <a:ln/>
        </p:spPr>
        <p:txBody>
          <a:bodyPr wrap="square" rtlCol="0" anchor="ctr"/>
          <a:lstStyle/>
          <a:p>
            <a:pPr indent="0" marL="0">
              <a:buNone/>
            </a:pPr>
            <a:r>
              <a:rPr lang="en-US" sz="1200" i="1" dirty="0">
                <a:solidFill>
                  <a:srgbClr val="8BAFC7"/>
                </a:solidFill>
                <a:latin typeface="Calibri" pitchFamily="34" charset="0"/>
                <a:ea typeface="Calibri" pitchFamily="34" charset="-122"/>
                <a:cs typeface="Calibri" pitchFamily="34" charset="-120"/>
              </a:rPr>
              <a:t>Peak / RMS</a:t>
            </a:r>
            <a:endParaRPr lang="en-US" sz="1200" dirty="0"/>
          </a:p>
        </p:txBody>
      </p:sp>
      <p:sp>
        <p:nvSpPr>
          <p:cNvPr id="19" name="Text 17"/>
          <p:cNvSpPr/>
          <p:nvPr/>
        </p:nvSpPr>
        <p:spPr>
          <a:xfrm>
            <a:off x="457200" y="3685032"/>
            <a:ext cx="3794760" cy="822960"/>
          </a:xfrm>
          <a:prstGeom prst="rect">
            <a:avLst/>
          </a:prstGeom>
          <a:noFill/>
          <a:ln/>
        </p:spPr>
        <p:txBody>
          <a:bodyPr wrap="square" rtlCol="0" anchor="ctr"/>
          <a:lstStyle/>
          <a:p>
            <a:pPr indent="0" marL="0">
              <a:buNone/>
            </a:pPr>
            <a:r>
              <a:rPr lang="en-US" sz="1100" dirty="0">
                <a:solidFill>
                  <a:srgbClr val="E8F4FD"/>
                </a:solidFill>
                <a:latin typeface="Calibri" pitchFamily="34" charset="0"/>
                <a:ea typeface="Calibri" pitchFamily="34" charset="-122"/>
                <a:cs typeface="Calibri" pitchFamily="34" charset="-120"/>
              </a:rPr>
              <a:t>Nhạy bén nhất ở giai đoạn chớm hư hỏng — xung nhọn xuất hiện nhưng RMS chưa tăng.</a:t>
            </a:r>
            <a:endParaRPr lang="en-US" sz="1100" dirty="0"/>
          </a:p>
        </p:txBody>
      </p:sp>
      <p:sp>
        <p:nvSpPr>
          <p:cNvPr id="20" name="Shape 18"/>
          <p:cNvSpPr/>
          <p:nvPr/>
        </p:nvSpPr>
        <p:spPr>
          <a:xfrm>
            <a:off x="4617720" y="2880360"/>
            <a:ext cx="4069080" cy="1737360"/>
          </a:xfrm>
          <a:prstGeom prst="rect">
            <a:avLst/>
          </a:prstGeom>
          <a:solidFill>
            <a:srgbClr val="112233"/>
          </a:solidFill>
          <a:ln w="12700">
            <a:solidFill>
              <a:srgbClr val="EF476F"/>
            </a:solidFill>
            <a:prstDash val="solid"/>
          </a:ln>
        </p:spPr>
      </p:sp>
      <p:sp>
        <p:nvSpPr>
          <p:cNvPr id="21" name="Shape 19"/>
          <p:cNvSpPr/>
          <p:nvPr/>
        </p:nvSpPr>
        <p:spPr>
          <a:xfrm>
            <a:off x="4617720" y="2880360"/>
            <a:ext cx="64008" cy="1737360"/>
          </a:xfrm>
          <a:prstGeom prst="rect">
            <a:avLst/>
          </a:prstGeom>
          <a:solidFill>
            <a:srgbClr val="EF476F"/>
          </a:solidFill>
          <a:ln w="12700">
            <a:solidFill>
              <a:srgbClr val="EF476F"/>
            </a:solidFill>
            <a:prstDash val="solid"/>
          </a:ln>
        </p:spPr>
      </p:sp>
      <p:sp>
        <p:nvSpPr>
          <p:cNvPr id="22" name="Text 20"/>
          <p:cNvSpPr/>
          <p:nvPr/>
        </p:nvSpPr>
        <p:spPr>
          <a:xfrm>
            <a:off x="4800600" y="2953512"/>
            <a:ext cx="3749040" cy="347472"/>
          </a:xfrm>
          <a:prstGeom prst="rect">
            <a:avLst/>
          </a:prstGeom>
          <a:noFill/>
          <a:ln/>
        </p:spPr>
        <p:txBody>
          <a:bodyPr wrap="square" rtlCol="0" anchor="ctr"/>
          <a:lstStyle/>
          <a:p>
            <a:pPr indent="0" marL="0">
              <a:buNone/>
            </a:pPr>
            <a:r>
              <a:rPr lang="en-US" sz="1500" b="1" dirty="0">
                <a:solidFill>
                  <a:srgbClr val="EF476F"/>
                </a:solidFill>
                <a:latin typeface="Calibri" pitchFamily="34" charset="0"/>
                <a:ea typeface="Calibri" pitchFamily="34" charset="-122"/>
                <a:cs typeface="Calibri" pitchFamily="34" charset="-120"/>
              </a:rPr>
              <a:t>Kurtosis</a:t>
            </a:r>
            <a:endParaRPr lang="en-US" sz="1500" dirty="0"/>
          </a:p>
        </p:txBody>
      </p:sp>
      <p:sp>
        <p:nvSpPr>
          <p:cNvPr id="23" name="Text 21"/>
          <p:cNvSpPr/>
          <p:nvPr/>
        </p:nvSpPr>
        <p:spPr>
          <a:xfrm>
            <a:off x="4800600" y="3337560"/>
            <a:ext cx="3749040" cy="292608"/>
          </a:xfrm>
          <a:prstGeom prst="rect">
            <a:avLst/>
          </a:prstGeom>
          <a:noFill/>
          <a:ln/>
        </p:spPr>
        <p:txBody>
          <a:bodyPr wrap="square" rtlCol="0" anchor="ctr"/>
          <a:lstStyle/>
          <a:p>
            <a:pPr indent="0" marL="0">
              <a:buNone/>
            </a:pPr>
            <a:r>
              <a:rPr lang="en-US" sz="1200" i="1" dirty="0">
                <a:solidFill>
                  <a:srgbClr val="8BAFC7"/>
                </a:solidFill>
                <a:latin typeface="Calibri" pitchFamily="34" charset="0"/>
                <a:ea typeface="Calibri" pitchFamily="34" charset="-122"/>
                <a:cs typeface="Calibri" pitchFamily="34" charset="-120"/>
              </a:rPr>
              <a:t>E[(x−μ)⁴] / σ⁴</a:t>
            </a:r>
            <a:endParaRPr lang="en-US" sz="1200" dirty="0"/>
          </a:p>
        </p:txBody>
      </p:sp>
      <p:sp>
        <p:nvSpPr>
          <p:cNvPr id="24" name="Text 22"/>
          <p:cNvSpPr/>
          <p:nvPr/>
        </p:nvSpPr>
        <p:spPr>
          <a:xfrm>
            <a:off x="4800600" y="3685032"/>
            <a:ext cx="3794760" cy="822960"/>
          </a:xfrm>
          <a:prstGeom prst="rect">
            <a:avLst/>
          </a:prstGeom>
          <a:noFill/>
          <a:ln/>
        </p:spPr>
        <p:txBody>
          <a:bodyPr wrap="square" rtlCol="0" anchor="ctr"/>
          <a:lstStyle/>
          <a:p>
            <a:pPr indent="0" marL="0">
              <a:buNone/>
            </a:pPr>
            <a:r>
              <a:rPr lang="en-US" sz="1100" dirty="0">
                <a:solidFill>
                  <a:srgbClr val="E8F4FD"/>
                </a:solidFill>
                <a:latin typeface="Calibri" pitchFamily="34" charset="0"/>
                <a:ea typeface="Calibri" pitchFamily="34" charset="-122"/>
                <a:cs typeface="Calibri" pitchFamily="34" charset="-120"/>
              </a:rPr>
              <a:t>Đo độ nhọn phân bố. Vượt ngưỡng 3.5 → giám sát đặc biệt; &gt;6 → lên kế hoạch thay thế.</a:t>
            </a:r>
            <a:endParaRPr lang="en-US" sz="1100" dirty="0"/>
          </a:p>
        </p:txBody>
      </p:sp>
      <p:sp>
        <p:nvSpPr>
          <p:cNvPr id="25" name="Shape 23"/>
          <p:cNvSpPr/>
          <p:nvPr/>
        </p:nvSpPr>
        <p:spPr>
          <a:xfrm>
            <a:off x="274320" y="4572000"/>
            <a:ext cx="8595360" cy="457200"/>
          </a:xfrm>
          <a:prstGeom prst="rect">
            <a:avLst/>
          </a:prstGeom>
          <a:solidFill>
            <a:srgbClr val="112233"/>
          </a:solidFill>
          <a:ln w="12700">
            <a:solidFill>
              <a:srgbClr val="4A6278"/>
            </a:solidFill>
            <a:prstDash val="solid"/>
          </a:ln>
        </p:spPr>
      </p:sp>
      <p:sp>
        <p:nvSpPr>
          <p:cNvPr id="26" name="Text 24"/>
          <p:cNvSpPr/>
          <p:nvPr/>
        </p:nvSpPr>
        <p:spPr>
          <a:xfrm>
            <a:off x="365760" y="4608576"/>
            <a:ext cx="8412480" cy="384048"/>
          </a:xfrm>
          <a:prstGeom prst="rect">
            <a:avLst/>
          </a:prstGeom>
          <a:noFill/>
          <a:ln/>
        </p:spPr>
        <p:txBody>
          <a:bodyPr wrap="square" rtlCol="0" anchor="ctr"/>
          <a:lstStyle/>
          <a:p>
            <a:pPr indent="0" marL="0">
              <a:buNone/>
            </a:pPr>
            <a:r>
              <a:rPr lang="en-US" sz="1100" i="1" dirty="0">
                <a:solidFill>
                  <a:srgbClr val="FFD166"/>
                </a:solidFill>
                <a:latin typeface="Calibri" pitchFamily="34" charset="0"/>
                <a:ea typeface="Calibri" pitchFamily="34" charset="-122"/>
                <a:cs typeface="Calibri" pitchFamily="34" charset="-120"/>
              </a:rPr>
              <a:t>⚠️  Các chỉ số miền thời gian phát hiện SỰ TỒN TẠI của sự cố (Detection). Muốn xác định VỊ TRÍ khuyết tật → phải chuyển sang miền tần số.</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F35"/>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F5D4"/>
          </a:solidFill>
          <a:ln w="12700">
            <a:solidFill>
              <a:srgbClr val="00F5D4"/>
            </a:solidFill>
            <a:prstDash val="solid"/>
          </a:ln>
        </p:spPr>
      </p:sp>
      <p:sp>
        <p:nvSpPr>
          <p:cNvPr id="3" name="Shape 1"/>
          <p:cNvSpPr/>
          <p:nvPr/>
        </p:nvSpPr>
        <p:spPr>
          <a:xfrm>
            <a:off x="0" y="0"/>
            <a:ext cx="3200400" cy="5143500"/>
          </a:xfrm>
          <a:prstGeom prst="rect">
            <a:avLst/>
          </a:prstGeom>
          <a:solidFill>
            <a:srgbClr val="112233"/>
          </a:solidFill>
          <a:ln w="12700">
            <a:solidFill>
              <a:srgbClr val="112233"/>
            </a:solidFill>
            <a:prstDash val="solid"/>
          </a:ln>
        </p:spPr>
      </p:sp>
      <p:sp>
        <p:nvSpPr>
          <p:cNvPr id="4" name="Text 2"/>
          <p:cNvSpPr/>
          <p:nvPr/>
        </p:nvSpPr>
        <p:spPr>
          <a:xfrm>
            <a:off x="164592" y="914400"/>
            <a:ext cx="2834640" cy="457200"/>
          </a:xfrm>
          <a:prstGeom prst="rect">
            <a:avLst/>
          </a:prstGeom>
          <a:noFill/>
          <a:ln/>
        </p:spPr>
        <p:txBody>
          <a:bodyPr wrap="square" rtlCol="0" anchor="ctr"/>
          <a:lstStyle/>
          <a:p>
            <a:pPr indent="0" marL="0">
              <a:buNone/>
            </a:pPr>
            <a:r>
              <a:rPr lang="en-US" sz="1200" b="1" spc="400" kern="0" dirty="0">
                <a:solidFill>
                  <a:srgbClr val="00B4D8"/>
                </a:solidFill>
                <a:latin typeface="Calibri" pitchFamily="34" charset="0"/>
                <a:ea typeface="Calibri" pitchFamily="34" charset="-122"/>
                <a:cs typeface="Calibri" pitchFamily="34" charset="-120"/>
              </a:rPr>
              <a:t>TUTORIAL 02</a:t>
            </a:r>
            <a:endParaRPr lang="en-US" sz="1200" dirty="0"/>
          </a:p>
        </p:txBody>
      </p:sp>
      <p:sp>
        <p:nvSpPr>
          <p:cNvPr id="5" name="Text 3"/>
          <p:cNvSpPr/>
          <p:nvPr/>
        </p:nvSpPr>
        <p:spPr>
          <a:xfrm>
            <a:off x="164592" y="1463040"/>
            <a:ext cx="2834640" cy="1645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Phân Tích Tần Số</a:t>
            </a:r>
            <a:endParaRPr lang="en-US" sz="2200" dirty="0"/>
          </a:p>
        </p:txBody>
      </p:sp>
      <p:sp>
        <p:nvSpPr>
          <p:cNvPr id="6" name="Text 4"/>
          <p:cNvSpPr/>
          <p:nvPr/>
        </p:nvSpPr>
        <p:spPr>
          <a:xfrm>
            <a:off x="164592" y="3200400"/>
            <a:ext cx="2834640" cy="1371600"/>
          </a:xfrm>
          <a:prstGeom prst="rect">
            <a:avLst/>
          </a:prstGeom>
          <a:noFill/>
          <a:ln/>
        </p:spPr>
        <p:txBody>
          <a:bodyPr wrap="square" rtlCol="0" anchor="ctr"/>
          <a:lstStyle/>
          <a:p>
            <a:pPr indent="0" marL="0">
              <a:buNone/>
            </a:pPr>
            <a:r>
              <a:rPr lang="en-US" sz="1300" dirty="0">
                <a:solidFill>
                  <a:srgbClr val="8BAFC7"/>
                </a:solidFill>
                <a:latin typeface="Calibri" pitchFamily="34" charset="0"/>
                <a:ea typeface="Calibri" pitchFamily="34" charset="-122"/>
                <a:cs typeface="Calibri" pitchFamily="34" charset="-120"/>
              </a:rPr>
              <a:t>FFT · Envelope Analysis · Spectrogram</a:t>
            </a:r>
            <a:endParaRPr lang="en-US" sz="1300" dirty="0"/>
          </a:p>
        </p:txBody>
      </p:sp>
      <p:pic>
        <p:nvPicPr>
          <p:cNvPr id="7" name="Image 0" descr="preencoded.png">    </p:cNvPr>
          <p:cNvPicPr>
            <a:picLocks noChangeAspect="1"/>
          </p:cNvPicPr>
          <p:nvPr/>
        </p:nvPicPr>
        <p:blipFill>
          <a:blip r:embed="rId1"/>
          <a:srcRect l="0" r="0" t="0" b="0"/>
          <a:stretch/>
        </p:blipFill>
        <p:spPr>
          <a:xfrm>
            <a:off x="3383280" y="457200"/>
            <a:ext cx="5577840" cy="41148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4D8"/>
          </a:solidFill>
          <a:ln w="12700">
            <a:solidFill>
              <a:srgbClr val="00B4D8"/>
            </a:solidFill>
            <a:prstDash val="solid"/>
          </a:ln>
        </p:spPr>
      </p:sp>
      <p:sp>
        <p:nvSpPr>
          <p:cNvPr id="3" name="Text 1"/>
          <p:cNvSpPr/>
          <p:nvPr/>
        </p:nvSpPr>
        <p:spPr>
          <a:xfrm>
            <a:off x="365760" y="137160"/>
            <a:ext cx="8412480" cy="50292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FFT Thô → Envelope Analysis — 4 Bước Bóc Tần Số Lỗi</a:t>
            </a:r>
            <a:endParaRPr lang="en-US" sz="2000" dirty="0"/>
          </a:p>
        </p:txBody>
      </p:sp>
      <p:sp>
        <p:nvSpPr>
          <p:cNvPr id="4" name="Shape 2"/>
          <p:cNvSpPr/>
          <p:nvPr/>
        </p:nvSpPr>
        <p:spPr>
          <a:xfrm>
            <a:off x="365760" y="658368"/>
            <a:ext cx="8412480" cy="27432"/>
          </a:xfrm>
          <a:prstGeom prst="rect">
            <a:avLst/>
          </a:prstGeom>
          <a:solidFill>
            <a:srgbClr val="0077B6"/>
          </a:solidFill>
          <a:ln w="12700">
            <a:solidFill>
              <a:srgbClr val="0077B6"/>
            </a:solidFill>
            <a:prstDash val="solid"/>
          </a:ln>
        </p:spPr>
      </p:sp>
      <p:pic>
        <p:nvPicPr>
          <p:cNvPr id="5" name="Image 0" descr="preencoded.png">    </p:cNvPr>
          <p:cNvPicPr>
            <a:picLocks noChangeAspect="1"/>
          </p:cNvPicPr>
          <p:nvPr/>
        </p:nvPicPr>
        <p:blipFill>
          <a:blip r:embed="rId1"/>
          <a:srcRect l="0" r="0" t="0" b="0"/>
          <a:stretch/>
        </p:blipFill>
        <p:spPr>
          <a:xfrm>
            <a:off x="274320" y="777240"/>
            <a:ext cx="8595360" cy="4023360"/>
          </a:xfrm>
          <a:prstGeom prst="rect">
            <a:avLst/>
          </a:prstGeom>
        </p:spPr>
      </p:pic>
      <p:sp>
        <p:nvSpPr>
          <p:cNvPr id="6" name="Shape 3"/>
          <p:cNvSpPr/>
          <p:nvPr/>
        </p:nvSpPr>
        <p:spPr>
          <a:xfrm>
            <a:off x="274320" y="4617720"/>
            <a:ext cx="8595360" cy="457200"/>
          </a:xfrm>
          <a:prstGeom prst="rect">
            <a:avLst/>
          </a:prstGeom>
          <a:solidFill>
            <a:srgbClr val="112233"/>
          </a:solidFill>
          <a:ln w="12700">
            <a:solidFill>
              <a:srgbClr val="4A6278"/>
            </a:solidFill>
            <a:prstDash val="solid"/>
          </a:ln>
        </p:spPr>
      </p:sp>
      <p:sp>
        <p:nvSpPr>
          <p:cNvPr id="7" name="Text 4"/>
          <p:cNvSpPr/>
          <p:nvPr/>
        </p:nvSpPr>
        <p:spPr>
          <a:xfrm>
            <a:off x="365760" y="4645152"/>
            <a:ext cx="8412480" cy="384048"/>
          </a:xfrm>
          <a:prstGeom prst="rect">
            <a:avLst/>
          </a:prstGeom>
          <a:noFill/>
          <a:ln/>
        </p:spPr>
        <p:txBody>
          <a:bodyPr wrap="square" rtlCol="0" anchor="ctr"/>
          <a:lstStyle/>
          <a:p>
            <a:pPr algn="ctr" indent="0" marL="0">
              <a:buNone/>
            </a:pPr>
            <a:r>
              <a:rPr lang="en-US" sz="1100" dirty="0">
                <a:solidFill>
                  <a:srgbClr val="00B4D8"/>
                </a:solidFill>
                <a:latin typeface="Calibri" pitchFamily="34" charset="0"/>
                <a:ea typeface="Calibri" pitchFamily="34" charset="-122"/>
                <a:cs typeface="Calibri" pitchFamily="34" charset="-120"/>
              </a:rPr>
              <a:t>Bước 1: Lọc băng quanh cộng hưởng → Bước 2: Hilbert bóc đường bao → Bước 3: FFT đường bao → Bước 4: Đọc đỉnh BPFO/BPFI</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4D8"/>
          </a:solidFill>
          <a:ln w="12700">
            <a:solidFill>
              <a:srgbClr val="00B4D8"/>
            </a:solidFill>
            <a:prstDash val="solid"/>
          </a:ln>
        </p:spPr>
      </p:sp>
      <p:sp>
        <p:nvSpPr>
          <p:cNvPr id="3" name="Text 1"/>
          <p:cNvSpPr/>
          <p:nvPr/>
        </p:nvSpPr>
        <p:spPr>
          <a:xfrm>
            <a:off x="365760" y="137160"/>
            <a:ext cx="8412480" cy="50292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Spectrogram — Bản Đồ Thời Gian × Tần Số</a:t>
            </a:r>
            <a:endParaRPr lang="en-US" sz="2000" dirty="0"/>
          </a:p>
        </p:txBody>
      </p:sp>
      <p:sp>
        <p:nvSpPr>
          <p:cNvPr id="4" name="Shape 2"/>
          <p:cNvSpPr/>
          <p:nvPr/>
        </p:nvSpPr>
        <p:spPr>
          <a:xfrm>
            <a:off x="365760" y="658368"/>
            <a:ext cx="8412480" cy="27432"/>
          </a:xfrm>
          <a:prstGeom prst="rect">
            <a:avLst/>
          </a:prstGeom>
          <a:solidFill>
            <a:srgbClr val="0077B6"/>
          </a:solidFill>
          <a:ln w="12700">
            <a:solidFill>
              <a:srgbClr val="0077B6"/>
            </a:solidFill>
            <a:prstDash val="solid"/>
          </a:ln>
        </p:spPr>
      </p:sp>
      <p:pic>
        <p:nvPicPr>
          <p:cNvPr id="5" name="Image 0" descr="preencoded.png">    </p:cNvPr>
          <p:cNvPicPr>
            <a:picLocks noChangeAspect="1"/>
          </p:cNvPicPr>
          <p:nvPr/>
        </p:nvPicPr>
        <p:blipFill>
          <a:blip r:embed="rId1"/>
          <a:srcRect l="0" r="0" t="0" b="0"/>
          <a:stretch/>
        </p:blipFill>
        <p:spPr>
          <a:xfrm>
            <a:off x="274320" y="777240"/>
            <a:ext cx="8595360" cy="3657600"/>
          </a:xfrm>
          <a:prstGeom prst="rect">
            <a:avLst/>
          </a:prstGeom>
        </p:spPr>
      </p:pic>
      <p:sp>
        <p:nvSpPr>
          <p:cNvPr id="6" name="Shape 3"/>
          <p:cNvSpPr/>
          <p:nvPr/>
        </p:nvSpPr>
        <p:spPr>
          <a:xfrm>
            <a:off x="274320" y="4526280"/>
            <a:ext cx="8595360" cy="548640"/>
          </a:xfrm>
          <a:prstGeom prst="rect">
            <a:avLst/>
          </a:prstGeom>
          <a:solidFill>
            <a:srgbClr val="112233"/>
          </a:solidFill>
          <a:ln w="12700">
            <a:solidFill>
              <a:srgbClr val="4A6278"/>
            </a:solidFill>
            <a:prstDash val="solid"/>
          </a:ln>
        </p:spPr>
      </p:sp>
      <p:sp>
        <p:nvSpPr>
          <p:cNvPr id="7" name="Text 4"/>
          <p:cNvSpPr/>
          <p:nvPr/>
        </p:nvSpPr>
        <p:spPr>
          <a:xfrm>
            <a:off x="411480" y="4553712"/>
            <a:ext cx="8321040" cy="475488"/>
          </a:xfrm>
          <a:prstGeom prst="rect">
            <a:avLst/>
          </a:prstGeom>
          <a:noFill/>
          <a:ln/>
        </p:spPr>
        <p:txBody>
          <a:bodyPr wrap="square" rtlCol="0" anchor="ctr"/>
          <a:lstStyle/>
          <a:p>
            <a:pPr algn="ctr" indent="0" marL="0">
              <a:buNone/>
            </a:pPr>
            <a:r>
              <a:rPr lang="en-US" sz="1100" dirty="0">
                <a:solidFill>
                  <a:srgbClr val="8BAFC7"/>
                </a:solidFill>
                <a:latin typeface="Calibri" pitchFamily="34" charset="0"/>
                <a:ea typeface="Calibri" pitchFamily="34" charset="-122"/>
                <a:cs typeface="Calibri" pitchFamily="34" charset="-120"/>
              </a:rPr>
              <a:t>OR: Sọc dọc đậm &amp; đều (xung tuần hoàn mạnh) · IR: Sọc nhạt hơn · Ball: Sọc mờ, phân bố lộn xộn · Normal: Gần như trơn</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F35"/>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F5D4"/>
          </a:solidFill>
          <a:ln w="12700">
            <a:solidFill>
              <a:srgbClr val="00F5D4"/>
            </a:solidFill>
            <a:prstDash val="solid"/>
          </a:ln>
        </p:spPr>
      </p:sp>
      <p:sp>
        <p:nvSpPr>
          <p:cNvPr id="3" name="Shape 1"/>
          <p:cNvSpPr/>
          <p:nvPr/>
        </p:nvSpPr>
        <p:spPr>
          <a:xfrm>
            <a:off x="0" y="0"/>
            <a:ext cx="3200400" cy="5143500"/>
          </a:xfrm>
          <a:prstGeom prst="rect">
            <a:avLst/>
          </a:prstGeom>
          <a:solidFill>
            <a:srgbClr val="112233"/>
          </a:solidFill>
          <a:ln w="12700">
            <a:solidFill>
              <a:srgbClr val="112233"/>
            </a:solidFill>
            <a:prstDash val="solid"/>
          </a:ln>
        </p:spPr>
      </p:sp>
      <p:sp>
        <p:nvSpPr>
          <p:cNvPr id="4" name="Text 2"/>
          <p:cNvSpPr/>
          <p:nvPr/>
        </p:nvSpPr>
        <p:spPr>
          <a:xfrm>
            <a:off x="164592" y="914400"/>
            <a:ext cx="2834640" cy="457200"/>
          </a:xfrm>
          <a:prstGeom prst="rect">
            <a:avLst/>
          </a:prstGeom>
          <a:noFill/>
          <a:ln/>
        </p:spPr>
        <p:txBody>
          <a:bodyPr wrap="square" rtlCol="0" anchor="ctr"/>
          <a:lstStyle/>
          <a:p>
            <a:pPr indent="0" marL="0">
              <a:buNone/>
            </a:pPr>
            <a:r>
              <a:rPr lang="en-US" sz="1200" b="1" spc="400" kern="0" dirty="0">
                <a:solidFill>
                  <a:srgbClr val="00B4D8"/>
                </a:solidFill>
                <a:latin typeface="Calibri" pitchFamily="34" charset="0"/>
                <a:ea typeface="Calibri" pitchFamily="34" charset="-122"/>
                <a:cs typeface="Calibri" pitchFamily="34" charset="-120"/>
              </a:rPr>
              <a:t>PHẦN C · TUTORIAL 03</a:t>
            </a:r>
            <a:endParaRPr lang="en-US" sz="1200" dirty="0"/>
          </a:p>
        </p:txBody>
      </p:sp>
      <p:sp>
        <p:nvSpPr>
          <p:cNvPr id="5" name="Text 3"/>
          <p:cNvSpPr/>
          <p:nvPr/>
        </p:nvSpPr>
        <p:spPr>
          <a:xfrm>
            <a:off x="164592" y="1463040"/>
            <a:ext cx="2834640" cy="1645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Trích Đặc Trưng &amp; EDA</a:t>
            </a:r>
            <a:endParaRPr lang="en-US" sz="2200" dirty="0"/>
          </a:p>
        </p:txBody>
      </p:sp>
      <p:sp>
        <p:nvSpPr>
          <p:cNvPr id="6" name="Text 4"/>
          <p:cNvSpPr/>
          <p:nvPr/>
        </p:nvSpPr>
        <p:spPr>
          <a:xfrm>
            <a:off x="164592" y="3200400"/>
            <a:ext cx="2834640" cy="1371600"/>
          </a:xfrm>
          <a:prstGeom prst="rect">
            <a:avLst/>
          </a:prstGeom>
          <a:noFill/>
          <a:ln/>
        </p:spPr>
        <p:txBody>
          <a:bodyPr wrap="square" rtlCol="0" anchor="ctr"/>
          <a:lstStyle/>
          <a:p>
            <a:pPr indent="0" marL="0">
              <a:buNone/>
            </a:pPr>
            <a:r>
              <a:rPr lang="en-US" sz="1300" dirty="0">
                <a:solidFill>
                  <a:srgbClr val="8BAFC7"/>
                </a:solidFill>
                <a:latin typeface="Calibri" pitchFamily="34" charset="0"/>
                <a:ea typeface="Calibri" pitchFamily="34" charset="-122"/>
                <a:cs typeface="Calibri" pitchFamily="34" charset="-120"/>
              </a:rPr>
              <a:t>Nén 2048 mẫu → 19 đặc trưng · Cắt segment · Bẫy rò rỉ dữ liệu</a:t>
            </a:r>
            <a:endParaRPr lang="en-US" sz="1300" dirty="0"/>
          </a:p>
        </p:txBody>
      </p:sp>
      <p:sp>
        <p:nvSpPr>
          <p:cNvPr id="7" name="Text 5"/>
          <p:cNvSpPr/>
          <p:nvPr/>
        </p:nvSpPr>
        <p:spPr>
          <a:xfrm>
            <a:off x="3657600" y="1371600"/>
            <a:ext cx="5212080" cy="3200400"/>
          </a:xfrm>
          <a:prstGeom prst="rect">
            <a:avLst/>
          </a:prstGeom>
          <a:noFill/>
          <a:ln/>
        </p:spPr>
        <p:txBody>
          <a:bodyPr wrap="square" rtlCol="0" anchor="ctr"/>
          <a:lstStyle/>
          <a:p>
            <a:pPr indent="0" marL="0">
              <a:buNone/>
            </a:pPr>
            <a:r>
              <a:rPr lang="en-US" sz="1400" b="1" dirty="0">
                <a:solidFill>
                  <a:srgbClr val="06D6A0"/>
                </a:solidFill>
                <a:latin typeface="Calibri" pitchFamily="34" charset="0"/>
                <a:ea typeface="Calibri" pitchFamily="34" charset="-122"/>
                <a:cs typeface="Calibri" pitchFamily="34" charset="-120"/>
              </a:rPr>
              <a:t>✔ </a:t>
            </a:r>
            <a:pPr indent="0" marL="0">
              <a:buNone/>
            </a:pPr>
            <a:r>
              <a:rPr lang="en-US" sz="1400" dirty="0">
                <a:solidFill>
                  <a:srgbClr val="E8F4FD"/>
                </a:solidFill>
                <a:latin typeface="Calibri" pitchFamily="34" charset="0"/>
                <a:ea typeface="Calibri" pitchFamily="34" charset="-122"/>
                <a:cs typeface="Calibri" pitchFamily="34" charset="-120"/>
              </a:rPr>
              <a:t>10 đặc trưng miền thời gian (Kurtosis, RMS...)
</a:t>
            </a:r>
            <a:pPr indent="0" marL="0">
              <a:buNone/>
            </a:pPr>
            <a:r>
              <a:rPr lang="en-US" sz="1400" b="1" dirty="0">
                <a:solidFill>
                  <a:srgbClr val="06D6A0"/>
                </a:solidFill>
                <a:latin typeface="Calibri" pitchFamily="34" charset="0"/>
                <a:ea typeface="Calibri" pitchFamily="34" charset="-122"/>
                <a:cs typeface="Calibri" pitchFamily="34" charset="-120"/>
              </a:rPr>
              <a:t>✔ </a:t>
            </a:r>
            <a:pPr indent="0" marL="0">
              <a:buNone/>
            </a:pPr>
            <a:r>
              <a:rPr lang="en-US" sz="1400" dirty="0">
                <a:solidFill>
                  <a:srgbClr val="E8F4FD"/>
                </a:solidFill>
                <a:latin typeface="Calibri" pitchFamily="34" charset="0"/>
                <a:ea typeface="Calibri" pitchFamily="34" charset="-122"/>
                <a:cs typeface="Calibri" pitchFamily="34" charset="-120"/>
              </a:rPr>
              <a:t>9 đặc trưng miền tần số (FFT mean, energy bands...)
</a:t>
            </a:r>
            <a:pPr indent="0" marL="0">
              <a:buNone/>
            </a:pPr>
            <a:r>
              <a:rPr lang="en-US" sz="1400" b="1" dirty="0">
                <a:solidFill>
                  <a:srgbClr val="06D6A0"/>
                </a:solidFill>
                <a:latin typeface="Calibri" pitchFamily="34" charset="0"/>
                <a:ea typeface="Calibri" pitchFamily="34" charset="-122"/>
                <a:cs typeface="Calibri" pitchFamily="34" charset="-120"/>
              </a:rPr>
              <a:t>✔ </a:t>
            </a:r>
            <a:pPr indent="0" marL="0">
              <a:buNone/>
            </a:pPr>
            <a:r>
              <a:rPr lang="en-US" sz="1400" dirty="0">
                <a:solidFill>
                  <a:srgbClr val="E8F4FD"/>
                </a:solidFill>
                <a:latin typeface="Calibri" pitchFamily="34" charset="0"/>
                <a:ea typeface="Calibri" pitchFamily="34" charset="-122"/>
                <a:cs typeface="Calibri" pitchFamily="34" charset="-120"/>
              </a:rPr>
              <a:t>Phân đoạn 2048 mẫu, overlap 50%
</a:t>
            </a:r>
            <a:pPr indent="0" marL="0">
              <a:buNone/>
            </a:pPr>
            <a:r>
              <a:rPr lang="en-US" sz="1400" b="1" dirty="0">
                <a:solidFill>
                  <a:srgbClr val="FFD166"/>
                </a:solidFill>
                <a:latin typeface="Calibri" pitchFamily="34" charset="0"/>
                <a:ea typeface="Calibri" pitchFamily="34" charset="-122"/>
                <a:cs typeface="Calibri" pitchFamily="34" charset="-120"/>
              </a:rPr>
              <a:t>⚠️ </a:t>
            </a:r>
            <a:pPr indent="0" marL="0">
              <a:buNone/>
            </a:pPr>
            <a:r>
              <a:rPr lang="en-US" sz="1400" dirty="0">
                <a:solidFill>
                  <a:srgbClr val="FFD166"/>
                </a:solidFill>
                <a:latin typeface="Calibri" pitchFamily="34" charset="0"/>
                <a:ea typeface="Calibri" pitchFamily="34" charset="-122"/>
                <a:cs typeface="Calibri" pitchFamily="34" charset="-120"/>
              </a:rPr>
              <a:t>Bẫy Data Leakage khi chia Train/Test</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4D8"/>
          </a:solidFill>
          <a:ln w="12700">
            <a:solidFill>
              <a:srgbClr val="00B4D8"/>
            </a:solidFill>
            <a:prstDash val="solid"/>
          </a:ln>
        </p:spPr>
      </p:sp>
      <p:sp>
        <p:nvSpPr>
          <p:cNvPr id="3" name="Text 1"/>
          <p:cNvSpPr/>
          <p:nvPr/>
        </p:nvSpPr>
        <p:spPr>
          <a:xfrm>
            <a:off x="365760" y="137160"/>
            <a:ext cx="8412480" cy="50292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Kurtosis — Chỉ Báo Nhạy Bén Phát Hiện Sớm Khuyết Tật</a:t>
            </a:r>
            <a:endParaRPr lang="en-US" sz="2000" dirty="0"/>
          </a:p>
        </p:txBody>
      </p:sp>
      <p:sp>
        <p:nvSpPr>
          <p:cNvPr id="4" name="Shape 2"/>
          <p:cNvSpPr/>
          <p:nvPr/>
        </p:nvSpPr>
        <p:spPr>
          <a:xfrm>
            <a:off x="365760" y="658368"/>
            <a:ext cx="8412480" cy="27432"/>
          </a:xfrm>
          <a:prstGeom prst="rect">
            <a:avLst/>
          </a:prstGeom>
          <a:solidFill>
            <a:srgbClr val="0077B6"/>
          </a:solidFill>
          <a:ln w="12700">
            <a:solidFill>
              <a:srgbClr val="0077B6"/>
            </a:solidFill>
            <a:prstDash val="solid"/>
          </a:ln>
        </p:spPr>
      </p:sp>
      <p:pic>
        <p:nvPicPr>
          <p:cNvPr id="5" name="Image 0" descr="preencoded.png">    </p:cNvPr>
          <p:cNvPicPr>
            <a:picLocks noChangeAspect="1"/>
          </p:cNvPicPr>
          <p:nvPr/>
        </p:nvPicPr>
        <p:blipFill>
          <a:blip r:embed="rId1"/>
          <a:srcRect l="0" r="0" t="0" b="0"/>
          <a:stretch/>
        </p:blipFill>
        <p:spPr>
          <a:xfrm>
            <a:off x="274320" y="777240"/>
            <a:ext cx="4754880" cy="3474720"/>
          </a:xfrm>
          <a:prstGeom prst="rect">
            <a:avLst/>
          </a:prstGeom>
        </p:spPr>
      </p:pic>
      <p:sp>
        <p:nvSpPr>
          <p:cNvPr id="6" name="Shape 3"/>
          <p:cNvSpPr/>
          <p:nvPr/>
        </p:nvSpPr>
        <p:spPr>
          <a:xfrm>
            <a:off x="5212080" y="822960"/>
            <a:ext cx="3657600" cy="3383280"/>
          </a:xfrm>
          <a:prstGeom prst="rect">
            <a:avLst/>
          </a:prstGeom>
          <a:solidFill>
            <a:srgbClr val="112233"/>
          </a:solidFill>
          <a:ln w="12700">
            <a:solidFill>
              <a:srgbClr val="0077B6"/>
            </a:solidFill>
            <a:prstDash val="solid"/>
          </a:ln>
        </p:spPr>
      </p:sp>
      <p:sp>
        <p:nvSpPr>
          <p:cNvPr id="7" name="Text 4"/>
          <p:cNvSpPr/>
          <p:nvPr/>
        </p:nvSpPr>
        <p:spPr>
          <a:xfrm>
            <a:off x="5321808" y="868680"/>
            <a:ext cx="3438144" cy="320040"/>
          </a:xfrm>
          <a:prstGeom prst="rect">
            <a:avLst/>
          </a:prstGeom>
          <a:noFill/>
          <a:ln/>
        </p:spPr>
        <p:txBody>
          <a:bodyPr wrap="square" rtlCol="0" anchor="ctr"/>
          <a:lstStyle/>
          <a:p>
            <a:pPr indent="0" marL="0">
              <a:buNone/>
            </a:pPr>
            <a:r>
              <a:rPr lang="en-US" sz="1300" b="1" dirty="0">
                <a:solidFill>
                  <a:srgbClr val="00B4D8"/>
                </a:solidFill>
                <a:latin typeface="Calibri" pitchFamily="34" charset="0"/>
                <a:ea typeface="Calibri" pitchFamily="34" charset="-122"/>
                <a:cs typeface="Calibri" pitchFamily="34" charset="-120"/>
              </a:rPr>
              <a:t>Ngưỡng hành động (Pearson)</a:t>
            </a:r>
            <a:endParaRPr lang="en-US" sz="1300" dirty="0"/>
          </a:p>
        </p:txBody>
      </p:sp>
      <p:sp>
        <p:nvSpPr>
          <p:cNvPr id="8" name="Shape 5"/>
          <p:cNvSpPr/>
          <p:nvPr/>
        </p:nvSpPr>
        <p:spPr>
          <a:xfrm>
            <a:off x="5303520" y="1298448"/>
            <a:ext cx="3474720" cy="685800"/>
          </a:xfrm>
          <a:prstGeom prst="rect">
            <a:avLst/>
          </a:prstGeom>
          <a:solidFill>
            <a:srgbClr val="0A1628"/>
          </a:solidFill>
          <a:ln w="12700">
            <a:solidFill>
              <a:srgbClr val="FFD166"/>
            </a:solidFill>
            <a:prstDash val="solid"/>
          </a:ln>
        </p:spPr>
      </p:sp>
      <p:sp>
        <p:nvSpPr>
          <p:cNvPr id="9" name="Text 6"/>
          <p:cNvSpPr/>
          <p:nvPr/>
        </p:nvSpPr>
        <p:spPr>
          <a:xfrm>
            <a:off x="5394960" y="1335024"/>
            <a:ext cx="731520" cy="274320"/>
          </a:xfrm>
          <a:prstGeom prst="rect">
            <a:avLst/>
          </a:prstGeom>
          <a:noFill/>
          <a:ln/>
        </p:spPr>
        <p:txBody>
          <a:bodyPr wrap="square" rtlCol="0" anchor="ctr"/>
          <a:lstStyle/>
          <a:p>
            <a:pPr indent="0" marL="0">
              <a:buNone/>
            </a:pPr>
            <a:r>
              <a:rPr lang="en-US" sz="1400" b="1" dirty="0">
                <a:solidFill>
                  <a:srgbClr val="FFD166"/>
                </a:solidFill>
                <a:latin typeface="Calibri" pitchFamily="34" charset="0"/>
                <a:ea typeface="Calibri" pitchFamily="34" charset="-122"/>
                <a:cs typeface="Calibri" pitchFamily="34" charset="-120"/>
              </a:rPr>
              <a:t>&gt; 3.5</a:t>
            </a:r>
            <a:endParaRPr lang="en-US" sz="1400" dirty="0"/>
          </a:p>
        </p:txBody>
      </p:sp>
      <p:sp>
        <p:nvSpPr>
          <p:cNvPr id="10" name="Text 7"/>
          <p:cNvSpPr/>
          <p:nvPr/>
        </p:nvSpPr>
        <p:spPr>
          <a:xfrm>
            <a:off x="5394960" y="1627632"/>
            <a:ext cx="3291840" cy="292608"/>
          </a:xfrm>
          <a:prstGeom prst="rect">
            <a:avLst/>
          </a:prstGeom>
          <a:noFill/>
          <a:ln/>
        </p:spPr>
        <p:txBody>
          <a:bodyPr wrap="square" rtlCol="0" anchor="ctr"/>
          <a:lstStyle/>
          <a:p>
            <a:pPr indent="0" marL="0">
              <a:buNone/>
            </a:pPr>
            <a:r>
              <a:rPr lang="en-US" sz="1100" dirty="0">
                <a:solidFill>
                  <a:srgbClr val="E8F4FD"/>
                </a:solidFill>
                <a:latin typeface="Calibri" pitchFamily="34" charset="0"/>
                <a:ea typeface="Calibri" pitchFamily="34" charset="-122"/>
                <a:cs typeface="Calibri" pitchFamily="34" charset="-120"/>
              </a:rPr>
              <a:t>Đưa vào danh sách giám sát đặc biệt</a:t>
            </a:r>
            <a:endParaRPr lang="en-US" sz="1100" dirty="0"/>
          </a:p>
        </p:txBody>
      </p:sp>
      <p:sp>
        <p:nvSpPr>
          <p:cNvPr id="11" name="Shape 8"/>
          <p:cNvSpPr/>
          <p:nvPr/>
        </p:nvSpPr>
        <p:spPr>
          <a:xfrm>
            <a:off x="5303520" y="2103120"/>
            <a:ext cx="3474720" cy="685800"/>
          </a:xfrm>
          <a:prstGeom prst="rect">
            <a:avLst/>
          </a:prstGeom>
          <a:solidFill>
            <a:srgbClr val="0A1628"/>
          </a:solidFill>
          <a:ln w="12700">
            <a:solidFill>
              <a:srgbClr val="FF8800"/>
            </a:solidFill>
            <a:prstDash val="solid"/>
          </a:ln>
        </p:spPr>
      </p:sp>
      <p:sp>
        <p:nvSpPr>
          <p:cNvPr id="12" name="Text 9"/>
          <p:cNvSpPr/>
          <p:nvPr/>
        </p:nvSpPr>
        <p:spPr>
          <a:xfrm>
            <a:off x="5394960" y="2139696"/>
            <a:ext cx="731520" cy="274320"/>
          </a:xfrm>
          <a:prstGeom prst="rect">
            <a:avLst/>
          </a:prstGeom>
          <a:noFill/>
          <a:ln/>
        </p:spPr>
        <p:txBody>
          <a:bodyPr wrap="square" rtlCol="0" anchor="ctr"/>
          <a:lstStyle/>
          <a:p>
            <a:pPr indent="0" marL="0">
              <a:buNone/>
            </a:pPr>
            <a:r>
              <a:rPr lang="en-US" sz="1400" b="1" dirty="0">
                <a:solidFill>
                  <a:srgbClr val="FF8800"/>
                </a:solidFill>
                <a:latin typeface="Calibri" pitchFamily="34" charset="0"/>
                <a:ea typeface="Calibri" pitchFamily="34" charset="-122"/>
                <a:cs typeface="Calibri" pitchFamily="34" charset="-120"/>
              </a:rPr>
              <a:t>&gt; 6.0</a:t>
            </a:r>
            <a:endParaRPr lang="en-US" sz="1400" dirty="0"/>
          </a:p>
        </p:txBody>
      </p:sp>
      <p:sp>
        <p:nvSpPr>
          <p:cNvPr id="13" name="Text 10"/>
          <p:cNvSpPr/>
          <p:nvPr/>
        </p:nvSpPr>
        <p:spPr>
          <a:xfrm>
            <a:off x="5394960" y="2432304"/>
            <a:ext cx="3291840" cy="292608"/>
          </a:xfrm>
          <a:prstGeom prst="rect">
            <a:avLst/>
          </a:prstGeom>
          <a:noFill/>
          <a:ln/>
        </p:spPr>
        <p:txBody>
          <a:bodyPr wrap="square" rtlCol="0" anchor="ctr"/>
          <a:lstStyle/>
          <a:p>
            <a:pPr indent="0" marL="0">
              <a:buNone/>
            </a:pPr>
            <a:r>
              <a:rPr lang="en-US" sz="1100" dirty="0">
                <a:solidFill>
                  <a:srgbClr val="E8F4FD"/>
                </a:solidFill>
                <a:latin typeface="Calibri" pitchFamily="34" charset="0"/>
                <a:ea typeface="Calibri" pitchFamily="34" charset="-122"/>
                <a:cs typeface="Calibri" pitchFamily="34" charset="-120"/>
              </a:rPr>
              <a:t>Lên kế hoạch thay thế ổ lăn</a:t>
            </a:r>
            <a:endParaRPr lang="en-US" sz="1100" dirty="0"/>
          </a:p>
        </p:txBody>
      </p:sp>
      <p:sp>
        <p:nvSpPr>
          <p:cNvPr id="14" name="Shape 11"/>
          <p:cNvSpPr/>
          <p:nvPr/>
        </p:nvSpPr>
        <p:spPr>
          <a:xfrm>
            <a:off x="5303520" y="2907792"/>
            <a:ext cx="3474720" cy="685800"/>
          </a:xfrm>
          <a:prstGeom prst="rect">
            <a:avLst/>
          </a:prstGeom>
          <a:solidFill>
            <a:srgbClr val="0A1628"/>
          </a:solidFill>
          <a:ln w="12700">
            <a:solidFill>
              <a:srgbClr val="EF476F"/>
            </a:solidFill>
            <a:prstDash val="solid"/>
          </a:ln>
        </p:spPr>
      </p:sp>
      <p:sp>
        <p:nvSpPr>
          <p:cNvPr id="15" name="Text 12"/>
          <p:cNvSpPr/>
          <p:nvPr/>
        </p:nvSpPr>
        <p:spPr>
          <a:xfrm>
            <a:off x="5394960" y="2944368"/>
            <a:ext cx="731520" cy="274320"/>
          </a:xfrm>
          <a:prstGeom prst="rect">
            <a:avLst/>
          </a:prstGeom>
          <a:noFill/>
          <a:ln/>
        </p:spPr>
        <p:txBody>
          <a:bodyPr wrap="square" rtlCol="0" anchor="ctr"/>
          <a:lstStyle/>
          <a:p>
            <a:pPr indent="0" marL="0">
              <a:buNone/>
            </a:pPr>
            <a:r>
              <a:rPr lang="en-US" sz="1400" b="1" dirty="0">
                <a:solidFill>
                  <a:srgbClr val="EF476F"/>
                </a:solidFill>
                <a:latin typeface="Calibri" pitchFamily="34" charset="0"/>
                <a:ea typeface="Calibri" pitchFamily="34" charset="-122"/>
                <a:cs typeface="Calibri" pitchFamily="34" charset="-120"/>
              </a:rPr>
              <a:t>&gt; 10.0</a:t>
            </a:r>
            <a:endParaRPr lang="en-US" sz="1400" dirty="0"/>
          </a:p>
        </p:txBody>
      </p:sp>
      <p:sp>
        <p:nvSpPr>
          <p:cNvPr id="16" name="Text 13"/>
          <p:cNvSpPr/>
          <p:nvPr/>
        </p:nvSpPr>
        <p:spPr>
          <a:xfrm>
            <a:off x="5394960" y="3236976"/>
            <a:ext cx="3291840" cy="292608"/>
          </a:xfrm>
          <a:prstGeom prst="rect">
            <a:avLst/>
          </a:prstGeom>
          <a:noFill/>
          <a:ln/>
        </p:spPr>
        <p:txBody>
          <a:bodyPr wrap="square" rtlCol="0" anchor="ctr"/>
          <a:lstStyle/>
          <a:p>
            <a:pPr indent="0" marL="0">
              <a:buNone/>
            </a:pPr>
            <a:r>
              <a:rPr lang="en-US" sz="1100" dirty="0">
                <a:solidFill>
                  <a:srgbClr val="E8F4FD"/>
                </a:solidFill>
                <a:latin typeface="Calibri" pitchFamily="34" charset="0"/>
                <a:ea typeface="Calibri" pitchFamily="34" charset="-122"/>
                <a:cs typeface="Calibri" pitchFamily="34" charset="-120"/>
              </a:rPr>
              <a:t>Dừng máy để can thiệp khẩn cấp</a:t>
            </a:r>
            <a:endParaRPr lang="en-US" sz="1100" dirty="0"/>
          </a:p>
        </p:txBody>
      </p:sp>
      <p:sp>
        <p:nvSpPr>
          <p:cNvPr id="17" name="Shape 14"/>
          <p:cNvSpPr/>
          <p:nvPr/>
        </p:nvSpPr>
        <p:spPr>
          <a:xfrm>
            <a:off x="5303520" y="3749040"/>
            <a:ext cx="3474720" cy="384048"/>
          </a:xfrm>
          <a:prstGeom prst="rect">
            <a:avLst/>
          </a:prstGeom>
          <a:solidFill>
            <a:srgbClr val="112233"/>
          </a:solidFill>
          <a:ln w="12700">
            <a:solidFill>
              <a:srgbClr val="4A6278"/>
            </a:solidFill>
            <a:prstDash val="solid"/>
          </a:ln>
        </p:spPr>
      </p:sp>
      <p:sp>
        <p:nvSpPr>
          <p:cNvPr id="18" name="Text 15"/>
          <p:cNvSpPr/>
          <p:nvPr/>
        </p:nvSpPr>
        <p:spPr>
          <a:xfrm>
            <a:off x="5349240" y="3767328"/>
            <a:ext cx="3383280" cy="347472"/>
          </a:xfrm>
          <a:prstGeom prst="rect">
            <a:avLst/>
          </a:prstGeom>
          <a:noFill/>
          <a:ln/>
        </p:spPr>
        <p:txBody>
          <a:bodyPr wrap="square" rtlCol="0" anchor="ctr"/>
          <a:lstStyle/>
          <a:p>
            <a:pPr indent="0" marL="0">
              <a:buNone/>
            </a:pPr>
            <a:r>
              <a:rPr lang="en-US" sz="1000" i="1" dirty="0">
                <a:solidFill>
                  <a:srgbClr val="FFD166"/>
                </a:solidFill>
                <a:latin typeface="Calibri" pitchFamily="34" charset="0"/>
                <a:ea typeface="Calibri" pitchFamily="34" charset="-122"/>
                <a:cs typeface="Calibri" pitchFamily="34" charset="-120"/>
              </a:rPr>
              <a:t>⚠️  Dùng kurtosis(fisher=False) trong scipy để Normal ≈ 3 (tiêu chuẩn ngành)</a:t>
            </a:r>
            <a:endParaRPr lang="en-US" sz="1000" dirty="0"/>
          </a:p>
        </p:txBody>
      </p:sp>
      <p:sp>
        <p:nvSpPr>
          <p:cNvPr id="19" name="Shape 16"/>
          <p:cNvSpPr/>
          <p:nvPr/>
        </p:nvSpPr>
        <p:spPr>
          <a:xfrm>
            <a:off x="274320" y="4315968"/>
            <a:ext cx="8595360" cy="640080"/>
          </a:xfrm>
          <a:prstGeom prst="rect">
            <a:avLst/>
          </a:prstGeom>
          <a:solidFill>
            <a:srgbClr val="112233"/>
          </a:solidFill>
          <a:ln w="12700">
            <a:solidFill>
              <a:srgbClr val="4A6278"/>
            </a:solidFill>
            <a:prstDash val="solid"/>
          </a:ln>
        </p:spPr>
      </p:sp>
      <p:sp>
        <p:nvSpPr>
          <p:cNvPr id="20" name="Text 17"/>
          <p:cNvSpPr/>
          <p:nvPr/>
        </p:nvSpPr>
        <p:spPr>
          <a:xfrm>
            <a:off x="411480" y="4343400"/>
            <a:ext cx="8321040" cy="566928"/>
          </a:xfrm>
          <a:prstGeom prst="rect">
            <a:avLst/>
          </a:prstGeom>
          <a:noFill/>
          <a:ln/>
        </p:spPr>
        <p:txBody>
          <a:bodyPr wrap="square" rtlCol="0" anchor="ctr"/>
          <a:lstStyle/>
          <a:p>
            <a:pPr indent="0" marL="0">
              <a:buNone/>
            </a:pPr>
            <a:r>
              <a:rPr lang="en-US" sz="1100" dirty="0">
                <a:solidFill>
                  <a:srgbClr val="FFD166"/>
                </a:solidFill>
                <a:latin typeface="Calibri" pitchFamily="34" charset="0"/>
                <a:ea typeface="Calibri" pitchFamily="34" charset="-122"/>
                <a:cs typeface="Calibri" pitchFamily="34" charset="-120"/>
              </a:rPr>
              <a:t>⚠️  BẪY DATA LEAKAGE: Segment chồng lấp 50% → hai segment kề nhau dùng chung 1024 mẫu → chia ngẫu nhiên sẽ tạo độ chính xác ảo!</a:t>
            </a:r>
            <a:endParaRPr lang="en-US" sz="1100" dirty="0"/>
          </a:p>
          <a:p>
            <a:pPr indent="0" marL="0">
              <a:buNone/>
            </a:pPr>
            <a:r>
              <a:rPr lang="en-US" sz="1100" dirty="0">
                <a:solidFill>
                  <a:srgbClr val="FFD166"/>
                </a:solidFill>
                <a:latin typeface="Calibri" pitchFamily="34" charset="0"/>
                <a:ea typeface="Calibri" pitchFamily="34" charset="-122"/>
                <a:cs typeface="Calibri" pitchFamily="34" charset="-120"/>
              </a:rPr>
              <a:t>→ Giải pháp: Chia tập Train/Test theo File ID nguồn (GroupShuffleSplit).</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1F35"/>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F5D4"/>
          </a:solidFill>
          <a:ln w="12700">
            <a:solidFill>
              <a:srgbClr val="00F5D4"/>
            </a:solidFill>
            <a:prstDash val="solid"/>
          </a:ln>
        </p:spPr>
      </p:sp>
      <p:sp>
        <p:nvSpPr>
          <p:cNvPr id="3" name="Shape 1"/>
          <p:cNvSpPr/>
          <p:nvPr/>
        </p:nvSpPr>
        <p:spPr>
          <a:xfrm>
            <a:off x="0" y="0"/>
            <a:ext cx="3200400" cy="5143500"/>
          </a:xfrm>
          <a:prstGeom prst="rect">
            <a:avLst/>
          </a:prstGeom>
          <a:solidFill>
            <a:srgbClr val="112233"/>
          </a:solidFill>
          <a:ln w="12700">
            <a:solidFill>
              <a:srgbClr val="112233"/>
            </a:solidFill>
            <a:prstDash val="solid"/>
          </a:ln>
        </p:spPr>
      </p:sp>
      <p:sp>
        <p:nvSpPr>
          <p:cNvPr id="4" name="Text 2"/>
          <p:cNvSpPr/>
          <p:nvPr/>
        </p:nvSpPr>
        <p:spPr>
          <a:xfrm>
            <a:off x="164592" y="914400"/>
            <a:ext cx="2834640" cy="457200"/>
          </a:xfrm>
          <a:prstGeom prst="rect">
            <a:avLst/>
          </a:prstGeom>
          <a:noFill/>
          <a:ln/>
        </p:spPr>
        <p:txBody>
          <a:bodyPr wrap="square" rtlCol="0" anchor="ctr"/>
          <a:lstStyle/>
          <a:p>
            <a:pPr indent="0" marL="0">
              <a:buNone/>
            </a:pPr>
            <a:r>
              <a:rPr lang="en-US" sz="1200" b="1" spc="400" kern="0" dirty="0">
                <a:solidFill>
                  <a:srgbClr val="00B4D8"/>
                </a:solidFill>
                <a:latin typeface="Calibri" pitchFamily="34" charset="0"/>
                <a:ea typeface="Calibri" pitchFamily="34" charset="-122"/>
                <a:cs typeface="Calibri" pitchFamily="34" charset="-120"/>
              </a:rPr>
              <a:t>PHẦN B</a:t>
            </a:r>
            <a:endParaRPr lang="en-US" sz="1200" dirty="0"/>
          </a:p>
        </p:txBody>
      </p:sp>
      <p:sp>
        <p:nvSpPr>
          <p:cNvPr id="5" name="Text 3"/>
          <p:cNvSpPr/>
          <p:nvPr/>
        </p:nvSpPr>
        <p:spPr>
          <a:xfrm>
            <a:off x="164592" y="1463040"/>
            <a:ext cx="2834640" cy="1645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SVM &amp; Random Forest</a:t>
            </a:r>
            <a:endParaRPr lang="en-US" sz="2200" dirty="0"/>
          </a:p>
        </p:txBody>
      </p:sp>
      <p:sp>
        <p:nvSpPr>
          <p:cNvPr id="6" name="Text 4"/>
          <p:cNvSpPr/>
          <p:nvPr/>
        </p:nvSpPr>
        <p:spPr>
          <a:xfrm>
            <a:off x="164592" y="3200400"/>
            <a:ext cx="2834640" cy="1371600"/>
          </a:xfrm>
          <a:prstGeom prst="rect">
            <a:avLst/>
          </a:prstGeom>
          <a:noFill/>
          <a:ln/>
        </p:spPr>
        <p:txBody>
          <a:bodyPr wrap="square" rtlCol="0" anchor="ctr"/>
          <a:lstStyle/>
          <a:p>
            <a:pPr indent="0" marL="0">
              <a:buNone/>
            </a:pPr>
            <a:r>
              <a:rPr lang="en-US" sz="1300" dirty="0">
                <a:solidFill>
                  <a:srgbClr val="8BAFC7"/>
                </a:solidFill>
                <a:latin typeface="Calibri" pitchFamily="34" charset="0"/>
                <a:ea typeface="Calibri" pitchFamily="34" charset="-122"/>
                <a:cs typeface="Calibri" pitchFamily="34" charset="-120"/>
              </a:rPr>
              <a:t>Nguyên lý toán học · Kernel RBF · Feature Importance</a:t>
            </a:r>
            <a:endParaRPr lang="en-US" sz="1300" dirty="0"/>
          </a:p>
        </p:txBody>
      </p:sp>
      <p:sp>
        <p:nvSpPr>
          <p:cNvPr id="7" name="Text 5"/>
          <p:cNvSpPr/>
          <p:nvPr/>
        </p:nvSpPr>
        <p:spPr>
          <a:xfrm>
            <a:off x="3657600" y="1371600"/>
            <a:ext cx="5212080" cy="3200400"/>
          </a:xfrm>
          <a:prstGeom prst="rect">
            <a:avLst/>
          </a:prstGeom>
          <a:noFill/>
          <a:ln/>
        </p:spPr>
        <p:txBody>
          <a:bodyPr wrap="square" rtlCol="0" anchor="ctr"/>
          <a:lstStyle/>
          <a:p>
            <a:pPr indent="0" marL="0">
              <a:buNone/>
            </a:pPr>
            <a:r>
              <a:rPr lang="en-US" sz="1400" b="1" dirty="0">
                <a:solidFill>
                  <a:srgbClr val="06D6A0"/>
                </a:solidFill>
                <a:latin typeface="Calibri" pitchFamily="34" charset="0"/>
                <a:ea typeface="Calibri" pitchFamily="34" charset="-122"/>
                <a:cs typeface="Calibri" pitchFamily="34" charset="-120"/>
              </a:rPr>
              <a:t>✔ </a:t>
            </a:r>
            <a:pPr indent="0" marL="0">
              <a:buNone/>
            </a:pPr>
            <a:r>
              <a:rPr lang="en-US" sz="1400" dirty="0">
                <a:solidFill>
                  <a:srgbClr val="E8F4FD"/>
                </a:solidFill>
                <a:latin typeface="Calibri" pitchFamily="34" charset="0"/>
                <a:ea typeface="Calibri" pitchFamily="34" charset="-122"/>
                <a:cs typeface="Calibri" pitchFamily="34" charset="-120"/>
              </a:rPr>
              <a:t>Trực quan hình học SVM &amp; biên an toàn
</a:t>
            </a:r>
            <a:pPr indent="0" marL="0">
              <a:buNone/>
            </a:pPr>
            <a:r>
              <a:rPr lang="en-US" sz="1400" b="1" dirty="0">
                <a:solidFill>
                  <a:srgbClr val="06D6A0"/>
                </a:solidFill>
                <a:latin typeface="Calibri" pitchFamily="34" charset="0"/>
                <a:ea typeface="Calibri" pitchFamily="34" charset="-122"/>
                <a:cs typeface="Calibri" pitchFamily="34" charset="-120"/>
              </a:rPr>
              <a:t>✔ </a:t>
            </a:r>
            <a:pPr indent="0" marL="0">
              <a:buNone/>
            </a:pPr>
            <a:r>
              <a:rPr lang="en-US" sz="1400" dirty="0">
                <a:solidFill>
                  <a:srgbClr val="E8F4FD"/>
                </a:solidFill>
                <a:latin typeface="Calibri" pitchFamily="34" charset="0"/>
                <a:ea typeface="Calibri" pitchFamily="34" charset="-122"/>
                <a:cs typeface="Calibri" pitchFamily="34" charset="-120"/>
              </a:rPr>
              <a:t>Kernel RBF: Nâng chiều để phân tách phi tuyến
</a:t>
            </a:r>
            <a:pPr indent="0" marL="0">
              <a:buNone/>
            </a:pPr>
            <a:r>
              <a:rPr lang="en-US" sz="1400" b="1" dirty="0">
                <a:solidFill>
                  <a:srgbClr val="06D6A0"/>
                </a:solidFill>
                <a:latin typeface="Calibri" pitchFamily="34" charset="0"/>
                <a:ea typeface="Calibri" pitchFamily="34" charset="-122"/>
                <a:cs typeface="Calibri" pitchFamily="34" charset="-120"/>
              </a:rPr>
              <a:t>✔ </a:t>
            </a:r>
            <a:pPr indent="0" marL="0">
              <a:buNone/>
            </a:pPr>
            <a:r>
              <a:rPr lang="en-US" sz="1400" dirty="0">
                <a:solidFill>
                  <a:srgbClr val="E8F4FD"/>
                </a:solidFill>
                <a:latin typeface="Calibri" pitchFamily="34" charset="0"/>
                <a:ea typeface="Calibri" pitchFamily="34" charset="-122"/>
                <a:cs typeface="Calibri" pitchFamily="34" charset="-120"/>
              </a:rPr>
              <a:t>Random Forest: Biểu quyết đa số từ nhiều cây
</a:t>
            </a:r>
            <a:pPr indent="0" marL="0">
              <a:buNone/>
            </a:pPr>
            <a:r>
              <a:rPr lang="en-US" sz="1400" b="1" dirty="0">
                <a:solidFill>
                  <a:srgbClr val="06D6A0"/>
                </a:solidFill>
                <a:latin typeface="Calibri" pitchFamily="34" charset="0"/>
                <a:ea typeface="Calibri" pitchFamily="34" charset="-122"/>
                <a:cs typeface="Calibri" pitchFamily="34" charset="-120"/>
              </a:rPr>
              <a:t>✔ </a:t>
            </a:r>
            <a:pPr indent="0" marL="0">
              <a:buNone/>
            </a:pPr>
            <a:r>
              <a:rPr lang="en-US" sz="1400" dirty="0">
                <a:solidFill>
                  <a:srgbClr val="E8F4FD"/>
                </a:solidFill>
                <a:latin typeface="Calibri" pitchFamily="34" charset="0"/>
                <a:ea typeface="Calibri" pitchFamily="34" charset="-122"/>
                <a:cs typeface="Calibri" pitchFamily="34" charset="-120"/>
              </a:rPr>
              <a:t>Feature Importance — xếp hạng đặc trưng</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4D8"/>
          </a:solidFill>
          <a:ln w="12700">
            <a:solidFill>
              <a:srgbClr val="00B4D8"/>
            </a:solidFill>
            <a:prstDash val="solid"/>
          </a:ln>
        </p:spPr>
      </p:sp>
      <p:sp>
        <p:nvSpPr>
          <p:cNvPr id="3" name="Text 1"/>
          <p:cNvSpPr/>
          <p:nvPr/>
        </p:nvSpPr>
        <p:spPr>
          <a:xfrm>
            <a:off x="365760" y="137160"/>
            <a:ext cx="8412480" cy="50292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SVM — Đường Biên An Toàn Nhất &amp; Kernel RBF</a:t>
            </a:r>
            <a:endParaRPr lang="en-US" sz="2000" dirty="0"/>
          </a:p>
        </p:txBody>
      </p:sp>
      <p:sp>
        <p:nvSpPr>
          <p:cNvPr id="4" name="Shape 2"/>
          <p:cNvSpPr/>
          <p:nvPr/>
        </p:nvSpPr>
        <p:spPr>
          <a:xfrm>
            <a:off x="365760" y="658368"/>
            <a:ext cx="8412480" cy="27432"/>
          </a:xfrm>
          <a:prstGeom prst="rect">
            <a:avLst/>
          </a:prstGeom>
          <a:solidFill>
            <a:srgbClr val="0077B6"/>
          </a:solidFill>
          <a:ln w="12700">
            <a:solidFill>
              <a:srgbClr val="0077B6"/>
            </a:solidFill>
            <a:prstDash val="solid"/>
          </a:ln>
        </p:spPr>
      </p:sp>
      <p:pic>
        <p:nvPicPr>
          <p:cNvPr id="5" name="Image 0" descr="preencoded.png">    </p:cNvPr>
          <p:cNvPicPr>
            <a:picLocks noChangeAspect="1"/>
          </p:cNvPicPr>
          <p:nvPr/>
        </p:nvPicPr>
        <p:blipFill>
          <a:blip r:embed="rId1"/>
          <a:srcRect l="0" r="0" t="0" b="0"/>
          <a:stretch/>
        </p:blipFill>
        <p:spPr>
          <a:xfrm>
            <a:off x="274320" y="777240"/>
            <a:ext cx="4023360" cy="2926080"/>
          </a:xfrm>
          <a:prstGeom prst="rect">
            <a:avLst/>
          </a:prstGeom>
        </p:spPr>
      </p:pic>
      <p:pic>
        <p:nvPicPr>
          <p:cNvPr id="6" name="Image 1" descr="preencoded.png">    </p:cNvPr>
          <p:cNvPicPr>
            <a:picLocks noChangeAspect="1"/>
          </p:cNvPicPr>
          <p:nvPr/>
        </p:nvPicPr>
        <p:blipFill>
          <a:blip r:embed="rId2"/>
          <a:srcRect l="0" r="0" t="0" b="0"/>
          <a:stretch/>
        </p:blipFill>
        <p:spPr>
          <a:xfrm>
            <a:off x="4389120" y="777240"/>
            <a:ext cx="4480560" cy="2743200"/>
          </a:xfrm>
          <a:prstGeom prst="rect">
            <a:avLst/>
          </a:prstGeom>
        </p:spPr>
      </p:pic>
      <p:sp>
        <p:nvSpPr>
          <p:cNvPr id="7" name="Shape 3"/>
          <p:cNvSpPr/>
          <p:nvPr/>
        </p:nvSpPr>
        <p:spPr>
          <a:xfrm>
            <a:off x="274320" y="3749040"/>
            <a:ext cx="4023360" cy="1188720"/>
          </a:xfrm>
          <a:prstGeom prst="rect">
            <a:avLst/>
          </a:prstGeom>
          <a:solidFill>
            <a:srgbClr val="112233"/>
          </a:solidFill>
          <a:ln w="12700">
            <a:solidFill>
              <a:srgbClr val="0077B6"/>
            </a:solidFill>
            <a:prstDash val="solid"/>
          </a:ln>
        </p:spPr>
      </p:sp>
      <p:sp>
        <p:nvSpPr>
          <p:cNvPr id="8" name="Text 4"/>
          <p:cNvSpPr/>
          <p:nvPr/>
        </p:nvSpPr>
        <p:spPr>
          <a:xfrm>
            <a:off x="365760" y="3794760"/>
            <a:ext cx="3840480" cy="1097280"/>
          </a:xfrm>
          <a:prstGeom prst="rect">
            <a:avLst/>
          </a:prstGeom>
          <a:noFill/>
          <a:ln/>
        </p:spPr>
        <p:txBody>
          <a:bodyPr wrap="square" rtlCol="0" anchor="ctr"/>
          <a:lstStyle/>
          <a:p>
            <a:pPr indent="0" marL="0">
              <a:buNone/>
            </a:pPr>
            <a:r>
              <a:rPr lang="en-US" sz="1100" dirty="0">
                <a:solidFill>
                  <a:srgbClr val="E8F4FD"/>
                </a:solidFill>
                <a:latin typeface="Calibri" pitchFamily="34" charset="0"/>
                <a:ea typeface="Calibri" pitchFamily="34" charset="-122"/>
                <a:cs typeface="Calibri" pitchFamily="34" charset="-120"/>
              </a:rPr>
              <a:t>SVM tìm siêu phẳng có Margin lớn nhất.</a:t>
            </a:r>
            <a:endParaRPr lang="en-US" sz="1100" dirty="0"/>
          </a:p>
          <a:p>
            <a:pPr indent="0" marL="0">
              <a:buNone/>
            </a:pPr>
            <a:r>
              <a:rPr lang="en-US" sz="1100" dirty="0">
                <a:solidFill>
                  <a:srgbClr val="E8F4FD"/>
                </a:solidFill>
                <a:latin typeface="Calibri" pitchFamily="34" charset="0"/>
                <a:ea typeface="Calibri" pitchFamily="34" charset="-122"/>
                <a:cs typeface="Calibri" pitchFamily="34" charset="-120"/>
              </a:rPr>
              <a:t>Kernel RBF: K(x,x') = exp(−γ‖x−x'‖²)</a:t>
            </a:r>
            <a:endParaRPr lang="en-US" sz="1100" dirty="0"/>
          </a:p>
          <a:p>
            <a:pPr indent="0" marL="0">
              <a:buNone/>
            </a:pPr>
            <a:r>
              <a:rPr lang="en-US" sz="1100" dirty="0">
                <a:solidFill>
                  <a:srgbClr val="E8F4FD"/>
                </a:solidFill>
                <a:latin typeface="Calibri" pitchFamily="34" charset="0"/>
                <a:ea typeface="Calibri" pitchFamily="34" charset="-122"/>
                <a:cs typeface="Calibri" pitchFamily="34" charset="-120"/>
              </a:rPr>
              <a:t>C lớn → fit chặt (overfit); C nhỏ → tổng quát hóa tốt.</a:t>
            </a:r>
            <a:endParaRPr lang="en-US" sz="1100" dirty="0"/>
          </a:p>
        </p:txBody>
      </p:sp>
      <p:sp>
        <p:nvSpPr>
          <p:cNvPr id="9" name="Shape 5"/>
          <p:cNvSpPr/>
          <p:nvPr/>
        </p:nvSpPr>
        <p:spPr>
          <a:xfrm>
            <a:off x="4389120" y="3657600"/>
            <a:ext cx="4480560" cy="1280160"/>
          </a:xfrm>
          <a:prstGeom prst="rect">
            <a:avLst/>
          </a:prstGeom>
          <a:solidFill>
            <a:srgbClr val="112233"/>
          </a:solidFill>
          <a:ln w="12700">
            <a:solidFill>
              <a:srgbClr val="0077B6"/>
            </a:solidFill>
            <a:prstDash val="solid"/>
          </a:ln>
        </p:spPr>
      </p:sp>
      <p:sp>
        <p:nvSpPr>
          <p:cNvPr id="10" name="Text 6"/>
          <p:cNvSpPr/>
          <p:nvPr/>
        </p:nvSpPr>
        <p:spPr>
          <a:xfrm>
            <a:off x="4480560" y="3703320"/>
            <a:ext cx="4297680" cy="1188720"/>
          </a:xfrm>
          <a:prstGeom prst="rect">
            <a:avLst/>
          </a:prstGeom>
          <a:noFill/>
          <a:ln/>
        </p:spPr>
        <p:txBody>
          <a:bodyPr wrap="square" rtlCol="0" anchor="ctr"/>
          <a:lstStyle/>
          <a:p>
            <a:pPr indent="0" marL="0">
              <a:buNone/>
            </a:pPr>
            <a:r>
              <a:rPr lang="en-US" sz="1100" dirty="0">
                <a:solidFill>
                  <a:srgbClr val="E8F4FD"/>
                </a:solidFill>
                <a:latin typeface="Calibri" pitchFamily="34" charset="0"/>
                <a:ea typeface="Calibri" pitchFamily="34" charset="-122"/>
                <a:cs typeface="Calibri" pitchFamily="34" charset="-120"/>
              </a:rPr>
              <a:t>Kernel RBF chiếu dữ liệu lên không gian cao chiều:</a:t>
            </a:r>
            <a:endParaRPr lang="en-US" sz="1100" dirty="0"/>
          </a:p>
          <a:p>
            <a:pPr indent="0" marL="0">
              <a:buNone/>
            </a:pPr>
            <a:r>
              <a:rPr lang="en-US" sz="1100" dirty="0">
                <a:solidFill>
                  <a:srgbClr val="E8F4FD"/>
                </a:solidFill>
                <a:latin typeface="Calibri" pitchFamily="34" charset="0"/>
                <a:ea typeface="Calibri" pitchFamily="34" charset="-122"/>
                <a:cs typeface="Calibri" pitchFamily="34" charset="-120"/>
              </a:rPr>
              <a:t>Dữ liệu không phân tách tuyến tính trong 2D → Phân tách dễ dàng bằng mặt phẳng trong 3D.</a:t>
            </a:r>
            <a:endParaRPr lang="en-US" sz="1100" dirty="0"/>
          </a:p>
          <a:p>
            <a:pPr indent="0" marL="0">
              <a:buNone/>
            </a:pPr>
            <a:r>
              <a:rPr lang="en-US" sz="1100" dirty="0">
                <a:solidFill>
                  <a:srgbClr val="E8F4FD"/>
                </a:solidFill>
                <a:latin typeface="Calibri" pitchFamily="34" charset="0"/>
                <a:ea typeface="Calibri" pitchFamily="34" charset="-122"/>
                <a:cs typeface="Calibri" pitchFamily="34" charset="-120"/>
              </a:rPr>
              <a:t>⚠️  Bật probability=True để dùng SHAP (chậm hơn 3–5 lần).</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4D8"/>
          </a:solidFill>
          <a:ln w="12700">
            <a:solidFill>
              <a:srgbClr val="00B4D8"/>
            </a:solidFill>
            <a:prstDash val="solid"/>
          </a:ln>
        </p:spPr>
      </p:sp>
      <p:sp>
        <p:nvSpPr>
          <p:cNvPr id="3" name="Text 1"/>
          <p:cNvSpPr/>
          <p:nvPr/>
        </p:nvSpPr>
        <p:spPr>
          <a:xfrm>
            <a:off x="365760" y="137160"/>
            <a:ext cx="8412480" cy="50292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Random Forest — Hội Đồng Nhiều Cây (Biểu Quyết Đa Số)</a:t>
            </a:r>
            <a:endParaRPr lang="en-US" sz="2000" dirty="0"/>
          </a:p>
        </p:txBody>
      </p:sp>
      <p:sp>
        <p:nvSpPr>
          <p:cNvPr id="4" name="Shape 2"/>
          <p:cNvSpPr/>
          <p:nvPr/>
        </p:nvSpPr>
        <p:spPr>
          <a:xfrm>
            <a:off x="365760" y="658368"/>
            <a:ext cx="8412480" cy="27432"/>
          </a:xfrm>
          <a:prstGeom prst="rect">
            <a:avLst/>
          </a:prstGeom>
          <a:solidFill>
            <a:srgbClr val="0077B6"/>
          </a:solidFill>
          <a:ln w="12700">
            <a:solidFill>
              <a:srgbClr val="0077B6"/>
            </a:solidFill>
            <a:prstDash val="solid"/>
          </a:ln>
        </p:spPr>
      </p:sp>
      <p:pic>
        <p:nvPicPr>
          <p:cNvPr id="5" name="Image 0" descr="preencoded.png">    </p:cNvPr>
          <p:cNvPicPr>
            <a:picLocks noChangeAspect="1"/>
          </p:cNvPicPr>
          <p:nvPr/>
        </p:nvPicPr>
        <p:blipFill>
          <a:blip r:embed="rId1"/>
          <a:srcRect l="0" r="0" t="0" b="0"/>
          <a:stretch/>
        </p:blipFill>
        <p:spPr>
          <a:xfrm>
            <a:off x="274320" y="777240"/>
            <a:ext cx="4572000" cy="3108960"/>
          </a:xfrm>
          <a:prstGeom prst="rect">
            <a:avLst/>
          </a:prstGeom>
        </p:spPr>
      </p:pic>
      <p:sp>
        <p:nvSpPr>
          <p:cNvPr id="6" name="Shape 3"/>
          <p:cNvSpPr/>
          <p:nvPr/>
        </p:nvSpPr>
        <p:spPr>
          <a:xfrm>
            <a:off x="5029200" y="822960"/>
            <a:ext cx="3840480" cy="3017520"/>
          </a:xfrm>
          <a:prstGeom prst="rect">
            <a:avLst/>
          </a:prstGeom>
          <a:solidFill>
            <a:srgbClr val="112233"/>
          </a:solidFill>
          <a:ln w="12700">
            <a:solidFill>
              <a:srgbClr val="06D6A0"/>
            </a:solidFill>
            <a:prstDash val="solid"/>
          </a:ln>
        </p:spPr>
      </p:sp>
      <p:sp>
        <p:nvSpPr>
          <p:cNvPr id="7" name="Text 4"/>
          <p:cNvSpPr/>
          <p:nvPr/>
        </p:nvSpPr>
        <p:spPr>
          <a:xfrm>
            <a:off x="5166360" y="868680"/>
            <a:ext cx="3566160" cy="320040"/>
          </a:xfrm>
          <a:prstGeom prst="rect">
            <a:avLst/>
          </a:prstGeom>
          <a:noFill/>
          <a:ln/>
        </p:spPr>
        <p:txBody>
          <a:bodyPr wrap="square" rtlCol="0" anchor="ctr"/>
          <a:lstStyle/>
          <a:p>
            <a:pPr indent="0" marL="0">
              <a:buNone/>
            </a:pPr>
            <a:r>
              <a:rPr lang="en-US" sz="1300" b="1" dirty="0">
                <a:solidFill>
                  <a:srgbClr val="06D6A0"/>
                </a:solidFill>
                <a:latin typeface="Calibri" pitchFamily="34" charset="0"/>
                <a:ea typeface="Calibri" pitchFamily="34" charset="-122"/>
                <a:cs typeface="Calibri" pitchFamily="34" charset="-120"/>
              </a:rPr>
              <a:t>Lợi thế trong bài toán bảo trì</a:t>
            </a:r>
            <a:endParaRPr lang="en-US" sz="1300" dirty="0"/>
          </a:p>
        </p:txBody>
      </p:sp>
      <p:sp>
        <p:nvSpPr>
          <p:cNvPr id="8" name="Text 5"/>
          <p:cNvSpPr/>
          <p:nvPr/>
        </p:nvSpPr>
        <p:spPr>
          <a:xfrm>
            <a:off x="5166360" y="1261872"/>
            <a:ext cx="3566160" cy="2514600"/>
          </a:xfrm>
          <a:prstGeom prst="rect">
            <a:avLst/>
          </a:prstGeom>
          <a:noFill/>
          <a:ln/>
        </p:spPr>
        <p:txBody>
          <a:bodyPr wrap="square" rtlCol="0" anchor="t"/>
          <a:lstStyle/>
          <a:p>
            <a:pPr marL="342900" indent="-342900">
              <a:buSzPct val="100000"/>
              <a:buChar char="•"/>
            </a:pPr>
            <a:r>
              <a:rPr lang="en-US" sz="1200" dirty="0">
                <a:solidFill>
                  <a:srgbClr val="E8F4FD"/>
                </a:solidFill>
                <a:latin typeface="Calibri" pitchFamily="34" charset="0"/>
                <a:ea typeface="Calibri" pitchFamily="34" charset="-122"/>
                <a:cs typeface="Calibri" pitchFamily="34" charset="-120"/>
              </a:rPr>
              <a:t>Không yêu cầu chuẩn hóa dữ liệu đầu vào (feature scaling)</a:t>
            </a:r>
            <a:endParaRPr lang="en-US" sz="1200" dirty="0"/>
          </a:p>
          <a:p>
            <a:pPr marL="342900" indent="-342900">
              <a:buSzPct val="100000"/>
              <a:buChar char="•"/>
            </a:pPr>
            <a:r>
              <a:rPr lang="en-US" sz="1200" dirty="0">
                <a:solidFill>
                  <a:srgbClr val="E8F4FD"/>
                </a:solidFill>
                <a:latin typeface="Calibri" pitchFamily="34" charset="0"/>
                <a:ea typeface="Calibri" pitchFamily="34" charset="-122"/>
                <a:cs typeface="Calibri" pitchFamily="34" charset="-120"/>
              </a:rPr>
              <a:t>Bền vững trước giá trị ngoại lệ (outliers)</a:t>
            </a:r>
            <a:endParaRPr lang="en-US" sz="1200" dirty="0"/>
          </a:p>
          <a:p>
            <a:pPr marL="342900" indent="-342900">
              <a:buSzPct val="100000"/>
              <a:buChar char="•"/>
            </a:pPr>
            <a:r>
              <a:rPr lang="en-US" sz="1200" dirty="0">
                <a:solidFill>
                  <a:srgbClr val="E8F4FD"/>
                </a:solidFill>
                <a:latin typeface="Calibri" pitchFamily="34" charset="0"/>
                <a:ea typeface="Calibri" pitchFamily="34" charset="-122"/>
                <a:cs typeface="Calibri" pitchFamily="34" charset="-120"/>
              </a:rPr>
              <a:t>Tích hợp sẵn Feature Importance</a:t>
            </a:r>
            <a:endParaRPr lang="en-US" sz="1200" dirty="0"/>
          </a:p>
          <a:p>
            <a:pPr marL="342900" indent="-342900">
              <a:buSzPct val="100000"/>
              <a:buChar char="•"/>
            </a:pPr>
            <a:r>
              <a:rPr lang="en-US" sz="1200" dirty="0">
                <a:solidFill>
                  <a:srgbClr val="E8F4FD"/>
                </a:solidFill>
                <a:latin typeface="Calibri" pitchFamily="34" charset="0"/>
                <a:ea typeface="Calibri" pitchFamily="34" charset="-122"/>
                <a:cs typeface="Calibri" pitchFamily="34" charset="-120"/>
              </a:rPr>
              <a:t>Tương thích hoàn hảo với SHAP TreeExplainer (nhanh!)</a:t>
            </a:r>
            <a:endParaRPr lang="en-US" sz="1200" dirty="0"/>
          </a:p>
          <a:p>
            <a:pPr indent="0" marL="0">
              <a:buNone/>
            </a:pPr>
            <a:r>
              <a:rPr lang="en-US" sz="1200" b="1" dirty="0">
                <a:solidFill>
                  <a:srgbClr val="00F5D4"/>
                </a:solidFill>
                <a:latin typeface="Calibri" pitchFamily="34" charset="0"/>
                <a:ea typeface="Calibri" pitchFamily="34" charset="-122"/>
                <a:cs typeface="Calibri" pitchFamily="34" charset="-120"/>
              </a:rPr>
              <a:t>→ Thường là giải pháp ưu tiên thử nghiệm đầu tiên</a:t>
            </a:r>
            <a:endParaRPr lang="en-US" sz="1200" dirty="0"/>
          </a:p>
        </p:txBody>
      </p:sp>
      <p:sp>
        <p:nvSpPr>
          <p:cNvPr id="9" name="Shape 6"/>
          <p:cNvSpPr/>
          <p:nvPr/>
        </p:nvSpPr>
        <p:spPr>
          <a:xfrm>
            <a:off x="274320" y="3977640"/>
            <a:ext cx="8595360" cy="594360"/>
          </a:xfrm>
          <a:prstGeom prst="rect">
            <a:avLst/>
          </a:prstGeom>
          <a:solidFill>
            <a:srgbClr val="112233"/>
          </a:solidFill>
          <a:ln w="12700">
            <a:solidFill>
              <a:srgbClr val="4A6278"/>
            </a:solidFill>
            <a:prstDash val="solid"/>
          </a:ln>
        </p:spPr>
      </p:sp>
      <p:sp>
        <p:nvSpPr>
          <p:cNvPr id="10" name="Text 7"/>
          <p:cNvSpPr/>
          <p:nvPr/>
        </p:nvSpPr>
        <p:spPr>
          <a:xfrm>
            <a:off x="411480" y="4005072"/>
            <a:ext cx="8321040" cy="530352"/>
          </a:xfrm>
          <a:prstGeom prst="rect">
            <a:avLst/>
          </a:prstGeom>
          <a:noFill/>
          <a:ln/>
        </p:spPr>
        <p:txBody>
          <a:bodyPr wrap="square" rtlCol="0" anchor="ctr"/>
          <a:lstStyle/>
          <a:p>
            <a:pPr algn="ctr" indent="0" marL="0">
              <a:buNone/>
            </a:pPr>
            <a:r>
              <a:rPr lang="en-US" sz="1100" i="1" dirty="0">
                <a:solidFill>
                  <a:srgbClr val="8BAFC7"/>
                </a:solidFill>
                <a:latin typeface="Calibri" pitchFamily="34" charset="0"/>
                <a:ea typeface="Calibri" pitchFamily="34" charset="-122"/>
                <a:cs typeface="Calibri" pitchFamily="34" charset="-120"/>
              </a:rPr>
              <a:t>Gini = 1 − Σpₖ²  ·  ŷ = mode{T₁(x), …, Tᴮ(x)}  ·  Mỗi cây dùng Bootstrap sample + subset đặc trưng ngẫu nhiên → giảm tương quan giữa các cây</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4D8"/>
          </a:solidFill>
          <a:ln w="12700">
            <a:solidFill>
              <a:srgbClr val="00B4D8"/>
            </a:solidFill>
            <a:prstDash val="solid"/>
          </a:ln>
        </p:spPr>
      </p:sp>
      <p:sp>
        <p:nvSpPr>
          <p:cNvPr id="3" name="Text 1"/>
          <p:cNvSpPr/>
          <p:nvPr/>
        </p:nvSpPr>
        <p:spPr>
          <a:xfrm>
            <a:off x="365760" y="137160"/>
            <a:ext cx="8412480" cy="50292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Feature Importance — RF Chỉ Ra Đặc Trưng Nào Quan Trọng</a:t>
            </a:r>
            <a:endParaRPr lang="en-US" sz="2000" dirty="0"/>
          </a:p>
        </p:txBody>
      </p:sp>
      <p:sp>
        <p:nvSpPr>
          <p:cNvPr id="4" name="Shape 2"/>
          <p:cNvSpPr/>
          <p:nvPr/>
        </p:nvSpPr>
        <p:spPr>
          <a:xfrm>
            <a:off x="365760" y="658368"/>
            <a:ext cx="8412480" cy="27432"/>
          </a:xfrm>
          <a:prstGeom prst="rect">
            <a:avLst/>
          </a:prstGeom>
          <a:solidFill>
            <a:srgbClr val="0077B6"/>
          </a:solidFill>
          <a:ln w="12700">
            <a:solidFill>
              <a:srgbClr val="0077B6"/>
            </a:solidFill>
            <a:prstDash val="solid"/>
          </a:ln>
        </p:spPr>
      </p:sp>
      <p:pic>
        <p:nvPicPr>
          <p:cNvPr id="5" name="Image 0" descr="preencoded.png">    </p:cNvPr>
          <p:cNvPicPr>
            <a:picLocks noChangeAspect="1"/>
          </p:cNvPicPr>
          <p:nvPr/>
        </p:nvPicPr>
        <p:blipFill>
          <a:blip r:embed="rId1"/>
          <a:srcRect l="0" r="0" t="0" b="0"/>
          <a:stretch/>
        </p:blipFill>
        <p:spPr>
          <a:xfrm>
            <a:off x="274320" y="777240"/>
            <a:ext cx="5029200" cy="4023360"/>
          </a:xfrm>
          <a:prstGeom prst="rect">
            <a:avLst/>
          </a:prstGeom>
        </p:spPr>
      </p:pic>
      <p:sp>
        <p:nvSpPr>
          <p:cNvPr id="6" name="Shape 3"/>
          <p:cNvSpPr/>
          <p:nvPr/>
        </p:nvSpPr>
        <p:spPr>
          <a:xfrm>
            <a:off x="5486400" y="822960"/>
            <a:ext cx="3383280" cy="3931920"/>
          </a:xfrm>
          <a:prstGeom prst="rect">
            <a:avLst/>
          </a:prstGeom>
          <a:solidFill>
            <a:srgbClr val="112233"/>
          </a:solidFill>
          <a:ln w="12700">
            <a:solidFill>
              <a:srgbClr val="0077B6"/>
            </a:solidFill>
            <a:prstDash val="solid"/>
          </a:ln>
        </p:spPr>
      </p:sp>
      <p:sp>
        <p:nvSpPr>
          <p:cNvPr id="7" name="Text 4"/>
          <p:cNvSpPr/>
          <p:nvPr/>
        </p:nvSpPr>
        <p:spPr>
          <a:xfrm>
            <a:off x="5577840" y="868680"/>
            <a:ext cx="3200400" cy="320040"/>
          </a:xfrm>
          <a:prstGeom prst="rect">
            <a:avLst/>
          </a:prstGeom>
          <a:noFill/>
          <a:ln/>
        </p:spPr>
        <p:txBody>
          <a:bodyPr wrap="square" rtlCol="0" anchor="ctr"/>
          <a:lstStyle/>
          <a:p>
            <a:pPr indent="0" marL="0">
              <a:buNone/>
            </a:pPr>
            <a:r>
              <a:rPr lang="en-US" sz="1300" b="1" dirty="0">
                <a:solidFill>
                  <a:srgbClr val="00B4D8"/>
                </a:solidFill>
                <a:latin typeface="Calibri" pitchFamily="34" charset="0"/>
                <a:ea typeface="Calibri" pitchFamily="34" charset="-122"/>
                <a:cs typeface="Calibri" pitchFamily="34" charset="-120"/>
              </a:rPr>
              <a:t>Top đặc trưng quan trọng nhất</a:t>
            </a:r>
            <a:endParaRPr lang="en-US" sz="1300" dirty="0"/>
          </a:p>
        </p:txBody>
      </p:sp>
      <p:sp>
        <p:nvSpPr>
          <p:cNvPr id="8" name="Text 5"/>
          <p:cNvSpPr/>
          <p:nvPr/>
        </p:nvSpPr>
        <p:spPr>
          <a:xfrm>
            <a:off x="5577840" y="1261872"/>
            <a:ext cx="3200400" cy="2286000"/>
          </a:xfrm>
          <a:prstGeom prst="rect">
            <a:avLst/>
          </a:prstGeom>
          <a:noFill/>
          <a:ln/>
        </p:spPr>
        <p:txBody>
          <a:bodyPr wrap="square" rtlCol="0" anchor="t"/>
          <a:lstStyle/>
          <a:p>
            <a:pPr marL="342900" indent="-342900">
              <a:buSzPct val="100000"/>
              <a:buChar char="•"/>
            </a:pPr>
            <a:r>
              <a:rPr lang="en-US" sz="1200" dirty="0">
                <a:solidFill>
                  <a:srgbClr val="FFD166"/>
                </a:solidFill>
                <a:latin typeface="Calibri" pitchFamily="34" charset="0"/>
                <a:ea typeface="Calibri" pitchFamily="34" charset="-122"/>
                <a:cs typeface="Calibri" pitchFamily="34" charset="-120"/>
              </a:rPr>
              <a:t>fft_mean (phổ trung bình)</a:t>
            </a:r>
            <a:endParaRPr lang="en-US" sz="1200" dirty="0"/>
          </a:p>
          <a:p>
            <a:pPr marL="342900" indent="-342900">
              <a:buSzPct val="100000"/>
              <a:buChar char="•"/>
            </a:pPr>
            <a:r>
              <a:rPr lang="en-US" sz="1200" dirty="0">
                <a:solidFill>
                  <a:srgbClr val="FFD166"/>
                </a:solidFill>
                <a:latin typeface="Calibri" pitchFamily="34" charset="0"/>
                <a:ea typeface="Calibri" pitchFamily="34" charset="-122"/>
                <a:cs typeface="Calibri" pitchFamily="34" charset="-120"/>
              </a:rPr>
              <a:t>energy_2000_6000Hz</a:t>
            </a:r>
            <a:endParaRPr lang="en-US" sz="1200" dirty="0"/>
          </a:p>
          <a:p>
            <a:pPr marL="342900" indent="-342900">
              <a:buSzPct val="100000"/>
              <a:buChar char="•"/>
            </a:pPr>
            <a:r>
              <a:rPr lang="en-US" sz="1200" dirty="0">
                <a:solidFill>
                  <a:srgbClr val="FFD166"/>
                </a:solidFill>
                <a:latin typeface="Calibri" pitchFamily="34" charset="0"/>
                <a:ea typeface="Calibri" pitchFamily="34" charset="-122"/>
                <a:cs typeface="Calibri" pitchFamily="34" charset="-120"/>
              </a:rPr>
              <a:t>fft_energy</a:t>
            </a:r>
            <a:endParaRPr lang="en-US" sz="1200" dirty="0"/>
          </a:p>
          <a:p>
            <a:pPr marL="342900" indent="-342900">
              <a:buSzPct val="100000"/>
              <a:buChar char="•"/>
            </a:pPr>
            <a:r>
              <a:rPr lang="en-US" sz="1200" dirty="0">
                <a:solidFill>
                  <a:srgbClr val="E8F4FD"/>
                </a:solidFill>
                <a:latin typeface="Calibri" pitchFamily="34" charset="0"/>
                <a:ea typeface="Calibri" pitchFamily="34" charset="-122"/>
                <a:cs typeface="Calibri" pitchFamily="34" charset="-120"/>
              </a:rPr>
              <a:t>rms (năng lượng tổng)</a:t>
            </a:r>
            <a:endParaRPr lang="en-US" sz="1200" dirty="0"/>
          </a:p>
          <a:p>
            <a:pPr marL="342900" indent="-342900">
              <a:buSzPct val="100000"/>
              <a:buChar char="•"/>
            </a:pPr>
            <a:r>
              <a:rPr lang="en-US" sz="1200" dirty="0">
                <a:solidFill>
                  <a:srgbClr val="E8F4FD"/>
                </a:solidFill>
                <a:latin typeface="Calibri" pitchFamily="34" charset="0"/>
                <a:ea typeface="Calibri" pitchFamily="34" charset="-122"/>
                <a:cs typeface="Calibri" pitchFamily="34" charset="-120"/>
              </a:rPr>
              <a:t>energy_0_500Hz</a:t>
            </a:r>
            <a:endParaRPr lang="en-US" sz="1200" dirty="0"/>
          </a:p>
          <a:p>
            <a:pPr marL="342900" indent="-342900">
              <a:buSzPct val="100000"/>
              <a:buChar char="•"/>
            </a:pPr>
            <a:r>
              <a:rPr lang="en-US" sz="1200" dirty="0">
                <a:solidFill>
                  <a:srgbClr val="E8F4FD"/>
                </a:solidFill>
                <a:latin typeface="Calibri" pitchFamily="34" charset="0"/>
                <a:ea typeface="Calibri" pitchFamily="34" charset="-122"/>
                <a:cs typeface="Calibri" pitchFamily="34" charset="-120"/>
              </a:rPr>
              <a:t>fft_std, fft_skewness</a:t>
            </a:r>
            <a:endParaRPr lang="en-US" sz="1200" dirty="0"/>
          </a:p>
          <a:p>
            <a:pPr marL="342900" indent="-342900">
              <a:buSzPct val="100000"/>
              <a:buChar char="•"/>
            </a:pPr>
            <a:r>
              <a:rPr lang="en-US" sz="1200" dirty="0">
                <a:solidFill>
                  <a:srgbClr val="E8F4FD"/>
                </a:solidFill>
                <a:latin typeface="Calibri" pitchFamily="34" charset="0"/>
                <a:ea typeface="Calibri" pitchFamily="34" charset="-122"/>
                <a:cs typeface="Calibri" pitchFamily="34" charset="-120"/>
              </a:rPr>
              <a:t>kurtosis (cuối bảng!)</a:t>
            </a:r>
            <a:endParaRPr lang="en-US" sz="1200" dirty="0"/>
          </a:p>
        </p:txBody>
      </p:sp>
      <p:sp>
        <p:nvSpPr>
          <p:cNvPr id="9" name="Shape 6"/>
          <p:cNvSpPr/>
          <p:nvPr/>
        </p:nvSpPr>
        <p:spPr>
          <a:xfrm>
            <a:off x="5577840" y="3657600"/>
            <a:ext cx="3200400" cy="1005840"/>
          </a:xfrm>
          <a:prstGeom prst="rect">
            <a:avLst/>
          </a:prstGeom>
          <a:solidFill>
            <a:srgbClr val="0A1628"/>
          </a:solidFill>
          <a:ln w="12700">
            <a:solidFill>
              <a:srgbClr val="FFD166"/>
            </a:solidFill>
            <a:prstDash val="solid"/>
          </a:ln>
        </p:spPr>
      </p:sp>
      <p:sp>
        <p:nvSpPr>
          <p:cNvPr id="10" name="Text 7"/>
          <p:cNvSpPr/>
          <p:nvPr/>
        </p:nvSpPr>
        <p:spPr>
          <a:xfrm>
            <a:off x="5623560" y="3703320"/>
            <a:ext cx="3108960" cy="914400"/>
          </a:xfrm>
          <a:prstGeom prst="rect">
            <a:avLst/>
          </a:prstGeom>
          <a:noFill/>
          <a:ln/>
        </p:spPr>
        <p:txBody>
          <a:bodyPr wrap="square" rtlCol="0" anchor="ctr"/>
          <a:lstStyle/>
          <a:p>
            <a:pPr indent="0" marL="0">
              <a:buNone/>
            </a:pPr>
            <a:r>
              <a:rPr lang="en-US" sz="1100" dirty="0">
                <a:solidFill>
                  <a:srgbClr val="FFD166"/>
                </a:solidFill>
                <a:latin typeface="Calibri" pitchFamily="34" charset="0"/>
                <a:ea typeface="Calibri" pitchFamily="34" charset="-122"/>
                <a:cs typeface="Calibri" pitchFamily="34" charset="-120"/>
              </a:rPr>
              <a:t>⚠️  Feature Importance cho cái nhìn TRUNG BÌNH TOÀN CỤC. Để giải thích từng ca cụ thể → dùng SHAP (Tutorial 05).</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D1F35"/>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F5D4"/>
          </a:solidFill>
          <a:ln w="12700">
            <a:solidFill>
              <a:srgbClr val="00F5D4"/>
            </a:solidFill>
            <a:prstDash val="solid"/>
          </a:ln>
        </p:spPr>
      </p:sp>
      <p:sp>
        <p:nvSpPr>
          <p:cNvPr id="3" name="Shape 1"/>
          <p:cNvSpPr/>
          <p:nvPr/>
        </p:nvSpPr>
        <p:spPr>
          <a:xfrm>
            <a:off x="0" y="0"/>
            <a:ext cx="3200400" cy="5143500"/>
          </a:xfrm>
          <a:prstGeom prst="rect">
            <a:avLst/>
          </a:prstGeom>
          <a:solidFill>
            <a:srgbClr val="112233"/>
          </a:solidFill>
          <a:ln w="12700">
            <a:solidFill>
              <a:srgbClr val="112233"/>
            </a:solidFill>
            <a:prstDash val="solid"/>
          </a:ln>
        </p:spPr>
      </p:sp>
      <p:sp>
        <p:nvSpPr>
          <p:cNvPr id="4" name="Text 2"/>
          <p:cNvSpPr/>
          <p:nvPr/>
        </p:nvSpPr>
        <p:spPr>
          <a:xfrm>
            <a:off x="164592" y="914400"/>
            <a:ext cx="2834640" cy="457200"/>
          </a:xfrm>
          <a:prstGeom prst="rect">
            <a:avLst/>
          </a:prstGeom>
          <a:noFill/>
          <a:ln/>
        </p:spPr>
        <p:txBody>
          <a:bodyPr wrap="square" rtlCol="0" anchor="ctr"/>
          <a:lstStyle/>
          <a:p>
            <a:pPr indent="0" marL="0">
              <a:buNone/>
            </a:pPr>
            <a:r>
              <a:rPr lang="en-US" sz="1200" b="1" spc="400" kern="0" dirty="0">
                <a:solidFill>
                  <a:srgbClr val="00B4D8"/>
                </a:solidFill>
                <a:latin typeface="Calibri" pitchFamily="34" charset="0"/>
                <a:ea typeface="Calibri" pitchFamily="34" charset="-122"/>
                <a:cs typeface="Calibri" pitchFamily="34" charset="-120"/>
              </a:rPr>
              <a:t>TUTORIAL 04</a:t>
            </a:r>
            <a:endParaRPr lang="en-US" sz="1200" dirty="0"/>
          </a:p>
        </p:txBody>
      </p:sp>
      <p:sp>
        <p:nvSpPr>
          <p:cNvPr id="5" name="Text 3"/>
          <p:cNvSpPr/>
          <p:nvPr/>
        </p:nvSpPr>
        <p:spPr>
          <a:xfrm>
            <a:off x="164592" y="1463040"/>
            <a:ext cx="2834640" cy="1645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Huấn Luyện &amp; Đánh Giá</a:t>
            </a:r>
            <a:endParaRPr lang="en-US" sz="2200" dirty="0"/>
          </a:p>
        </p:txBody>
      </p:sp>
      <p:sp>
        <p:nvSpPr>
          <p:cNvPr id="6" name="Text 4"/>
          <p:cNvSpPr/>
          <p:nvPr/>
        </p:nvSpPr>
        <p:spPr>
          <a:xfrm>
            <a:off x="164592" y="3200400"/>
            <a:ext cx="2834640" cy="1371600"/>
          </a:xfrm>
          <a:prstGeom prst="rect">
            <a:avLst/>
          </a:prstGeom>
          <a:noFill/>
          <a:ln/>
        </p:spPr>
        <p:txBody>
          <a:bodyPr wrap="square" rtlCol="0" anchor="ctr"/>
          <a:lstStyle/>
          <a:p>
            <a:pPr indent="0" marL="0">
              <a:buNone/>
            </a:pPr>
            <a:r>
              <a:rPr lang="en-US" sz="1300" dirty="0">
                <a:solidFill>
                  <a:srgbClr val="8BAFC7"/>
                </a:solidFill>
                <a:latin typeface="Calibri" pitchFamily="34" charset="0"/>
                <a:ea typeface="Calibri" pitchFamily="34" charset="-122"/>
                <a:cs typeface="Calibri" pitchFamily="34" charset="-120"/>
              </a:rPr>
              <a:t>Chia dữ liệu theo File · Confusion Matrix · Quản trị rủi ro</a:t>
            </a:r>
            <a:endParaRPr lang="en-US" sz="1300" dirty="0"/>
          </a:p>
        </p:txBody>
      </p:sp>
      <p:sp>
        <p:nvSpPr>
          <p:cNvPr id="7" name="Text 5"/>
          <p:cNvSpPr/>
          <p:nvPr/>
        </p:nvSpPr>
        <p:spPr>
          <a:xfrm>
            <a:off x="3657600" y="1371600"/>
            <a:ext cx="5212080" cy="3200400"/>
          </a:xfrm>
          <a:prstGeom prst="rect">
            <a:avLst/>
          </a:prstGeom>
          <a:noFill/>
          <a:ln/>
        </p:spPr>
        <p:txBody>
          <a:bodyPr wrap="square" rtlCol="0" anchor="ctr"/>
          <a:lstStyle/>
          <a:p>
            <a:pPr indent="0" marL="0">
              <a:buNone/>
            </a:pPr>
            <a:r>
              <a:rPr lang="en-US" sz="1400" b="1" dirty="0">
                <a:solidFill>
                  <a:srgbClr val="06D6A0"/>
                </a:solidFill>
                <a:latin typeface="Calibri" pitchFamily="34" charset="0"/>
                <a:ea typeface="Calibri" pitchFamily="34" charset="-122"/>
                <a:cs typeface="Calibri" pitchFamily="34" charset="-120"/>
              </a:rPr>
              <a:t>✔ </a:t>
            </a:r>
            <a:pPr indent="0" marL="0">
              <a:buNone/>
            </a:pPr>
            <a:r>
              <a:rPr lang="en-US" sz="1400" dirty="0">
                <a:solidFill>
                  <a:srgbClr val="E8F4FD"/>
                </a:solidFill>
                <a:latin typeface="Calibri" pitchFamily="34" charset="0"/>
                <a:ea typeface="Calibri" pitchFamily="34" charset="-122"/>
                <a:cs typeface="Calibri" pitchFamily="34" charset="-120"/>
              </a:rPr>
              <a:t>Quy tắc phân chia Train/Test độc lập theo File ID
</a:t>
            </a:r>
            <a:pPr indent="0" marL="0">
              <a:buNone/>
            </a:pPr>
            <a:r>
              <a:rPr lang="en-US" sz="1400" b="1" dirty="0">
                <a:solidFill>
                  <a:srgbClr val="06D6A0"/>
                </a:solidFill>
                <a:latin typeface="Calibri" pitchFamily="34" charset="0"/>
                <a:ea typeface="Calibri" pitchFamily="34" charset="-122"/>
                <a:cs typeface="Calibri" pitchFamily="34" charset="-120"/>
              </a:rPr>
              <a:t>✔ </a:t>
            </a:r>
            <a:pPr indent="0" marL="0">
              <a:buNone/>
            </a:pPr>
            <a:r>
              <a:rPr lang="en-US" sz="1400" dirty="0">
                <a:solidFill>
                  <a:srgbClr val="E8F4FD"/>
                </a:solidFill>
                <a:latin typeface="Calibri" pitchFamily="34" charset="0"/>
                <a:ea typeface="Calibri" pitchFamily="34" charset="-122"/>
                <a:cs typeface="Calibri" pitchFamily="34" charset="-120"/>
              </a:rPr>
              <a:t>Đánh giá khách quan: Accuracy thật vs Accuracy ảo
</a:t>
            </a:r>
            <a:pPr indent="0" marL="0">
              <a:buNone/>
            </a:pPr>
            <a:r>
              <a:rPr lang="en-US" sz="1400" b="1" dirty="0">
                <a:solidFill>
                  <a:srgbClr val="06D6A0"/>
                </a:solidFill>
                <a:latin typeface="Calibri" pitchFamily="34" charset="0"/>
                <a:ea typeface="Calibri" pitchFamily="34" charset="-122"/>
                <a:cs typeface="Calibri" pitchFamily="34" charset="-120"/>
              </a:rPr>
              <a:t>✔ </a:t>
            </a:r>
            <a:pPr indent="0" marL="0">
              <a:buNone/>
            </a:pPr>
            <a:r>
              <a:rPr lang="en-US" sz="1400" dirty="0">
                <a:solidFill>
                  <a:srgbClr val="E8F4FD"/>
                </a:solidFill>
                <a:latin typeface="Calibri" pitchFamily="34" charset="0"/>
                <a:ea typeface="Calibri" pitchFamily="34" charset="-122"/>
                <a:cs typeface="Calibri" pitchFamily="34" charset="-120"/>
              </a:rPr>
              <a:t>Đọc hiểu Confusion Matrix theo hậu quả vận hành
</a:t>
            </a:r>
            <a:pPr indent="0" marL="0">
              <a:buNone/>
            </a:pPr>
            <a:r>
              <a:rPr lang="en-US" sz="1400" b="1" dirty="0">
                <a:solidFill>
                  <a:srgbClr val="06D6A0"/>
                </a:solidFill>
                <a:latin typeface="Calibri" pitchFamily="34" charset="0"/>
                <a:ea typeface="Calibri" pitchFamily="34" charset="-122"/>
                <a:cs typeface="Calibri" pitchFamily="34" charset="-120"/>
              </a:rPr>
              <a:t>✔ </a:t>
            </a:r>
            <a:pPr indent="0" marL="0">
              <a:buNone/>
            </a:pPr>
            <a:r>
              <a:rPr lang="en-US" sz="1400" dirty="0">
                <a:solidFill>
                  <a:srgbClr val="E8F4FD"/>
                </a:solidFill>
                <a:latin typeface="Calibri" pitchFamily="34" charset="0"/>
                <a:ea typeface="Calibri" pitchFamily="34" charset="-122"/>
                <a:cs typeface="Calibri" pitchFamily="34" charset="-120"/>
              </a:rPr>
              <a:t>Tối ưu hóa theo chi phí &amp; rủi ro công nghiệp</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4D8"/>
          </a:solidFill>
          <a:ln w="12700">
            <a:solidFill>
              <a:srgbClr val="00B4D8"/>
            </a:solidFill>
            <a:prstDash val="solid"/>
          </a:ln>
        </p:spPr>
      </p:sp>
      <p:sp>
        <p:nvSpPr>
          <p:cNvPr id="3" name="Text 1"/>
          <p:cNvSpPr/>
          <p:nvPr/>
        </p:nvSpPr>
        <p:spPr>
          <a:xfrm>
            <a:off x="365760" y="137160"/>
            <a:ext cx="8412480" cy="50292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Chia Theo FILE — Tránh Rò Rỉ Dữ Liệu</a:t>
            </a:r>
            <a:endParaRPr lang="en-US" sz="2000" dirty="0"/>
          </a:p>
        </p:txBody>
      </p:sp>
      <p:sp>
        <p:nvSpPr>
          <p:cNvPr id="4" name="Shape 2"/>
          <p:cNvSpPr/>
          <p:nvPr/>
        </p:nvSpPr>
        <p:spPr>
          <a:xfrm>
            <a:off x="365760" y="658368"/>
            <a:ext cx="8412480" cy="27432"/>
          </a:xfrm>
          <a:prstGeom prst="rect">
            <a:avLst/>
          </a:prstGeom>
          <a:solidFill>
            <a:srgbClr val="0077B6"/>
          </a:solidFill>
          <a:ln w="12700">
            <a:solidFill>
              <a:srgbClr val="0077B6"/>
            </a:solidFill>
            <a:prstDash val="solid"/>
          </a:ln>
        </p:spPr>
      </p:sp>
      <p:sp>
        <p:nvSpPr>
          <p:cNvPr id="5" name="Shape 3"/>
          <p:cNvSpPr/>
          <p:nvPr/>
        </p:nvSpPr>
        <p:spPr>
          <a:xfrm>
            <a:off x="274320" y="777240"/>
            <a:ext cx="4069080" cy="2194560"/>
          </a:xfrm>
          <a:prstGeom prst="rect">
            <a:avLst/>
          </a:prstGeom>
          <a:solidFill>
            <a:srgbClr val="300010"/>
          </a:solidFill>
          <a:ln w="25400">
            <a:solidFill>
              <a:srgbClr val="EF476F"/>
            </a:solidFill>
            <a:prstDash val="solid"/>
          </a:ln>
        </p:spPr>
      </p:sp>
      <p:sp>
        <p:nvSpPr>
          <p:cNvPr id="6" name="Text 4"/>
          <p:cNvSpPr/>
          <p:nvPr/>
        </p:nvSpPr>
        <p:spPr>
          <a:xfrm>
            <a:off x="411480" y="822960"/>
            <a:ext cx="3794760" cy="502920"/>
          </a:xfrm>
          <a:prstGeom prst="rect">
            <a:avLst/>
          </a:prstGeom>
          <a:noFill/>
          <a:ln/>
        </p:spPr>
        <p:txBody>
          <a:bodyPr wrap="square" rtlCol="0" anchor="ctr"/>
          <a:lstStyle/>
          <a:p>
            <a:pPr indent="0" marL="0">
              <a:buNone/>
            </a:pPr>
            <a:r>
              <a:rPr lang="en-US" sz="1300" b="1" dirty="0">
                <a:solidFill>
                  <a:srgbClr val="EF476F"/>
                </a:solidFill>
                <a:latin typeface="Calibri" pitchFamily="34" charset="0"/>
                <a:ea typeface="Calibri" pitchFamily="34" charset="-122"/>
                <a:cs typeface="Calibri" pitchFamily="34" charset="-120"/>
              </a:rPr>
              <a:t>❌  Phân chia ngẫu nhiên</a:t>
            </a:r>
            <a:endParaRPr lang="en-US" sz="1300" dirty="0"/>
          </a:p>
          <a:p>
            <a:pPr indent="0" marL="0">
              <a:buNone/>
            </a:pPr>
            <a:r>
              <a:rPr lang="en-US" sz="1300" b="1" dirty="0">
                <a:solidFill>
                  <a:srgbClr val="EF476F"/>
                </a:solidFill>
                <a:latin typeface="Calibri" pitchFamily="34" charset="0"/>
                <a:ea typeface="Calibri" pitchFamily="34" charset="-122"/>
                <a:cs typeface="Calibri" pitchFamily="34" charset="-120"/>
              </a:rPr>
              <a:t>(Bị rò rỉ dữ liệu)</a:t>
            </a:r>
            <a:endParaRPr lang="en-US" sz="1300" dirty="0"/>
          </a:p>
        </p:txBody>
      </p:sp>
      <p:sp>
        <p:nvSpPr>
          <p:cNvPr id="7" name="Text 5"/>
          <p:cNvSpPr/>
          <p:nvPr/>
        </p:nvSpPr>
        <p:spPr>
          <a:xfrm>
            <a:off x="411480" y="1371600"/>
            <a:ext cx="3794760" cy="1508760"/>
          </a:xfrm>
          <a:prstGeom prst="rect">
            <a:avLst/>
          </a:prstGeom>
          <a:noFill/>
          <a:ln/>
        </p:spPr>
        <p:txBody>
          <a:bodyPr wrap="square" rtlCol="0" anchor="ctr"/>
          <a:lstStyle/>
          <a:p>
            <a:pPr indent="0" marL="0">
              <a:buNone/>
            </a:pPr>
            <a:r>
              <a:rPr lang="en-US" sz="1200" dirty="0">
                <a:solidFill>
                  <a:srgbClr val="E8F4FD"/>
                </a:solidFill>
                <a:latin typeface="Calibri" pitchFamily="34" charset="0"/>
                <a:ea typeface="Calibri" pitchFamily="34" charset="-122"/>
                <a:cs typeface="Calibri" pitchFamily="34" charset="-120"/>
              </a:rPr>
              <a:t>Segment từ cùng một file lọt vào cả Train VÀ Test.</a:t>
            </a:r>
            <a:endParaRPr lang="en-US" sz="1200" dirty="0"/>
          </a:p>
          <a:p>
            <a:pPr indent="0" marL="0">
              <a:buNone/>
            </a:pPr>
            <a:r>
              <a:rPr lang="en-US" sz="1200" dirty="0">
                <a:solidFill>
                  <a:srgbClr val="E8F4FD"/>
                </a:solidFill>
                <a:latin typeface="Calibri" pitchFamily="34" charset="0"/>
                <a:ea typeface="Calibri" pitchFamily="34" charset="-122"/>
                <a:cs typeface="Calibri" pitchFamily="34" charset="-120"/>
              </a:rPr>
              <a:t>Mô hình "học vẹt" — báo cáo 94–98% KHÔNG CÓ GIÁ TRỊ THỰC TẾ.</a:t>
            </a:r>
            <a:endParaRPr lang="en-US" sz="1200" dirty="0"/>
          </a:p>
        </p:txBody>
      </p:sp>
      <p:sp>
        <p:nvSpPr>
          <p:cNvPr id="8" name="Shape 6"/>
          <p:cNvSpPr/>
          <p:nvPr/>
        </p:nvSpPr>
        <p:spPr>
          <a:xfrm>
            <a:off x="4800600" y="777240"/>
            <a:ext cx="4069080" cy="2194560"/>
          </a:xfrm>
          <a:prstGeom prst="rect">
            <a:avLst/>
          </a:prstGeom>
          <a:solidFill>
            <a:srgbClr val="003015"/>
          </a:solidFill>
          <a:ln w="25400">
            <a:solidFill>
              <a:srgbClr val="06D6A0"/>
            </a:solidFill>
            <a:prstDash val="solid"/>
          </a:ln>
        </p:spPr>
      </p:sp>
      <p:sp>
        <p:nvSpPr>
          <p:cNvPr id="9" name="Text 7"/>
          <p:cNvSpPr/>
          <p:nvPr/>
        </p:nvSpPr>
        <p:spPr>
          <a:xfrm>
            <a:off x="4937760" y="822960"/>
            <a:ext cx="3794760" cy="502920"/>
          </a:xfrm>
          <a:prstGeom prst="rect">
            <a:avLst/>
          </a:prstGeom>
          <a:noFill/>
          <a:ln/>
        </p:spPr>
        <p:txBody>
          <a:bodyPr wrap="square" rtlCol="0" anchor="ctr"/>
          <a:lstStyle/>
          <a:p>
            <a:pPr indent="0" marL="0">
              <a:buNone/>
            </a:pPr>
            <a:r>
              <a:rPr lang="en-US" sz="1300" b="1" dirty="0">
                <a:solidFill>
                  <a:srgbClr val="06D6A0"/>
                </a:solidFill>
                <a:latin typeface="Calibri" pitchFamily="34" charset="0"/>
                <a:ea typeface="Calibri" pitchFamily="34" charset="-122"/>
                <a:cs typeface="Calibri" pitchFamily="34" charset="-120"/>
              </a:rPr>
              <a:t>✅  Phân chia theo File nguồn</a:t>
            </a:r>
            <a:endParaRPr lang="en-US" sz="1300" dirty="0"/>
          </a:p>
          <a:p>
            <a:pPr indent="0" marL="0">
              <a:buNone/>
            </a:pPr>
            <a:r>
              <a:rPr lang="en-US" sz="1300" b="1" dirty="0">
                <a:solidFill>
                  <a:srgbClr val="06D6A0"/>
                </a:solidFill>
                <a:latin typeface="Calibri" pitchFamily="34" charset="0"/>
                <a:ea typeface="Calibri" pitchFamily="34" charset="-122"/>
                <a:cs typeface="Calibri" pitchFamily="34" charset="-120"/>
              </a:rPr>
              <a:t>(Đúng kỹ thuật)</a:t>
            </a:r>
            <a:endParaRPr lang="en-US" sz="1300" dirty="0"/>
          </a:p>
        </p:txBody>
      </p:sp>
      <p:sp>
        <p:nvSpPr>
          <p:cNvPr id="10" name="Text 8"/>
          <p:cNvSpPr/>
          <p:nvPr/>
        </p:nvSpPr>
        <p:spPr>
          <a:xfrm>
            <a:off x="4937760" y="1371600"/>
            <a:ext cx="3794760" cy="1508760"/>
          </a:xfrm>
          <a:prstGeom prst="rect">
            <a:avLst/>
          </a:prstGeom>
          <a:noFill/>
          <a:ln/>
        </p:spPr>
        <p:txBody>
          <a:bodyPr wrap="square" rtlCol="0" anchor="ctr"/>
          <a:lstStyle/>
          <a:p>
            <a:pPr indent="0" marL="0">
              <a:buNone/>
            </a:pPr>
            <a:r>
              <a:rPr lang="en-US" sz="1200" dirty="0">
                <a:solidFill>
                  <a:srgbClr val="E8F4FD"/>
                </a:solidFill>
                <a:latin typeface="Calibri" pitchFamily="34" charset="0"/>
                <a:ea typeface="Calibri" pitchFamily="34" charset="-122"/>
                <a:cs typeface="Calibri" pitchFamily="34" charset="-120"/>
              </a:rPr>
              <a:t>Toàn bộ segment từ File A → Train. File B → Test.</a:t>
            </a:r>
            <a:endParaRPr lang="en-US" sz="1200" dirty="0"/>
          </a:p>
          <a:p>
            <a:pPr indent="0" marL="0">
              <a:buNone/>
            </a:pPr>
            <a:r>
              <a:rPr lang="en-US" sz="1200" dirty="0">
                <a:solidFill>
                  <a:srgbClr val="E8F4FD"/>
                </a:solidFill>
                <a:latin typeface="Calibri" pitchFamily="34" charset="0"/>
                <a:ea typeface="Calibri" pitchFamily="34" charset="-122"/>
                <a:cs typeface="Calibri" pitchFamily="34" charset="-120"/>
              </a:rPr>
              <a:t>Dùng GroupShuffleSplit(groups=file_id).</a:t>
            </a:r>
            <a:endParaRPr lang="en-US" sz="1200" dirty="0"/>
          </a:p>
          <a:p>
            <a:pPr indent="0" marL="0">
              <a:buNone/>
            </a:pPr>
            <a:r>
              <a:rPr lang="en-US" sz="1200" dirty="0">
                <a:solidFill>
                  <a:srgbClr val="E8F4FD"/>
                </a:solidFill>
                <a:latin typeface="Calibri" pitchFamily="34" charset="0"/>
                <a:ea typeface="Calibri" pitchFamily="34" charset="-122"/>
                <a:cs typeface="Calibri" pitchFamily="34" charset="-120"/>
              </a:rPr>
              <a:t>Phản ánh thực tế: thiết bị mới = file dữ liệu mới.</a:t>
            </a:r>
            <a:endParaRPr lang="en-US" sz="1200" dirty="0"/>
          </a:p>
        </p:txBody>
      </p:sp>
      <p:sp>
        <p:nvSpPr>
          <p:cNvPr id="11" name="Shape 9"/>
          <p:cNvSpPr/>
          <p:nvPr/>
        </p:nvSpPr>
        <p:spPr>
          <a:xfrm>
            <a:off x="274320" y="3063240"/>
            <a:ext cx="8595360" cy="1874520"/>
          </a:xfrm>
          <a:prstGeom prst="rect">
            <a:avLst/>
          </a:prstGeom>
          <a:solidFill>
            <a:srgbClr val="112233"/>
          </a:solidFill>
          <a:ln w="12700">
            <a:solidFill>
              <a:srgbClr val="4A6278"/>
            </a:solidFill>
            <a:prstDash val="solid"/>
          </a:ln>
        </p:spPr>
      </p:sp>
      <p:sp>
        <p:nvSpPr>
          <p:cNvPr id="12" name="Text 10"/>
          <p:cNvSpPr/>
          <p:nvPr/>
        </p:nvSpPr>
        <p:spPr>
          <a:xfrm>
            <a:off x="457200" y="3108960"/>
            <a:ext cx="4114800" cy="320040"/>
          </a:xfrm>
          <a:prstGeom prst="rect">
            <a:avLst/>
          </a:prstGeom>
          <a:noFill/>
          <a:ln/>
        </p:spPr>
        <p:txBody>
          <a:bodyPr wrap="square" rtlCol="0" anchor="ctr"/>
          <a:lstStyle/>
          <a:p>
            <a:pPr indent="0" marL="0">
              <a:buNone/>
            </a:pPr>
            <a:r>
              <a:rPr lang="en-US" sz="1300" b="1" dirty="0">
                <a:solidFill>
                  <a:srgbClr val="00B4D8"/>
                </a:solidFill>
                <a:latin typeface="Calibri" pitchFamily="34" charset="0"/>
                <a:ea typeface="Calibri" pitchFamily="34" charset="-122"/>
                <a:cs typeface="Calibri" pitchFamily="34" charset="-120"/>
              </a:rPr>
              <a:t>Kết quả so sánh</a:t>
            </a:r>
            <a:endParaRPr lang="en-US" sz="1300" dirty="0"/>
          </a:p>
        </p:txBody>
      </p:sp>
      <p:sp>
        <p:nvSpPr>
          <p:cNvPr id="13" name="Text 11"/>
          <p:cNvSpPr/>
          <p:nvPr/>
        </p:nvSpPr>
        <p:spPr>
          <a:xfrm>
            <a:off x="457200" y="3493008"/>
            <a:ext cx="8321040" cy="1325880"/>
          </a:xfrm>
          <a:prstGeom prst="rect">
            <a:avLst/>
          </a:prstGeom>
          <a:noFill/>
          <a:ln/>
        </p:spPr>
        <p:txBody>
          <a:bodyPr wrap="square" rtlCol="0" anchor="ctr"/>
          <a:lstStyle/>
          <a:p>
            <a:pPr indent="0" marL="0">
              <a:buNone/>
            </a:pPr>
            <a:r>
              <a:rPr lang="en-US" sz="1200" dirty="0">
                <a:solidFill>
                  <a:srgbClr val="E8F4FD"/>
                </a:solidFill>
                <a:latin typeface="Calibri" pitchFamily="34" charset="0"/>
                <a:ea typeface="Calibri" pitchFamily="34" charset="-122"/>
                <a:cs typeface="Calibri" pitchFamily="34" charset="-120"/>
              </a:rPr>
              <a:t>Phân chia ngẫu nhiên → SVM ~94% · RF ~98% → GIẢ TẠO</a:t>
            </a:r>
            <a:endParaRPr lang="en-US" sz="1200" dirty="0"/>
          </a:p>
          <a:p>
            <a:pPr indent="0" marL="0">
              <a:buNone/>
            </a:pPr>
            <a:r>
              <a:rPr lang="en-US" sz="1200" dirty="0">
                <a:solidFill>
                  <a:srgbClr val="E8F4FD"/>
                </a:solidFill>
                <a:latin typeface="Calibri" pitchFamily="34" charset="0"/>
                <a:ea typeface="Calibri" pitchFamily="34" charset="-122"/>
                <a:cs typeface="Calibri" pitchFamily="34" charset="-120"/>
              </a:rPr>
              <a:t>Phân chia theo File → SVM ~74.6% · RF ~78% → THỰC TẾ</a:t>
            </a:r>
            <a:endParaRPr lang="en-US" sz="1200" dirty="0"/>
          </a:p>
          <a:p>
            <a:pPr indent="0" marL="0">
              <a:buNone/>
            </a:pPr>
            <a:endParaRPr lang="en-US" sz="1200" dirty="0"/>
          </a:p>
          <a:p>
            <a:pPr indent="0" marL="0">
              <a:buNone/>
            </a:pPr>
            <a:r>
              <a:rPr lang="en-US" sz="1200" dirty="0">
                <a:solidFill>
                  <a:srgbClr val="E8F4FD"/>
                </a:solidFill>
                <a:latin typeface="Calibri" pitchFamily="34" charset="0"/>
                <a:ea typeface="Calibri" pitchFamily="34" charset="-122"/>
                <a:cs typeface="Calibri" pitchFamily="34" charset="-120"/>
              </a:rPr>
              <a:t>Suy giảm 98% → 78% là TIN TỐT: chỉ số phản ánh trung thực năng lực với thiết bị mới.</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4D8"/>
          </a:solidFill>
          <a:ln w="12700">
            <a:solidFill>
              <a:srgbClr val="00B4D8"/>
            </a:solidFill>
            <a:prstDash val="solid"/>
          </a:ln>
        </p:spPr>
      </p:sp>
      <p:sp>
        <p:nvSpPr>
          <p:cNvPr id="3" name="Text 1"/>
          <p:cNvSpPr/>
          <p:nvPr/>
        </p:nvSpPr>
        <p:spPr>
          <a:xfrm>
            <a:off x="365760" y="137160"/>
            <a:ext cx="8412480" cy="50292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Confusion Matrix — Đọc Lỗi Theo Hậu Quả Vận Hành</a:t>
            </a:r>
            <a:endParaRPr lang="en-US" sz="2000" dirty="0"/>
          </a:p>
        </p:txBody>
      </p:sp>
      <p:sp>
        <p:nvSpPr>
          <p:cNvPr id="4" name="Shape 2"/>
          <p:cNvSpPr/>
          <p:nvPr/>
        </p:nvSpPr>
        <p:spPr>
          <a:xfrm>
            <a:off x="365760" y="658368"/>
            <a:ext cx="8412480" cy="27432"/>
          </a:xfrm>
          <a:prstGeom prst="rect">
            <a:avLst/>
          </a:prstGeom>
          <a:solidFill>
            <a:srgbClr val="0077B6"/>
          </a:solidFill>
          <a:ln w="12700">
            <a:solidFill>
              <a:srgbClr val="0077B6"/>
            </a:solidFill>
            <a:prstDash val="solid"/>
          </a:ln>
        </p:spPr>
      </p:sp>
      <p:pic>
        <p:nvPicPr>
          <p:cNvPr id="5" name="Image 0" descr="preencoded.png">    </p:cNvPr>
          <p:cNvPicPr>
            <a:picLocks noChangeAspect="1"/>
          </p:cNvPicPr>
          <p:nvPr/>
        </p:nvPicPr>
        <p:blipFill>
          <a:blip r:embed="rId1"/>
          <a:srcRect l="0" r="0" t="0" b="0"/>
          <a:stretch/>
        </p:blipFill>
        <p:spPr>
          <a:xfrm>
            <a:off x="274320" y="777240"/>
            <a:ext cx="8595360" cy="3200400"/>
          </a:xfrm>
          <a:prstGeom prst="rect">
            <a:avLst/>
          </a:prstGeom>
        </p:spPr>
      </p:pic>
      <p:sp>
        <p:nvSpPr>
          <p:cNvPr id="6" name="Shape 3"/>
          <p:cNvSpPr/>
          <p:nvPr/>
        </p:nvSpPr>
        <p:spPr>
          <a:xfrm>
            <a:off x="274320" y="4069080"/>
            <a:ext cx="2743200" cy="822960"/>
          </a:xfrm>
          <a:prstGeom prst="rect">
            <a:avLst/>
          </a:prstGeom>
          <a:solidFill>
            <a:srgbClr val="112233"/>
          </a:solidFill>
          <a:ln w="12700">
            <a:solidFill>
              <a:srgbClr val="EF476F"/>
            </a:solidFill>
            <a:prstDash val="solid"/>
          </a:ln>
        </p:spPr>
      </p:sp>
      <p:sp>
        <p:nvSpPr>
          <p:cNvPr id="7" name="Text 4"/>
          <p:cNvSpPr/>
          <p:nvPr/>
        </p:nvSpPr>
        <p:spPr>
          <a:xfrm>
            <a:off x="338328" y="4096512"/>
            <a:ext cx="2615184" cy="274320"/>
          </a:xfrm>
          <a:prstGeom prst="rect">
            <a:avLst/>
          </a:prstGeom>
          <a:noFill/>
          <a:ln/>
        </p:spPr>
        <p:txBody>
          <a:bodyPr wrap="square" rtlCol="0" anchor="ctr"/>
          <a:lstStyle/>
          <a:p>
            <a:pPr indent="0" marL="0">
              <a:buNone/>
            </a:pPr>
            <a:r>
              <a:rPr lang="en-US" sz="1100" b="1" dirty="0">
                <a:solidFill>
                  <a:srgbClr val="EF476F"/>
                </a:solidFill>
                <a:latin typeface="Calibri" pitchFamily="34" charset="0"/>
                <a:ea typeface="Calibri" pitchFamily="34" charset="-122"/>
                <a:cs typeface="Calibri" pitchFamily="34" charset="-120"/>
              </a:rPr>
              <a:t>🔴 NGUY HIỂM CỰC ĐỘ</a:t>
            </a:r>
            <a:endParaRPr lang="en-US" sz="1100" dirty="0"/>
          </a:p>
        </p:txBody>
      </p:sp>
      <p:sp>
        <p:nvSpPr>
          <p:cNvPr id="8" name="Text 5"/>
          <p:cNvSpPr/>
          <p:nvPr/>
        </p:nvSpPr>
        <p:spPr>
          <a:xfrm>
            <a:off x="338328" y="4389120"/>
            <a:ext cx="2615184" cy="438912"/>
          </a:xfrm>
          <a:prstGeom prst="rect">
            <a:avLst/>
          </a:prstGeom>
          <a:noFill/>
          <a:ln/>
        </p:spPr>
        <p:txBody>
          <a:bodyPr wrap="square" rtlCol="0" anchor="ctr"/>
          <a:lstStyle/>
          <a:p>
            <a:pPr indent="0" marL="0">
              <a:buNone/>
            </a:pPr>
            <a:r>
              <a:rPr lang="en-US" sz="1000" dirty="0">
                <a:solidFill>
                  <a:srgbClr val="8BAFC7"/>
                </a:solidFill>
                <a:latin typeface="Calibri" pitchFamily="34" charset="0"/>
                <a:ea typeface="Calibri" pitchFamily="34" charset="-122"/>
                <a:cs typeface="Calibri" pitchFamily="34" charset="-120"/>
              </a:rPr>
              <a:t>Khuyết tật → Bình thường (False Negative)</a:t>
            </a:r>
            <a:endParaRPr lang="en-US" sz="1000" dirty="0"/>
          </a:p>
        </p:txBody>
      </p:sp>
      <p:sp>
        <p:nvSpPr>
          <p:cNvPr id="9" name="Shape 6"/>
          <p:cNvSpPr/>
          <p:nvPr/>
        </p:nvSpPr>
        <p:spPr>
          <a:xfrm>
            <a:off x="3154680" y="4069080"/>
            <a:ext cx="2743200" cy="822960"/>
          </a:xfrm>
          <a:prstGeom prst="rect">
            <a:avLst/>
          </a:prstGeom>
          <a:solidFill>
            <a:srgbClr val="112233"/>
          </a:solidFill>
          <a:ln w="12700">
            <a:solidFill>
              <a:srgbClr val="FFD166"/>
            </a:solidFill>
            <a:prstDash val="solid"/>
          </a:ln>
        </p:spPr>
      </p:sp>
      <p:sp>
        <p:nvSpPr>
          <p:cNvPr id="10" name="Text 7"/>
          <p:cNvSpPr/>
          <p:nvPr/>
        </p:nvSpPr>
        <p:spPr>
          <a:xfrm>
            <a:off x="3218688" y="4096512"/>
            <a:ext cx="2615184" cy="274320"/>
          </a:xfrm>
          <a:prstGeom prst="rect">
            <a:avLst/>
          </a:prstGeom>
          <a:noFill/>
          <a:ln/>
        </p:spPr>
        <p:txBody>
          <a:bodyPr wrap="square" rtlCol="0" anchor="ctr"/>
          <a:lstStyle/>
          <a:p>
            <a:pPr indent="0" marL="0">
              <a:buNone/>
            </a:pPr>
            <a:r>
              <a:rPr lang="en-US" sz="1100" b="1" dirty="0">
                <a:solidFill>
                  <a:srgbClr val="FFD166"/>
                </a:solidFill>
                <a:latin typeface="Calibri" pitchFamily="34" charset="0"/>
                <a:ea typeface="Calibri" pitchFamily="34" charset="-122"/>
                <a:cs typeface="Calibri" pitchFamily="34" charset="-120"/>
              </a:rPr>
              <a:t>🟡 An toàn (kiểm tra dư thừa)</a:t>
            </a:r>
            <a:endParaRPr lang="en-US" sz="1100" dirty="0"/>
          </a:p>
        </p:txBody>
      </p:sp>
      <p:sp>
        <p:nvSpPr>
          <p:cNvPr id="11" name="Text 8"/>
          <p:cNvSpPr/>
          <p:nvPr/>
        </p:nvSpPr>
        <p:spPr>
          <a:xfrm>
            <a:off x="3218688" y="4389120"/>
            <a:ext cx="2615184" cy="438912"/>
          </a:xfrm>
          <a:prstGeom prst="rect">
            <a:avLst/>
          </a:prstGeom>
          <a:noFill/>
          <a:ln/>
        </p:spPr>
        <p:txBody>
          <a:bodyPr wrap="square" rtlCol="0" anchor="ctr"/>
          <a:lstStyle/>
          <a:p>
            <a:pPr indent="0" marL="0">
              <a:buNone/>
            </a:pPr>
            <a:r>
              <a:rPr lang="en-US" sz="1000" dirty="0">
                <a:solidFill>
                  <a:srgbClr val="8BAFC7"/>
                </a:solidFill>
                <a:latin typeface="Calibri" pitchFamily="34" charset="0"/>
                <a:ea typeface="Calibri" pitchFamily="34" charset="-122"/>
                <a:cs typeface="Calibri" pitchFamily="34" charset="-120"/>
              </a:rPr>
              <a:t>Bình thường → Khuyết tật (False Positive)</a:t>
            </a:r>
            <a:endParaRPr lang="en-US" sz="1000" dirty="0"/>
          </a:p>
        </p:txBody>
      </p:sp>
      <p:sp>
        <p:nvSpPr>
          <p:cNvPr id="12" name="Shape 9"/>
          <p:cNvSpPr/>
          <p:nvPr/>
        </p:nvSpPr>
        <p:spPr>
          <a:xfrm>
            <a:off x="6035040" y="4069080"/>
            <a:ext cx="2743200" cy="822960"/>
          </a:xfrm>
          <a:prstGeom prst="rect">
            <a:avLst/>
          </a:prstGeom>
          <a:solidFill>
            <a:srgbClr val="112233"/>
          </a:solidFill>
          <a:ln w="12700">
            <a:solidFill>
              <a:srgbClr val="FF8800"/>
            </a:solidFill>
            <a:prstDash val="solid"/>
          </a:ln>
        </p:spPr>
      </p:sp>
      <p:sp>
        <p:nvSpPr>
          <p:cNvPr id="13" name="Text 10"/>
          <p:cNvSpPr/>
          <p:nvPr/>
        </p:nvSpPr>
        <p:spPr>
          <a:xfrm>
            <a:off x="6099048" y="4096512"/>
            <a:ext cx="2615184" cy="274320"/>
          </a:xfrm>
          <a:prstGeom prst="rect">
            <a:avLst/>
          </a:prstGeom>
          <a:noFill/>
          <a:ln/>
        </p:spPr>
        <p:txBody>
          <a:bodyPr wrap="square" rtlCol="0" anchor="ctr"/>
          <a:lstStyle/>
          <a:p>
            <a:pPr indent="0" marL="0">
              <a:buNone/>
            </a:pPr>
            <a:r>
              <a:rPr lang="en-US" sz="1100" b="1" dirty="0">
                <a:solidFill>
                  <a:srgbClr val="FF8800"/>
                </a:solidFill>
                <a:latin typeface="Calibri" pitchFamily="34" charset="0"/>
                <a:ea typeface="Calibri" pitchFamily="34" charset="-122"/>
                <a:cs typeface="Calibri" pitchFamily="34" charset="-120"/>
              </a:rPr>
              <a:t>🟠 Chuẩn bị sai phụ tùng</a:t>
            </a:r>
            <a:endParaRPr lang="en-US" sz="1100" dirty="0"/>
          </a:p>
        </p:txBody>
      </p:sp>
      <p:sp>
        <p:nvSpPr>
          <p:cNvPr id="14" name="Text 11"/>
          <p:cNvSpPr/>
          <p:nvPr/>
        </p:nvSpPr>
        <p:spPr>
          <a:xfrm>
            <a:off x="6099048" y="4389120"/>
            <a:ext cx="2615184" cy="438912"/>
          </a:xfrm>
          <a:prstGeom prst="rect">
            <a:avLst/>
          </a:prstGeom>
          <a:noFill/>
          <a:ln/>
        </p:spPr>
        <p:txBody>
          <a:bodyPr wrap="square" rtlCol="0" anchor="ctr"/>
          <a:lstStyle/>
          <a:p>
            <a:pPr indent="0" marL="0">
              <a:buNone/>
            </a:pPr>
            <a:r>
              <a:rPr lang="en-US" sz="1000" dirty="0">
                <a:solidFill>
                  <a:srgbClr val="8BAFC7"/>
                </a:solidFill>
                <a:latin typeface="Calibri" pitchFamily="34" charset="0"/>
                <a:ea typeface="Calibri" pitchFamily="34" charset="-122"/>
                <a:cs typeface="Calibri" pitchFamily="34" charset="-120"/>
              </a:rPr>
              <a:t>Nhầm loại (IR↔OR)</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D1F35"/>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F5D4"/>
          </a:solidFill>
          <a:ln w="12700">
            <a:solidFill>
              <a:srgbClr val="00F5D4"/>
            </a:solidFill>
            <a:prstDash val="solid"/>
          </a:ln>
        </p:spPr>
      </p:sp>
      <p:sp>
        <p:nvSpPr>
          <p:cNvPr id="3" name="Shape 1"/>
          <p:cNvSpPr/>
          <p:nvPr/>
        </p:nvSpPr>
        <p:spPr>
          <a:xfrm>
            <a:off x="0" y="0"/>
            <a:ext cx="3200400" cy="5143500"/>
          </a:xfrm>
          <a:prstGeom prst="rect">
            <a:avLst/>
          </a:prstGeom>
          <a:solidFill>
            <a:srgbClr val="112233"/>
          </a:solidFill>
          <a:ln w="12700">
            <a:solidFill>
              <a:srgbClr val="112233"/>
            </a:solidFill>
            <a:prstDash val="solid"/>
          </a:ln>
        </p:spPr>
      </p:sp>
      <p:sp>
        <p:nvSpPr>
          <p:cNvPr id="4" name="Text 2"/>
          <p:cNvSpPr/>
          <p:nvPr/>
        </p:nvSpPr>
        <p:spPr>
          <a:xfrm>
            <a:off x="164592" y="914400"/>
            <a:ext cx="2834640" cy="457200"/>
          </a:xfrm>
          <a:prstGeom prst="rect">
            <a:avLst/>
          </a:prstGeom>
          <a:noFill/>
          <a:ln/>
        </p:spPr>
        <p:txBody>
          <a:bodyPr wrap="square" rtlCol="0" anchor="ctr"/>
          <a:lstStyle/>
          <a:p>
            <a:pPr indent="0" marL="0">
              <a:buNone/>
            </a:pPr>
            <a:r>
              <a:rPr lang="en-US" sz="1200" b="1" spc="400" kern="0" dirty="0">
                <a:solidFill>
                  <a:srgbClr val="00B4D8"/>
                </a:solidFill>
                <a:latin typeface="Calibri" pitchFamily="34" charset="0"/>
                <a:ea typeface="Calibri" pitchFamily="34" charset="-122"/>
                <a:cs typeface="Calibri" pitchFamily="34" charset="-120"/>
              </a:rPr>
              <a:t>PHẦN D · TUTORIAL 05</a:t>
            </a:r>
            <a:endParaRPr lang="en-US" sz="1200" dirty="0"/>
          </a:p>
        </p:txBody>
      </p:sp>
      <p:sp>
        <p:nvSpPr>
          <p:cNvPr id="5" name="Text 3"/>
          <p:cNvSpPr/>
          <p:nvPr/>
        </p:nvSpPr>
        <p:spPr>
          <a:xfrm>
            <a:off x="164592" y="1463040"/>
            <a:ext cx="2834640" cy="1645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SHAP — Giải Thích Mô Hình</a:t>
            </a:r>
            <a:endParaRPr lang="en-US" sz="2200" dirty="0"/>
          </a:p>
        </p:txBody>
      </p:sp>
      <p:sp>
        <p:nvSpPr>
          <p:cNvPr id="6" name="Text 4"/>
          <p:cNvSpPr/>
          <p:nvPr/>
        </p:nvSpPr>
        <p:spPr>
          <a:xfrm>
            <a:off x="164592" y="3200400"/>
            <a:ext cx="2834640" cy="1371600"/>
          </a:xfrm>
          <a:prstGeom prst="rect">
            <a:avLst/>
          </a:prstGeom>
          <a:noFill/>
          <a:ln/>
        </p:spPr>
        <p:txBody>
          <a:bodyPr wrap="square" rtlCol="0" anchor="ctr"/>
          <a:lstStyle/>
          <a:p>
            <a:pPr indent="0" marL="0">
              <a:buNone/>
            </a:pPr>
            <a:r>
              <a:rPr lang="en-US" sz="1300" dirty="0">
                <a:solidFill>
                  <a:srgbClr val="8BAFC7"/>
                </a:solidFill>
                <a:latin typeface="Calibri" pitchFamily="34" charset="0"/>
                <a:ea typeface="Calibri" pitchFamily="34" charset="-122"/>
                <a:cs typeface="Calibri" pitchFamily="34" charset="-120"/>
              </a:rPr>
              <a:t>Shapley Values · Summary Plot · Waterfall Plot · Hành động bảo trì</a:t>
            </a:r>
            <a:endParaRPr lang="en-US" sz="1300" dirty="0"/>
          </a:p>
        </p:txBody>
      </p:sp>
      <p:sp>
        <p:nvSpPr>
          <p:cNvPr id="7" name="Text 5"/>
          <p:cNvSpPr/>
          <p:nvPr/>
        </p:nvSpPr>
        <p:spPr>
          <a:xfrm>
            <a:off x="3657600" y="1371600"/>
            <a:ext cx="5212080" cy="3200400"/>
          </a:xfrm>
          <a:prstGeom prst="rect">
            <a:avLst/>
          </a:prstGeom>
          <a:noFill/>
          <a:ln/>
        </p:spPr>
        <p:txBody>
          <a:bodyPr wrap="square" rtlCol="0" anchor="ctr"/>
          <a:lstStyle/>
          <a:p>
            <a:pPr indent="0" marL="0">
              <a:buNone/>
            </a:pPr>
            <a:r>
              <a:rPr lang="en-US" sz="1400" b="1" dirty="0">
                <a:solidFill>
                  <a:srgbClr val="06D6A0"/>
                </a:solidFill>
                <a:latin typeface="Calibri" pitchFamily="34" charset="0"/>
                <a:ea typeface="Calibri" pitchFamily="34" charset="-122"/>
                <a:cs typeface="Calibri" pitchFamily="34" charset="-120"/>
              </a:rPr>
              <a:t>✔ </a:t>
            </a:r>
            <a:pPr indent="0" marL="0">
              <a:buNone/>
            </a:pPr>
            <a:r>
              <a:rPr lang="en-US" sz="1400" dirty="0">
                <a:solidFill>
                  <a:srgbClr val="E8F4FD"/>
                </a:solidFill>
                <a:latin typeface="Calibri" pitchFamily="34" charset="0"/>
                <a:ea typeface="Calibri" pitchFamily="34" charset="-122"/>
                <a:cs typeface="Calibri" pitchFamily="34" charset="-120"/>
              </a:rPr>
              <a:t>Khái niệm Shapley Value &amp; tính công bằng
</a:t>
            </a:r>
            <a:pPr indent="0" marL="0">
              <a:buNone/>
            </a:pPr>
            <a:r>
              <a:rPr lang="en-US" sz="1400" b="1" dirty="0">
                <a:solidFill>
                  <a:srgbClr val="06D6A0"/>
                </a:solidFill>
                <a:latin typeface="Calibri" pitchFamily="34" charset="0"/>
                <a:ea typeface="Calibri" pitchFamily="34" charset="-122"/>
                <a:cs typeface="Calibri" pitchFamily="34" charset="-120"/>
              </a:rPr>
              <a:t>✔ </a:t>
            </a:r>
            <a:pPr indent="0" marL="0">
              <a:buNone/>
            </a:pPr>
            <a:r>
              <a:rPr lang="en-US" sz="1400" dirty="0">
                <a:solidFill>
                  <a:srgbClr val="E8F4FD"/>
                </a:solidFill>
                <a:latin typeface="Calibri" pitchFamily="34" charset="0"/>
                <a:ea typeface="Calibri" pitchFamily="34" charset="-122"/>
                <a:cs typeface="Calibri" pitchFamily="34" charset="-120"/>
              </a:rPr>
              <a:t>SHAP Summary Plot (toàn cục)
</a:t>
            </a:r>
            <a:pPr indent="0" marL="0">
              <a:buNone/>
            </a:pPr>
            <a:r>
              <a:rPr lang="en-US" sz="1400" b="1" dirty="0">
                <a:solidFill>
                  <a:srgbClr val="06D6A0"/>
                </a:solidFill>
                <a:latin typeface="Calibri" pitchFamily="34" charset="0"/>
                <a:ea typeface="Calibri" pitchFamily="34" charset="-122"/>
                <a:cs typeface="Calibri" pitchFamily="34" charset="-120"/>
              </a:rPr>
              <a:t>✔ </a:t>
            </a:r>
            <a:pPr indent="0" marL="0">
              <a:buNone/>
            </a:pPr>
            <a:r>
              <a:rPr lang="en-US" sz="1400" dirty="0">
                <a:solidFill>
                  <a:srgbClr val="E8F4FD"/>
                </a:solidFill>
                <a:latin typeface="Calibri" pitchFamily="34" charset="0"/>
                <a:ea typeface="Calibri" pitchFamily="34" charset="-122"/>
                <a:cs typeface="Calibri" pitchFamily="34" charset="-120"/>
              </a:rPr>
              <a:t>SHAP Waterfall Plot (từng ca cụ thể)
</a:t>
            </a:r>
            <a:pPr indent="0" marL="0">
              <a:buNone/>
            </a:pPr>
            <a:r>
              <a:rPr lang="en-US" sz="1400" b="1" dirty="0">
                <a:solidFill>
                  <a:srgbClr val="06D6A0"/>
                </a:solidFill>
                <a:latin typeface="Calibri" pitchFamily="34" charset="0"/>
                <a:ea typeface="Calibri" pitchFamily="34" charset="-122"/>
                <a:cs typeface="Calibri" pitchFamily="34" charset="-120"/>
              </a:rPr>
              <a:t>✔ </a:t>
            </a:r>
            <a:pPr indent="0" marL="0">
              <a:buNone/>
            </a:pPr>
            <a:r>
              <a:rPr lang="en-US" sz="1400" dirty="0">
                <a:solidFill>
                  <a:srgbClr val="E8F4FD"/>
                </a:solidFill>
                <a:latin typeface="Calibri" pitchFamily="34" charset="0"/>
                <a:ea typeface="Calibri" pitchFamily="34" charset="-122"/>
                <a:cs typeface="Calibri" pitchFamily="34" charset="-120"/>
              </a:rPr>
              <a:t>Chuyển hóa SHAP → Phương án bảo trì thực tế</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4D8"/>
          </a:solidFill>
          <a:ln w="12700">
            <a:solidFill>
              <a:srgbClr val="00B4D8"/>
            </a:solidFill>
            <a:prstDash val="solid"/>
          </a:ln>
        </p:spPr>
      </p:sp>
      <p:sp>
        <p:nvSpPr>
          <p:cNvPr id="3" name="Text 1"/>
          <p:cNvSpPr/>
          <p:nvPr/>
        </p:nvSpPr>
        <p:spPr>
          <a:xfrm>
            <a:off x="365760" y="137160"/>
            <a:ext cx="8412480" cy="50292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Shapley Value — "Chia Công Công Bằng" (Game Theory)</a:t>
            </a:r>
            <a:endParaRPr lang="en-US" sz="2000" dirty="0"/>
          </a:p>
        </p:txBody>
      </p:sp>
      <p:sp>
        <p:nvSpPr>
          <p:cNvPr id="4" name="Shape 2"/>
          <p:cNvSpPr/>
          <p:nvPr/>
        </p:nvSpPr>
        <p:spPr>
          <a:xfrm>
            <a:off x="365760" y="658368"/>
            <a:ext cx="8412480" cy="27432"/>
          </a:xfrm>
          <a:prstGeom prst="rect">
            <a:avLst/>
          </a:prstGeom>
          <a:solidFill>
            <a:srgbClr val="0077B6"/>
          </a:solidFill>
          <a:ln w="12700">
            <a:solidFill>
              <a:srgbClr val="0077B6"/>
            </a:solidFill>
            <a:prstDash val="solid"/>
          </a:ln>
        </p:spPr>
      </p:sp>
      <p:pic>
        <p:nvPicPr>
          <p:cNvPr id="5" name="Image 0" descr="preencoded.png">    </p:cNvPr>
          <p:cNvPicPr>
            <a:picLocks noChangeAspect="1"/>
          </p:cNvPicPr>
          <p:nvPr/>
        </p:nvPicPr>
        <p:blipFill>
          <a:blip r:embed="rId1"/>
          <a:srcRect l="0" r="0" t="0" b="0"/>
          <a:stretch/>
        </p:blipFill>
        <p:spPr>
          <a:xfrm>
            <a:off x="274320" y="777240"/>
            <a:ext cx="5303520" cy="3291840"/>
          </a:xfrm>
          <a:prstGeom prst="rect">
            <a:avLst/>
          </a:prstGeom>
        </p:spPr>
      </p:pic>
      <p:sp>
        <p:nvSpPr>
          <p:cNvPr id="6" name="Shape 3"/>
          <p:cNvSpPr/>
          <p:nvPr/>
        </p:nvSpPr>
        <p:spPr>
          <a:xfrm>
            <a:off x="5669280" y="822960"/>
            <a:ext cx="3200400" cy="3246120"/>
          </a:xfrm>
          <a:prstGeom prst="rect">
            <a:avLst/>
          </a:prstGeom>
          <a:solidFill>
            <a:srgbClr val="112233"/>
          </a:solidFill>
          <a:ln w="12700">
            <a:solidFill>
              <a:srgbClr val="FFD166"/>
            </a:solidFill>
            <a:prstDash val="solid"/>
          </a:ln>
        </p:spPr>
      </p:sp>
      <p:sp>
        <p:nvSpPr>
          <p:cNvPr id="7" name="Text 4"/>
          <p:cNvSpPr/>
          <p:nvPr/>
        </p:nvSpPr>
        <p:spPr>
          <a:xfrm>
            <a:off x="5760720" y="868680"/>
            <a:ext cx="3017520" cy="320040"/>
          </a:xfrm>
          <a:prstGeom prst="rect">
            <a:avLst/>
          </a:prstGeom>
          <a:noFill/>
          <a:ln/>
        </p:spPr>
        <p:txBody>
          <a:bodyPr wrap="square" rtlCol="0" anchor="ctr"/>
          <a:lstStyle/>
          <a:p>
            <a:pPr indent="0" marL="0">
              <a:buNone/>
            </a:pPr>
            <a:r>
              <a:rPr lang="en-US" sz="1300" b="1" dirty="0">
                <a:solidFill>
                  <a:srgbClr val="FFD166"/>
                </a:solidFill>
                <a:latin typeface="Calibri" pitchFamily="34" charset="0"/>
                <a:ea typeface="Calibri" pitchFamily="34" charset="-122"/>
                <a:cs typeface="Calibri" pitchFamily="34" charset="-120"/>
              </a:rPr>
              <a:t>Trực giác câu chuyện</a:t>
            </a:r>
            <a:endParaRPr lang="en-US" sz="1300" dirty="0"/>
          </a:p>
        </p:txBody>
      </p:sp>
      <p:sp>
        <p:nvSpPr>
          <p:cNvPr id="8" name="Text 5"/>
          <p:cNvSpPr/>
          <p:nvPr/>
        </p:nvSpPr>
        <p:spPr>
          <a:xfrm>
            <a:off x="5760720" y="1261872"/>
            <a:ext cx="3017520" cy="2743200"/>
          </a:xfrm>
          <a:prstGeom prst="rect">
            <a:avLst/>
          </a:prstGeom>
          <a:noFill/>
          <a:ln/>
        </p:spPr>
        <p:txBody>
          <a:bodyPr wrap="square" rtlCol="0" anchor="ctr"/>
          <a:lstStyle/>
          <a:p>
            <a:pPr indent="0" marL="0">
              <a:buNone/>
            </a:pPr>
            <a:r>
              <a:rPr lang="en-US" sz="1100" dirty="0">
                <a:solidFill>
                  <a:srgbClr val="E8F4FD"/>
                </a:solidFill>
                <a:latin typeface="Calibri" pitchFamily="34" charset="0"/>
                <a:ea typeface="Calibri" pitchFamily="34" charset="-122"/>
                <a:cs typeface="Calibri" pitchFamily="34" charset="-120"/>
              </a:rPr>
              <a:t>3 kỹ sư hợp tác dự án. Làm sao chia thưởng công bằng?</a:t>
            </a:r>
            <a:endParaRPr lang="en-US" sz="1100" dirty="0"/>
          </a:p>
          <a:p>
            <a:pPr indent="0" marL="0">
              <a:buNone/>
            </a:pPr>
            <a:r>
              <a:rPr lang="en-US" sz="1100" dirty="0">
                <a:solidFill>
                  <a:srgbClr val="E8F4FD"/>
                </a:solidFill>
                <a:latin typeface="Calibri" pitchFamily="34" charset="0"/>
                <a:ea typeface="Calibri" pitchFamily="34" charset="-122"/>
                <a:cs typeface="Calibri" pitchFamily="34" charset="-120"/>
              </a:rPr>
              <a:t>→ Thử mọi thứ tự gia nhập nhóm → tính đóng góp biên trung bình của từng người.</a:t>
            </a:r>
            <a:endParaRPr lang="en-US" sz="1100" dirty="0"/>
          </a:p>
          <a:p>
            <a:pPr indent="0" marL="0">
              <a:buNone/>
            </a:pPr>
            <a:endParaRPr lang="en-US" sz="1100" dirty="0"/>
          </a:p>
          <a:p>
            <a:pPr indent="0" marL="0">
              <a:buNone/>
            </a:pPr>
            <a:r>
              <a:rPr lang="en-US" sz="1100" dirty="0">
                <a:solidFill>
                  <a:srgbClr val="E8F4FD"/>
                </a:solidFill>
                <a:latin typeface="Calibri" pitchFamily="34" charset="0"/>
                <a:ea typeface="Calibri" pitchFamily="34" charset="-122"/>
                <a:cs typeface="Calibri" pitchFamily="34" charset="-120"/>
              </a:rPr>
              <a:t>Ánh xạ sang ML:</a:t>
            </a:r>
            <a:endParaRPr lang="en-US" sz="1100" dirty="0"/>
          </a:p>
          <a:p>
            <a:pPr indent="0" marL="0">
              <a:buNone/>
            </a:pPr>
            <a:r>
              <a:rPr lang="en-US" sz="1100" dirty="0">
                <a:solidFill>
                  <a:srgbClr val="E8F4FD"/>
                </a:solidFill>
                <a:latin typeface="Calibri" pitchFamily="34" charset="0"/>
                <a:ea typeface="Calibri" pitchFamily="34" charset="-122"/>
                <a:cs typeface="Calibri" pitchFamily="34" charset="-120"/>
              </a:rPr>
              <a:t>• "Kỹ sư" = Đặc trưng (rms, kurtosis...)</a:t>
            </a:r>
            <a:endParaRPr lang="en-US" sz="1100" dirty="0"/>
          </a:p>
          <a:p>
            <a:pPr indent="0" marL="0">
              <a:buNone/>
            </a:pPr>
            <a:r>
              <a:rPr lang="en-US" sz="1100" dirty="0">
                <a:solidFill>
                  <a:srgbClr val="E8F4FD"/>
                </a:solidFill>
                <a:latin typeface="Calibri" pitchFamily="34" charset="0"/>
                <a:ea typeface="Calibri" pitchFamily="34" charset="-122"/>
                <a:cs typeface="Calibri" pitchFamily="34" charset="-120"/>
              </a:rPr>
              <a:t>• "Lợi nhuận" = Xác suất dự báo</a:t>
            </a:r>
            <a:endParaRPr lang="en-US" sz="1100" dirty="0"/>
          </a:p>
          <a:p>
            <a:pPr indent="0" marL="0">
              <a:buNone/>
            </a:pPr>
            <a:r>
              <a:rPr lang="en-US" sz="1100" dirty="0">
                <a:solidFill>
                  <a:srgbClr val="E8F4FD"/>
                </a:solidFill>
                <a:latin typeface="Calibri" pitchFamily="34" charset="0"/>
                <a:ea typeface="Calibri" pitchFamily="34" charset="-122"/>
                <a:cs typeface="Calibri" pitchFamily="34" charset="-120"/>
              </a:rPr>
              <a:t>• "Thưởng" = SHAP value</a:t>
            </a:r>
            <a:endParaRPr lang="en-US" sz="1100" dirty="0"/>
          </a:p>
          <a:p>
            <a:pPr indent="0" marL="0">
              <a:buNone/>
            </a:pPr>
            <a:endParaRPr lang="en-US" sz="1100" dirty="0"/>
          </a:p>
          <a:p>
            <a:pPr indent="0" marL="0">
              <a:buNone/>
            </a:pPr>
            <a:r>
              <a:rPr lang="en-US" sz="1100" dirty="0">
                <a:solidFill>
                  <a:srgbClr val="E8F4FD"/>
                </a:solidFill>
                <a:latin typeface="Calibri" pitchFamily="34" charset="0"/>
                <a:ea typeface="Calibri" pitchFamily="34" charset="-122"/>
                <a:cs typeface="Calibri" pitchFamily="34" charset="-120"/>
              </a:rPr>
              <a:t>φᵢ &gt; 0: Đặc trưng ủng hộ xếp lớp lỗi</a:t>
            </a:r>
            <a:endParaRPr lang="en-US" sz="1100" dirty="0"/>
          </a:p>
          <a:p>
            <a:pPr indent="0" marL="0">
              <a:buNone/>
            </a:pPr>
            <a:r>
              <a:rPr lang="en-US" sz="1100" dirty="0">
                <a:solidFill>
                  <a:srgbClr val="E8F4FD"/>
                </a:solidFill>
                <a:latin typeface="Calibri" pitchFamily="34" charset="0"/>
                <a:ea typeface="Calibri" pitchFamily="34" charset="-122"/>
                <a:cs typeface="Calibri" pitchFamily="34" charset="-120"/>
              </a:rPr>
              <a:t>φᵢ &lt; 0: Đặc trưng phản bác chẩn đoán</a:t>
            </a:r>
            <a:endParaRPr lang="en-US" sz="1100" dirty="0"/>
          </a:p>
        </p:txBody>
      </p:sp>
      <p:sp>
        <p:nvSpPr>
          <p:cNvPr id="9" name="Shape 6"/>
          <p:cNvSpPr/>
          <p:nvPr/>
        </p:nvSpPr>
        <p:spPr>
          <a:xfrm>
            <a:off x="274320" y="4160520"/>
            <a:ext cx="8595360" cy="548640"/>
          </a:xfrm>
          <a:prstGeom prst="rect">
            <a:avLst/>
          </a:prstGeom>
          <a:solidFill>
            <a:srgbClr val="112233"/>
          </a:solidFill>
          <a:ln w="12700">
            <a:solidFill>
              <a:srgbClr val="4A6278"/>
            </a:solidFill>
            <a:prstDash val="solid"/>
          </a:ln>
        </p:spPr>
      </p:sp>
      <p:sp>
        <p:nvSpPr>
          <p:cNvPr id="10" name="Text 7"/>
          <p:cNvSpPr/>
          <p:nvPr/>
        </p:nvSpPr>
        <p:spPr>
          <a:xfrm>
            <a:off x="411480" y="4206240"/>
            <a:ext cx="8321040" cy="438912"/>
          </a:xfrm>
          <a:prstGeom prst="rect">
            <a:avLst/>
          </a:prstGeom>
          <a:noFill/>
          <a:ln/>
        </p:spPr>
        <p:txBody>
          <a:bodyPr wrap="square" rtlCol="0" anchor="ctr"/>
          <a:lstStyle/>
          <a:p>
            <a:pPr algn="ctr" indent="0" marL="0">
              <a:buNone/>
            </a:pPr>
            <a:r>
              <a:rPr lang="en-US" sz="1100" i="1" dirty="0">
                <a:solidFill>
                  <a:srgbClr val="8BAFC7"/>
                </a:solidFill>
                <a:latin typeface="Calibri" pitchFamily="34" charset="0"/>
                <a:ea typeface="Calibri" pitchFamily="34" charset="-122"/>
                <a:cs typeface="Calibri" pitchFamily="34" charset="-120"/>
              </a:rPr>
              <a:t>f(x) = φ₀ + Σφᵢ  ·  φ₀ = Base Value (xác suất trung bình toàn tập)  ·  Lundberg &amp; Lee 2017</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4D8"/>
          </a:solidFill>
          <a:ln w="12700">
            <a:solidFill>
              <a:srgbClr val="00B4D8"/>
            </a:solidFill>
            <a:prstDash val="solid"/>
          </a:ln>
        </p:spPr>
      </p:sp>
      <p:sp>
        <p:nvSpPr>
          <p:cNvPr id="3" name="Text 1"/>
          <p:cNvSpPr/>
          <p:nvPr/>
        </p:nvSpPr>
        <p:spPr>
          <a:xfrm>
            <a:off x="365760" y="137160"/>
            <a:ext cx="8412480" cy="50292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SHAP Summary Plot — Phân Tích Tầm Ảnh Hưởng Toàn Cục</a:t>
            </a:r>
            <a:endParaRPr lang="en-US" sz="2000" dirty="0"/>
          </a:p>
        </p:txBody>
      </p:sp>
      <p:sp>
        <p:nvSpPr>
          <p:cNvPr id="4" name="Shape 2"/>
          <p:cNvSpPr/>
          <p:nvPr/>
        </p:nvSpPr>
        <p:spPr>
          <a:xfrm>
            <a:off x="365760" y="658368"/>
            <a:ext cx="8412480" cy="27432"/>
          </a:xfrm>
          <a:prstGeom prst="rect">
            <a:avLst/>
          </a:prstGeom>
          <a:solidFill>
            <a:srgbClr val="0077B6"/>
          </a:solidFill>
          <a:ln w="12700">
            <a:solidFill>
              <a:srgbClr val="0077B6"/>
            </a:solidFill>
            <a:prstDash val="solid"/>
          </a:ln>
        </p:spPr>
      </p:sp>
      <p:pic>
        <p:nvPicPr>
          <p:cNvPr id="5" name="Image 0" descr="preencoded.png">    </p:cNvPr>
          <p:cNvPicPr>
            <a:picLocks noChangeAspect="1"/>
          </p:cNvPicPr>
          <p:nvPr/>
        </p:nvPicPr>
        <p:blipFill>
          <a:blip r:embed="rId1"/>
          <a:srcRect l="0" r="0" t="0" b="0"/>
          <a:stretch/>
        </p:blipFill>
        <p:spPr>
          <a:xfrm>
            <a:off x="274320" y="777240"/>
            <a:ext cx="5486400" cy="3931920"/>
          </a:xfrm>
          <a:prstGeom prst="rect">
            <a:avLst/>
          </a:prstGeom>
        </p:spPr>
      </p:pic>
      <p:sp>
        <p:nvSpPr>
          <p:cNvPr id="6" name="Shape 3"/>
          <p:cNvSpPr/>
          <p:nvPr/>
        </p:nvSpPr>
        <p:spPr>
          <a:xfrm>
            <a:off x="5943600" y="822960"/>
            <a:ext cx="2926080" cy="3840480"/>
          </a:xfrm>
          <a:prstGeom prst="rect">
            <a:avLst/>
          </a:prstGeom>
          <a:solidFill>
            <a:srgbClr val="112233"/>
          </a:solidFill>
          <a:ln w="12700">
            <a:solidFill>
              <a:srgbClr val="0077B6"/>
            </a:solidFill>
            <a:prstDash val="solid"/>
          </a:ln>
        </p:spPr>
      </p:sp>
      <p:sp>
        <p:nvSpPr>
          <p:cNvPr id="7" name="Text 4"/>
          <p:cNvSpPr/>
          <p:nvPr/>
        </p:nvSpPr>
        <p:spPr>
          <a:xfrm>
            <a:off x="6035040" y="868680"/>
            <a:ext cx="2743200" cy="320040"/>
          </a:xfrm>
          <a:prstGeom prst="rect">
            <a:avLst/>
          </a:prstGeom>
          <a:noFill/>
          <a:ln/>
        </p:spPr>
        <p:txBody>
          <a:bodyPr wrap="square" rtlCol="0" anchor="ctr"/>
          <a:lstStyle/>
          <a:p>
            <a:pPr indent="0" marL="0">
              <a:buNone/>
            </a:pPr>
            <a:r>
              <a:rPr lang="en-US" sz="1300" b="1" dirty="0">
                <a:solidFill>
                  <a:srgbClr val="00B4D8"/>
                </a:solidFill>
                <a:latin typeface="Calibri" pitchFamily="34" charset="0"/>
                <a:ea typeface="Calibri" pitchFamily="34" charset="-122"/>
                <a:cs typeface="Calibri" pitchFamily="34" charset="-120"/>
              </a:rPr>
              <a:t>Cách đọc Summary Plot</a:t>
            </a:r>
            <a:endParaRPr lang="en-US" sz="1300" dirty="0"/>
          </a:p>
        </p:txBody>
      </p:sp>
      <p:sp>
        <p:nvSpPr>
          <p:cNvPr id="8" name="Text 5"/>
          <p:cNvSpPr/>
          <p:nvPr/>
        </p:nvSpPr>
        <p:spPr>
          <a:xfrm>
            <a:off x="6035040" y="1280160"/>
            <a:ext cx="2743200" cy="3200400"/>
          </a:xfrm>
          <a:prstGeom prst="rect">
            <a:avLst/>
          </a:prstGeom>
          <a:noFill/>
          <a:ln/>
        </p:spPr>
        <p:txBody>
          <a:bodyPr wrap="square" rtlCol="0" anchor="ctr"/>
          <a:lstStyle/>
          <a:p>
            <a:pPr indent="0" marL="0">
              <a:buNone/>
            </a:pPr>
            <a:r>
              <a:rPr lang="en-US" sz="1200" b="1" dirty="0">
                <a:solidFill>
                  <a:srgbClr val="00B4D8"/>
                </a:solidFill>
                <a:latin typeface="Calibri" pitchFamily="34" charset="0"/>
                <a:ea typeface="Calibri" pitchFamily="34" charset="-122"/>
                <a:cs typeface="Calibri" pitchFamily="34" charset="-120"/>
              </a:rPr>
              <a:t>Trục Y:</a:t>
            </a:r>
            <a:pPr indent="0" marL="0">
              <a:buNone/>
            </a:pPr>
            <a:r>
              <a:rPr lang="en-US" sz="1200" dirty="0">
                <a:solidFill>
                  <a:srgbClr val="E8F4FD"/>
                </a:solidFill>
                <a:latin typeface="Calibri" pitchFamily="34" charset="0"/>
                <a:ea typeface="Calibri" pitchFamily="34" charset="-122"/>
                <a:cs typeface="Calibri" pitchFamily="34" charset="-120"/>
              </a:rPr>
              <a:t> Đặc trưng (xếp theo tầm quan trọng)
</a:t>
            </a:r>
            <a:pPr indent="0" marL="0">
              <a:buNone/>
            </a:pPr>
            <a:r>
              <a:rPr lang="en-US" sz="1200" b="1" dirty="0">
                <a:solidFill>
                  <a:srgbClr val="00B4D8"/>
                </a:solidFill>
                <a:latin typeface="Calibri" pitchFamily="34" charset="0"/>
                <a:ea typeface="Calibri" pitchFamily="34" charset="-122"/>
                <a:cs typeface="Calibri" pitchFamily="34" charset="-120"/>
              </a:rPr>
              <a:t>Trục X:</a:t>
            </a:r>
            <a:pPr indent="0" marL="0">
              <a:buNone/>
            </a:pPr>
            <a:r>
              <a:rPr lang="en-US" sz="1200" dirty="0">
                <a:solidFill>
                  <a:srgbClr val="E8F4FD"/>
                </a:solidFill>
                <a:latin typeface="Calibri" pitchFamily="34" charset="0"/>
                <a:ea typeface="Calibri" pitchFamily="34" charset="-122"/>
                <a:cs typeface="Calibri" pitchFamily="34" charset="-120"/>
              </a:rPr>
              <a:t> SHAP value (impact)
</a:t>
            </a:r>
            <a:pPr indent="0" marL="0">
              <a:buNone/>
            </a:pPr>
            <a:r>
              <a:rPr lang="en-US" sz="1200" b="1" dirty="0">
                <a:solidFill>
                  <a:srgbClr val="EF476F"/>
                </a:solidFill>
                <a:latin typeface="Calibri" pitchFamily="34" charset="0"/>
                <a:ea typeface="Calibri" pitchFamily="34" charset="-122"/>
                <a:cs typeface="Calibri" pitchFamily="34" charset="-120"/>
              </a:rPr>
              <a:t>Màu đỏ:</a:t>
            </a:r>
            <a:pPr indent="0" marL="0">
              <a:buNone/>
            </a:pPr>
            <a:r>
              <a:rPr lang="en-US" sz="1200" dirty="0">
                <a:solidFill>
                  <a:srgbClr val="E8F4FD"/>
                </a:solidFill>
                <a:latin typeface="Calibri" pitchFamily="34" charset="0"/>
                <a:ea typeface="Calibri" pitchFamily="34" charset="-122"/>
                <a:cs typeface="Calibri" pitchFamily="34" charset="-120"/>
              </a:rPr>
              <a:t> Giá trị đặc trưng cao
</a:t>
            </a:r>
            <a:pPr indent="0" marL="0">
              <a:buNone/>
            </a:pPr>
            <a:r>
              <a:rPr lang="en-US" sz="1200" b="1" dirty="0">
                <a:solidFill>
                  <a:srgbClr val="00B4D8"/>
                </a:solidFill>
                <a:latin typeface="Calibri" pitchFamily="34" charset="0"/>
                <a:ea typeface="Calibri" pitchFamily="34" charset="-122"/>
                <a:cs typeface="Calibri" pitchFamily="34" charset="-120"/>
              </a:rPr>
              <a:t>Màu xanh:</a:t>
            </a:r>
            <a:pPr indent="0" marL="0">
              <a:buNone/>
            </a:pPr>
            <a:r>
              <a:rPr lang="en-US" sz="1200" dirty="0">
                <a:solidFill>
                  <a:srgbClr val="E8F4FD"/>
                </a:solidFill>
                <a:latin typeface="Calibri" pitchFamily="34" charset="0"/>
                <a:ea typeface="Calibri" pitchFamily="34" charset="-122"/>
                <a:cs typeface="Calibri" pitchFamily="34" charset="-120"/>
              </a:rPr>
              <a:t> Giá trị đặc trưng thấp
</a:t>
            </a:r>
            <a:pPr indent="0" marL="0">
              <a:buNone/>
            </a:pPr>
            <a:r>
              <a:rPr lang="en-US" sz="1200" i="1" dirty="0">
                <a:solidFill>
                  <a:srgbClr val="00F5D4"/>
                </a:solidFill>
                <a:latin typeface="Calibri" pitchFamily="34" charset="0"/>
                <a:ea typeface="Calibri" pitchFamily="34" charset="-122"/>
                <a:cs typeface="Calibri" pitchFamily="34" charset="-120"/>
              </a:rPr>
              <a:t>→ Tập trung phân tích 3–5 dòng đầu bảng.</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4D8"/>
          </a:solidFill>
          <a:ln w="12700">
            <a:solidFill>
              <a:srgbClr val="00B4D8"/>
            </a:solidFill>
            <a:prstDash val="solid"/>
          </a:ln>
        </p:spPr>
      </p:sp>
      <p:sp>
        <p:nvSpPr>
          <p:cNvPr id="3" name="Text 1"/>
          <p:cNvSpPr/>
          <p:nvPr/>
        </p:nvSpPr>
        <p:spPr>
          <a:xfrm>
            <a:off x="365760" y="137160"/>
            <a:ext cx="8412480" cy="50292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SHAP Waterfall Plot — Giải Thích Từng Ca Cụ Thể</a:t>
            </a:r>
            <a:endParaRPr lang="en-US" sz="2000" dirty="0"/>
          </a:p>
        </p:txBody>
      </p:sp>
      <p:sp>
        <p:nvSpPr>
          <p:cNvPr id="4" name="Shape 2"/>
          <p:cNvSpPr/>
          <p:nvPr/>
        </p:nvSpPr>
        <p:spPr>
          <a:xfrm>
            <a:off x="365760" y="658368"/>
            <a:ext cx="8412480" cy="27432"/>
          </a:xfrm>
          <a:prstGeom prst="rect">
            <a:avLst/>
          </a:prstGeom>
          <a:solidFill>
            <a:srgbClr val="0077B6"/>
          </a:solidFill>
          <a:ln w="12700">
            <a:solidFill>
              <a:srgbClr val="0077B6"/>
            </a:solidFill>
            <a:prstDash val="solid"/>
          </a:ln>
        </p:spPr>
      </p:sp>
      <p:pic>
        <p:nvPicPr>
          <p:cNvPr id="5" name="Image 0" descr="preencoded.png">    </p:cNvPr>
          <p:cNvPicPr>
            <a:picLocks noChangeAspect="1"/>
          </p:cNvPicPr>
          <p:nvPr/>
        </p:nvPicPr>
        <p:blipFill>
          <a:blip r:embed="rId1"/>
          <a:srcRect l="0" r="0" t="0" b="0"/>
          <a:stretch/>
        </p:blipFill>
        <p:spPr>
          <a:xfrm>
            <a:off x="274320" y="777240"/>
            <a:ext cx="5303520" cy="3749040"/>
          </a:xfrm>
          <a:prstGeom prst="rect">
            <a:avLst/>
          </a:prstGeom>
        </p:spPr>
      </p:pic>
      <p:sp>
        <p:nvSpPr>
          <p:cNvPr id="6" name="Shape 3"/>
          <p:cNvSpPr/>
          <p:nvPr/>
        </p:nvSpPr>
        <p:spPr>
          <a:xfrm>
            <a:off x="5760720" y="822960"/>
            <a:ext cx="3108960" cy="3749040"/>
          </a:xfrm>
          <a:prstGeom prst="rect">
            <a:avLst/>
          </a:prstGeom>
          <a:solidFill>
            <a:srgbClr val="112233"/>
          </a:solidFill>
          <a:ln w="12700">
            <a:solidFill>
              <a:srgbClr val="0077B6"/>
            </a:solidFill>
            <a:prstDash val="solid"/>
          </a:ln>
        </p:spPr>
      </p:sp>
      <p:sp>
        <p:nvSpPr>
          <p:cNvPr id="7" name="Text 4"/>
          <p:cNvSpPr/>
          <p:nvPr/>
        </p:nvSpPr>
        <p:spPr>
          <a:xfrm>
            <a:off x="5852160" y="868680"/>
            <a:ext cx="2926080" cy="320040"/>
          </a:xfrm>
          <a:prstGeom prst="rect">
            <a:avLst/>
          </a:prstGeom>
          <a:noFill/>
          <a:ln/>
        </p:spPr>
        <p:txBody>
          <a:bodyPr wrap="square" rtlCol="0" anchor="ctr"/>
          <a:lstStyle/>
          <a:p>
            <a:pPr indent="0" marL="0">
              <a:buNone/>
            </a:pPr>
            <a:r>
              <a:rPr lang="en-US" sz="1300" b="1" dirty="0">
                <a:solidFill>
                  <a:srgbClr val="00B4D8"/>
                </a:solidFill>
                <a:latin typeface="Calibri" pitchFamily="34" charset="0"/>
                <a:ea typeface="Calibri" pitchFamily="34" charset="-122"/>
                <a:cs typeface="Calibri" pitchFamily="34" charset="-120"/>
              </a:rPr>
              <a:t>Cách đọc Waterfall</a:t>
            </a:r>
            <a:endParaRPr lang="en-US" sz="1300" dirty="0"/>
          </a:p>
        </p:txBody>
      </p:sp>
      <p:sp>
        <p:nvSpPr>
          <p:cNvPr id="8" name="Text 5"/>
          <p:cNvSpPr/>
          <p:nvPr/>
        </p:nvSpPr>
        <p:spPr>
          <a:xfrm>
            <a:off x="5852160" y="1280160"/>
            <a:ext cx="2926080" cy="3200400"/>
          </a:xfrm>
          <a:prstGeom prst="rect">
            <a:avLst/>
          </a:prstGeom>
          <a:noFill/>
          <a:ln/>
        </p:spPr>
        <p:txBody>
          <a:bodyPr wrap="square" rtlCol="0" anchor="ctr"/>
          <a:lstStyle/>
          <a:p>
            <a:pPr indent="0" marL="0">
              <a:buNone/>
            </a:pPr>
            <a:r>
              <a:rPr lang="en-US" sz="1100" b="1" dirty="0">
                <a:solidFill>
                  <a:srgbClr val="8BAFC7"/>
                </a:solidFill>
                <a:latin typeface="Calibri" pitchFamily="34" charset="0"/>
                <a:ea typeface="Calibri" pitchFamily="34" charset="-122"/>
                <a:cs typeface="Calibri" pitchFamily="34" charset="-120"/>
              </a:rPr>
              <a:t>E[f(X)]:</a:t>
            </a:r>
            <a:pPr indent="0" marL="0">
              <a:buNone/>
            </a:pPr>
            <a:r>
              <a:rPr lang="en-US" sz="1100" dirty="0">
                <a:solidFill>
                  <a:srgbClr val="E8F4FD"/>
                </a:solidFill>
                <a:latin typeface="Calibri" pitchFamily="34" charset="0"/>
                <a:ea typeface="Calibri" pitchFamily="34" charset="-122"/>
                <a:cs typeface="Calibri" pitchFamily="34" charset="-120"/>
              </a:rPr>
              <a:t> Base value (xác suất trung bình)
</a:t>
            </a:r>
            <a:pPr indent="0" marL="0">
              <a:buNone/>
            </a:pPr>
            <a:r>
              <a:rPr lang="en-US" sz="1100" b="1" dirty="0">
                <a:solidFill>
                  <a:srgbClr val="EF476F"/>
                </a:solidFill>
                <a:latin typeface="Calibri" pitchFamily="34" charset="0"/>
                <a:ea typeface="Calibri" pitchFamily="34" charset="-122"/>
                <a:cs typeface="Calibri" pitchFamily="34" charset="-120"/>
              </a:rPr>
              <a:t>Mũi tên đỏ →:</a:t>
            </a:r>
            <a:pPr indent="0" marL="0">
              <a:buNone/>
            </a:pPr>
            <a:r>
              <a:rPr lang="en-US" sz="1100" dirty="0">
                <a:solidFill>
                  <a:srgbClr val="E8F4FD"/>
                </a:solidFill>
                <a:latin typeface="Calibri" pitchFamily="34" charset="0"/>
                <a:ea typeface="Calibri" pitchFamily="34" charset="-122"/>
                <a:cs typeface="Calibri" pitchFamily="34" charset="-120"/>
              </a:rPr>
              <a:t> Đặc trưng ĐẨY tăng xác suất lỗi
</a:t>
            </a:r>
            <a:pPr indent="0" marL="0">
              <a:buNone/>
            </a:pPr>
            <a:r>
              <a:rPr lang="en-US" sz="1100" b="1" dirty="0">
                <a:solidFill>
                  <a:srgbClr val="00B4D8"/>
                </a:solidFill>
                <a:latin typeface="Calibri" pitchFamily="34" charset="0"/>
                <a:ea typeface="Calibri" pitchFamily="34" charset="-122"/>
                <a:cs typeface="Calibri" pitchFamily="34" charset="-120"/>
              </a:rPr>
              <a:t>Mũi tên xanh ←:</a:t>
            </a:r>
            <a:pPr indent="0" marL="0">
              <a:buNone/>
            </a:pPr>
            <a:r>
              <a:rPr lang="en-US" sz="1100" dirty="0">
                <a:solidFill>
                  <a:srgbClr val="E8F4FD"/>
                </a:solidFill>
                <a:latin typeface="Calibri" pitchFamily="34" charset="0"/>
                <a:ea typeface="Calibri" pitchFamily="34" charset="-122"/>
                <a:cs typeface="Calibri" pitchFamily="34" charset="-120"/>
              </a:rPr>
              <a:t> Đặc trưng KÉO GIẢM xác suất
</a:t>
            </a:r>
            <a:pPr indent="0" marL="0">
              <a:buNone/>
            </a:pPr>
            <a:r>
              <a:rPr lang="en-US" sz="1100" b="1" dirty="0">
                <a:solidFill>
                  <a:srgbClr val="00F5D4"/>
                </a:solidFill>
                <a:latin typeface="Calibri" pitchFamily="34" charset="0"/>
                <a:ea typeface="Calibri" pitchFamily="34" charset="-122"/>
                <a:cs typeface="Calibri" pitchFamily="34" charset="-120"/>
              </a:rPr>
              <a:t>Ví dụ lập luận:
</a:t>
            </a:r>
            <a:pPr indent="0" marL="0">
              <a:buNone/>
            </a:pPr>
            <a:r>
              <a:rPr lang="en-US" sz="1100" i="1" dirty="0">
                <a:solidFill>
                  <a:srgbClr val="E8F4FD"/>
                </a:solidFill>
                <a:latin typeface="Calibri" pitchFamily="34" charset="0"/>
                <a:ea typeface="Calibri" pitchFamily="34" charset="-122"/>
                <a:cs typeface="Calibri" pitchFamily="34" charset="-120"/>
              </a:rPr>
              <a:t>"Kurtosis = 8.2 (+SHAP lớn) + energy_band cao → chẩn đoán OR với độ tin cậy 92%"</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4D8"/>
          </a:solidFill>
          <a:ln w="12700">
            <a:solidFill>
              <a:srgbClr val="00B4D8"/>
            </a:solidFill>
            <a:prstDash val="solid"/>
          </a:ln>
        </p:spPr>
      </p:sp>
      <p:sp>
        <p:nvSpPr>
          <p:cNvPr id="3" name="Text 1"/>
          <p:cNvSpPr/>
          <p:nvPr/>
        </p:nvSpPr>
        <p:spPr>
          <a:xfrm>
            <a:off x="365760" y="137160"/>
            <a:ext cx="8412480" cy="50292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Từ SHAP → Quyết Định Bảo Trì Thực Địa</a:t>
            </a:r>
            <a:endParaRPr lang="en-US" sz="2000" dirty="0"/>
          </a:p>
        </p:txBody>
      </p:sp>
      <p:sp>
        <p:nvSpPr>
          <p:cNvPr id="4" name="Shape 2"/>
          <p:cNvSpPr/>
          <p:nvPr/>
        </p:nvSpPr>
        <p:spPr>
          <a:xfrm>
            <a:off x="365760" y="658368"/>
            <a:ext cx="8412480" cy="27432"/>
          </a:xfrm>
          <a:prstGeom prst="rect">
            <a:avLst/>
          </a:prstGeom>
          <a:solidFill>
            <a:srgbClr val="0077B6"/>
          </a:solidFill>
          <a:ln w="12700">
            <a:solidFill>
              <a:srgbClr val="0077B6"/>
            </a:solidFill>
            <a:prstDash val="solid"/>
          </a:ln>
        </p:spPr>
      </p:sp>
      <p:sp>
        <p:nvSpPr>
          <p:cNvPr id="5" name="Shape 3"/>
          <p:cNvSpPr/>
          <p:nvPr/>
        </p:nvSpPr>
        <p:spPr>
          <a:xfrm>
            <a:off x="274320" y="822960"/>
            <a:ext cx="8595360" cy="914400"/>
          </a:xfrm>
          <a:prstGeom prst="rect">
            <a:avLst/>
          </a:prstGeom>
          <a:solidFill>
            <a:srgbClr val="112233"/>
          </a:solidFill>
          <a:ln w="12700">
            <a:solidFill>
              <a:srgbClr val="06D6A0"/>
            </a:solidFill>
            <a:prstDash val="solid"/>
          </a:ln>
        </p:spPr>
      </p:sp>
      <p:sp>
        <p:nvSpPr>
          <p:cNvPr id="6" name="Shape 4"/>
          <p:cNvSpPr/>
          <p:nvPr/>
        </p:nvSpPr>
        <p:spPr>
          <a:xfrm>
            <a:off x="274320" y="822960"/>
            <a:ext cx="64008" cy="914400"/>
          </a:xfrm>
          <a:prstGeom prst="rect">
            <a:avLst/>
          </a:prstGeom>
          <a:solidFill>
            <a:srgbClr val="06D6A0"/>
          </a:solidFill>
          <a:ln w="12700">
            <a:solidFill>
              <a:srgbClr val="06D6A0"/>
            </a:solidFill>
            <a:prstDash val="solid"/>
          </a:ln>
        </p:spPr>
      </p:sp>
      <p:sp>
        <p:nvSpPr>
          <p:cNvPr id="7" name="Text 5"/>
          <p:cNvSpPr/>
          <p:nvPr/>
        </p:nvSpPr>
        <p:spPr>
          <a:xfrm>
            <a:off x="457200" y="868680"/>
            <a:ext cx="2743200" cy="347472"/>
          </a:xfrm>
          <a:prstGeom prst="rect">
            <a:avLst/>
          </a:prstGeom>
          <a:noFill/>
          <a:ln/>
        </p:spPr>
        <p:txBody>
          <a:bodyPr wrap="square" rtlCol="0" anchor="ctr"/>
          <a:lstStyle/>
          <a:p>
            <a:pPr indent="0" marL="0">
              <a:buNone/>
            </a:pPr>
            <a:r>
              <a:rPr lang="en-US" sz="1100" b="1" dirty="0">
                <a:solidFill>
                  <a:srgbClr val="06D6A0"/>
                </a:solidFill>
                <a:latin typeface="Calibri" pitchFamily="34" charset="0"/>
                <a:ea typeface="Calibri" pitchFamily="34" charset="-122"/>
                <a:cs typeface="Calibri" pitchFamily="34" charset="-120"/>
              </a:rPr>
              <a:t>SHAP: RMS tăng, Kurtosis bình thường (~3)</a:t>
            </a:r>
            <a:endParaRPr lang="en-US" sz="1100" dirty="0"/>
          </a:p>
        </p:txBody>
      </p:sp>
      <p:sp>
        <p:nvSpPr>
          <p:cNvPr id="8" name="Text 6"/>
          <p:cNvSpPr/>
          <p:nvPr/>
        </p:nvSpPr>
        <p:spPr>
          <a:xfrm>
            <a:off x="3291840" y="868680"/>
            <a:ext cx="2560320" cy="347472"/>
          </a:xfrm>
          <a:prstGeom prst="rect">
            <a:avLst/>
          </a:prstGeom>
          <a:noFill/>
          <a:ln/>
        </p:spPr>
        <p:txBody>
          <a:bodyPr wrap="square" rtlCol="0" anchor="ctr"/>
          <a:lstStyle/>
          <a:p>
            <a:pPr indent="0" marL="0">
              <a:buNone/>
            </a:pPr>
            <a:r>
              <a:rPr lang="en-US" sz="1100" i="1" dirty="0">
                <a:solidFill>
                  <a:srgbClr val="8BAFC7"/>
                </a:solidFill>
                <a:latin typeface="Calibri" pitchFamily="34" charset="0"/>
                <a:ea typeface="Calibri" pitchFamily="34" charset="-122"/>
                <a:cs typeface="Calibri" pitchFamily="34" charset="-120"/>
              </a:rPr>
              <a:t>Năng lượng tăng, chưa có xung nhọn</a:t>
            </a:r>
            <a:endParaRPr lang="en-US" sz="1100" dirty="0"/>
          </a:p>
        </p:txBody>
      </p:sp>
      <p:sp>
        <p:nvSpPr>
          <p:cNvPr id="9" name="Text 7"/>
          <p:cNvSpPr/>
          <p:nvPr/>
        </p:nvSpPr>
        <p:spPr>
          <a:xfrm>
            <a:off x="5943600" y="868680"/>
            <a:ext cx="2834640" cy="347472"/>
          </a:xfrm>
          <a:prstGeom prst="rect">
            <a:avLst/>
          </a:prstGeom>
          <a:noFill/>
          <a:ln/>
        </p:spPr>
        <p:txBody>
          <a:bodyPr wrap="square" rtlCol="0" anchor="ctr"/>
          <a:lstStyle/>
          <a:p>
            <a:pPr indent="0" marL="0">
              <a:buNone/>
            </a:pPr>
            <a:r>
              <a:rPr lang="en-US" sz="1100" dirty="0">
                <a:solidFill>
                  <a:srgbClr val="E8F4FD"/>
                </a:solidFill>
                <a:latin typeface="Calibri" pitchFamily="34" charset="0"/>
                <a:ea typeface="Calibri" pitchFamily="34" charset="-122"/>
                <a:cs typeface="Calibri" pitchFamily="34" charset="-120"/>
              </a:rPr>
              <a:t>Bảo dưỡng thông thường: tra mỡ, siết bu-lông</a:t>
            </a:r>
            <a:endParaRPr lang="en-US" sz="1100" dirty="0"/>
          </a:p>
        </p:txBody>
      </p:sp>
      <p:sp>
        <p:nvSpPr>
          <p:cNvPr id="10" name="Text 8"/>
          <p:cNvSpPr/>
          <p:nvPr/>
        </p:nvSpPr>
        <p:spPr>
          <a:xfrm>
            <a:off x="457200" y="1353312"/>
            <a:ext cx="1371600" cy="274320"/>
          </a:xfrm>
          <a:prstGeom prst="rect">
            <a:avLst/>
          </a:prstGeom>
          <a:noFill/>
          <a:ln/>
        </p:spPr>
        <p:txBody>
          <a:bodyPr wrap="square" rtlCol="0" anchor="ctr"/>
          <a:lstStyle/>
          <a:p>
            <a:pPr indent="0" marL="0">
              <a:buNone/>
            </a:pPr>
            <a:r>
              <a:rPr lang="en-US" sz="900" dirty="0">
                <a:solidFill>
                  <a:srgbClr val="8BAFC7"/>
                </a:solidFill>
                <a:latin typeface="Calibri" pitchFamily="34" charset="0"/>
                <a:ea typeface="Calibri" pitchFamily="34" charset="-122"/>
                <a:cs typeface="Calibri" pitchFamily="34" charset="-120"/>
              </a:rPr>
              <a:t>Tín hiệu SHAP  →</a:t>
            </a:r>
            <a:endParaRPr lang="en-US" sz="900" dirty="0"/>
          </a:p>
        </p:txBody>
      </p:sp>
      <p:sp>
        <p:nvSpPr>
          <p:cNvPr id="11" name="Text 9"/>
          <p:cNvSpPr/>
          <p:nvPr/>
        </p:nvSpPr>
        <p:spPr>
          <a:xfrm>
            <a:off x="3291840" y="1353312"/>
            <a:ext cx="1097280" cy="274320"/>
          </a:xfrm>
          <a:prstGeom prst="rect">
            <a:avLst/>
          </a:prstGeom>
          <a:noFill/>
          <a:ln/>
        </p:spPr>
        <p:txBody>
          <a:bodyPr wrap="square" rtlCol="0" anchor="ctr"/>
          <a:lstStyle/>
          <a:p>
            <a:pPr indent="0" marL="0">
              <a:buNone/>
            </a:pPr>
            <a:r>
              <a:rPr lang="en-US" sz="900" dirty="0">
                <a:solidFill>
                  <a:srgbClr val="8BAFC7"/>
                </a:solidFill>
                <a:latin typeface="Calibri" pitchFamily="34" charset="0"/>
                <a:ea typeface="Calibri" pitchFamily="34" charset="-122"/>
                <a:cs typeface="Calibri" pitchFamily="34" charset="-120"/>
              </a:rPr>
              <a:t>Đánh giá →</a:t>
            </a:r>
            <a:endParaRPr lang="en-US" sz="900" dirty="0"/>
          </a:p>
        </p:txBody>
      </p:sp>
      <p:sp>
        <p:nvSpPr>
          <p:cNvPr id="12" name="Text 10"/>
          <p:cNvSpPr/>
          <p:nvPr/>
        </p:nvSpPr>
        <p:spPr>
          <a:xfrm>
            <a:off x="5943600" y="1353312"/>
            <a:ext cx="914400" cy="274320"/>
          </a:xfrm>
          <a:prstGeom prst="rect">
            <a:avLst/>
          </a:prstGeom>
          <a:noFill/>
          <a:ln/>
        </p:spPr>
        <p:txBody>
          <a:bodyPr wrap="square" rtlCol="0" anchor="ctr"/>
          <a:lstStyle/>
          <a:p>
            <a:pPr indent="0" marL="0">
              <a:buNone/>
            </a:pPr>
            <a:r>
              <a:rPr lang="en-US" sz="900" dirty="0">
                <a:solidFill>
                  <a:srgbClr val="8BAFC7"/>
                </a:solidFill>
                <a:latin typeface="Calibri" pitchFamily="34" charset="0"/>
                <a:ea typeface="Calibri" pitchFamily="34" charset="-122"/>
                <a:cs typeface="Calibri" pitchFamily="34" charset="-120"/>
              </a:rPr>
              <a:t>Hành động</a:t>
            </a:r>
            <a:endParaRPr lang="en-US" sz="900" dirty="0"/>
          </a:p>
        </p:txBody>
      </p:sp>
      <p:sp>
        <p:nvSpPr>
          <p:cNvPr id="13" name="Shape 11"/>
          <p:cNvSpPr/>
          <p:nvPr/>
        </p:nvSpPr>
        <p:spPr>
          <a:xfrm>
            <a:off x="274320" y="1847088"/>
            <a:ext cx="8595360" cy="914400"/>
          </a:xfrm>
          <a:prstGeom prst="rect">
            <a:avLst/>
          </a:prstGeom>
          <a:solidFill>
            <a:srgbClr val="112233"/>
          </a:solidFill>
          <a:ln w="12700">
            <a:solidFill>
              <a:srgbClr val="FFD166"/>
            </a:solidFill>
            <a:prstDash val="solid"/>
          </a:ln>
        </p:spPr>
      </p:sp>
      <p:sp>
        <p:nvSpPr>
          <p:cNvPr id="14" name="Shape 12"/>
          <p:cNvSpPr/>
          <p:nvPr/>
        </p:nvSpPr>
        <p:spPr>
          <a:xfrm>
            <a:off x="274320" y="1847088"/>
            <a:ext cx="64008" cy="914400"/>
          </a:xfrm>
          <a:prstGeom prst="rect">
            <a:avLst/>
          </a:prstGeom>
          <a:solidFill>
            <a:srgbClr val="FFD166"/>
          </a:solidFill>
          <a:ln w="12700">
            <a:solidFill>
              <a:srgbClr val="FFD166"/>
            </a:solidFill>
            <a:prstDash val="solid"/>
          </a:ln>
        </p:spPr>
      </p:sp>
      <p:sp>
        <p:nvSpPr>
          <p:cNvPr id="15" name="Text 13"/>
          <p:cNvSpPr/>
          <p:nvPr/>
        </p:nvSpPr>
        <p:spPr>
          <a:xfrm>
            <a:off x="457200" y="1892808"/>
            <a:ext cx="2743200" cy="347472"/>
          </a:xfrm>
          <a:prstGeom prst="rect">
            <a:avLst/>
          </a:prstGeom>
          <a:noFill/>
          <a:ln/>
        </p:spPr>
        <p:txBody>
          <a:bodyPr wrap="square" rtlCol="0" anchor="ctr"/>
          <a:lstStyle/>
          <a:p>
            <a:pPr indent="0" marL="0">
              <a:buNone/>
            </a:pPr>
            <a:r>
              <a:rPr lang="en-US" sz="1100" b="1" dirty="0">
                <a:solidFill>
                  <a:srgbClr val="FFD166"/>
                </a:solidFill>
                <a:latin typeface="Calibri" pitchFamily="34" charset="0"/>
                <a:ea typeface="Calibri" pitchFamily="34" charset="-122"/>
                <a:cs typeface="Calibri" pitchFamily="34" charset="-120"/>
              </a:rPr>
              <a:t>SHAP: Kurtosis &amp; Peak vượt ngưỡng</a:t>
            </a:r>
            <a:endParaRPr lang="en-US" sz="1100" dirty="0"/>
          </a:p>
        </p:txBody>
      </p:sp>
      <p:sp>
        <p:nvSpPr>
          <p:cNvPr id="16" name="Text 14"/>
          <p:cNvSpPr/>
          <p:nvPr/>
        </p:nvSpPr>
        <p:spPr>
          <a:xfrm>
            <a:off x="3291840" y="1892808"/>
            <a:ext cx="2560320" cy="347472"/>
          </a:xfrm>
          <a:prstGeom prst="rect">
            <a:avLst/>
          </a:prstGeom>
          <a:noFill/>
          <a:ln/>
        </p:spPr>
        <p:txBody>
          <a:bodyPr wrap="square" rtlCol="0" anchor="ctr"/>
          <a:lstStyle/>
          <a:p>
            <a:pPr indent="0" marL="0">
              <a:buNone/>
            </a:pPr>
            <a:r>
              <a:rPr lang="en-US" sz="1100" i="1" dirty="0">
                <a:solidFill>
                  <a:srgbClr val="8BAFC7"/>
                </a:solidFill>
                <a:latin typeface="Calibri" pitchFamily="34" charset="0"/>
                <a:ea typeface="Calibri" pitchFamily="34" charset="-122"/>
                <a:cs typeface="Calibri" pitchFamily="34" charset="-120"/>
              </a:rPr>
              <a:t>Va đập cơ học xuất hiện — khuyết tật rỗ/nứt</a:t>
            </a:r>
            <a:endParaRPr lang="en-US" sz="1100" dirty="0"/>
          </a:p>
        </p:txBody>
      </p:sp>
      <p:sp>
        <p:nvSpPr>
          <p:cNvPr id="17" name="Text 15"/>
          <p:cNvSpPr/>
          <p:nvPr/>
        </p:nvSpPr>
        <p:spPr>
          <a:xfrm>
            <a:off x="5943600" y="1892808"/>
            <a:ext cx="2834640" cy="347472"/>
          </a:xfrm>
          <a:prstGeom prst="rect">
            <a:avLst/>
          </a:prstGeom>
          <a:noFill/>
          <a:ln/>
        </p:spPr>
        <p:txBody>
          <a:bodyPr wrap="square" rtlCol="0" anchor="ctr"/>
          <a:lstStyle/>
          <a:p>
            <a:pPr indent="0" marL="0">
              <a:buNone/>
            </a:pPr>
            <a:r>
              <a:rPr lang="en-US" sz="1100" dirty="0">
                <a:solidFill>
                  <a:srgbClr val="E8F4FD"/>
                </a:solidFill>
                <a:latin typeface="Calibri" pitchFamily="34" charset="0"/>
                <a:ea typeface="Calibri" pitchFamily="34" charset="-122"/>
                <a:cs typeface="Calibri" pitchFamily="34" charset="-120"/>
              </a:rPr>
              <a:t>🟡 Giám sát đặc biệt, lên kế hoạch thay thế sớm</a:t>
            </a:r>
            <a:endParaRPr lang="en-US" sz="1100" dirty="0"/>
          </a:p>
        </p:txBody>
      </p:sp>
      <p:sp>
        <p:nvSpPr>
          <p:cNvPr id="18" name="Text 16"/>
          <p:cNvSpPr/>
          <p:nvPr/>
        </p:nvSpPr>
        <p:spPr>
          <a:xfrm>
            <a:off x="457200" y="2377440"/>
            <a:ext cx="1371600" cy="274320"/>
          </a:xfrm>
          <a:prstGeom prst="rect">
            <a:avLst/>
          </a:prstGeom>
          <a:noFill/>
          <a:ln/>
        </p:spPr>
        <p:txBody>
          <a:bodyPr wrap="square" rtlCol="0" anchor="ctr"/>
          <a:lstStyle/>
          <a:p>
            <a:pPr indent="0" marL="0">
              <a:buNone/>
            </a:pPr>
            <a:r>
              <a:rPr lang="en-US" sz="900" dirty="0">
                <a:solidFill>
                  <a:srgbClr val="8BAFC7"/>
                </a:solidFill>
                <a:latin typeface="Calibri" pitchFamily="34" charset="0"/>
                <a:ea typeface="Calibri" pitchFamily="34" charset="-122"/>
                <a:cs typeface="Calibri" pitchFamily="34" charset="-120"/>
              </a:rPr>
              <a:t>Tín hiệu SHAP  →</a:t>
            </a:r>
            <a:endParaRPr lang="en-US" sz="900" dirty="0"/>
          </a:p>
        </p:txBody>
      </p:sp>
      <p:sp>
        <p:nvSpPr>
          <p:cNvPr id="19" name="Text 17"/>
          <p:cNvSpPr/>
          <p:nvPr/>
        </p:nvSpPr>
        <p:spPr>
          <a:xfrm>
            <a:off x="3291840" y="2377440"/>
            <a:ext cx="1097280" cy="274320"/>
          </a:xfrm>
          <a:prstGeom prst="rect">
            <a:avLst/>
          </a:prstGeom>
          <a:noFill/>
          <a:ln/>
        </p:spPr>
        <p:txBody>
          <a:bodyPr wrap="square" rtlCol="0" anchor="ctr"/>
          <a:lstStyle/>
          <a:p>
            <a:pPr indent="0" marL="0">
              <a:buNone/>
            </a:pPr>
            <a:r>
              <a:rPr lang="en-US" sz="900" dirty="0">
                <a:solidFill>
                  <a:srgbClr val="8BAFC7"/>
                </a:solidFill>
                <a:latin typeface="Calibri" pitchFamily="34" charset="0"/>
                <a:ea typeface="Calibri" pitchFamily="34" charset="-122"/>
                <a:cs typeface="Calibri" pitchFamily="34" charset="-120"/>
              </a:rPr>
              <a:t>Đánh giá →</a:t>
            </a:r>
            <a:endParaRPr lang="en-US" sz="900" dirty="0"/>
          </a:p>
        </p:txBody>
      </p:sp>
      <p:sp>
        <p:nvSpPr>
          <p:cNvPr id="20" name="Text 18"/>
          <p:cNvSpPr/>
          <p:nvPr/>
        </p:nvSpPr>
        <p:spPr>
          <a:xfrm>
            <a:off x="5943600" y="2377440"/>
            <a:ext cx="914400" cy="274320"/>
          </a:xfrm>
          <a:prstGeom prst="rect">
            <a:avLst/>
          </a:prstGeom>
          <a:noFill/>
          <a:ln/>
        </p:spPr>
        <p:txBody>
          <a:bodyPr wrap="square" rtlCol="0" anchor="ctr"/>
          <a:lstStyle/>
          <a:p>
            <a:pPr indent="0" marL="0">
              <a:buNone/>
            </a:pPr>
            <a:r>
              <a:rPr lang="en-US" sz="900" dirty="0">
                <a:solidFill>
                  <a:srgbClr val="8BAFC7"/>
                </a:solidFill>
                <a:latin typeface="Calibri" pitchFamily="34" charset="0"/>
                <a:ea typeface="Calibri" pitchFamily="34" charset="-122"/>
                <a:cs typeface="Calibri" pitchFamily="34" charset="-120"/>
              </a:rPr>
              <a:t>Hành động</a:t>
            </a:r>
            <a:endParaRPr lang="en-US" sz="900" dirty="0"/>
          </a:p>
        </p:txBody>
      </p:sp>
      <p:sp>
        <p:nvSpPr>
          <p:cNvPr id="21" name="Shape 19"/>
          <p:cNvSpPr/>
          <p:nvPr/>
        </p:nvSpPr>
        <p:spPr>
          <a:xfrm>
            <a:off x="274320" y="2871216"/>
            <a:ext cx="8595360" cy="914400"/>
          </a:xfrm>
          <a:prstGeom prst="rect">
            <a:avLst/>
          </a:prstGeom>
          <a:solidFill>
            <a:srgbClr val="112233"/>
          </a:solidFill>
          <a:ln w="12700">
            <a:solidFill>
              <a:srgbClr val="EF476F"/>
            </a:solidFill>
            <a:prstDash val="solid"/>
          </a:ln>
        </p:spPr>
      </p:sp>
      <p:sp>
        <p:nvSpPr>
          <p:cNvPr id="22" name="Shape 20"/>
          <p:cNvSpPr/>
          <p:nvPr/>
        </p:nvSpPr>
        <p:spPr>
          <a:xfrm>
            <a:off x="274320" y="2871216"/>
            <a:ext cx="64008" cy="914400"/>
          </a:xfrm>
          <a:prstGeom prst="rect">
            <a:avLst/>
          </a:prstGeom>
          <a:solidFill>
            <a:srgbClr val="EF476F"/>
          </a:solidFill>
          <a:ln w="12700">
            <a:solidFill>
              <a:srgbClr val="EF476F"/>
            </a:solidFill>
            <a:prstDash val="solid"/>
          </a:ln>
        </p:spPr>
      </p:sp>
      <p:sp>
        <p:nvSpPr>
          <p:cNvPr id="23" name="Text 21"/>
          <p:cNvSpPr/>
          <p:nvPr/>
        </p:nvSpPr>
        <p:spPr>
          <a:xfrm>
            <a:off x="457200" y="2916936"/>
            <a:ext cx="2743200" cy="347472"/>
          </a:xfrm>
          <a:prstGeom prst="rect">
            <a:avLst/>
          </a:prstGeom>
          <a:noFill/>
          <a:ln/>
        </p:spPr>
        <p:txBody>
          <a:bodyPr wrap="square" rtlCol="0" anchor="ctr"/>
          <a:lstStyle/>
          <a:p>
            <a:pPr indent="0" marL="0">
              <a:buNone/>
            </a:pPr>
            <a:r>
              <a:rPr lang="en-US" sz="1100" b="1" dirty="0">
                <a:solidFill>
                  <a:srgbClr val="EF476F"/>
                </a:solidFill>
                <a:latin typeface="Calibri" pitchFamily="34" charset="0"/>
                <a:ea typeface="Calibri" pitchFamily="34" charset="-122"/>
                <a:cs typeface="Calibri" pitchFamily="34" charset="-120"/>
              </a:rPr>
              <a:t>SHAP: Energy dải tần lỗi tăng vượt ngưỡng</a:t>
            </a:r>
            <a:endParaRPr lang="en-US" sz="1100" dirty="0"/>
          </a:p>
        </p:txBody>
      </p:sp>
      <p:sp>
        <p:nvSpPr>
          <p:cNvPr id="24" name="Text 22"/>
          <p:cNvSpPr/>
          <p:nvPr/>
        </p:nvSpPr>
        <p:spPr>
          <a:xfrm>
            <a:off x="3291840" y="2916936"/>
            <a:ext cx="2560320" cy="347472"/>
          </a:xfrm>
          <a:prstGeom prst="rect">
            <a:avLst/>
          </a:prstGeom>
          <a:noFill/>
          <a:ln/>
        </p:spPr>
        <p:txBody>
          <a:bodyPr wrap="square" rtlCol="0" anchor="ctr"/>
          <a:lstStyle/>
          <a:p>
            <a:pPr indent="0" marL="0">
              <a:buNone/>
            </a:pPr>
            <a:r>
              <a:rPr lang="en-US" sz="1100" i="1" dirty="0">
                <a:solidFill>
                  <a:srgbClr val="8BAFC7"/>
                </a:solidFill>
                <a:latin typeface="Calibri" pitchFamily="34" charset="0"/>
                <a:ea typeface="Calibri" pitchFamily="34" charset="-122"/>
                <a:cs typeface="Calibri" pitchFamily="34" charset="-120"/>
              </a:rPr>
              <a:t>Mô hình dự báo IR/OR độ tin cậy cao</a:t>
            </a:r>
            <a:endParaRPr lang="en-US" sz="1100" dirty="0"/>
          </a:p>
        </p:txBody>
      </p:sp>
      <p:sp>
        <p:nvSpPr>
          <p:cNvPr id="25" name="Text 23"/>
          <p:cNvSpPr/>
          <p:nvPr/>
        </p:nvSpPr>
        <p:spPr>
          <a:xfrm>
            <a:off x="5943600" y="2916936"/>
            <a:ext cx="2834640" cy="347472"/>
          </a:xfrm>
          <a:prstGeom prst="rect">
            <a:avLst/>
          </a:prstGeom>
          <a:noFill/>
          <a:ln/>
        </p:spPr>
        <p:txBody>
          <a:bodyPr wrap="square" rtlCol="0" anchor="ctr"/>
          <a:lstStyle/>
          <a:p>
            <a:pPr indent="0" marL="0">
              <a:buNone/>
            </a:pPr>
            <a:r>
              <a:rPr lang="en-US" sz="1100" dirty="0">
                <a:solidFill>
                  <a:srgbClr val="E8F4FD"/>
                </a:solidFill>
                <a:latin typeface="Calibri" pitchFamily="34" charset="0"/>
                <a:ea typeface="Calibri" pitchFamily="34" charset="-122"/>
                <a:cs typeface="Calibri" pitchFamily="34" charset="-120"/>
              </a:rPr>
              <a:t>🔴 Chuẩn bị vật tư, thay thế ở lần dừng máy gần nhất</a:t>
            </a:r>
            <a:endParaRPr lang="en-US" sz="1100" dirty="0"/>
          </a:p>
        </p:txBody>
      </p:sp>
      <p:sp>
        <p:nvSpPr>
          <p:cNvPr id="26" name="Text 24"/>
          <p:cNvSpPr/>
          <p:nvPr/>
        </p:nvSpPr>
        <p:spPr>
          <a:xfrm>
            <a:off x="457200" y="3401568"/>
            <a:ext cx="1371600" cy="274320"/>
          </a:xfrm>
          <a:prstGeom prst="rect">
            <a:avLst/>
          </a:prstGeom>
          <a:noFill/>
          <a:ln/>
        </p:spPr>
        <p:txBody>
          <a:bodyPr wrap="square" rtlCol="0" anchor="ctr"/>
          <a:lstStyle/>
          <a:p>
            <a:pPr indent="0" marL="0">
              <a:buNone/>
            </a:pPr>
            <a:r>
              <a:rPr lang="en-US" sz="900" dirty="0">
                <a:solidFill>
                  <a:srgbClr val="8BAFC7"/>
                </a:solidFill>
                <a:latin typeface="Calibri" pitchFamily="34" charset="0"/>
                <a:ea typeface="Calibri" pitchFamily="34" charset="-122"/>
                <a:cs typeface="Calibri" pitchFamily="34" charset="-120"/>
              </a:rPr>
              <a:t>Tín hiệu SHAP  →</a:t>
            </a:r>
            <a:endParaRPr lang="en-US" sz="900" dirty="0"/>
          </a:p>
        </p:txBody>
      </p:sp>
      <p:sp>
        <p:nvSpPr>
          <p:cNvPr id="27" name="Text 25"/>
          <p:cNvSpPr/>
          <p:nvPr/>
        </p:nvSpPr>
        <p:spPr>
          <a:xfrm>
            <a:off x="3291840" y="3401568"/>
            <a:ext cx="1097280" cy="274320"/>
          </a:xfrm>
          <a:prstGeom prst="rect">
            <a:avLst/>
          </a:prstGeom>
          <a:noFill/>
          <a:ln/>
        </p:spPr>
        <p:txBody>
          <a:bodyPr wrap="square" rtlCol="0" anchor="ctr"/>
          <a:lstStyle/>
          <a:p>
            <a:pPr indent="0" marL="0">
              <a:buNone/>
            </a:pPr>
            <a:r>
              <a:rPr lang="en-US" sz="900" dirty="0">
                <a:solidFill>
                  <a:srgbClr val="8BAFC7"/>
                </a:solidFill>
                <a:latin typeface="Calibri" pitchFamily="34" charset="0"/>
                <a:ea typeface="Calibri" pitchFamily="34" charset="-122"/>
                <a:cs typeface="Calibri" pitchFamily="34" charset="-120"/>
              </a:rPr>
              <a:t>Đánh giá →</a:t>
            </a:r>
            <a:endParaRPr lang="en-US" sz="900" dirty="0"/>
          </a:p>
        </p:txBody>
      </p:sp>
      <p:sp>
        <p:nvSpPr>
          <p:cNvPr id="28" name="Text 26"/>
          <p:cNvSpPr/>
          <p:nvPr/>
        </p:nvSpPr>
        <p:spPr>
          <a:xfrm>
            <a:off x="5943600" y="3401568"/>
            <a:ext cx="914400" cy="274320"/>
          </a:xfrm>
          <a:prstGeom prst="rect">
            <a:avLst/>
          </a:prstGeom>
          <a:noFill/>
          <a:ln/>
        </p:spPr>
        <p:txBody>
          <a:bodyPr wrap="square" rtlCol="0" anchor="ctr"/>
          <a:lstStyle/>
          <a:p>
            <a:pPr indent="0" marL="0">
              <a:buNone/>
            </a:pPr>
            <a:r>
              <a:rPr lang="en-US" sz="900" dirty="0">
                <a:solidFill>
                  <a:srgbClr val="8BAFC7"/>
                </a:solidFill>
                <a:latin typeface="Calibri" pitchFamily="34" charset="0"/>
                <a:ea typeface="Calibri" pitchFamily="34" charset="-122"/>
                <a:cs typeface="Calibri" pitchFamily="34" charset="-120"/>
              </a:rPr>
              <a:t>Hành động</a:t>
            </a:r>
            <a:endParaRPr lang="en-US" sz="900" dirty="0"/>
          </a:p>
        </p:txBody>
      </p:sp>
      <p:sp>
        <p:nvSpPr>
          <p:cNvPr id="29" name="Shape 27"/>
          <p:cNvSpPr/>
          <p:nvPr/>
        </p:nvSpPr>
        <p:spPr>
          <a:xfrm>
            <a:off x="274320" y="3895344"/>
            <a:ext cx="8595360" cy="914400"/>
          </a:xfrm>
          <a:prstGeom prst="rect">
            <a:avLst/>
          </a:prstGeom>
          <a:solidFill>
            <a:srgbClr val="112233"/>
          </a:solidFill>
          <a:ln w="12700">
            <a:solidFill>
              <a:srgbClr val="8BAFC7"/>
            </a:solidFill>
            <a:prstDash val="solid"/>
          </a:ln>
        </p:spPr>
      </p:sp>
      <p:sp>
        <p:nvSpPr>
          <p:cNvPr id="30" name="Shape 28"/>
          <p:cNvSpPr/>
          <p:nvPr/>
        </p:nvSpPr>
        <p:spPr>
          <a:xfrm>
            <a:off x="274320" y="3895344"/>
            <a:ext cx="64008" cy="914400"/>
          </a:xfrm>
          <a:prstGeom prst="rect">
            <a:avLst/>
          </a:prstGeom>
          <a:solidFill>
            <a:srgbClr val="8BAFC7"/>
          </a:solidFill>
          <a:ln w="12700">
            <a:solidFill>
              <a:srgbClr val="8BAFC7"/>
            </a:solidFill>
            <a:prstDash val="solid"/>
          </a:ln>
        </p:spPr>
      </p:sp>
      <p:sp>
        <p:nvSpPr>
          <p:cNvPr id="31" name="Text 29"/>
          <p:cNvSpPr/>
          <p:nvPr/>
        </p:nvSpPr>
        <p:spPr>
          <a:xfrm>
            <a:off x="457200" y="3941064"/>
            <a:ext cx="2743200" cy="347472"/>
          </a:xfrm>
          <a:prstGeom prst="rect">
            <a:avLst/>
          </a:prstGeom>
          <a:noFill/>
          <a:ln/>
        </p:spPr>
        <p:txBody>
          <a:bodyPr wrap="square" rtlCol="0" anchor="ctr"/>
          <a:lstStyle/>
          <a:p>
            <a:pPr indent="0" marL="0">
              <a:buNone/>
            </a:pPr>
            <a:r>
              <a:rPr lang="en-US" sz="1100" b="1" dirty="0">
                <a:solidFill>
                  <a:srgbClr val="8BAFC7"/>
                </a:solidFill>
                <a:latin typeface="Calibri" pitchFamily="34" charset="0"/>
                <a:ea typeface="Calibri" pitchFamily="34" charset="-122"/>
                <a:cs typeface="Calibri" pitchFamily="34" charset="-120"/>
              </a:rPr>
              <a:t>SHAP: Đặc trưng phi tiêu chuẩn chiếm ưu thế</a:t>
            </a:r>
            <a:endParaRPr lang="en-US" sz="1100" dirty="0"/>
          </a:p>
        </p:txBody>
      </p:sp>
      <p:sp>
        <p:nvSpPr>
          <p:cNvPr id="32" name="Text 30"/>
          <p:cNvSpPr/>
          <p:nvPr/>
        </p:nvSpPr>
        <p:spPr>
          <a:xfrm>
            <a:off x="3291840" y="3941064"/>
            <a:ext cx="2560320" cy="347472"/>
          </a:xfrm>
          <a:prstGeom prst="rect">
            <a:avLst/>
          </a:prstGeom>
          <a:noFill/>
          <a:ln/>
        </p:spPr>
        <p:txBody>
          <a:bodyPr wrap="square" rtlCol="0" anchor="ctr"/>
          <a:lstStyle/>
          <a:p>
            <a:pPr indent="0" marL="0">
              <a:buNone/>
            </a:pPr>
            <a:r>
              <a:rPr lang="en-US" sz="1100" i="1" dirty="0">
                <a:solidFill>
                  <a:srgbClr val="8BAFC7"/>
                </a:solidFill>
                <a:latin typeface="Calibri" pitchFamily="34" charset="0"/>
                <a:ea typeface="Calibri" pitchFamily="34" charset="-122"/>
                <a:cs typeface="Calibri" pitchFamily="34" charset="-120"/>
              </a:rPr>
              <a:t>Không mang đặc tính lỗi ổ lăn thông thường</a:t>
            </a:r>
            <a:endParaRPr lang="en-US" sz="1100" dirty="0"/>
          </a:p>
        </p:txBody>
      </p:sp>
      <p:sp>
        <p:nvSpPr>
          <p:cNvPr id="33" name="Text 31"/>
          <p:cNvSpPr/>
          <p:nvPr/>
        </p:nvSpPr>
        <p:spPr>
          <a:xfrm>
            <a:off x="5943600" y="3941064"/>
            <a:ext cx="2834640" cy="347472"/>
          </a:xfrm>
          <a:prstGeom prst="rect">
            <a:avLst/>
          </a:prstGeom>
          <a:noFill/>
          <a:ln/>
        </p:spPr>
        <p:txBody>
          <a:bodyPr wrap="square" rtlCol="0" anchor="ctr"/>
          <a:lstStyle/>
          <a:p>
            <a:pPr indent="0" marL="0">
              <a:buNone/>
            </a:pPr>
            <a:r>
              <a:rPr lang="en-US" sz="1100" dirty="0">
                <a:solidFill>
                  <a:srgbClr val="E8F4FD"/>
                </a:solidFill>
                <a:latin typeface="Calibri" pitchFamily="34" charset="0"/>
                <a:ea typeface="Calibri" pitchFamily="34" charset="-122"/>
                <a:cs typeface="Calibri" pitchFamily="34" charset="-120"/>
              </a:rPr>
              <a:t>→ Mở rộng khảo sát: lệch tâm, mất cân bằng, lỏng kết cấu</a:t>
            </a:r>
            <a:endParaRPr lang="en-US" sz="1100" dirty="0"/>
          </a:p>
        </p:txBody>
      </p:sp>
      <p:sp>
        <p:nvSpPr>
          <p:cNvPr id="34" name="Text 32"/>
          <p:cNvSpPr/>
          <p:nvPr/>
        </p:nvSpPr>
        <p:spPr>
          <a:xfrm>
            <a:off x="457200" y="4425696"/>
            <a:ext cx="1371600" cy="274320"/>
          </a:xfrm>
          <a:prstGeom prst="rect">
            <a:avLst/>
          </a:prstGeom>
          <a:noFill/>
          <a:ln/>
        </p:spPr>
        <p:txBody>
          <a:bodyPr wrap="square" rtlCol="0" anchor="ctr"/>
          <a:lstStyle/>
          <a:p>
            <a:pPr indent="0" marL="0">
              <a:buNone/>
            </a:pPr>
            <a:r>
              <a:rPr lang="en-US" sz="900" dirty="0">
                <a:solidFill>
                  <a:srgbClr val="8BAFC7"/>
                </a:solidFill>
                <a:latin typeface="Calibri" pitchFamily="34" charset="0"/>
                <a:ea typeface="Calibri" pitchFamily="34" charset="-122"/>
                <a:cs typeface="Calibri" pitchFamily="34" charset="-120"/>
              </a:rPr>
              <a:t>Tín hiệu SHAP  →</a:t>
            </a:r>
            <a:endParaRPr lang="en-US" sz="900" dirty="0"/>
          </a:p>
        </p:txBody>
      </p:sp>
      <p:sp>
        <p:nvSpPr>
          <p:cNvPr id="35" name="Text 33"/>
          <p:cNvSpPr/>
          <p:nvPr/>
        </p:nvSpPr>
        <p:spPr>
          <a:xfrm>
            <a:off x="3291840" y="4425696"/>
            <a:ext cx="1097280" cy="274320"/>
          </a:xfrm>
          <a:prstGeom prst="rect">
            <a:avLst/>
          </a:prstGeom>
          <a:noFill/>
          <a:ln/>
        </p:spPr>
        <p:txBody>
          <a:bodyPr wrap="square" rtlCol="0" anchor="ctr"/>
          <a:lstStyle/>
          <a:p>
            <a:pPr indent="0" marL="0">
              <a:buNone/>
            </a:pPr>
            <a:r>
              <a:rPr lang="en-US" sz="900" dirty="0">
                <a:solidFill>
                  <a:srgbClr val="8BAFC7"/>
                </a:solidFill>
                <a:latin typeface="Calibri" pitchFamily="34" charset="0"/>
                <a:ea typeface="Calibri" pitchFamily="34" charset="-122"/>
                <a:cs typeface="Calibri" pitchFamily="34" charset="-120"/>
              </a:rPr>
              <a:t>Đánh giá →</a:t>
            </a:r>
            <a:endParaRPr lang="en-US" sz="900" dirty="0"/>
          </a:p>
        </p:txBody>
      </p:sp>
      <p:sp>
        <p:nvSpPr>
          <p:cNvPr id="36" name="Text 34"/>
          <p:cNvSpPr/>
          <p:nvPr/>
        </p:nvSpPr>
        <p:spPr>
          <a:xfrm>
            <a:off x="5943600" y="4425696"/>
            <a:ext cx="914400" cy="274320"/>
          </a:xfrm>
          <a:prstGeom prst="rect">
            <a:avLst/>
          </a:prstGeom>
          <a:noFill/>
          <a:ln/>
        </p:spPr>
        <p:txBody>
          <a:bodyPr wrap="square" rtlCol="0" anchor="ctr"/>
          <a:lstStyle/>
          <a:p>
            <a:pPr indent="0" marL="0">
              <a:buNone/>
            </a:pPr>
            <a:r>
              <a:rPr lang="en-US" sz="900" dirty="0">
                <a:solidFill>
                  <a:srgbClr val="8BAFC7"/>
                </a:solidFill>
                <a:latin typeface="Calibri" pitchFamily="34" charset="0"/>
                <a:ea typeface="Calibri" pitchFamily="34" charset="-122"/>
                <a:cs typeface="Calibri" pitchFamily="34" charset="-120"/>
              </a:rPr>
              <a:t>Hành động</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4D8"/>
          </a:solidFill>
          <a:ln w="12700">
            <a:solidFill>
              <a:srgbClr val="00B4D8"/>
            </a:solidFill>
            <a:prstDash val="solid"/>
          </a:ln>
        </p:spPr>
      </p:sp>
      <p:sp>
        <p:nvSpPr>
          <p:cNvPr id="3" name="Text 1"/>
          <p:cNvSpPr/>
          <p:nvPr/>
        </p:nvSpPr>
        <p:spPr>
          <a:xfrm>
            <a:off x="365760" y="137160"/>
            <a:ext cx="8412480" cy="50292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  Hạn Chế — Accuracy Cao ≠ Dùng Được Ngay</a:t>
            </a:r>
            <a:endParaRPr lang="en-US" sz="2000" dirty="0"/>
          </a:p>
        </p:txBody>
      </p:sp>
      <p:sp>
        <p:nvSpPr>
          <p:cNvPr id="4" name="Shape 2"/>
          <p:cNvSpPr/>
          <p:nvPr/>
        </p:nvSpPr>
        <p:spPr>
          <a:xfrm>
            <a:off x="365760" y="658368"/>
            <a:ext cx="8412480" cy="27432"/>
          </a:xfrm>
          <a:prstGeom prst="rect">
            <a:avLst/>
          </a:prstGeom>
          <a:solidFill>
            <a:srgbClr val="0077B6"/>
          </a:solidFill>
          <a:ln w="12700">
            <a:solidFill>
              <a:srgbClr val="0077B6"/>
            </a:solidFill>
            <a:prstDash val="solid"/>
          </a:ln>
        </p:spPr>
      </p:sp>
      <p:sp>
        <p:nvSpPr>
          <p:cNvPr id="5" name="Shape 3"/>
          <p:cNvSpPr/>
          <p:nvPr/>
        </p:nvSpPr>
        <p:spPr>
          <a:xfrm>
            <a:off x="274320" y="777240"/>
            <a:ext cx="8595360" cy="1005840"/>
          </a:xfrm>
          <a:prstGeom prst="rect">
            <a:avLst/>
          </a:prstGeom>
          <a:solidFill>
            <a:srgbClr val="2A0808"/>
          </a:solidFill>
          <a:ln w="25400">
            <a:solidFill>
              <a:srgbClr val="EF476F"/>
            </a:solidFill>
            <a:prstDash val="solid"/>
          </a:ln>
        </p:spPr>
      </p:sp>
      <p:sp>
        <p:nvSpPr>
          <p:cNvPr id="6" name="Text 4"/>
          <p:cNvSpPr/>
          <p:nvPr/>
        </p:nvSpPr>
        <p:spPr>
          <a:xfrm>
            <a:off x="457200" y="822960"/>
            <a:ext cx="8321040" cy="914400"/>
          </a:xfrm>
          <a:prstGeom prst="rect">
            <a:avLst/>
          </a:prstGeom>
          <a:noFill/>
          <a:ln/>
        </p:spPr>
        <p:txBody>
          <a:bodyPr wrap="square" rtlCol="0" anchor="ctr"/>
          <a:lstStyle/>
          <a:p>
            <a:pPr indent="0" marL="0">
              <a:buNone/>
            </a:pPr>
            <a:r>
              <a:rPr lang="en-US" sz="1400" b="1" dirty="0">
                <a:solidFill>
                  <a:srgbClr val="EF476F"/>
                </a:solidFill>
                <a:latin typeface="Calibri" pitchFamily="34" charset="0"/>
                <a:ea typeface="Calibri" pitchFamily="34" charset="-122"/>
                <a:cs typeface="Calibri" pitchFamily="34" charset="-120"/>
              </a:rPr>
              <a:t>Accuracy ~78% trên bệ thử CWRU KHÔNG có nghĩa là mô hình hoạt động tốt ngay lập tức ngoài nhà máy!</a:t>
            </a:r>
            <a:endParaRPr lang="en-US" sz="1400" dirty="0"/>
          </a:p>
        </p:txBody>
      </p:sp>
      <p:sp>
        <p:nvSpPr>
          <p:cNvPr id="7" name="Shape 5"/>
          <p:cNvSpPr/>
          <p:nvPr/>
        </p:nvSpPr>
        <p:spPr>
          <a:xfrm>
            <a:off x="274320" y="1920240"/>
            <a:ext cx="4069080" cy="2286000"/>
          </a:xfrm>
          <a:prstGeom prst="rect">
            <a:avLst/>
          </a:prstGeom>
          <a:solidFill>
            <a:srgbClr val="112233"/>
          </a:solidFill>
          <a:ln w="12700">
            <a:solidFill>
              <a:srgbClr val="0077B6"/>
            </a:solidFill>
            <a:prstDash val="solid"/>
          </a:ln>
        </p:spPr>
      </p:sp>
      <p:sp>
        <p:nvSpPr>
          <p:cNvPr id="8" name="Shape 6"/>
          <p:cNvSpPr/>
          <p:nvPr/>
        </p:nvSpPr>
        <p:spPr>
          <a:xfrm>
            <a:off x="274320" y="1920240"/>
            <a:ext cx="4069080" cy="320040"/>
          </a:xfrm>
          <a:prstGeom prst="rect">
            <a:avLst/>
          </a:prstGeom>
          <a:solidFill>
            <a:srgbClr val="4A6278"/>
          </a:solidFill>
          <a:ln w="12700">
            <a:solidFill>
              <a:srgbClr val="4A6278"/>
            </a:solidFill>
            <a:prstDash val="solid"/>
          </a:ln>
        </p:spPr>
      </p:sp>
      <p:sp>
        <p:nvSpPr>
          <p:cNvPr id="9" name="Text 7"/>
          <p:cNvSpPr/>
          <p:nvPr/>
        </p:nvSpPr>
        <p:spPr>
          <a:xfrm>
            <a:off x="365760" y="1938528"/>
            <a:ext cx="3886200" cy="29260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Sự khác biệt Lab vs Nhà máy</a:t>
            </a:r>
            <a:endParaRPr lang="en-US" sz="1100" dirty="0"/>
          </a:p>
        </p:txBody>
      </p:sp>
      <p:sp>
        <p:nvSpPr>
          <p:cNvPr id="10" name="Text 8"/>
          <p:cNvSpPr/>
          <p:nvPr/>
        </p:nvSpPr>
        <p:spPr>
          <a:xfrm>
            <a:off x="347472" y="2304288"/>
            <a:ext cx="3922776" cy="1847088"/>
          </a:xfrm>
          <a:prstGeom prst="rect">
            <a:avLst/>
          </a:prstGeom>
          <a:noFill/>
          <a:ln/>
        </p:spPr>
        <p:txBody>
          <a:bodyPr wrap="square" rtlCol="0" anchor="t"/>
          <a:lstStyle/>
          <a:p>
            <a:pPr marL="342900" indent="-342900">
              <a:buSzPct val="100000"/>
              <a:buChar char="•"/>
            </a:pPr>
            <a:r>
              <a:rPr lang="en-US" sz="1100" dirty="0">
                <a:solidFill>
                  <a:srgbClr val="E8F4FD"/>
                </a:solidFill>
                <a:latin typeface="Calibri" pitchFamily="34" charset="0"/>
                <a:ea typeface="Calibri" pitchFamily="34" charset="-122"/>
                <a:cs typeface="Calibri" pitchFamily="34" charset="-120"/>
              </a:rPr>
              <a:t>CWRU: ổ lăn SKF 6205, lỗi EDM sạch, phòng thí nghiệm yên tĩnh</a:t>
            </a:r>
            <a:endParaRPr lang="en-US" sz="1100" dirty="0"/>
          </a:p>
          <a:p>
            <a:pPr marL="342900" indent="-342900">
              <a:buSzPct val="100000"/>
              <a:buChar char="•"/>
            </a:pPr>
            <a:r>
              <a:rPr lang="en-US" sz="1100" dirty="0">
                <a:solidFill>
                  <a:srgbClr val="E8F4FD"/>
                </a:solidFill>
                <a:latin typeface="Calibri" pitchFamily="34" charset="0"/>
                <a:ea typeface="Calibri" pitchFamily="34" charset="-122"/>
                <a:cs typeface="Calibri" pitchFamily="34" charset="-120"/>
              </a:rPr>
              <a:t>Nhà máy: đa dạng chủng loại ổ lăn, mài mòn tự nhiên, nhiễu môi trường lớn</a:t>
            </a:r>
            <a:endParaRPr lang="en-US" sz="1100" dirty="0"/>
          </a:p>
          <a:p>
            <a:pPr marL="342900" indent="-342900">
              <a:buSzPct val="100000"/>
              <a:buChar char="•"/>
            </a:pPr>
            <a:r>
              <a:rPr lang="en-US" sz="1100" dirty="0">
                <a:solidFill>
                  <a:srgbClr val="E8F4FD"/>
                </a:solidFill>
                <a:latin typeface="Calibri" pitchFamily="34" charset="0"/>
                <a:ea typeface="Calibri" pitchFamily="34" charset="-122"/>
                <a:cs typeface="Calibri" pitchFamily="34" charset="-120"/>
              </a:rPr>
              <a:t>→ Domain Shift làm suy giảm hiệu năng nghiêm trọng</a:t>
            </a:r>
            <a:endParaRPr lang="en-US" sz="1100" dirty="0"/>
          </a:p>
        </p:txBody>
      </p:sp>
      <p:sp>
        <p:nvSpPr>
          <p:cNvPr id="11" name="Shape 9"/>
          <p:cNvSpPr/>
          <p:nvPr/>
        </p:nvSpPr>
        <p:spPr>
          <a:xfrm>
            <a:off x="4572000" y="1920240"/>
            <a:ext cx="4297680" cy="2286000"/>
          </a:xfrm>
          <a:prstGeom prst="rect">
            <a:avLst/>
          </a:prstGeom>
          <a:solidFill>
            <a:srgbClr val="112233"/>
          </a:solidFill>
          <a:ln w="12700">
            <a:solidFill>
              <a:srgbClr val="0077B6"/>
            </a:solidFill>
            <a:prstDash val="solid"/>
          </a:ln>
        </p:spPr>
      </p:sp>
      <p:sp>
        <p:nvSpPr>
          <p:cNvPr id="12" name="Shape 10"/>
          <p:cNvSpPr/>
          <p:nvPr/>
        </p:nvSpPr>
        <p:spPr>
          <a:xfrm>
            <a:off x="4572000" y="1920240"/>
            <a:ext cx="4297680" cy="320040"/>
          </a:xfrm>
          <a:prstGeom prst="rect">
            <a:avLst/>
          </a:prstGeom>
          <a:solidFill>
            <a:srgbClr val="0077B6"/>
          </a:solidFill>
          <a:ln w="12700">
            <a:solidFill>
              <a:srgbClr val="0077B6"/>
            </a:solidFill>
            <a:prstDash val="solid"/>
          </a:ln>
        </p:spPr>
      </p:sp>
      <p:sp>
        <p:nvSpPr>
          <p:cNvPr id="13" name="Text 11"/>
          <p:cNvSpPr/>
          <p:nvPr/>
        </p:nvSpPr>
        <p:spPr>
          <a:xfrm>
            <a:off x="4663440" y="1938528"/>
            <a:ext cx="4114800" cy="29260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Yêu cầu bắt buộc trước triển khai</a:t>
            </a:r>
            <a:endParaRPr lang="en-US" sz="1100" dirty="0"/>
          </a:p>
        </p:txBody>
      </p:sp>
      <p:sp>
        <p:nvSpPr>
          <p:cNvPr id="14" name="Text 12"/>
          <p:cNvSpPr/>
          <p:nvPr/>
        </p:nvSpPr>
        <p:spPr>
          <a:xfrm>
            <a:off x="4645152" y="2304288"/>
            <a:ext cx="4151376" cy="1847088"/>
          </a:xfrm>
          <a:prstGeom prst="rect">
            <a:avLst/>
          </a:prstGeom>
          <a:noFill/>
          <a:ln/>
        </p:spPr>
        <p:txBody>
          <a:bodyPr wrap="square" rtlCol="0" anchor="t"/>
          <a:lstStyle/>
          <a:p>
            <a:pPr marL="342900" indent="-342900">
              <a:buSzPct val="100000"/>
              <a:buChar char="•"/>
            </a:pPr>
            <a:r>
              <a:rPr lang="en-US" sz="1100" dirty="0">
                <a:solidFill>
                  <a:srgbClr val="E8F4FD"/>
                </a:solidFill>
                <a:latin typeface="Calibri" pitchFamily="34" charset="0"/>
                <a:ea typeface="Calibri" pitchFamily="34" charset="-122"/>
                <a:cs typeface="Calibri" pitchFamily="34" charset="-120"/>
              </a:rPr>
              <a:t>Thu thập dữ liệu từ chính thiết bị thực tế tại nhà máy</a:t>
            </a:r>
            <a:endParaRPr lang="en-US" sz="1100" dirty="0"/>
          </a:p>
          <a:p>
            <a:pPr marL="342900" indent="-342900">
              <a:buSzPct val="100000"/>
              <a:buChar char="•"/>
            </a:pPr>
            <a:r>
              <a:rPr lang="en-US" sz="1100" dirty="0">
                <a:solidFill>
                  <a:srgbClr val="E8F4FD"/>
                </a:solidFill>
                <a:latin typeface="Calibri" pitchFamily="34" charset="0"/>
                <a:ea typeface="Calibri" pitchFamily="34" charset="-122"/>
                <a:cs typeface="Calibri" pitchFamily="34" charset="-120"/>
              </a:rPr>
              <a:t>Hiệu chuẩn (Calibration) hoặc Tái huấn luyện (Re-training) mô hình</a:t>
            </a:r>
            <a:endParaRPr lang="en-US" sz="1100" dirty="0"/>
          </a:p>
          <a:p>
            <a:pPr marL="342900" indent="-342900">
              <a:buSzPct val="100000"/>
              <a:buChar char="•"/>
            </a:pPr>
            <a:r>
              <a:rPr lang="en-US" sz="1100" dirty="0">
                <a:solidFill>
                  <a:srgbClr val="E8F4FD"/>
                </a:solidFill>
                <a:latin typeface="Calibri" pitchFamily="34" charset="0"/>
                <a:ea typeface="Calibri" pitchFamily="34" charset="-122"/>
                <a:cs typeface="Calibri" pitchFamily="34" charset="-120"/>
              </a:rPr>
              <a:t>CWRU là môi trường HỌC PHƯƠNG PHÁP LUẬN — không phải mô hình 'chìa khóa trao tay'</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4D8"/>
          </a:solidFill>
          <a:ln w="12700">
            <a:solidFill>
              <a:srgbClr val="00B4D8"/>
            </a:solidFill>
            <a:prstDash val="solid"/>
          </a:ln>
        </p:spPr>
      </p:sp>
      <p:sp>
        <p:nvSpPr>
          <p:cNvPr id="3" name="Text 1"/>
          <p:cNvSpPr/>
          <p:nvPr/>
        </p:nvSpPr>
        <p:spPr>
          <a:xfrm>
            <a:off x="365760" y="137160"/>
            <a:ext cx="8412480" cy="50292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Key Takeaways — Thông Điệp Cốt Lõi</a:t>
            </a:r>
            <a:endParaRPr lang="en-US" sz="2000" dirty="0"/>
          </a:p>
        </p:txBody>
      </p:sp>
      <p:sp>
        <p:nvSpPr>
          <p:cNvPr id="4" name="Shape 2"/>
          <p:cNvSpPr/>
          <p:nvPr/>
        </p:nvSpPr>
        <p:spPr>
          <a:xfrm>
            <a:off x="365760" y="658368"/>
            <a:ext cx="8412480" cy="27432"/>
          </a:xfrm>
          <a:prstGeom prst="rect">
            <a:avLst/>
          </a:prstGeom>
          <a:solidFill>
            <a:srgbClr val="0077B6"/>
          </a:solidFill>
          <a:ln w="12700">
            <a:solidFill>
              <a:srgbClr val="0077B6"/>
            </a:solidFill>
            <a:prstDash val="solid"/>
          </a:ln>
        </p:spPr>
      </p:sp>
      <p:sp>
        <p:nvSpPr>
          <p:cNvPr id="5" name="Shape 3"/>
          <p:cNvSpPr/>
          <p:nvPr/>
        </p:nvSpPr>
        <p:spPr>
          <a:xfrm>
            <a:off x="274320" y="777240"/>
            <a:ext cx="4206240" cy="1261872"/>
          </a:xfrm>
          <a:prstGeom prst="rect">
            <a:avLst/>
          </a:prstGeom>
          <a:solidFill>
            <a:srgbClr val="112233"/>
          </a:solidFill>
          <a:ln w="12700">
            <a:solidFill>
              <a:srgbClr val="00B4D8"/>
            </a:solidFill>
            <a:prstDash val="solid"/>
          </a:ln>
        </p:spPr>
      </p:sp>
      <p:sp>
        <p:nvSpPr>
          <p:cNvPr id="6" name="Shape 4"/>
          <p:cNvSpPr/>
          <p:nvPr/>
        </p:nvSpPr>
        <p:spPr>
          <a:xfrm>
            <a:off x="274320" y="777240"/>
            <a:ext cx="64008" cy="1261872"/>
          </a:xfrm>
          <a:prstGeom prst="rect">
            <a:avLst/>
          </a:prstGeom>
          <a:solidFill>
            <a:srgbClr val="00B4D8"/>
          </a:solidFill>
          <a:ln w="12700">
            <a:solidFill>
              <a:srgbClr val="00B4D8"/>
            </a:solidFill>
            <a:prstDash val="solid"/>
          </a:ln>
        </p:spPr>
      </p:sp>
      <p:sp>
        <p:nvSpPr>
          <p:cNvPr id="7" name="Text 5"/>
          <p:cNvSpPr/>
          <p:nvPr/>
        </p:nvSpPr>
        <p:spPr>
          <a:xfrm>
            <a:off x="438912" y="850392"/>
            <a:ext cx="3931920" cy="320040"/>
          </a:xfrm>
          <a:prstGeom prst="rect">
            <a:avLst/>
          </a:prstGeom>
          <a:noFill/>
          <a:ln/>
        </p:spPr>
        <p:txBody>
          <a:bodyPr wrap="square" rtlCol="0" anchor="ctr"/>
          <a:lstStyle/>
          <a:p>
            <a:pPr indent="0" marL="0">
              <a:buNone/>
            </a:pPr>
            <a:r>
              <a:rPr lang="en-US" sz="1300" b="1" dirty="0">
                <a:solidFill>
                  <a:srgbClr val="00B4D8"/>
                </a:solidFill>
                <a:latin typeface="Calibri" pitchFamily="34" charset="0"/>
                <a:ea typeface="Calibri" pitchFamily="34" charset="-122"/>
                <a:cs typeface="Calibri" pitchFamily="34" charset="-120"/>
              </a:rPr>
              <a:t>🔊 Vật lý cốt lõi</a:t>
            </a:r>
            <a:endParaRPr lang="en-US" sz="1300" dirty="0"/>
          </a:p>
        </p:txBody>
      </p:sp>
      <p:sp>
        <p:nvSpPr>
          <p:cNvPr id="8" name="Text 6"/>
          <p:cNvSpPr/>
          <p:nvPr/>
        </p:nvSpPr>
        <p:spPr>
          <a:xfrm>
            <a:off x="438912" y="1234440"/>
            <a:ext cx="3931920" cy="731520"/>
          </a:xfrm>
          <a:prstGeom prst="rect">
            <a:avLst/>
          </a:prstGeom>
          <a:noFill/>
          <a:ln/>
        </p:spPr>
        <p:txBody>
          <a:bodyPr wrap="square" rtlCol="0" anchor="ctr"/>
          <a:lstStyle/>
          <a:p>
            <a:pPr indent="0" marL="0">
              <a:buNone/>
            </a:pPr>
            <a:r>
              <a:rPr lang="en-US" sz="1100" dirty="0">
                <a:solidFill>
                  <a:srgbClr val="E8F4FD"/>
                </a:solidFill>
                <a:latin typeface="Calibri" pitchFamily="34" charset="0"/>
                <a:ea typeface="Calibri" pitchFamily="34" charset="-122"/>
                <a:cs typeface="Calibri" pitchFamily="34" charset="-120"/>
              </a:rPr>
              <a:t>Khuyết tật ổ lăn tạo xung va đập tuần hoàn. BPFO ~107 Hz · BPFI ~162 Hz · 2·BSF ~141 Hz (1797 RPM)</a:t>
            </a:r>
            <a:endParaRPr lang="en-US" sz="1100" dirty="0"/>
          </a:p>
        </p:txBody>
      </p:sp>
      <p:sp>
        <p:nvSpPr>
          <p:cNvPr id="9" name="Shape 7"/>
          <p:cNvSpPr/>
          <p:nvPr/>
        </p:nvSpPr>
        <p:spPr>
          <a:xfrm>
            <a:off x="4709160" y="777240"/>
            <a:ext cx="4206240" cy="1261872"/>
          </a:xfrm>
          <a:prstGeom prst="rect">
            <a:avLst/>
          </a:prstGeom>
          <a:solidFill>
            <a:srgbClr val="112233"/>
          </a:solidFill>
          <a:ln w="12700">
            <a:solidFill>
              <a:srgbClr val="FFD166"/>
            </a:solidFill>
            <a:prstDash val="solid"/>
          </a:ln>
        </p:spPr>
      </p:sp>
      <p:sp>
        <p:nvSpPr>
          <p:cNvPr id="10" name="Shape 8"/>
          <p:cNvSpPr/>
          <p:nvPr/>
        </p:nvSpPr>
        <p:spPr>
          <a:xfrm>
            <a:off x="4709160" y="777240"/>
            <a:ext cx="64008" cy="1261872"/>
          </a:xfrm>
          <a:prstGeom prst="rect">
            <a:avLst/>
          </a:prstGeom>
          <a:solidFill>
            <a:srgbClr val="FFD166"/>
          </a:solidFill>
          <a:ln w="12700">
            <a:solidFill>
              <a:srgbClr val="FFD166"/>
            </a:solidFill>
            <a:prstDash val="solid"/>
          </a:ln>
        </p:spPr>
      </p:sp>
      <p:sp>
        <p:nvSpPr>
          <p:cNvPr id="11" name="Text 9"/>
          <p:cNvSpPr/>
          <p:nvPr/>
        </p:nvSpPr>
        <p:spPr>
          <a:xfrm>
            <a:off x="4873752" y="850392"/>
            <a:ext cx="3931920" cy="320040"/>
          </a:xfrm>
          <a:prstGeom prst="rect">
            <a:avLst/>
          </a:prstGeom>
          <a:noFill/>
          <a:ln/>
        </p:spPr>
        <p:txBody>
          <a:bodyPr wrap="square" rtlCol="0" anchor="ctr"/>
          <a:lstStyle/>
          <a:p>
            <a:pPr indent="0" marL="0">
              <a:buNone/>
            </a:pPr>
            <a:r>
              <a:rPr lang="en-US" sz="1300" b="1" dirty="0">
                <a:solidFill>
                  <a:srgbClr val="FFD166"/>
                </a:solidFill>
                <a:latin typeface="Calibri" pitchFamily="34" charset="0"/>
                <a:ea typeface="Calibri" pitchFamily="34" charset="-122"/>
                <a:cs typeface="Calibri" pitchFamily="34" charset="-120"/>
              </a:rPr>
              <a:t>📊 Kurtosis (Pearson)</a:t>
            </a:r>
            <a:endParaRPr lang="en-US" sz="1300" dirty="0"/>
          </a:p>
        </p:txBody>
      </p:sp>
      <p:sp>
        <p:nvSpPr>
          <p:cNvPr id="12" name="Text 10"/>
          <p:cNvSpPr/>
          <p:nvPr/>
        </p:nvSpPr>
        <p:spPr>
          <a:xfrm>
            <a:off x="4873752" y="1234440"/>
            <a:ext cx="3931920" cy="731520"/>
          </a:xfrm>
          <a:prstGeom prst="rect">
            <a:avLst/>
          </a:prstGeom>
          <a:noFill/>
          <a:ln/>
        </p:spPr>
        <p:txBody>
          <a:bodyPr wrap="square" rtlCol="0" anchor="ctr"/>
          <a:lstStyle/>
          <a:p>
            <a:pPr indent="0" marL="0">
              <a:buNone/>
            </a:pPr>
            <a:r>
              <a:rPr lang="en-US" sz="1100" dirty="0">
                <a:solidFill>
                  <a:srgbClr val="E8F4FD"/>
                </a:solidFill>
                <a:latin typeface="Calibri" pitchFamily="34" charset="0"/>
                <a:ea typeface="Calibri" pitchFamily="34" charset="-122"/>
                <a:cs typeface="Calibri" pitchFamily="34" charset="-120"/>
              </a:rPr>
              <a:t>Chỉ báo nhạy bén nhất giai đoạn sớm. Ngưỡng: &gt;3.5 (giám sát), &gt;6 (lên kế hoạch), &gt;10 (dừng máy)</a:t>
            </a:r>
            <a:endParaRPr lang="en-US" sz="1100" dirty="0"/>
          </a:p>
        </p:txBody>
      </p:sp>
      <p:sp>
        <p:nvSpPr>
          <p:cNvPr id="13" name="Shape 11"/>
          <p:cNvSpPr/>
          <p:nvPr/>
        </p:nvSpPr>
        <p:spPr>
          <a:xfrm>
            <a:off x="274320" y="2194560"/>
            <a:ext cx="4206240" cy="1261872"/>
          </a:xfrm>
          <a:prstGeom prst="rect">
            <a:avLst/>
          </a:prstGeom>
          <a:solidFill>
            <a:srgbClr val="112233"/>
          </a:solidFill>
          <a:ln w="12700">
            <a:solidFill>
              <a:srgbClr val="00F5D4"/>
            </a:solidFill>
            <a:prstDash val="solid"/>
          </a:ln>
        </p:spPr>
      </p:sp>
      <p:sp>
        <p:nvSpPr>
          <p:cNvPr id="14" name="Shape 12"/>
          <p:cNvSpPr/>
          <p:nvPr/>
        </p:nvSpPr>
        <p:spPr>
          <a:xfrm>
            <a:off x="274320" y="2194560"/>
            <a:ext cx="64008" cy="1261872"/>
          </a:xfrm>
          <a:prstGeom prst="rect">
            <a:avLst/>
          </a:prstGeom>
          <a:solidFill>
            <a:srgbClr val="00F5D4"/>
          </a:solidFill>
          <a:ln w="12700">
            <a:solidFill>
              <a:srgbClr val="00F5D4"/>
            </a:solidFill>
            <a:prstDash val="solid"/>
          </a:ln>
        </p:spPr>
      </p:sp>
      <p:sp>
        <p:nvSpPr>
          <p:cNvPr id="15" name="Text 13"/>
          <p:cNvSpPr/>
          <p:nvPr/>
        </p:nvSpPr>
        <p:spPr>
          <a:xfrm>
            <a:off x="438912" y="2267712"/>
            <a:ext cx="3931920" cy="320040"/>
          </a:xfrm>
          <a:prstGeom prst="rect">
            <a:avLst/>
          </a:prstGeom>
          <a:noFill/>
          <a:ln/>
        </p:spPr>
        <p:txBody>
          <a:bodyPr wrap="square" rtlCol="0" anchor="ctr"/>
          <a:lstStyle/>
          <a:p>
            <a:pPr indent="0" marL="0">
              <a:buNone/>
            </a:pPr>
            <a:r>
              <a:rPr lang="en-US" sz="1300" b="1" dirty="0">
                <a:solidFill>
                  <a:srgbClr val="00F5D4"/>
                </a:solidFill>
                <a:latin typeface="Calibri" pitchFamily="34" charset="0"/>
                <a:ea typeface="Calibri" pitchFamily="34" charset="-122"/>
                <a:cs typeface="Calibri" pitchFamily="34" charset="-120"/>
              </a:rPr>
              <a:t>🍊 Envelope Analysis</a:t>
            </a:r>
            <a:endParaRPr lang="en-US" sz="1300" dirty="0"/>
          </a:p>
        </p:txBody>
      </p:sp>
      <p:sp>
        <p:nvSpPr>
          <p:cNvPr id="16" name="Text 14"/>
          <p:cNvSpPr/>
          <p:nvPr/>
        </p:nvSpPr>
        <p:spPr>
          <a:xfrm>
            <a:off x="438912" y="2651760"/>
            <a:ext cx="3931920" cy="731520"/>
          </a:xfrm>
          <a:prstGeom prst="rect">
            <a:avLst/>
          </a:prstGeom>
          <a:noFill/>
          <a:ln/>
        </p:spPr>
        <p:txBody>
          <a:bodyPr wrap="square" rtlCol="0" anchor="ctr"/>
          <a:lstStyle/>
          <a:p>
            <a:pPr indent="0" marL="0">
              <a:buNone/>
            </a:pPr>
            <a:r>
              <a:rPr lang="en-US" sz="1100" dirty="0">
                <a:solidFill>
                  <a:srgbClr val="E8F4FD"/>
                </a:solidFill>
                <a:latin typeface="Calibri" pitchFamily="34" charset="0"/>
                <a:ea typeface="Calibri" pitchFamily="34" charset="-122"/>
                <a:cs typeface="Calibri" pitchFamily="34" charset="-120"/>
              </a:rPr>
              <a:t>Vượt trội hoàn toàn so với FFT thô. Hilbert bóc đường bao → FFT đường bao → đọc đỉnh lỗi</a:t>
            </a:r>
            <a:endParaRPr lang="en-US" sz="1100" dirty="0"/>
          </a:p>
        </p:txBody>
      </p:sp>
      <p:sp>
        <p:nvSpPr>
          <p:cNvPr id="17" name="Shape 15"/>
          <p:cNvSpPr/>
          <p:nvPr/>
        </p:nvSpPr>
        <p:spPr>
          <a:xfrm>
            <a:off x="4709160" y="2194560"/>
            <a:ext cx="4206240" cy="1261872"/>
          </a:xfrm>
          <a:prstGeom prst="rect">
            <a:avLst/>
          </a:prstGeom>
          <a:solidFill>
            <a:srgbClr val="112233"/>
          </a:solidFill>
          <a:ln w="12700">
            <a:solidFill>
              <a:srgbClr val="06D6A0"/>
            </a:solidFill>
            <a:prstDash val="solid"/>
          </a:ln>
        </p:spPr>
      </p:sp>
      <p:sp>
        <p:nvSpPr>
          <p:cNvPr id="18" name="Shape 16"/>
          <p:cNvSpPr/>
          <p:nvPr/>
        </p:nvSpPr>
        <p:spPr>
          <a:xfrm>
            <a:off x="4709160" y="2194560"/>
            <a:ext cx="64008" cy="1261872"/>
          </a:xfrm>
          <a:prstGeom prst="rect">
            <a:avLst/>
          </a:prstGeom>
          <a:solidFill>
            <a:srgbClr val="06D6A0"/>
          </a:solidFill>
          <a:ln w="12700">
            <a:solidFill>
              <a:srgbClr val="06D6A0"/>
            </a:solidFill>
            <a:prstDash val="solid"/>
          </a:ln>
        </p:spPr>
      </p:sp>
      <p:sp>
        <p:nvSpPr>
          <p:cNvPr id="19" name="Text 17"/>
          <p:cNvSpPr/>
          <p:nvPr/>
        </p:nvSpPr>
        <p:spPr>
          <a:xfrm>
            <a:off x="4873752" y="2267712"/>
            <a:ext cx="3931920" cy="320040"/>
          </a:xfrm>
          <a:prstGeom prst="rect">
            <a:avLst/>
          </a:prstGeom>
          <a:noFill/>
          <a:ln/>
        </p:spPr>
        <p:txBody>
          <a:bodyPr wrap="square" rtlCol="0" anchor="ctr"/>
          <a:lstStyle/>
          <a:p>
            <a:pPr indent="0" marL="0">
              <a:buNone/>
            </a:pPr>
            <a:r>
              <a:rPr lang="en-US" sz="1300" b="1" dirty="0">
                <a:solidFill>
                  <a:srgbClr val="06D6A0"/>
                </a:solidFill>
                <a:latin typeface="Calibri" pitchFamily="34" charset="0"/>
                <a:ea typeface="Calibri" pitchFamily="34" charset="-122"/>
                <a:cs typeface="Calibri" pitchFamily="34" charset="-120"/>
              </a:rPr>
              <a:t>🔀 Chia theo File ID</a:t>
            </a:r>
            <a:endParaRPr lang="en-US" sz="1300" dirty="0"/>
          </a:p>
        </p:txBody>
      </p:sp>
      <p:sp>
        <p:nvSpPr>
          <p:cNvPr id="20" name="Text 18"/>
          <p:cNvSpPr/>
          <p:nvPr/>
        </p:nvSpPr>
        <p:spPr>
          <a:xfrm>
            <a:off x="4873752" y="2651760"/>
            <a:ext cx="3931920" cy="731520"/>
          </a:xfrm>
          <a:prstGeom prst="rect">
            <a:avLst/>
          </a:prstGeom>
          <a:noFill/>
          <a:ln/>
        </p:spPr>
        <p:txBody>
          <a:bodyPr wrap="square" rtlCol="0" anchor="ctr"/>
          <a:lstStyle/>
          <a:p>
            <a:pPr indent="0" marL="0">
              <a:buNone/>
            </a:pPr>
            <a:r>
              <a:rPr lang="en-US" sz="1100" dirty="0">
                <a:solidFill>
                  <a:srgbClr val="E8F4FD"/>
                </a:solidFill>
                <a:latin typeface="Calibri" pitchFamily="34" charset="0"/>
                <a:ea typeface="Calibri" pitchFamily="34" charset="-122"/>
                <a:cs typeface="Calibri" pitchFamily="34" charset="-120"/>
              </a:rPr>
              <a:t>Loại bỏ Data Leakage. Accuracy ảo ~98% → Thực tế ~78% — sự sụt giảm là TIN TỐT</a:t>
            </a:r>
            <a:endParaRPr lang="en-US" sz="1100" dirty="0"/>
          </a:p>
        </p:txBody>
      </p:sp>
      <p:sp>
        <p:nvSpPr>
          <p:cNvPr id="21" name="Shape 19"/>
          <p:cNvSpPr/>
          <p:nvPr/>
        </p:nvSpPr>
        <p:spPr>
          <a:xfrm>
            <a:off x="274320" y="3611880"/>
            <a:ext cx="4206240" cy="1261872"/>
          </a:xfrm>
          <a:prstGeom prst="rect">
            <a:avLst/>
          </a:prstGeom>
          <a:solidFill>
            <a:srgbClr val="112233"/>
          </a:solidFill>
          <a:ln w="12700">
            <a:solidFill>
              <a:srgbClr val="EF476F"/>
            </a:solidFill>
            <a:prstDash val="solid"/>
          </a:ln>
        </p:spPr>
      </p:sp>
      <p:sp>
        <p:nvSpPr>
          <p:cNvPr id="22" name="Shape 20"/>
          <p:cNvSpPr/>
          <p:nvPr/>
        </p:nvSpPr>
        <p:spPr>
          <a:xfrm>
            <a:off x="274320" y="3611880"/>
            <a:ext cx="64008" cy="1261872"/>
          </a:xfrm>
          <a:prstGeom prst="rect">
            <a:avLst/>
          </a:prstGeom>
          <a:solidFill>
            <a:srgbClr val="EF476F"/>
          </a:solidFill>
          <a:ln w="12700">
            <a:solidFill>
              <a:srgbClr val="EF476F"/>
            </a:solidFill>
            <a:prstDash val="solid"/>
          </a:ln>
        </p:spPr>
      </p:sp>
      <p:sp>
        <p:nvSpPr>
          <p:cNvPr id="23" name="Text 21"/>
          <p:cNvSpPr/>
          <p:nvPr/>
        </p:nvSpPr>
        <p:spPr>
          <a:xfrm>
            <a:off x="438912" y="3685032"/>
            <a:ext cx="3931920" cy="320040"/>
          </a:xfrm>
          <a:prstGeom prst="rect">
            <a:avLst/>
          </a:prstGeom>
          <a:noFill/>
          <a:ln/>
        </p:spPr>
        <p:txBody>
          <a:bodyPr wrap="square" rtlCol="0" anchor="ctr"/>
          <a:lstStyle/>
          <a:p>
            <a:pPr indent="0" marL="0">
              <a:buNone/>
            </a:pPr>
            <a:r>
              <a:rPr lang="en-US" sz="1300" b="1" dirty="0">
                <a:solidFill>
                  <a:srgbClr val="EF476F"/>
                </a:solidFill>
                <a:latin typeface="Calibri" pitchFamily="34" charset="0"/>
                <a:ea typeface="Calibri" pitchFamily="34" charset="-122"/>
                <a:cs typeface="Calibri" pitchFamily="34" charset="-120"/>
              </a:rPr>
              <a:t>🔍 SHAP = Cố vấn minh bạch</a:t>
            </a:r>
            <a:endParaRPr lang="en-US" sz="1300" dirty="0"/>
          </a:p>
        </p:txBody>
      </p:sp>
      <p:sp>
        <p:nvSpPr>
          <p:cNvPr id="24" name="Text 22"/>
          <p:cNvSpPr/>
          <p:nvPr/>
        </p:nvSpPr>
        <p:spPr>
          <a:xfrm>
            <a:off x="438912" y="4069080"/>
            <a:ext cx="3931920" cy="731520"/>
          </a:xfrm>
          <a:prstGeom prst="rect">
            <a:avLst/>
          </a:prstGeom>
          <a:noFill/>
          <a:ln/>
        </p:spPr>
        <p:txBody>
          <a:bodyPr wrap="square" rtlCol="0" anchor="ctr"/>
          <a:lstStyle/>
          <a:p>
            <a:pPr indent="0" marL="0">
              <a:buNone/>
            </a:pPr>
            <a:r>
              <a:rPr lang="en-US" sz="1100" dirty="0">
                <a:solidFill>
                  <a:srgbClr val="E8F4FD"/>
                </a:solidFill>
                <a:latin typeface="Calibri" pitchFamily="34" charset="0"/>
                <a:ea typeface="Calibri" pitchFamily="34" charset="-122"/>
                <a:cs typeface="Calibri" pitchFamily="34" charset="-120"/>
              </a:rPr>
              <a:t>Kết hợp RF + SHAP TreeExplainer. Chuyển hóa SHAP value → lập luận vật lý → hành động bảo trì</a:t>
            </a:r>
            <a:endParaRPr lang="en-US" sz="1100" dirty="0"/>
          </a:p>
        </p:txBody>
      </p:sp>
      <p:sp>
        <p:nvSpPr>
          <p:cNvPr id="25" name="Shape 23"/>
          <p:cNvSpPr/>
          <p:nvPr/>
        </p:nvSpPr>
        <p:spPr>
          <a:xfrm>
            <a:off x="4709160" y="3611880"/>
            <a:ext cx="4206240" cy="1261872"/>
          </a:xfrm>
          <a:prstGeom prst="rect">
            <a:avLst/>
          </a:prstGeom>
          <a:solidFill>
            <a:srgbClr val="112233"/>
          </a:solidFill>
          <a:ln w="12700">
            <a:solidFill>
              <a:srgbClr val="8BAFC7"/>
            </a:solidFill>
            <a:prstDash val="solid"/>
          </a:ln>
        </p:spPr>
      </p:sp>
      <p:sp>
        <p:nvSpPr>
          <p:cNvPr id="26" name="Shape 24"/>
          <p:cNvSpPr/>
          <p:nvPr/>
        </p:nvSpPr>
        <p:spPr>
          <a:xfrm>
            <a:off x="4709160" y="3611880"/>
            <a:ext cx="64008" cy="1261872"/>
          </a:xfrm>
          <a:prstGeom prst="rect">
            <a:avLst/>
          </a:prstGeom>
          <a:solidFill>
            <a:srgbClr val="8BAFC7"/>
          </a:solidFill>
          <a:ln w="12700">
            <a:solidFill>
              <a:srgbClr val="8BAFC7"/>
            </a:solidFill>
            <a:prstDash val="solid"/>
          </a:ln>
        </p:spPr>
      </p:sp>
      <p:sp>
        <p:nvSpPr>
          <p:cNvPr id="27" name="Text 25"/>
          <p:cNvSpPr/>
          <p:nvPr/>
        </p:nvSpPr>
        <p:spPr>
          <a:xfrm>
            <a:off x="4873752" y="3685032"/>
            <a:ext cx="3931920" cy="320040"/>
          </a:xfrm>
          <a:prstGeom prst="rect">
            <a:avLst/>
          </a:prstGeom>
          <a:noFill/>
          <a:ln/>
        </p:spPr>
        <p:txBody>
          <a:bodyPr wrap="square" rtlCol="0" anchor="ctr"/>
          <a:lstStyle/>
          <a:p>
            <a:pPr indent="0" marL="0">
              <a:buNone/>
            </a:pPr>
            <a:r>
              <a:rPr lang="en-US" sz="1300" b="1" dirty="0">
                <a:solidFill>
                  <a:srgbClr val="8BAFC7"/>
                </a:solidFill>
                <a:latin typeface="Calibri" pitchFamily="34" charset="0"/>
                <a:ea typeface="Calibri" pitchFamily="34" charset="-122"/>
                <a:cs typeface="Calibri" pitchFamily="34" charset="-120"/>
              </a:rPr>
              <a:t>🏭 Thực địa → Hiệu chuẩn</a:t>
            </a:r>
            <a:endParaRPr lang="en-US" sz="1300" dirty="0"/>
          </a:p>
        </p:txBody>
      </p:sp>
      <p:sp>
        <p:nvSpPr>
          <p:cNvPr id="28" name="Text 26"/>
          <p:cNvSpPr/>
          <p:nvPr/>
        </p:nvSpPr>
        <p:spPr>
          <a:xfrm>
            <a:off x="4873752" y="4069080"/>
            <a:ext cx="3931920" cy="731520"/>
          </a:xfrm>
          <a:prstGeom prst="rect">
            <a:avLst/>
          </a:prstGeom>
          <a:noFill/>
          <a:ln/>
        </p:spPr>
        <p:txBody>
          <a:bodyPr wrap="square" rtlCol="0" anchor="ctr"/>
          <a:lstStyle/>
          <a:p>
            <a:pPr indent="0" marL="0">
              <a:buNone/>
            </a:pPr>
            <a:r>
              <a:rPr lang="en-US" sz="1100" dirty="0">
                <a:solidFill>
                  <a:srgbClr val="E8F4FD"/>
                </a:solidFill>
                <a:latin typeface="Calibri" pitchFamily="34" charset="0"/>
                <a:ea typeface="Calibri" pitchFamily="34" charset="-122"/>
                <a:cs typeface="Calibri" pitchFamily="34" charset="-120"/>
              </a:rPr>
              <a:t>CWRU là môi trường học phương pháp. Nhà máy thực tế: phải thu thập dữ liệu và tái huấn luyện</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4D8"/>
          </a:solidFill>
          <a:ln w="12700">
            <a:solidFill>
              <a:srgbClr val="00B4D8"/>
            </a:solidFill>
            <a:prstDash val="solid"/>
          </a:ln>
        </p:spPr>
      </p:sp>
      <p:sp>
        <p:nvSpPr>
          <p:cNvPr id="3" name="Shape 1"/>
          <p:cNvSpPr/>
          <p:nvPr/>
        </p:nvSpPr>
        <p:spPr>
          <a:xfrm>
            <a:off x="0" y="5088636"/>
            <a:ext cx="9144000" cy="54864"/>
          </a:xfrm>
          <a:prstGeom prst="rect">
            <a:avLst/>
          </a:prstGeom>
          <a:solidFill>
            <a:srgbClr val="0077B6"/>
          </a:solidFill>
          <a:ln w="12700">
            <a:solidFill>
              <a:srgbClr val="0077B6"/>
            </a:solidFill>
            <a:prstDash val="solid"/>
          </a:ln>
        </p:spPr>
      </p:sp>
      <p:sp>
        <p:nvSpPr>
          <p:cNvPr id="4" name="Shape 2"/>
          <p:cNvSpPr/>
          <p:nvPr/>
        </p:nvSpPr>
        <p:spPr>
          <a:xfrm>
            <a:off x="502920" y="1371600"/>
            <a:ext cx="64008" cy="2468880"/>
          </a:xfrm>
          <a:prstGeom prst="rect">
            <a:avLst/>
          </a:prstGeom>
          <a:solidFill>
            <a:srgbClr val="00F5D4"/>
          </a:solidFill>
          <a:ln w="12700">
            <a:solidFill>
              <a:srgbClr val="00F5D4"/>
            </a:solidFill>
            <a:prstDash val="solid"/>
          </a:ln>
        </p:spPr>
      </p:sp>
      <p:sp>
        <p:nvSpPr>
          <p:cNvPr id="5" name="Text 3"/>
          <p:cNvSpPr/>
          <p:nvPr/>
        </p:nvSpPr>
        <p:spPr>
          <a:xfrm>
            <a:off x="713232" y="1280160"/>
            <a:ext cx="7772400" cy="1645920"/>
          </a:xfrm>
          <a:prstGeom prst="rect">
            <a:avLst/>
          </a:prstGeom>
          <a:noFill/>
          <a:ln/>
        </p:spPr>
        <p:txBody>
          <a:bodyPr wrap="square" rtlCol="0" anchor="ctr"/>
          <a:lstStyle/>
          <a:p>
            <a:pPr indent="0" marL="0">
              <a:buNone/>
            </a:pPr>
            <a:r>
              <a:rPr lang="en-US" sz="3800" b="1" dirty="0">
                <a:solidFill>
                  <a:srgbClr val="FFFFFF"/>
                </a:solidFill>
                <a:latin typeface="Calibri" pitchFamily="34" charset="0"/>
                <a:ea typeface="Calibri" pitchFamily="34" charset="-122"/>
                <a:cs typeface="Calibri" pitchFamily="34" charset="-120"/>
              </a:rPr>
              <a:t>Cảm Ơn &amp; Hỏi Đáp</a:t>
            </a:r>
            <a:endParaRPr lang="en-US" sz="3800" dirty="0"/>
          </a:p>
        </p:txBody>
      </p:sp>
      <p:sp>
        <p:nvSpPr>
          <p:cNvPr id="6" name="Text 4"/>
          <p:cNvSpPr/>
          <p:nvPr/>
        </p:nvSpPr>
        <p:spPr>
          <a:xfrm>
            <a:off x="713232" y="2926080"/>
            <a:ext cx="7772400" cy="914400"/>
          </a:xfrm>
          <a:prstGeom prst="rect">
            <a:avLst/>
          </a:prstGeom>
          <a:noFill/>
          <a:ln/>
        </p:spPr>
        <p:txBody>
          <a:bodyPr wrap="square" rtlCol="0" anchor="ctr"/>
          <a:lstStyle/>
          <a:p>
            <a:pPr indent="0" marL="0">
              <a:buNone/>
            </a:pPr>
            <a:r>
              <a:rPr lang="en-US" sz="1600" i="1" dirty="0">
                <a:solidFill>
                  <a:srgbClr val="00B4D8"/>
                </a:solidFill>
                <a:latin typeface="Calibri" pitchFamily="34" charset="0"/>
                <a:ea typeface="Calibri" pitchFamily="34" charset="-122"/>
                <a:cs typeface="Calibri" pitchFamily="34" charset="-120"/>
              </a:rPr>
              <a:t>Khóa đào tạo: Ứng Dụng Machine Learning Chẩn Đoán Hư Hỏng Ổ Lăn</a:t>
            </a:r>
            <a:endParaRPr lang="en-US" sz="1600" dirty="0"/>
          </a:p>
        </p:txBody>
      </p:sp>
      <p:sp>
        <p:nvSpPr>
          <p:cNvPr id="7" name="Text 5"/>
          <p:cNvSpPr/>
          <p:nvPr/>
        </p:nvSpPr>
        <p:spPr>
          <a:xfrm>
            <a:off x="713232" y="3383280"/>
            <a:ext cx="7772400" cy="1463040"/>
          </a:xfrm>
          <a:prstGeom prst="rect">
            <a:avLst/>
          </a:prstGeom>
          <a:noFill/>
          <a:ln/>
        </p:spPr>
        <p:txBody>
          <a:bodyPr wrap="square" rtlCol="0" anchor="ctr"/>
          <a:lstStyle/>
          <a:p>
            <a:pPr indent="0" marL="0">
              <a:buNone/>
            </a:pPr>
            <a:r>
              <a:rPr lang="en-US" sz="1300" b="1" dirty="0">
                <a:solidFill>
                  <a:srgbClr val="06D6A0"/>
                </a:solidFill>
                <a:latin typeface="Calibri" pitchFamily="34" charset="0"/>
                <a:ea typeface="Calibri" pitchFamily="34" charset="-122"/>
                <a:cs typeface="Calibri" pitchFamily="34" charset="-120"/>
              </a:rPr>
              <a:t>✔ </a:t>
            </a:r>
            <a:pPr indent="0" marL="0">
              <a:buNone/>
            </a:pPr>
            <a:r>
              <a:rPr lang="en-US" sz="1300" dirty="0">
                <a:solidFill>
                  <a:srgbClr val="E8F4FD"/>
                </a:solidFill>
                <a:latin typeface="Calibri" pitchFamily="34" charset="0"/>
                <a:ea typeface="Calibri" pitchFamily="34" charset="-122"/>
                <a:cs typeface="Calibri" pitchFamily="34" charset="-120"/>
              </a:rPr>
              <a:t>3 nguyên lý cốt lõi: Tần số đặc trưng · Chia theo File · SHAP
</a:t>
            </a:r>
            <a:pPr indent="0" marL="0">
              <a:buNone/>
            </a:pPr>
            <a:r>
              <a:rPr lang="en-US" sz="1300" b="1" dirty="0">
                <a:solidFill>
                  <a:srgbClr val="06D6A0"/>
                </a:solidFill>
                <a:latin typeface="Calibri" pitchFamily="34" charset="0"/>
                <a:ea typeface="Calibri" pitchFamily="34" charset="-122"/>
                <a:cs typeface="Calibri" pitchFamily="34" charset="-120"/>
              </a:rPr>
              <a:t>✔ </a:t>
            </a:r>
            <a:pPr indent="0" marL="0">
              <a:buNone/>
            </a:pPr>
            <a:r>
              <a:rPr lang="en-US" sz="1300" dirty="0">
                <a:solidFill>
                  <a:srgbClr val="E8F4FD"/>
                </a:solidFill>
                <a:latin typeface="Calibri" pitchFamily="34" charset="0"/>
                <a:ea typeface="Calibri" pitchFamily="34" charset="-122"/>
                <a:cs typeface="Calibri" pitchFamily="34" charset="-120"/>
              </a:rPr>
              <a:t>Sổ tay lý thuyết: Phần A, B, D
</a:t>
            </a:r>
            <a:pPr indent="0" marL="0">
              <a:buNone/>
            </a:pPr>
            <a:r>
              <a:rPr lang="en-US" sz="1300" b="1" dirty="0">
                <a:solidFill>
                  <a:srgbClr val="06D6A0"/>
                </a:solidFill>
                <a:latin typeface="Calibri" pitchFamily="34" charset="0"/>
                <a:ea typeface="Calibri" pitchFamily="34" charset="-122"/>
                <a:cs typeface="Calibri" pitchFamily="34" charset="-120"/>
              </a:rPr>
              <a:t>✔ </a:t>
            </a:r>
            <a:pPr indent="0" marL="0">
              <a:buNone/>
            </a:pPr>
            <a:r>
              <a:rPr lang="en-US" sz="1300" dirty="0">
                <a:solidFill>
                  <a:srgbClr val="E8F4FD"/>
                </a:solidFill>
                <a:latin typeface="Calibri" pitchFamily="34" charset="0"/>
                <a:ea typeface="Calibri" pitchFamily="34" charset="-122"/>
                <a:cs typeface="Calibri" pitchFamily="34" charset="-120"/>
              </a:rPr>
              <a:t>Notebooks thực hành: Tutorial 01–05
</a:t>
            </a:r>
            <a:pPr indent="0" marL="0">
              <a:buNone/>
            </a:pPr>
            <a:r>
              <a:rPr lang="en-US" sz="1300" b="1" dirty="0">
                <a:solidFill>
                  <a:srgbClr val="06D6A0"/>
                </a:solidFill>
                <a:latin typeface="Calibri" pitchFamily="34" charset="0"/>
                <a:ea typeface="Calibri" pitchFamily="34" charset="-122"/>
                <a:cs typeface="Calibri" pitchFamily="34" charset="-120"/>
              </a:rPr>
              <a:t>✔ </a:t>
            </a:r>
            <a:pPr indent="0" marL="0">
              <a:buNone/>
            </a:pPr>
            <a:r>
              <a:rPr lang="en-US" sz="1300" dirty="0">
                <a:solidFill>
                  <a:srgbClr val="E8F4FD"/>
                </a:solidFill>
                <a:latin typeface="Calibri" pitchFamily="34" charset="0"/>
                <a:ea typeface="Calibri" pitchFamily="34" charset="-122"/>
                <a:cs typeface="Calibri" pitchFamily="34" charset="-120"/>
              </a:rPr>
              <a:t>Dữ liệu: CWRU Bearing Data Center</a:t>
            </a:r>
            <a:endParaRPr lang="en-US" sz="1300" dirty="0"/>
          </a:p>
        </p:txBody>
      </p:sp>
      <p:sp>
        <p:nvSpPr>
          <p:cNvPr id="8" name="Text 6"/>
          <p:cNvSpPr/>
          <p:nvPr/>
        </p:nvSpPr>
        <p:spPr>
          <a:xfrm>
            <a:off x="713232" y="4663440"/>
            <a:ext cx="7772400" cy="411480"/>
          </a:xfrm>
          <a:prstGeom prst="rect">
            <a:avLst/>
          </a:prstGeom>
          <a:noFill/>
          <a:ln/>
        </p:spPr>
        <p:txBody>
          <a:bodyPr wrap="square" rtlCol="0" anchor="ctr"/>
          <a:lstStyle/>
          <a:p>
            <a:pPr indent="0" marL="0">
              <a:buNone/>
            </a:pPr>
            <a:r>
              <a:rPr lang="en-US" sz="1100" i="1" dirty="0">
                <a:solidFill>
                  <a:srgbClr val="00F5D4"/>
                </a:solidFill>
                <a:latin typeface="Calibri" pitchFamily="34" charset="0"/>
                <a:ea typeface="Calibri" pitchFamily="34" charset="-122"/>
                <a:cs typeface="Calibri" pitchFamily="34" charset="-120"/>
              </a:rPr>
              <a:t>Công nghệ XAI (SHAP) không thay thế kỹ sư — nó là "cố vấn kỹ thuật minh bạch". Quyết định cuối cùng luôn thuộc về con người.</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ML Chẩn Đoán Hư Hỏng Ổ Lăn — CWRU</dc:title>
  <dc:subject>PptxGenJS Presentation</dc:subject>
  <dc:creator>Bảo Trì Dự Đoán AI</dc:creator>
  <cp:lastModifiedBy>Bảo Trì Dự Đoán AI</cp:lastModifiedBy>
  <cp:revision>1</cp:revision>
  <dcterms:created xsi:type="dcterms:W3CDTF">2026-06-03T07:37:50Z</dcterms:created>
  <dcterms:modified xsi:type="dcterms:W3CDTF">2026-06-03T07:37:50Z</dcterms:modified>
</cp:coreProperties>
</file>